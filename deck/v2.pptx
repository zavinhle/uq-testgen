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90" r:id="rId6"/>
    <p:sldId id="289" r:id="rId7"/>
    <p:sldId id="286" r:id="rId8"/>
    <p:sldId id="287"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E28CFCA-18A1-D99A-595C-965D651608A6}">
          <p14:sldIdLst>
            <p14:sldId id="256"/>
          </p14:sldIdLst>
        </p14:section>
        <p14:section name="A · Motivation 1 → Demo 1" id="{3376B78D-2192-B089-A4D4-683BE124AB7B}">
          <p14:sldIdLst>
            <p14:sldId id="257"/>
            <p14:sldId id="258"/>
            <p14:sldId id="259"/>
            <p14:sldId id="290"/>
            <p14:sldId id="289"/>
            <p14:sldId id="286"/>
            <p14:sldId id="287"/>
          </p14:sldIdLst>
        </p14:section>
        <p14:section name="B · Motivation 2 → Demo 2" id="{AC4F647E-65D7-25A9-7F10-7AF9A7ABB34E}">
          <p14:sldIdLst>
            <p14:sldId id="264"/>
            <p14:sldId id="265"/>
            <p14:sldId id="266"/>
            <p14:sldId id="267"/>
          </p14:sldIdLst>
        </p14:section>
        <p14:section name="C · Gaps → research plan" id="{D0E06EE7-225A-F19A-48F2-B1C500C3EDB5}">
          <p14:sldIdLst>
            <p14:sldId id="268"/>
            <p14:sldId id="269"/>
            <p14:sldId id="270"/>
            <p14:sldId id="271"/>
            <p14:sldId id="272"/>
          </p14:sldIdLst>
        </p14:section>
        <p14:section name="D · What I can contribute" id="{32BC59C1-A0A7-F8C1-EB23-EA31E9C003D8}">
          <p14:sldIdLst>
            <p14:sldId id="273"/>
            <p14:sldId id="274"/>
            <p14:sldId id="275"/>
          </p14:sldIdLst>
        </p14:section>
        <p14:section name="Backup" id="{CAC76BA1-689C-966E-5A54-86BFB7E94681}">
          <p14:sldIdLst>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AUROC for detecting incorrect tests (0.5 = random)</a:t>
            </a:r>
          </a:p>
        </c:rich>
      </c:tx>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Sheet1!$B$2:$B$6</c:f>
              <c:numCache>
                <c:formatCode>General</c:formatCode>
                <c:ptCount val="5"/>
                <c:pt idx="0">
                  <c:v>0.74</c:v>
                </c:pt>
                <c:pt idx="1">
                  <c:v>0.67</c:v>
                </c:pt>
                <c:pt idx="2">
                  <c:v>0.9</c:v>
                </c:pt>
                <c:pt idx="3">
                  <c:v>0.46</c:v>
                </c:pt>
                <c:pt idx="4">
                  <c:v>0.89</c:v>
                </c:pt>
              </c:numCache>
            </c:numRef>
          </c:val>
          <c:extLst>
            <c:ext xmlns:c16="http://schemas.microsoft.com/office/drawing/2014/chart" uri="{C3380CC4-5D6E-409C-BE32-E72D297353CC}">
              <c16:uniqueId val="{00000000-808B-46A9-86A3-A62790BF60EF}"/>
            </c:ext>
          </c:extLst>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Sheet1!$C$2:$C$6</c:f>
              <c:numCache>
                <c:formatCode>General</c:formatCode>
                <c:ptCount val="5"/>
                <c:pt idx="0">
                  <c:v>0.62</c:v>
                </c:pt>
                <c:pt idx="1">
                  <c:v>0.55000000000000004</c:v>
                </c:pt>
                <c:pt idx="2">
                  <c:v>0.71</c:v>
                </c:pt>
                <c:pt idx="3">
                  <c:v>0.49</c:v>
                </c:pt>
                <c:pt idx="4">
                  <c:v>0.71</c:v>
                </c:pt>
              </c:numCache>
            </c:numRef>
          </c:val>
          <c:extLst>
            <c:ext xmlns:c16="http://schemas.microsoft.com/office/drawing/2014/chart" uri="{C3380CC4-5D6E-409C-BE32-E72D297353CC}">
              <c16:uniqueId val="{00000001-808B-46A9-86A3-A62790BF60E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Accept the least uncertain tests first</a:t>
            </a:r>
          </a:p>
        </c:rich>
      </c:tx>
      <c:overlay val="0"/>
    </c:title>
    <c:autoTitleDeleted val="0"/>
    <c:plotArea>
      <c:layout/>
      <c:scatterChart>
        <c:scatterStyle val="lineMarker"/>
        <c:varyColors val="0"/>
        <c:ser>
          <c:idx val="0"/>
          <c:order val="0"/>
          <c:tx>
            <c:strRef>
              <c:f>Sheet1!$B$1</c:f>
              <c:strCache>
                <c:ptCount val="1"/>
                <c:pt idx="0">
                  <c:v>Combined uncertainty</c:v>
                </c:pt>
              </c:strCache>
            </c:strRef>
          </c:tx>
          <c:spPr>
            <a:ln w="31750" cap="flat">
              <a:solidFill>
                <a:srgbClr val="0F8B8D"/>
              </a:solidFill>
              <a:prstDash val="solid"/>
              <a:round/>
            </a:ln>
            <a:effectLst/>
          </c:spPr>
          <c:marker>
            <c:symbol val="none"/>
          </c:marker>
          <c:xVal>
            <c:numRef>
              <c:f>Sheet1!$A$2:$A$72</c:f>
              <c:numCache>
                <c:formatCode>General</c:formatCode>
                <c:ptCount val="71"/>
                <c:pt idx="0">
                  <c:v>5.0000000000000001E-3</c:v>
                </c:pt>
                <c:pt idx="1">
                  <c:v>1.9E-2</c:v>
                </c:pt>
                <c:pt idx="2">
                  <c:v>3.3000000000000002E-2</c:v>
                </c:pt>
                <c:pt idx="3">
                  <c:v>4.8000000000000001E-2</c:v>
                </c:pt>
                <c:pt idx="4">
                  <c:v>6.2E-2</c:v>
                </c:pt>
                <c:pt idx="5">
                  <c:v>7.5999999999999998E-2</c:v>
                </c:pt>
                <c:pt idx="6">
                  <c:v>0.09</c:v>
                </c:pt>
                <c:pt idx="7">
                  <c:v>0.105</c:v>
                </c:pt>
                <c:pt idx="8">
                  <c:v>0.11899999999999999</c:v>
                </c:pt>
                <c:pt idx="9">
                  <c:v>0.13300000000000001</c:v>
                </c:pt>
                <c:pt idx="10">
                  <c:v>0.14799999999999999</c:v>
                </c:pt>
                <c:pt idx="11">
                  <c:v>0.16200000000000001</c:v>
                </c:pt>
                <c:pt idx="12">
                  <c:v>0.17599999999999999</c:v>
                </c:pt>
                <c:pt idx="13">
                  <c:v>0.19</c:v>
                </c:pt>
                <c:pt idx="14">
                  <c:v>0.20499999999999999</c:v>
                </c:pt>
                <c:pt idx="15">
                  <c:v>0.219</c:v>
                </c:pt>
                <c:pt idx="16">
                  <c:v>0.23300000000000001</c:v>
                </c:pt>
                <c:pt idx="17">
                  <c:v>0.248</c:v>
                </c:pt>
                <c:pt idx="18">
                  <c:v>0.26200000000000001</c:v>
                </c:pt>
                <c:pt idx="19">
                  <c:v>0.27600000000000002</c:v>
                </c:pt>
                <c:pt idx="20">
                  <c:v>0.28999999999999998</c:v>
                </c:pt>
                <c:pt idx="21">
                  <c:v>0.30499999999999999</c:v>
                </c:pt>
                <c:pt idx="22">
                  <c:v>0.31900000000000001</c:v>
                </c:pt>
                <c:pt idx="23">
                  <c:v>0.33300000000000002</c:v>
                </c:pt>
                <c:pt idx="24">
                  <c:v>0.34799999999999998</c:v>
                </c:pt>
                <c:pt idx="25">
                  <c:v>0.36199999999999999</c:v>
                </c:pt>
                <c:pt idx="26">
                  <c:v>0.376</c:v>
                </c:pt>
                <c:pt idx="27">
                  <c:v>0.39</c:v>
                </c:pt>
                <c:pt idx="28">
                  <c:v>0.40500000000000003</c:v>
                </c:pt>
                <c:pt idx="29">
                  <c:v>0.41899999999999998</c:v>
                </c:pt>
                <c:pt idx="30">
                  <c:v>0.433</c:v>
                </c:pt>
                <c:pt idx="31">
                  <c:v>0.44800000000000001</c:v>
                </c:pt>
                <c:pt idx="32">
                  <c:v>0.46200000000000002</c:v>
                </c:pt>
                <c:pt idx="33">
                  <c:v>0.47599999999999998</c:v>
                </c:pt>
                <c:pt idx="34">
                  <c:v>0.49</c:v>
                </c:pt>
                <c:pt idx="35">
                  <c:v>0.505</c:v>
                </c:pt>
                <c:pt idx="36">
                  <c:v>0.51900000000000002</c:v>
                </c:pt>
                <c:pt idx="37">
                  <c:v>0.53300000000000003</c:v>
                </c:pt>
                <c:pt idx="38">
                  <c:v>0.54800000000000004</c:v>
                </c:pt>
                <c:pt idx="39">
                  <c:v>0.56200000000000006</c:v>
                </c:pt>
                <c:pt idx="40">
                  <c:v>0.57599999999999996</c:v>
                </c:pt>
                <c:pt idx="41">
                  <c:v>0.59</c:v>
                </c:pt>
                <c:pt idx="42">
                  <c:v>0.60499999999999998</c:v>
                </c:pt>
                <c:pt idx="43">
                  <c:v>0.61899999999999999</c:v>
                </c:pt>
                <c:pt idx="44">
                  <c:v>0.63300000000000001</c:v>
                </c:pt>
                <c:pt idx="45">
                  <c:v>0.64800000000000002</c:v>
                </c:pt>
                <c:pt idx="46">
                  <c:v>0.66200000000000003</c:v>
                </c:pt>
                <c:pt idx="47">
                  <c:v>0.67600000000000005</c:v>
                </c:pt>
                <c:pt idx="48">
                  <c:v>0.69</c:v>
                </c:pt>
                <c:pt idx="49">
                  <c:v>0.70499999999999996</c:v>
                </c:pt>
                <c:pt idx="50">
                  <c:v>0.71899999999999997</c:v>
                </c:pt>
                <c:pt idx="51">
                  <c:v>0.73299999999999998</c:v>
                </c:pt>
                <c:pt idx="52">
                  <c:v>0.748</c:v>
                </c:pt>
                <c:pt idx="53">
                  <c:v>0.76200000000000001</c:v>
                </c:pt>
                <c:pt idx="54">
                  <c:v>0.77600000000000002</c:v>
                </c:pt>
                <c:pt idx="55">
                  <c:v>0.79</c:v>
                </c:pt>
                <c:pt idx="56">
                  <c:v>0.80500000000000005</c:v>
                </c:pt>
                <c:pt idx="57">
                  <c:v>0.81899999999999995</c:v>
                </c:pt>
                <c:pt idx="58">
                  <c:v>0.83299999999999996</c:v>
                </c:pt>
                <c:pt idx="59">
                  <c:v>0.84799999999999998</c:v>
                </c:pt>
                <c:pt idx="60">
                  <c:v>0.86199999999999999</c:v>
                </c:pt>
                <c:pt idx="61">
                  <c:v>0.876</c:v>
                </c:pt>
                <c:pt idx="62">
                  <c:v>0.89</c:v>
                </c:pt>
                <c:pt idx="63">
                  <c:v>0.90500000000000003</c:v>
                </c:pt>
                <c:pt idx="64">
                  <c:v>0.91900000000000004</c:v>
                </c:pt>
                <c:pt idx="65">
                  <c:v>0.93300000000000005</c:v>
                </c:pt>
                <c:pt idx="66">
                  <c:v>0.94799999999999995</c:v>
                </c:pt>
                <c:pt idx="67">
                  <c:v>0.96199999999999997</c:v>
                </c:pt>
                <c:pt idx="68">
                  <c:v>0.97599999999999998</c:v>
                </c:pt>
                <c:pt idx="69">
                  <c:v>0.99</c:v>
                </c:pt>
                <c:pt idx="70">
                  <c:v>1</c:v>
                </c:pt>
              </c:numCache>
            </c:numRef>
          </c:xVal>
          <c:yVal>
            <c:numRef>
              <c:f>Sheet1!$B$2:$B$72</c:f>
              <c:numCache>
                <c:formatCode>General</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0.99299999999999999</c:v>
                </c:pt>
                <c:pt idx="49">
                  <c:v>0.98599999999999999</c:v>
                </c:pt>
                <c:pt idx="50">
                  <c:v>0.98699999999999999</c:v>
                </c:pt>
                <c:pt idx="51">
                  <c:v>0.98699999999999999</c:v>
                </c:pt>
                <c:pt idx="52">
                  <c:v>0.98699999999999999</c:v>
                </c:pt>
                <c:pt idx="53">
                  <c:v>0.98799999999999999</c:v>
                </c:pt>
                <c:pt idx="54">
                  <c:v>0.98799999999999999</c:v>
                </c:pt>
                <c:pt idx="55">
                  <c:v>0.98799999999999999</c:v>
                </c:pt>
                <c:pt idx="56">
                  <c:v>0.98199999999999998</c:v>
                </c:pt>
                <c:pt idx="57">
                  <c:v>0.97099999999999997</c:v>
                </c:pt>
                <c:pt idx="58">
                  <c:v>0.96</c:v>
                </c:pt>
                <c:pt idx="59">
                  <c:v>0.95499999999999996</c:v>
                </c:pt>
                <c:pt idx="60">
                  <c:v>0.95</c:v>
                </c:pt>
                <c:pt idx="61">
                  <c:v>0.94</c:v>
                </c:pt>
                <c:pt idx="62">
                  <c:v>0.94099999999999995</c:v>
                </c:pt>
                <c:pt idx="63">
                  <c:v>0.94199999999999995</c:v>
                </c:pt>
                <c:pt idx="64">
                  <c:v>0.94299999999999995</c:v>
                </c:pt>
                <c:pt idx="65">
                  <c:v>0.94399999999999995</c:v>
                </c:pt>
                <c:pt idx="66">
                  <c:v>0.94499999999999995</c:v>
                </c:pt>
                <c:pt idx="67">
                  <c:v>0.94099999999999995</c:v>
                </c:pt>
                <c:pt idx="68">
                  <c:v>0.93200000000000005</c:v>
                </c:pt>
                <c:pt idx="69">
                  <c:v>0.92800000000000005</c:v>
                </c:pt>
                <c:pt idx="70">
                  <c:v>0.91900000000000004</c:v>
                </c:pt>
              </c:numCache>
            </c:numRef>
          </c:yVal>
          <c:smooth val="0"/>
          <c:extLst>
            <c:ext xmlns:c16="http://schemas.microsoft.com/office/drawing/2014/chart" uri="{C3380CC4-5D6E-409C-BE32-E72D297353CC}">
              <c16:uniqueId val="{00000000-E411-45ED-8F13-0CFA01E75DDF}"/>
            </c:ext>
          </c:extLst>
        </c:ser>
        <c:dLbls>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5B6578"/>
                    </a:solidFill>
                    <a:latin typeface="+mn-lt"/>
                  </a:defRPr>
                </a:pPr>
                <a:r>
                  <a:rPr lang="en-US" sz="1200" b="0" i="0" u="none" strike="noStrike">
                    <a:solidFill>
                      <a:srgbClr val="5B6578"/>
                    </a:solidFill>
                    <a:latin typeface="+mn-lt"/>
                  </a:rPr>
                  <a:t>Coverage (share auto-accepted)</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crossBetween val="midCat"/>
        <c:majorUnit val="0.2"/>
      </c:valAx>
      <c:valAx>
        <c:axId val="2094734552"/>
        <c:scaling>
          <c:orientation val="minMax"/>
          <c:max val="1"/>
          <c:min val="0.85"/>
        </c:scaling>
        <c:delete val="0"/>
        <c:axPos val="l"/>
        <c:majorGridlines>
          <c:spPr>
            <a:ln w="9525" cap="flat">
              <a:solidFill>
                <a:srgbClr val="DDE3EC"/>
              </a:solidFill>
              <a:prstDash val="solid"/>
              <a:round/>
            </a:ln>
          </c:spPr>
        </c:majorGridlines>
        <c:title>
          <c:tx>
            <c:rich>
              <a:bodyPr/>
              <a:lstStyle/>
              <a:p>
                <a:pPr>
                  <a:defRPr sz="1200" b="0" i="0" u="none" strike="noStrike">
                    <a:solidFill>
                      <a:srgbClr val="5B6578"/>
                    </a:solidFill>
                    <a:latin typeface="+mn-lt"/>
                  </a:defRPr>
                </a:pPr>
                <a:r>
                  <a:rPr lang="en-US" sz="1200" b="0" i="0" u="none" strike="noStrike">
                    <a:solidFill>
                      <a:srgbClr val="5B6578"/>
                    </a:solidFill>
                    <a:latin typeface="+mn-lt"/>
                  </a:rPr>
                  <a:t>Precision of accepted tests</a:t>
                </a:r>
              </a:p>
            </c:rich>
          </c:tx>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Sheet1!$B$2:$B$8</c:f>
              <c:numCache>
                <c:formatCode>General</c:formatCode>
                <c:ptCount val="7"/>
                <c:pt idx="0">
                  <c:v>1</c:v>
                </c:pt>
                <c:pt idx="1">
                  <c:v>1</c:v>
                </c:pt>
                <c:pt idx="2">
                  <c:v>0.8</c:v>
                </c:pt>
                <c:pt idx="3">
                  <c:v>1</c:v>
                </c:pt>
                <c:pt idx="4">
                  <c:v>0.93</c:v>
                </c:pt>
                <c:pt idx="5">
                  <c:v>0.77</c:v>
                </c:pt>
                <c:pt idx="6">
                  <c:v>0.93</c:v>
                </c:pt>
              </c:numCache>
            </c:numRef>
          </c:val>
          <c:extLst>
            <c:ext xmlns:c16="http://schemas.microsoft.com/office/drawing/2014/chart" uri="{C3380CC4-5D6E-409C-BE32-E72D297353CC}">
              <c16:uniqueId val="{00000000-07D8-4D27-903A-AEA270EA2E14}"/>
            </c:ext>
          </c:extLst>
        </c:ser>
        <c:ser>
          <c:idx val="1"/>
          <c:order val="1"/>
          <c:tx>
            <c:strRef>
              <c:f>Sheet1!$C$1</c:f>
              <c:strCache>
                <c:ptCount val="1"/>
                <c:pt idx="0">
                  <c:v>Mean combined uncertainty</c:v>
                </c:pt>
              </c:strCache>
            </c:strRef>
          </c:tx>
          <c:spPr>
            <a:solidFill>
              <a:srgbClr val="E39B2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Sheet1!$C$2:$C$8</c:f>
              <c:numCache>
                <c:formatCode>General</c:formatCode>
                <c:ptCount val="7"/>
                <c:pt idx="0">
                  <c:v>0.02</c:v>
                </c:pt>
                <c:pt idx="1">
                  <c:v>0.04</c:v>
                </c:pt>
                <c:pt idx="2">
                  <c:v>0.33</c:v>
                </c:pt>
                <c:pt idx="3">
                  <c:v>0.13</c:v>
                </c:pt>
                <c:pt idx="4">
                  <c:v>7.0000000000000007E-2</c:v>
                </c:pt>
                <c:pt idx="5">
                  <c:v>0.19</c:v>
                </c:pt>
                <c:pt idx="6">
                  <c:v>0.15</c:v>
                </c:pt>
              </c:numCache>
            </c:numRef>
          </c:val>
          <c:extLst>
            <c:ext xmlns:c16="http://schemas.microsoft.com/office/drawing/2014/chart" uri="{C3380CC4-5D6E-409C-BE32-E72D297353CC}">
              <c16:uniqueId val="{00000001-07D8-4D27-903A-AEA270EA2E1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3736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invitation. My talk has four parts: first the tool I started from and its demo, then why its trust rules are not enough and how I quantify uncertainty instead, with a second demo; then the gaps that become my PhD plan along the four objectives; and finally what I bring.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motivation comes from my daily work as a tester. For every release we read the specification, write test cases, write scripts, run them and file bugs — and when the specification changes, we do it again. The bottleneck is test design, not execution. LLMs can now read specifications and write tests, so I asked: can one pipeline go from the document to the report?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QA-Flow, the tool I started from. Its six stages: the requirements document plus a discovery of the running application; retrieval over the documents; three LLM agents; a closed step language that code compiles into Playwright scripts; execution of web, API and security tests; and a report. Trust is handled by four hand-written rules. The demo application, ShopLite, contains seven planted defects so we know what should be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The document goes in, the application is discovered and the documents are indexed. The analyst agent extracts atomic requirements as verbatim quotes, the designer writes tests per requirement using retrieved context, code compiles them into Playwright, they run, and the fault-injection gate re-runs passing tests on broken builds. The report shows traceability and drafted bug reports.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QA-Flow extracted 34 requirements and ran 62 tests, and it found 5 of the 7 planted defects. But when I re-ran every failing test on a build with the planted defects fixed, 6 of the 18 FAILs still failed: the bug was in the AI's test, not in the shop. Every one of them passed all four trust rules. So the rules cannot tell a wrong test from a real defect. That is my second motivation.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motivation: in autonomous CPS the stakes are higher. Foundation models are already used across CPS engineering, and LLMs write the tests themselves. A test can run cleanly and still be wrong in three ways: the wrong scenario, the wrong oracle, or a test that catches no fault. Demo 1 showed that rules cannot see this, and the model's own confidence does not help either: it says 97% while only 87% of its tests are correct.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builds on your work: uncertainty-wise CPS testing from the U-Taxonomy to uncertainty-aware oracles and VLA robots; ADS scenario generation and robustness-guided falsification; ML oracles and metamorphic testing for industrial elevators; and from ML, semantic entropy and self-consistency for LLM outputs. The gap: nobody quantifies the uncertainty of LLMs that generate executable test artefacts.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UQ-TestGen keeps QA-Flow's rule gate but targets an autonomous-driving function. For each requirement the LLM is sampled N times; each sample is a driving scenario, an STL-style oracle and a confidence. Valid tests run in highway-env against an adaptive cruise control with emergency braking. Four uncertainty signals, computed without ground truth, drive the triage. Only in research mode is ground truth computed with eight seeded faults.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Verbalised confidence is the baseline. Structural entropy clusters samples by what they look like. Behavioural entropy, my CPS-specific adaptation of semantic entropy, clusters them by what they do when executed. Oracle disagreement cross-applies the oracles. The design was fixed on a development round and evaluated on a fresh held-out round.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1:44.] Requirement R6: the lead car changes lane and reveals a stopped car. Eight tests are sampled live and each stage completes. Five tests are auto-accepted and three go to review. The most uncertain test is the one that does not exercise the requirement. Finally the same test is replayed on a faulty variant and its oracle catches the fault.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210 tests from three ChatGPT-class models on seven ACC requirements, each run on the correct controller and eight seeded faults. On the held-out round behavioural entropy detects incorrect tests with AUROC 0.90, against 0.74 for the model's own confidence, and at batch level rho is -0.85. Honestly, within a single requirement it drops to 0.71: it mostly flags hard requirements. Per-test discrimination is a research gap.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uncertainty into decisions: accepting the least uncertain tests first keeps precision near 100% until about 70% coverage. With fixed thresholds 162 of 210 tests are auto-accepted and 160 of them are correct; errors concentrate in the review bucket. Unlike QA-Flow's binary gate, this tells a human where to look. The thresholds are heuristic, which leads to objective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The gaps from both demos map onto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maps onto an objective. From Demo 1: rules cannot tell a wrong test from a real defect, which calls for uncertainty on every generated artefact. From Demo 2: the per-test signal is weak and black-box only — new metrics, O1. Heuristic thresholds that ignore severity — risk methods, O2. The relation between uncertainty, effectiveness and cost — a large study, O3. And generalisation beyond one app, one simulator and hosted models — O4.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evaluated on open-source ACPS, industrial cases through the network such as the Mondragon elevator systems, and the InnoGuard platform, with fault-injection or expert ground truth.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 open benchmark that includes both QA-Flow-style web/API artefacts and ACPS tests, and the first metric suite. Year 2: the empirical study, risk methods and the planned secondment at Mondragon. Year 3: industrial and InnoGuard-platform evaluation, the quantum ML extension, and the thesis. Secondment dates are indicative.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metrics, risk methods, empirical evidence and open artefacts —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from hardware to automotive software testing at Bosch, then research on falsification and test generation for controller software at Kyungpook National University, and now LLM-based testing in industry — which is where QA-Flow comes from. The common thread is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bring maps onto the preferred profile: CPS testing practice, verification research, hands-on LLM tooling — both tools in this talk — and empirical studies. And why this team: uncertainty-wise CPS testing at Simula, ADS testing and falsification with Prof. Arcaini, industrial oracles at Mondragon. My two demos sit exactly where these meet.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QA-Flow automates testing end to end but trusts by rules, and the rules are fooled by wrong tests; UQ-TestGen shows uncertainty can tell which generated tests to trust; and the PhD turns that into metrics, risk methods, evidence and transfer, along O1 to O4.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QA-Flow run behind Demo 1: which planted defects were found by which tests, and how many outputs each trust rule caught.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gpt-6-astra produced only correct tests, so uncertainty matters most for cheaper models. Per requirement: cut-in (R3) and cut-out (R6) are hardest and also have the highest uncertainty.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faults define ground truth; the metric design was chosen on a development round; and the scale is small. Each has a mitigation in the plan.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shot-based sampling is a natural analogue to sampling an LLM, so the same disagreement-based metrics can be tested, with quantum noise as an extra source of uncertainty.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15.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15.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8.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3"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When can we trust AI-generated tests?</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Uncertainty quantification for risk-based testing of autonomous CPS</a:t>
            </a:r>
            <a:endParaRPr lang="en-US" sz="4000" dirty="0"/>
          </a:p>
        </p:txBody>
      </p:sp>
      <p:sp>
        <p:nvSpPr>
          <p:cNvPr id="4" name="Text 2"/>
          <p:cNvSpPr txBox="1"/>
          <p:nvPr/>
        </p:nvSpPr>
        <p:spPr>
          <a:xfrm>
            <a:off x="548640" y="4526280"/>
            <a:ext cx="8229600" cy="45720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p:txBody>
      </p:sp>
      <p:pic>
        <p:nvPicPr>
          <p:cNvPr id="5" name="Image 0" descr="D:\hnp\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MOTIVATION 1</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Turning specifications into tests by hand does not scale</a:t>
            </a:r>
            <a:endParaRPr lang="en-US" sz="3000" dirty="0"/>
          </a:p>
        </p:txBody>
      </p:sp>
      <p:sp>
        <p:nvSpPr>
          <p:cNvPr id="4" name="Shape 2"/>
          <p:cNvSpPr/>
          <p:nvPr/>
        </p:nvSpPr>
        <p:spPr>
          <a:xfrm>
            <a:off x="1338042"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498062" y="1577340"/>
            <a:ext cx="320040" cy="320040"/>
          </a:xfrm>
          <a:prstGeom prst="rect">
            <a:avLst/>
          </a:prstGeom>
        </p:spPr>
      </p:pic>
      <p:sp>
        <p:nvSpPr>
          <p:cNvPr id="6" name="Text 3"/>
          <p:cNvSpPr txBox="1"/>
          <p:nvPr/>
        </p:nvSpPr>
        <p:spPr>
          <a:xfrm>
            <a:off x="548640"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Read the spec</a:t>
            </a:r>
            <a:endParaRPr lang="en-US" sz="1500" dirty="0"/>
          </a:p>
        </p:txBody>
      </p:sp>
      <p:sp>
        <p:nvSpPr>
          <p:cNvPr id="7" name="Text 4"/>
          <p:cNvSpPr txBox="1"/>
          <p:nvPr/>
        </p:nvSpPr>
        <p:spPr>
          <a:xfrm>
            <a:off x="548640"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8" name="Shape 5"/>
          <p:cNvSpPr/>
          <p:nvPr/>
        </p:nvSpPr>
        <p:spPr>
          <a:xfrm>
            <a:off x="2115282"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556925"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16945" y="1577340"/>
            <a:ext cx="320040" cy="320040"/>
          </a:xfrm>
          <a:prstGeom prst="rect">
            <a:avLst/>
          </a:prstGeom>
        </p:spPr>
      </p:pic>
      <p:sp>
        <p:nvSpPr>
          <p:cNvPr id="11" name="Text 7"/>
          <p:cNvSpPr txBox="1"/>
          <p:nvPr/>
        </p:nvSpPr>
        <p:spPr>
          <a:xfrm>
            <a:off x="2767523"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test cases</a:t>
            </a:r>
            <a:endParaRPr lang="en-US" sz="1500" dirty="0"/>
          </a:p>
        </p:txBody>
      </p:sp>
      <p:sp>
        <p:nvSpPr>
          <p:cNvPr id="12" name="Text 8"/>
          <p:cNvSpPr txBox="1"/>
          <p:nvPr/>
        </p:nvSpPr>
        <p:spPr>
          <a:xfrm>
            <a:off x="2767523"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3" name="Shape 9"/>
          <p:cNvSpPr/>
          <p:nvPr/>
        </p:nvSpPr>
        <p:spPr>
          <a:xfrm>
            <a:off x="4334165"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5775808"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35828" y="1577340"/>
            <a:ext cx="320040" cy="320040"/>
          </a:xfrm>
          <a:prstGeom prst="rect">
            <a:avLst/>
          </a:prstGeom>
        </p:spPr>
      </p:pic>
      <p:sp>
        <p:nvSpPr>
          <p:cNvPr id="16" name="Text 11"/>
          <p:cNvSpPr txBox="1"/>
          <p:nvPr/>
        </p:nvSpPr>
        <p:spPr>
          <a:xfrm>
            <a:off x="4986406"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scripts</a:t>
            </a:r>
            <a:endParaRPr lang="en-US" sz="1500" dirty="0"/>
          </a:p>
        </p:txBody>
      </p:sp>
      <p:sp>
        <p:nvSpPr>
          <p:cNvPr id="17" name="Text 12"/>
          <p:cNvSpPr txBox="1"/>
          <p:nvPr/>
        </p:nvSpPr>
        <p:spPr>
          <a:xfrm>
            <a:off x="4986406"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8" name="Shape 13"/>
          <p:cNvSpPr/>
          <p:nvPr/>
        </p:nvSpPr>
        <p:spPr>
          <a:xfrm>
            <a:off x="6553048"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7994691"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54711" y="1577340"/>
            <a:ext cx="320040" cy="320040"/>
          </a:xfrm>
          <a:prstGeom prst="rect">
            <a:avLst/>
          </a:prstGeom>
        </p:spPr>
      </p:pic>
      <p:sp>
        <p:nvSpPr>
          <p:cNvPr id="21" name="Text 15"/>
          <p:cNvSpPr txBox="1"/>
          <p:nvPr/>
        </p:nvSpPr>
        <p:spPr>
          <a:xfrm>
            <a:off x="7205289"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Run scripts</a:t>
            </a:r>
            <a:endParaRPr lang="en-US" sz="1500" dirty="0"/>
          </a:p>
        </p:txBody>
      </p:sp>
      <p:sp>
        <p:nvSpPr>
          <p:cNvPr id="22" name="Text 16"/>
          <p:cNvSpPr txBox="1"/>
          <p:nvPr/>
        </p:nvSpPr>
        <p:spPr>
          <a:xfrm>
            <a:off x="7205289"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3" name="Shape 17"/>
          <p:cNvSpPr/>
          <p:nvPr/>
        </p:nvSpPr>
        <p:spPr>
          <a:xfrm>
            <a:off x="8771931"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10213574"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73594" y="1577340"/>
            <a:ext cx="320040" cy="320040"/>
          </a:xfrm>
          <a:prstGeom prst="rect">
            <a:avLst/>
          </a:prstGeom>
        </p:spPr>
      </p:pic>
      <p:sp>
        <p:nvSpPr>
          <p:cNvPr id="26" name="Text 19"/>
          <p:cNvSpPr txBox="1"/>
          <p:nvPr/>
        </p:nvSpPr>
        <p:spPr>
          <a:xfrm>
            <a:off x="9424172"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Test reports</a:t>
            </a:r>
          </a:p>
          <a:p>
            <a:pPr marL="0" indent="0" algn="ctr">
              <a:buNone/>
            </a:pPr>
            <a:r>
              <a:rPr lang="en-US" sz="1500" b="1" dirty="0">
                <a:solidFill>
                  <a:srgbClr val="13213C"/>
                </a:solidFill>
                <a:latin typeface="Calibri" pitchFamily="34" charset="0"/>
                <a:ea typeface="Calibri" pitchFamily="34" charset="-122"/>
                <a:cs typeface="Calibri" pitchFamily="34" charset="-120"/>
              </a:rPr>
              <a:t>T</a:t>
            </a:r>
            <a:endParaRPr lang="en-US" sz="1500" dirty="0"/>
          </a:p>
        </p:txBody>
      </p:sp>
      <p:sp>
        <p:nvSpPr>
          <p:cNvPr id="27" name="Text 20"/>
          <p:cNvSpPr txBox="1"/>
          <p:nvPr/>
        </p:nvSpPr>
        <p:spPr>
          <a:xfrm>
            <a:off x="9424172"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8" name="Text 21"/>
          <p:cNvSpPr txBox="1"/>
          <p:nvPr/>
        </p:nvSpPr>
        <p:spPr>
          <a:xfrm>
            <a:off x="548640" y="3063240"/>
            <a:ext cx="6492240" cy="2377440"/>
          </a:xfrm>
          <a:prstGeom prst="rect">
            <a:avLst/>
          </a:prstGeom>
          <a:noFill/>
          <a:ln/>
        </p:spPr>
        <p:txBody>
          <a:bodyPr wrap="square" lIns="0" tIns="0" rIns="0" bIns="0" rtlCol="0" anchor="t"/>
          <a:lstStyle/>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Every release, every spec change: </a:t>
            </a:r>
            <a:r>
              <a:rPr lang="en-US" sz="1700" dirty="0">
                <a:solidFill>
                  <a:srgbClr val="1E2533"/>
                </a:solidFill>
                <a:latin typeface="Calibri" pitchFamily="34" charset="0"/>
                <a:ea typeface="Calibri" pitchFamily="34" charset="-122"/>
                <a:cs typeface="Calibri" pitchFamily="34" charset="-120"/>
              </a:rPr>
              <a:t>test cases and scripts are re-written for web, API and security testing</a:t>
            </a:r>
            <a:endParaRPr lang="en-US" sz="1700" dirty="0"/>
          </a:p>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LLMs can now read specifications and write tests [27], </a:t>
            </a:r>
            <a:r>
              <a:rPr lang="en-US" sz="1700" dirty="0">
                <a:solidFill>
                  <a:srgbClr val="1E2533"/>
                </a:solidFill>
                <a:latin typeface="Calibri" pitchFamily="34" charset="0"/>
                <a:ea typeface="Calibri" pitchFamily="34" charset="-122"/>
                <a:cs typeface="Calibri" pitchFamily="34" charset="-120"/>
              </a:rPr>
              <a:t>which makes end-to-end automation possible</a:t>
            </a:r>
            <a:endParaRPr lang="en-US" sz="1700" dirty="0"/>
          </a:p>
        </p:txBody>
      </p:sp>
      <p:sp>
        <p:nvSpPr>
          <p:cNvPr id="29" name="Shape 22"/>
          <p:cNvSpPr/>
          <p:nvPr/>
        </p:nvSpPr>
        <p:spPr>
          <a:xfrm>
            <a:off x="7315200" y="3063240"/>
            <a:ext cx="4325112" cy="1280160"/>
          </a:xfrm>
          <a:prstGeom prst="roundRect">
            <a:avLst>
              <a:gd name="adj" fmla="val 4898"/>
            </a:avLst>
          </a:prstGeom>
          <a:solidFill>
            <a:srgbClr val="EEF0FE"/>
          </a:solidFill>
          <a:ln w="12700">
            <a:solidFill>
              <a:srgbClr val="EEF0FE"/>
            </a:solidFill>
            <a:prstDash val="solid"/>
          </a:ln>
        </p:spPr>
        <p:txBody>
          <a:bodyPr/>
          <a:lstStyle/>
          <a:p>
            <a:endParaRPr lang="en-US"/>
          </a:p>
        </p:txBody>
      </p:sp>
      <p:sp>
        <p:nvSpPr>
          <p:cNvPr id="30" name="Text 23"/>
          <p:cNvSpPr txBox="1"/>
          <p:nvPr/>
        </p:nvSpPr>
        <p:spPr>
          <a:xfrm>
            <a:off x="7589520" y="3246120"/>
            <a:ext cx="3840480" cy="365760"/>
          </a:xfrm>
          <a:prstGeom prst="rect">
            <a:avLst/>
          </a:prstGeom>
          <a:noFill/>
          <a:ln/>
        </p:spPr>
        <p:txBody>
          <a:bodyPr wrap="square" lIns="0" tIns="0" rIns="0" bIns="0" rtlCol="0" anchor="t"/>
          <a:lstStyle/>
          <a:p>
            <a:pPr marL="0" indent="0">
              <a:buNone/>
            </a:pPr>
            <a:r>
              <a:rPr lang="en-US" sz="1600" b="1" dirty="0">
                <a:solidFill>
                  <a:srgbClr val="4F46E5"/>
                </a:solidFill>
                <a:latin typeface="Calibri" pitchFamily="34" charset="0"/>
                <a:ea typeface="Calibri" pitchFamily="34" charset="-122"/>
                <a:cs typeface="Calibri" pitchFamily="34" charset="-120"/>
              </a:rPr>
              <a:t>Goal</a:t>
            </a:r>
          </a:p>
        </p:txBody>
      </p:sp>
      <p:sp>
        <p:nvSpPr>
          <p:cNvPr id="31" name="Text 24"/>
          <p:cNvSpPr txBox="1"/>
          <p:nvPr/>
        </p:nvSpPr>
        <p:spPr>
          <a:xfrm>
            <a:off x="7589520" y="3535680"/>
            <a:ext cx="3840480" cy="701040"/>
          </a:xfrm>
          <a:prstGeom prst="rect">
            <a:avLst/>
          </a:prstGeom>
          <a:noFill/>
          <a:ln/>
        </p:spPr>
        <p:txBody>
          <a:bodyPr wrap="square" lIns="0" tIns="0" rIns="0" bIns="0" rtlCol="0" anchor="t"/>
          <a:lstStyle/>
          <a:p>
            <a:pPr marL="0" indent="0">
              <a:lnSpc>
                <a:spcPct val="150000"/>
              </a:lnSpc>
              <a:buNone/>
            </a:pPr>
            <a:r>
              <a:rPr lang="en-US" sz="1500" dirty="0">
                <a:solidFill>
                  <a:srgbClr val="1E2533"/>
                </a:solidFill>
                <a:latin typeface="Calibri" pitchFamily="34" charset="0"/>
                <a:ea typeface="Calibri" pitchFamily="34" charset="-122"/>
                <a:cs typeface="Calibri" pitchFamily="34" charset="-120"/>
              </a:rPr>
              <a:t>One pipeline from requirement document to test reports using LLM</a:t>
            </a:r>
          </a:p>
        </p:txBody>
      </p:sp>
      <p:sp>
        <p:nvSpPr>
          <p:cNvPr id="32" name="Text 25"/>
          <p:cNvSpPr txBox="1"/>
          <p:nvPr/>
        </p:nvSpPr>
        <p:spPr>
          <a:xfrm>
            <a:off x="548640" y="5897880"/>
            <a:ext cx="11094415" cy="5303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3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IMPLEMENTATION 1</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QA-Flow: </a:t>
            </a:r>
            <a:r>
              <a:rPr lang="en-US" dirty="0"/>
              <a:t>F</a:t>
            </a:r>
            <a:r>
              <a:rPr lang="en-US" sz="3000" b="1" dirty="0">
                <a:solidFill>
                  <a:srgbClr val="13213C"/>
                </a:solidFill>
                <a:latin typeface="Cambria" pitchFamily="34" charset="0"/>
                <a:ea typeface="Cambria" pitchFamily="34" charset="-122"/>
                <a:cs typeface="Cambria" pitchFamily="34" charset="-120"/>
              </a:rPr>
              <a:t>rom a requirements document to test report</a:t>
            </a:r>
            <a:endParaRPr lang="en-US" sz="3000" dirty="0"/>
          </a:p>
        </p:txBody>
      </p:sp>
      <p:sp>
        <p:nvSpPr>
          <p:cNvPr id="4" name="Shape 2"/>
          <p:cNvSpPr/>
          <p:nvPr/>
        </p:nvSpPr>
        <p:spPr>
          <a:xfrm>
            <a:off x="1153135"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313155" y="1485900"/>
            <a:ext cx="320040" cy="320040"/>
          </a:xfrm>
          <a:prstGeom prst="rect">
            <a:avLst/>
          </a:prstGeom>
        </p:spPr>
      </p:pic>
      <p:sp>
        <p:nvSpPr>
          <p:cNvPr id="6" name="Text 3"/>
          <p:cNvSpPr txBox="1"/>
          <p:nvPr/>
        </p:nvSpPr>
        <p:spPr>
          <a:xfrm>
            <a:off x="548640"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8" name="Shape 5"/>
          <p:cNvSpPr/>
          <p:nvPr/>
        </p:nvSpPr>
        <p:spPr>
          <a:xfrm>
            <a:off x="1930375"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002204"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162224" y="1485900"/>
            <a:ext cx="320040" cy="320040"/>
          </a:xfrm>
          <a:prstGeom prst="rect">
            <a:avLst/>
          </a:prstGeom>
        </p:spPr>
      </p:pic>
      <p:sp>
        <p:nvSpPr>
          <p:cNvPr id="11" name="Text 7"/>
          <p:cNvSpPr txBox="1"/>
          <p:nvPr/>
        </p:nvSpPr>
        <p:spPr>
          <a:xfrm>
            <a:off x="2397709"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3" name="Shape 9"/>
          <p:cNvSpPr/>
          <p:nvPr/>
        </p:nvSpPr>
        <p:spPr>
          <a:xfrm>
            <a:off x="3779444"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4851273"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011293" y="1485900"/>
            <a:ext cx="320040" cy="320040"/>
          </a:xfrm>
          <a:prstGeom prst="rect">
            <a:avLst/>
          </a:prstGeom>
        </p:spPr>
      </p:pic>
      <p:sp>
        <p:nvSpPr>
          <p:cNvPr id="16" name="Text 11"/>
          <p:cNvSpPr txBox="1"/>
          <p:nvPr/>
        </p:nvSpPr>
        <p:spPr>
          <a:xfrm>
            <a:off x="424677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8" name="Shape 13"/>
          <p:cNvSpPr/>
          <p:nvPr/>
        </p:nvSpPr>
        <p:spPr>
          <a:xfrm>
            <a:off x="5628513"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6700342"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860362" y="1485900"/>
            <a:ext cx="320040" cy="320040"/>
          </a:xfrm>
          <a:prstGeom prst="rect">
            <a:avLst/>
          </a:prstGeom>
        </p:spPr>
      </p:pic>
      <p:sp>
        <p:nvSpPr>
          <p:cNvPr id="21" name="Text 15"/>
          <p:cNvSpPr txBox="1"/>
          <p:nvPr/>
        </p:nvSpPr>
        <p:spPr>
          <a:xfrm>
            <a:off x="609584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23" name="Shape 17"/>
          <p:cNvSpPr/>
          <p:nvPr/>
        </p:nvSpPr>
        <p:spPr>
          <a:xfrm>
            <a:off x="7477582"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854941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8709431" y="1485900"/>
            <a:ext cx="320040" cy="320040"/>
          </a:xfrm>
          <a:prstGeom prst="rect">
            <a:avLst/>
          </a:prstGeom>
        </p:spPr>
      </p:pic>
      <p:sp>
        <p:nvSpPr>
          <p:cNvPr id="26" name="Text 19"/>
          <p:cNvSpPr txBox="1"/>
          <p:nvPr/>
        </p:nvSpPr>
        <p:spPr>
          <a:xfrm>
            <a:off x="7944917"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8" name="Shape 21"/>
          <p:cNvSpPr/>
          <p:nvPr/>
        </p:nvSpPr>
        <p:spPr>
          <a:xfrm>
            <a:off x="9326651"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9" name="Shape 22"/>
          <p:cNvSpPr/>
          <p:nvPr/>
        </p:nvSpPr>
        <p:spPr>
          <a:xfrm>
            <a:off x="1039848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10558501" y="1485900"/>
            <a:ext cx="320040" cy="320040"/>
          </a:xfrm>
          <a:prstGeom prst="rect">
            <a:avLst/>
          </a:prstGeom>
        </p:spPr>
      </p:pic>
      <p:sp>
        <p:nvSpPr>
          <p:cNvPr id="31" name="Text 23"/>
          <p:cNvSpPr txBox="1"/>
          <p:nvPr/>
        </p:nvSpPr>
        <p:spPr>
          <a:xfrm>
            <a:off x="9793986"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33" name="Shape 25"/>
          <p:cNvSpPr/>
          <p:nvPr/>
        </p:nvSpPr>
        <p:spPr>
          <a:xfrm>
            <a:off x="548640" y="2926080"/>
            <a:ext cx="5440680" cy="2926080"/>
          </a:xfrm>
          <a:prstGeom prst="roundRect">
            <a:avLst>
              <a:gd name="adj" fmla="val 3750"/>
            </a:avLst>
          </a:prstGeom>
          <a:solidFill>
            <a:srgbClr val="F2F5F9"/>
          </a:solidFill>
          <a:ln w="12700">
            <a:solidFill>
              <a:srgbClr val="F2F5F9"/>
            </a:solidFill>
            <a:prstDash val="solid"/>
          </a:ln>
        </p:spPr>
        <p:txBody>
          <a:bodyPr/>
          <a:lstStyle/>
          <a:p>
            <a:endParaRPr lang="en-US"/>
          </a:p>
        </p:txBody>
      </p:sp>
      <p:sp>
        <p:nvSpPr>
          <p:cNvPr id="34" name="Text 26"/>
          <p:cNvSpPr txBox="1"/>
          <p:nvPr/>
        </p:nvSpPr>
        <p:spPr>
          <a:xfrm>
            <a:off x="822960" y="309067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Trust: hand-written rules</a:t>
            </a:r>
            <a:endParaRPr lang="en-US" sz="1700" dirty="0"/>
          </a:p>
        </p:txBody>
      </p:sp>
      <p:sp>
        <p:nvSpPr>
          <p:cNvPr id="35" name="Text 27"/>
          <p:cNvSpPr txBox="1"/>
          <p:nvPr/>
        </p:nvSpPr>
        <p:spPr>
          <a:xfrm>
            <a:off x="822960"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Evidence required</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Uncertainty is flagged</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Fault-injection gate: every passing test is re-run on broken builds</a:t>
            </a:r>
            <a:endParaRPr lang="en-US" sz="1500" dirty="0"/>
          </a:p>
        </p:txBody>
      </p:sp>
      <p:sp>
        <p:nvSpPr>
          <p:cNvPr id="36" name="Shape 28"/>
          <p:cNvSpPr/>
          <p:nvPr/>
        </p:nvSpPr>
        <p:spPr>
          <a:xfrm>
            <a:off x="6199632" y="2926080"/>
            <a:ext cx="5440680" cy="2926080"/>
          </a:xfrm>
          <a:prstGeom prst="roundRect">
            <a:avLst>
              <a:gd name="adj" fmla="val 3750"/>
            </a:avLst>
          </a:prstGeom>
          <a:solidFill>
            <a:srgbClr val="EEF0FE"/>
          </a:solidFill>
          <a:ln w="12700">
            <a:solidFill>
              <a:srgbClr val="EEF0FE"/>
            </a:solidFill>
            <a:prstDash val="solid"/>
          </a:ln>
        </p:spPr>
        <p:txBody>
          <a:bodyPr/>
          <a:lstStyle/>
          <a:p>
            <a:endParaRPr lang="en-US"/>
          </a:p>
        </p:txBody>
      </p:sp>
      <p:sp>
        <p:nvSpPr>
          <p:cNvPr id="37" name="Text 29"/>
          <p:cNvSpPr txBox="1"/>
          <p:nvPr/>
        </p:nvSpPr>
        <p:spPr>
          <a:xfrm>
            <a:off x="6473952" y="3090672"/>
            <a:ext cx="4937760" cy="365760"/>
          </a:xfrm>
          <a:prstGeom prst="rect">
            <a:avLst/>
          </a:prstGeom>
          <a:noFill/>
          <a:ln/>
        </p:spPr>
        <p:txBody>
          <a:bodyPr wrap="square" lIns="0" tIns="0" rIns="0" bIns="0" rtlCol="0" anchor="t"/>
          <a:lstStyle/>
          <a:p>
            <a:pPr marL="0" indent="0">
              <a:buNone/>
            </a:pPr>
            <a:r>
              <a:rPr lang="en-US" sz="1700" b="1" dirty="0">
                <a:solidFill>
                  <a:srgbClr val="4F46E5"/>
                </a:solidFill>
                <a:latin typeface="Calibri" pitchFamily="34" charset="0"/>
                <a:ea typeface="Calibri" pitchFamily="34" charset="-122"/>
                <a:cs typeface="Calibri" pitchFamily="34" charset="-120"/>
              </a:rPr>
              <a:t>Demo application: A shopping website</a:t>
            </a:r>
            <a:endParaRPr lang="en-US" sz="1700" dirty="0"/>
          </a:p>
        </p:txBody>
      </p:sp>
      <p:sp>
        <p:nvSpPr>
          <p:cNvPr id="38" name="Text 30"/>
          <p:cNvSpPr txBox="1"/>
          <p:nvPr/>
        </p:nvSpPr>
        <p:spPr>
          <a:xfrm>
            <a:off x="6473952"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Inputs: Software Requirement Specifications (SRS)</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Web, API, Security Testing</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LLM: Chat GPT</a:t>
            </a:r>
            <a:endParaRPr lang="en-US" sz="1500" dirty="0"/>
          </a:p>
        </p:txBody>
      </p:sp>
      <p:sp>
        <p:nvSpPr>
          <p:cNvPr id="3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DEMO 1</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Demo 1: QA-Flow Tool</a:t>
            </a:r>
            <a:endParaRPr lang="en-US" sz="30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txBody>
          <a:bodyPr/>
          <a:lstStyle/>
          <a:p>
            <a:endParaRPr lang="en-US"/>
          </a:p>
        </p:txBody>
      </p:sp>
      <p:sp>
        <p:nvSpPr>
          <p:cNvPr id="6" name="Text 3"/>
          <p:cNvSpPr txBox="1"/>
          <p:nvPr/>
        </p:nvSpPr>
        <p:spPr>
          <a:xfrm>
            <a:off x="8641080" y="1463040"/>
            <a:ext cx="24688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Six stages run live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Analyst extracts requirements as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Designer writes web, API and security tests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Code compiles them to Playwright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Gate re-runs tests on 13 broken builds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Report with drafted bugs</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1 min 35 s · recorded from the running tool (long waits sped up)</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DEMO 1 RESULTS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Valid-looking AI tests can still be wrong</a:t>
            </a:r>
            <a:endParaRPr lang="en-US" sz="3000" dirty="0"/>
          </a:p>
        </p:txBody>
      </p:sp>
      <p:sp>
        <p:nvSpPr>
          <p:cNvPr id="4" name="Shape 2"/>
          <p:cNvSpPr/>
          <p:nvPr/>
        </p:nvSpPr>
        <p:spPr>
          <a:xfrm>
            <a:off x="548640" y="1325880"/>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777240" y="1417320"/>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34</a:t>
            </a:r>
            <a:endParaRPr lang="en-US" sz="4000" dirty="0"/>
          </a:p>
        </p:txBody>
      </p:sp>
      <p:sp>
        <p:nvSpPr>
          <p:cNvPr id="6" name="Text 4"/>
          <p:cNvSpPr txBox="1"/>
          <p:nvPr/>
        </p:nvSpPr>
        <p:spPr>
          <a:xfrm>
            <a:off x="777240" y="2176272"/>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requirements</a:t>
            </a:r>
            <a:endParaRPr lang="en-US" sz="1500" dirty="0"/>
          </a:p>
        </p:txBody>
      </p:sp>
      <p:sp>
        <p:nvSpPr>
          <p:cNvPr id="7" name="Text 5"/>
          <p:cNvSpPr txBox="1"/>
          <p:nvPr/>
        </p:nvSpPr>
        <p:spPr>
          <a:xfrm>
            <a:off x="777240" y="2496312"/>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read from the specification</a:t>
            </a:r>
            <a:endParaRPr lang="en-US" sz="1100" dirty="0"/>
          </a:p>
        </p:txBody>
      </p:sp>
      <p:sp>
        <p:nvSpPr>
          <p:cNvPr id="8" name="Shape 6"/>
          <p:cNvSpPr/>
          <p:nvPr/>
        </p:nvSpPr>
        <p:spPr>
          <a:xfrm>
            <a:off x="3364992" y="1325880"/>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3593592" y="1417320"/>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62</a:t>
            </a:r>
            <a:endParaRPr lang="en-US" sz="4000" dirty="0"/>
          </a:p>
        </p:txBody>
      </p:sp>
      <p:sp>
        <p:nvSpPr>
          <p:cNvPr id="10" name="Text 8"/>
          <p:cNvSpPr txBox="1"/>
          <p:nvPr/>
        </p:nvSpPr>
        <p:spPr>
          <a:xfrm>
            <a:off x="3593592" y="2176272"/>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tests created</a:t>
            </a:r>
            <a:endParaRPr lang="en-US" sz="1500" dirty="0"/>
          </a:p>
        </p:txBody>
      </p:sp>
      <p:sp>
        <p:nvSpPr>
          <p:cNvPr id="11" name="Text 9"/>
          <p:cNvSpPr txBox="1"/>
          <p:nvPr/>
        </p:nvSpPr>
        <p:spPr>
          <a:xfrm>
            <a:off x="3593592" y="2496312"/>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website 23 · API 26 · security 13</a:t>
            </a:r>
            <a:endParaRPr lang="en-US" sz="1100" dirty="0"/>
          </a:p>
        </p:txBody>
      </p:sp>
      <p:sp>
        <p:nvSpPr>
          <p:cNvPr id="12" name="Shape 10"/>
          <p:cNvSpPr/>
          <p:nvPr/>
        </p:nvSpPr>
        <p:spPr>
          <a:xfrm>
            <a:off x="6181344" y="1325880"/>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6409944" y="1417320"/>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18</a:t>
            </a:r>
            <a:endParaRPr lang="en-US" sz="4000" dirty="0"/>
          </a:p>
        </p:txBody>
      </p:sp>
      <p:sp>
        <p:nvSpPr>
          <p:cNvPr id="14" name="Text 12"/>
          <p:cNvSpPr txBox="1"/>
          <p:nvPr/>
        </p:nvSpPr>
        <p:spPr>
          <a:xfrm>
            <a:off x="6409944" y="2176272"/>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reported failures</a:t>
            </a:r>
            <a:endParaRPr lang="en-US" sz="1500" dirty="0"/>
          </a:p>
        </p:txBody>
      </p:sp>
      <p:sp>
        <p:nvSpPr>
          <p:cNvPr id="15" name="Text 13"/>
          <p:cNvSpPr txBox="1"/>
          <p:nvPr/>
        </p:nvSpPr>
        <p:spPr>
          <a:xfrm>
            <a:off x="6409944" y="2496312"/>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6 were false alarms</a:t>
            </a:r>
            <a:endParaRPr lang="en-US" sz="1100" dirty="0"/>
          </a:p>
        </p:txBody>
      </p:sp>
      <p:sp>
        <p:nvSpPr>
          <p:cNvPr id="20" name="Shape 18"/>
          <p:cNvSpPr/>
          <p:nvPr/>
        </p:nvSpPr>
        <p:spPr>
          <a:xfrm>
            <a:off x="548640" y="3337560"/>
            <a:ext cx="5440680" cy="2606040"/>
          </a:xfrm>
          <a:prstGeom prst="roundRect">
            <a:avLst>
              <a:gd name="adj" fmla="val 4211"/>
            </a:avLst>
          </a:prstGeom>
          <a:solidFill>
            <a:srgbClr val="E7F4EC"/>
          </a:solidFill>
          <a:ln w="12700">
            <a:solidFill>
              <a:srgbClr val="E7F4EC"/>
            </a:solidFill>
            <a:prstDash val="solid"/>
          </a:ln>
        </p:spPr>
        <p:txBody>
          <a:bodyPr/>
          <a:lstStyle/>
          <a:p>
            <a:endParaRPr lang="en-US"/>
          </a:p>
        </p:txBody>
      </p:sp>
      <p:sp>
        <p:nvSpPr>
          <p:cNvPr id="21" name="Text 19"/>
          <p:cNvSpPr txBox="1"/>
          <p:nvPr/>
        </p:nvSpPr>
        <p:spPr>
          <a:xfrm>
            <a:off x="822960" y="3474720"/>
            <a:ext cx="4937760" cy="365760"/>
          </a:xfrm>
          <a:prstGeom prst="rect">
            <a:avLst/>
          </a:prstGeom>
          <a:noFill/>
          <a:ln/>
        </p:spPr>
        <p:txBody>
          <a:bodyPr wrap="square" lIns="0" tIns="0" rIns="0" bIns="0" rtlCol="0" anchor="t"/>
          <a:lstStyle/>
          <a:p>
            <a:pPr marL="0" indent="0">
              <a:buNone/>
            </a:pPr>
            <a:r>
              <a:rPr lang="en-US" sz="1600" b="1" dirty="0">
                <a:solidFill>
                  <a:srgbClr val="2E8B57"/>
                </a:solidFill>
                <a:latin typeface="Calibri" pitchFamily="34" charset="0"/>
                <a:ea typeface="Calibri" pitchFamily="34" charset="-122"/>
                <a:cs typeface="Calibri" pitchFamily="34" charset="-120"/>
              </a:rPr>
              <a:t>What it found correctly</a:t>
            </a:r>
            <a:endParaRPr lang="en-US" sz="1600" dirty="0"/>
          </a:p>
        </p:txBody>
      </p:sp>
      <p:sp>
        <p:nvSpPr>
          <p:cNvPr id="22" name="Text 20"/>
          <p:cNvSpPr txBox="1"/>
          <p:nvPr/>
        </p:nvSpPr>
        <p:spPr>
          <a:xfrm>
            <a:off x="822960"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 missing product caused a system error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Invalid quantities were accepted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Important security protection was missing</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Search accepted malicious input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Login revealed registered email addresses</a:t>
            </a:r>
            <a:endParaRPr lang="en-US" sz="1300" dirty="0"/>
          </a:p>
        </p:txBody>
      </p:sp>
      <p:sp>
        <p:nvSpPr>
          <p:cNvPr id="23" name="Shape 21"/>
          <p:cNvSpPr/>
          <p:nvPr/>
        </p:nvSpPr>
        <p:spPr>
          <a:xfrm>
            <a:off x="6199632" y="3337560"/>
            <a:ext cx="5440680" cy="2606040"/>
          </a:xfrm>
          <a:prstGeom prst="roundRect">
            <a:avLst>
              <a:gd name="adj" fmla="val 4211"/>
            </a:avLst>
          </a:prstGeom>
          <a:solidFill>
            <a:srgbClr val="FDECEA"/>
          </a:solidFill>
          <a:ln w="12700">
            <a:solidFill>
              <a:srgbClr val="FDECEA"/>
            </a:solidFill>
            <a:prstDash val="solid"/>
          </a:ln>
        </p:spPr>
        <p:txBody>
          <a:bodyPr/>
          <a:lstStyle/>
          <a:p>
            <a:endParaRPr lang="en-US"/>
          </a:p>
        </p:txBody>
      </p:sp>
      <p:sp>
        <p:nvSpPr>
          <p:cNvPr id="24" name="Text 22"/>
          <p:cNvSpPr txBox="1"/>
          <p:nvPr/>
        </p:nvSpPr>
        <p:spPr>
          <a:xfrm>
            <a:off x="6473952" y="3474720"/>
            <a:ext cx="4937760" cy="365760"/>
          </a:xfrm>
          <a:prstGeom prst="rect">
            <a:avLst/>
          </a:prstGeom>
          <a:noFill/>
          <a:ln/>
        </p:spPr>
        <p:txBody>
          <a:bodyPr wrap="square" lIns="0" tIns="0" rIns="0" bIns="0" rtlCol="0" anchor="t"/>
          <a:lstStyle/>
          <a:p>
            <a:pPr marL="0" indent="0">
              <a:buNone/>
            </a:pPr>
            <a:r>
              <a:rPr lang="en-US" sz="1600" b="1" dirty="0">
                <a:solidFill>
                  <a:srgbClr val="C8463D"/>
                </a:solidFill>
                <a:latin typeface="Calibri" pitchFamily="34" charset="0"/>
                <a:ea typeface="Calibri" pitchFamily="34" charset="-122"/>
                <a:cs typeface="Calibri" pitchFamily="34" charset="-120"/>
              </a:rPr>
              <a:t>The unresolved problem</a:t>
            </a:r>
            <a:endParaRPr lang="en-US" sz="1600" dirty="0"/>
          </a:p>
        </p:txBody>
      </p:sp>
      <p:sp>
        <p:nvSpPr>
          <p:cNvPr id="25" name="Text 23"/>
          <p:cNvSpPr txBox="1"/>
          <p:nvPr/>
        </p:nvSpPr>
        <p:spPr>
          <a:xfrm>
            <a:off x="6473952"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After the known bugs were fixed, 6 of 18 failed tests still failed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errors were in the AI-generated tests—not in the application</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Existing trust checks accepted all six as valid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We therefore need a way to identify unreliable tests before trusting them</a:t>
            </a:r>
            <a:endParaRPr lang="en-US" sz="1300" dirty="0"/>
          </a:p>
        </p:txBody>
      </p:sp>
      <p:sp>
        <p:nvSpPr>
          <p:cNvPr id="26" name="Text 24"/>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Evidence: after the known defects were fixed, 6 of the 18 failed tests still failed—confirming that those tests were wrong.</a:t>
            </a:r>
            <a:endParaRPr lang="en-US" sz="1000" dirty="0"/>
          </a:p>
        </p:txBody>
      </p:sp>
      <p:sp>
        <p:nvSpPr>
          <p:cNvPr id="2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5</a:t>
            </a:fld>
            <a:endParaRPr lang="en-US"/>
          </a:p>
        </p:txBody>
      </p:sp>
    </p:spTree>
    <p:extLst>
      <p:ext uri="{BB962C8B-B14F-4D97-AF65-F5344CB8AC3E}">
        <p14:creationId xmlns:p14="http://schemas.microsoft.com/office/powerpoint/2010/main" val="890787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MOTIVATION 2</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In safety-critical systems, a wrong test can create a safety risk</a:t>
            </a:r>
            <a:endParaRPr lang="en-US" sz="3000" dirty="0"/>
          </a:p>
        </p:txBody>
      </p:sp>
      <p:sp>
        <p:nvSpPr>
          <p:cNvPr id="4" name="Text 2"/>
          <p:cNvSpPr txBox="1"/>
          <p:nvPr/>
        </p:nvSpPr>
        <p:spPr>
          <a:xfrm>
            <a:off x="548640" y="1444752"/>
            <a:ext cx="6227064" cy="1655064"/>
          </a:xfrm>
          <a:prstGeom prst="rect">
            <a:avLst/>
          </a:prstGeom>
          <a:noFill/>
          <a:ln/>
        </p:spPr>
        <p:txBody>
          <a:bodyPr wrap="square" lIns="0" tIns="0" rIns="0" bIns="0" rtlCol="0" anchor="t"/>
          <a:lstStyle/>
          <a:p>
            <a:pPr marL="177800" indent="-177800">
              <a:buSzPct val="100000"/>
              <a:buChar char="•"/>
            </a:pPr>
            <a:r>
              <a:rPr lang="en-US" sz="1800" b="0" dirty="0">
                <a:solidFill>
                  <a:srgbClr val="1E2533"/>
                </a:solidFill>
                <a:latin typeface="Calibri" pitchFamily="34" charset="0"/>
                <a:ea typeface="Calibri" pitchFamily="34" charset="-122"/>
                <a:cs typeface="Calibri" pitchFamily="34" charset="-120"/>
              </a:rPr>
              <a:t>Demo 1 showed that an AI-generated test can pass every check and still be wrong</a:t>
            </a:r>
            <a:endParaRPr lang="en-US" sz="1800" dirty="0"/>
          </a:p>
          <a:p>
            <a:pPr marL="177800" indent="-177800">
              <a:buSzPct val="100000"/>
              <a:buChar char="•"/>
            </a:pPr>
            <a:r>
              <a:rPr lang="en-US" sz="1800" b="0" dirty="0">
                <a:solidFill>
                  <a:srgbClr val="1E2533"/>
                </a:solidFill>
                <a:latin typeface="Calibri" pitchFamily="34" charset="0"/>
                <a:ea typeface="Calibri" pitchFamily="34" charset="-122"/>
                <a:cs typeface="Calibri" pitchFamily="34" charset="-120"/>
              </a:rPr>
              <a:t>LLMs are increasingly used to create driving scenarios, test oracles, and executable tests [8, 10, 27]</a:t>
            </a:r>
            <a:endParaRPr lang="en-US" sz="1800" dirty="0"/>
          </a:p>
          <a:p>
            <a:pPr marL="177800" indent="-177800">
              <a:buSzPct val="100000"/>
              <a:buChar char="•"/>
            </a:pPr>
            <a:r>
              <a:rPr lang="en-US" sz="1800" b="0" dirty="0">
                <a:solidFill>
                  <a:srgbClr val="1E2533"/>
                </a:solidFill>
                <a:latin typeface="Calibri" pitchFamily="34" charset="0"/>
                <a:ea typeface="Calibri" pitchFamily="34" charset="-122"/>
                <a:cs typeface="Calibri" pitchFamily="34" charset="-120"/>
              </a:rPr>
              <a:t>A test may run successfully but still check the wrong scenario, use the wrong oracle, or detect no fault</a:t>
            </a:r>
            <a:endParaRPr lang="en-US" sz="1800" dirty="0"/>
          </a:p>
        </p:txBody>
      </p:sp>
      <p:sp>
        <p:nvSpPr>
          <p:cNvPr id="5" name="Shape 3"/>
          <p:cNvSpPr/>
          <p:nvPr/>
        </p:nvSpPr>
        <p:spPr>
          <a:xfrm>
            <a:off x="548640" y="3127248"/>
            <a:ext cx="1984248" cy="630936"/>
          </a:xfrm>
          <a:prstGeom prst="rect">
            <a:avLst/>
          </a:prstGeom>
          <a:solidFill>
            <a:srgbClr val="FDECEA"/>
          </a:solidFill>
          <a:ln w="12700">
            <a:solidFill>
              <a:srgbClr val="FDECEA"/>
            </a:solidFill>
            <a:prstDash val="solid"/>
          </a:ln>
        </p:spPr>
        <p:txBody>
          <a:bodyPr/>
          <a:lstStyle/>
          <a:p>
            <a:endParaRPr lang="en-US"/>
          </a:p>
        </p:txBody>
      </p:sp>
      <p:sp>
        <p:nvSpPr>
          <p:cNvPr id="6" name="Text 4"/>
          <p:cNvSpPr txBox="1"/>
          <p:nvPr/>
        </p:nvSpPr>
        <p:spPr>
          <a:xfrm>
            <a:off x="685800" y="3127248"/>
            <a:ext cx="1783080" cy="630936"/>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scenario</a:t>
            </a:r>
            <a:endParaRPr lang="en-US" sz="1500" dirty="0"/>
          </a:p>
        </p:txBody>
      </p:sp>
      <p:sp>
        <p:nvSpPr>
          <p:cNvPr id="7" name="Shape 5"/>
          <p:cNvSpPr/>
          <p:nvPr/>
        </p:nvSpPr>
        <p:spPr>
          <a:xfrm>
            <a:off x="2670048" y="3127248"/>
            <a:ext cx="1984248" cy="630936"/>
          </a:xfrm>
          <a:prstGeom prst="rect">
            <a:avLst/>
          </a:prstGeom>
          <a:solidFill>
            <a:srgbClr val="FDECEA"/>
          </a:solidFill>
          <a:ln w="12700">
            <a:solidFill>
              <a:srgbClr val="FDECEA"/>
            </a:solidFill>
            <a:prstDash val="solid"/>
          </a:ln>
        </p:spPr>
        <p:txBody>
          <a:bodyPr/>
          <a:lstStyle/>
          <a:p>
            <a:endParaRPr lang="en-US"/>
          </a:p>
        </p:txBody>
      </p:sp>
      <p:sp>
        <p:nvSpPr>
          <p:cNvPr id="8" name="Text 6"/>
          <p:cNvSpPr txBox="1"/>
          <p:nvPr/>
        </p:nvSpPr>
        <p:spPr>
          <a:xfrm>
            <a:off x="2807208" y="3127248"/>
            <a:ext cx="1783080" cy="630936"/>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oracle</a:t>
            </a:r>
            <a:endParaRPr lang="en-US" sz="1500" dirty="0"/>
          </a:p>
        </p:txBody>
      </p:sp>
      <p:sp>
        <p:nvSpPr>
          <p:cNvPr id="9" name="Shape 7"/>
          <p:cNvSpPr/>
          <p:nvPr/>
        </p:nvSpPr>
        <p:spPr>
          <a:xfrm>
            <a:off x="4791456" y="3127248"/>
            <a:ext cx="1984248" cy="630936"/>
          </a:xfrm>
          <a:prstGeom prst="rect">
            <a:avLst/>
          </a:prstGeom>
          <a:solidFill>
            <a:srgbClr val="FDECEA"/>
          </a:solidFill>
          <a:ln w="12700">
            <a:solidFill>
              <a:srgbClr val="FDECEA"/>
            </a:solidFill>
            <a:prstDash val="solid"/>
          </a:ln>
        </p:spPr>
        <p:txBody>
          <a:bodyPr/>
          <a:lstStyle/>
          <a:p>
            <a:endParaRPr lang="en-US"/>
          </a:p>
        </p:txBody>
      </p:sp>
      <p:sp>
        <p:nvSpPr>
          <p:cNvPr id="10" name="Text 8"/>
          <p:cNvSpPr txBox="1"/>
          <p:nvPr/>
        </p:nvSpPr>
        <p:spPr>
          <a:xfrm>
            <a:off x="4928616" y="3127248"/>
            <a:ext cx="1783080" cy="630936"/>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Catches no fault</a:t>
            </a:r>
            <a:endParaRPr lang="en-US" sz="1500" dirty="0"/>
          </a:p>
        </p:txBody>
      </p:sp>
      <p:sp>
        <p:nvSpPr>
          <p:cNvPr id="11" name="Text 9"/>
          <p:cNvSpPr txBox="1"/>
          <p:nvPr/>
        </p:nvSpPr>
        <p:spPr>
          <a:xfrm>
            <a:off x="548640" y="4023360"/>
            <a:ext cx="6227064" cy="1371600"/>
          </a:xfrm>
          <a:prstGeom prst="rect">
            <a:avLst/>
          </a:prstGeom>
          <a:noFill/>
          <a:ln/>
        </p:spPr>
        <p:txBody>
          <a:bodyPr wrap="square" lIns="0" tIns="0" rIns="0" bIns="0" rtlCol="0" anchor="t"/>
          <a:lstStyle/>
          <a:p>
            <a:pPr marL="177800" indent="-177800">
              <a:buSzPct val="100000"/>
              <a:buChar char="•"/>
            </a:pPr>
            <a:r>
              <a:rPr lang="en-US" sz="1800" b="0" dirty="0">
                <a:solidFill>
                  <a:srgbClr val="1E2533"/>
                </a:solidFill>
                <a:latin typeface="Calibri" pitchFamily="34" charset="0"/>
                <a:ea typeface="Calibri" pitchFamily="34" charset="-122"/>
                <a:cs typeface="Calibri" pitchFamily="34" charset="-120"/>
              </a:rPr>
              <a:t>In a web shop, a wrong test creates a false bug report; in an autonomous system, it can create false confidence in braking or collision avoidance</a:t>
            </a:r>
            <a:endParaRPr lang="en-US" sz="1800" dirty="0"/>
          </a:p>
          <a:p>
            <a:pPr marL="177800" indent="-177800">
              <a:buSzPct val="100000"/>
              <a:buChar char="•"/>
            </a:pPr>
            <a:r>
              <a:rPr lang="en-US" sz="1800" b="0" dirty="0">
                <a:solidFill>
                  <a:srgbClr val="1E2533"/>
                </a:solidFill>
                <a:latin typeface="Calibri" pitchFamily="34" charset="0"/>
                <a:ea typeface="Calibri" pitchFamily="34" charset="-122"/>
                <a:cs typeface="Calibri" pitchFamily="34" charset="-120"/>
              </a:rPr>
              <a:t>Research question: can uncertainty identify AI-generated tests that should not be trusted?</a:t>
            </a:r>
            <a:endParaRPr lang="en-US" sz="1800" dirty="0"/>
          </a:p>
        </p:txBody>
      </p:sp>
      <p:sp>
        <p:nvSpPr>
          <p:cNvPr id="12" name="Shape 10"/>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txBody>
          <a:bodyPr/>
          <a:lstStyle/>
          <a:p>
            <a:endParaRPr lang="en-US"/>
          </a:p>
        </p:txBody>
      </p:sp>
      <p:sp>
        <p:nvSpPr>
          <p:cNvPr id="13" name="Text 11"/>
          <p:cNvSpPr txBox="1"/>
          <p:nvPr/>
        </p:nvSpPr>
        <p:spPr>
          <a:xfrm>
            <a:off x="7360920" y="1645920"/>
            <a:ext cx="4023360" cy="365760"/>
          </a:xfrm>
          <a:prstGeom prst="rect">
            <a:avLst/>
          </a:prstGeom>
          <a:noFill/>
          <a:ln/>
        </p:spPr>
        <p:txBody>
          <a:bodyPr wrap="square" lIns="0" tIns="0" rIns="0" bIns="0" rtlCol="0" anchor="t"/>
          <a:lstStyle/>
          <a:p>
            <a:pPr marL="0" indent="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14" name="Text 12"/>
          <p:cNvSpPr txBox="1"/>
          <p:nvPr/>
        </p:nvSpPr>
        <p:spPr>
          <a:xfrm>
            <a:off x="7360920" y="2057400"/>
            <a:ext cx="4023360" cy="91440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15" name="Text 13"/>
          <p:cNvSpPr txBox="1"/>
          <p:nvPr/>
        </p:nvSpPr>
        <p:spPr>
          <a:xfrm>
            <a:off x="7360920" y="2971800"/>
            <a:ext cx="4023360" cy="36576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16" name="Text 14"/>
          <p:cNvSpPr txBox="1"/>
          <p:nvPr/>
        </p:nvSpPr>
        <p:spPr>
          <a:xfrm>
            <a:off x="7360920" y="3520440"/>
            <a:ext cx="4023360" cy="914400"/>
          </a:xfrm>
          <a:prstGeom prst="rect">
            <a:avLst/>
          </a:prstGeom>
          <a:noFill/>
          <a:ln/>
        </p:spPr>
        <p:txBody>
          <a:bodyPr wrap="square" lIns="0" tIns="0" rIns="0" bIns="0" rtlCol="0" anchor="t"/>
          <a:lstStyle/>
          <a:p>
            <a:pPr marL="0" indent="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17" name="Text 15"/>
          <p:cNvSpPr txBox="1"/>
          <p:nvPr/>
        </p:nvSpPr>
        <p:spPr>
          <a:xfrm>
            <a:off x="7360920" y="4434840"/>
            <a:ext cx="4023360" cy="64008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of its tests are actually correct</a:t>
            </a:r>
            <a:endParaRPr lang="en-US" sz="1400" dirty="0"/>
          </a:p>
        </p:txBody>
      </p:sp>
      <p:sp>
        <p:nvSpPr>
          <p:cNvPr id="18" name="Text 16"/>
          <p:cNvSpPr txBox="1"/>
          <p:nvPr/>
        </p:nvSpPr>
        <p:spPr>
          <a:xfrm>
            <a:off x="548640" y="5669280"/>
            <a:ext cx="11094415" cy="7589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[8] J. Wu et al., “Reality bites: Assessing the realism of driving scenarios with large language models,” Proc. IEEE/ACM FORGE,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1014421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STATE OF THE ART</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Existing work measures uncertainty—but not for executable AI-generated tests</a:t>
            </a:r>
            <a:endParaRPr lang="en-US" sz="3000" dirty="0"/>
          </a:p>
        </p:txBody>
      </p:sp>
      <p:sp>
        <p:nvSpPr>
          <p:cNvPr id="4" name="Shape 2"/>
          <p:cNvSpPr/>
          <p:nvPr/>
        </p:nvSpPr>
        <p:spPr>
          <a:xfrm>
            <a:off x="548640" y="1325880"/>
            <a:ext cx="2670048" cy="2788920"/>
          </a:xfrm>
          <a:prstGeom prst="roundRect">
            <a:avLst>
              <a:gd name="adj" fmla="val 4110"/>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731520" y="1463040"/>
            <a:ext cx="502920" cy="502920"/>
          </a:xfrm>
          <a:prstGeom prst="ellipse">
            <a:avLst/>
          </a:prstGeom>
          <a:solidFill>
            <a:srgbClr val="0F8B8D"/>
          </a:solidFill>
          <a:ln w="12700">
            <a:solidFill>
              <a:srgbClr val="0F8B8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57250" y="1588770"/>
            <a:ext cx="251460" cy="251460"/>
          </a:xfrm>
          <a:prstGeom prst="rect">
            <a:avLst/>
          </a:prstGeom>
        </p:spPr>
      </p:pic>
      <p:sp>
        <p:nvSpPr>
          <p:cNvPr id="7" name="Text 4"/>
          <p:cNvSpPr txBox="1"/>
          <p:nvPr/>
        </p:nvSpPr>
        <p:spPr>
          <a:xfrm>
            <a:off x="1325880" y="1463040"/>
            <a:ext cx="1783080" cy="50292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Uncertainty in CPS &amp; DL</a:t>
            </a:r>
            <a:endParaRPr lang="en-US" sz="1400" dirty="0"/>
          </a:p>
        </p:txBody>
      </p:sp>
      <p:sp>
        <p:nvSpPr>
          <p:cNvPr id="8" name="Text 5"/>
          <p:cNvSpPr txBox="1"/>
          <p:nvPr/>
        </p:nvSpPr>
        <p:spPr>
          <a:xfrm>
            <a:off x="731520"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U-Taxonomy, uncertainty-wise test modelling &amp; generation [3, 2, 1]</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DL prediction validator; uncertainty-wise oracles [4, 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Uncertainty &amp; quality of VLA robots [7]</a:t>
            </a:r>
            <a:endParaRPr lang="en-US" sz="1200" dirty="0"/>
          </a:p>
        </p:txBody>
      </p:sp>
      <p:sp>
        <p:nvSpPr>
          <p:cNvPr id="9" name="Shape 6"/>
          <p:cNvSpPr/>
          <p:nvPr/>
        </p:nvSpPr>
        <p:spPr>
          <a:xfrm>
            <a:off x="3364992" y="1325880"/>
            <a:ext cx="2670048" cy="2788920"/>
          </a:xfrm>
          <a:prstGeom prst="roundRect">
            <a:avLst>
              <a:gd name="adj" fmla="val 4110"/>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3547872" y="1463040"/>
            <a:ext cx="502920" cy="50292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673602" y="1588770"/>
            <a:ext cx="251460" cy="251460"/>
          </a:xfrm>
          <a:prstGeom prst="rect">
            <a:avLst/>
          </a:prstGeom>
        </p:spPr>
      </p:pic>
      <p:sp>
        <p:nvSpPr>
          <p:cNvPr id="12" name="Text 8"/>
          <p:cNvSpPr txBox="1"/>
          <p:nvPr/>
        </p:nvSpPr>
        <p:spPr>
          <a:xfrm>
            <a:off x="4142232" y="1463040"/>
            <a:ext cx="1783080" cy="50292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ADS testing &amp; falsification</a:t>
            </a:r>
            <a:endParaRPr lang="en-US" sz="1400" dirty="0"/>
          </a:p>
        </p:txBody>
      </p:sp>
      <p:sp>
        <p:nvSpPr>
          <p:cNvPr id="13" name="Text 9"/>
          <p:cNvSpPr txBox="1"/>
          <p:nvPr/>
        </p:nvSpPr>
        <p:spPr>
          <a:xfrm>
            <a:off x="3547872"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Avoidable-collision scenarios [12]</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Parameter coverage under uncertainty [13]</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Robustness-guided falsification [15, 14]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LLMs judging scenario realism [8]</a:t>
            </a:r>
            <a:endParaRPr lang="en-US" sz="1200" dirty="0"/>
          </a:p>
        </p:txBody>
      </p:sp>
      <p:sp>
        <p:nvSpPr>
          <p:cNvPr id="14" name="Shape 10"/>
          <p:cNvSpPr/>
          <p:nvPr/>
        </p:nvSpPr>
        <p:spPr>
          <a:xfrm>
            <a:off x="6181344" y="1325880"/>
            <a:ext cx="2670048" cy="2788920"/>
          </a:xfrm>
          <a:prstGeom prst="roundRect">
            <a:avLst>
              <a:gd name="adj" fmla="val 4110"/>
            </a:avLst>
          </a:prstGeom>
          <a:solidFill>
            <a:srgbClr val="F2F5F9"/>
          </a:solidFill>
          <a:ln w="12700">
            <a:solidFill>
              <a:srgbClr val="F2F5F9"/>
            </a:solidFill>
            <a:prstDash val="solid"/>
          </a:ln>
        </p:spPr>
        <p:txBody>
          <a:bodyPr/>
          <a:lstStyle/>
          <a:p>
            <a:endParaRPr lang="en-US"/>
          </a:p>
        </p:txBody>
      </p:sp>
      <p:sp>
        <p:nvSpPr>
          <p:cNvPr id="15" name="Shape 11"/>
          <p:cNvSpPr/>
          <p:nvPr/>
        </p:nvSpPr>
        <p:spPr>
          <a:xfrm>
            <a:off x="6364224" y="1463040"/>
            <a:ext cx="502920" cy="502920"/>
          </a:xfrm>
          <a:prstGeom prst="ellipse">
            <a:avLst/>
          </a:prstGeom>
          <a:solidFill>
            <a:srgbClr val="E39B2D"/>
          </a:solidFill>
          <a:ln w="12700">
            <a:solidFill>
              <a:srgbClr val="E39B2D"/>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489954" y="1588770"/>
            <a:ext cx="251460" cy="251460"/>
          </a:xfrm>
          <a:prstGeom prst="rect">
            <a:avLst/>
          </a:prstGeom>
        </p:spPr>
      </p:pic>
      <p:sp>
        <p:nvSpPr>
          <p:cNvPr id="17" name="Text 12"/>
          <p:cNvSpPr txBox="1"/>
          <p:nvPr/>
        </p:nvSpPr>
        <p:spPr>
          <a:xfrm>
            <a:off x="6958584" y="1463040"/>
            <a:ext cx="1783080" cy="50292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Oracles &amp; industrial CPS</a:t>
            </a:r>
            <a:endParaRPr lang="en-US" sz="1400" dirty="0"/>
          </a:p>
        </p:txBody>
      </p:sp>
      <p:sp>
        <p:nvSpPr>
          <p:cNvPr id="18" name="Text 13"/>
          <p:cNvSpPr txBox="1"/>
          <p:nvPr/>
        </p:nvSpPr>
        <p:spPr>
          <a:xfrm>
            <a:off x="6364224"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ML-based oracles for elevators [16]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Metamorphic relations for CPS [17]</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Elevator robustness under uncertainty [5]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Foundation models for CPS [10, 11]</a:t>
            </a:r>
            <a:endParaRPr lang="en-US" sz="1200" dirty="0"/>
          </a:p>
        </p:txBody>
      </p:sp>
      <p:sp>
        <p:nvSpPr>
          <p:cNvPr id="19" name="Shape 14"/>
          <p:cNvSpPr/>
          <p:nvPr/>
        </p:nvSpPr>
        <p:spPr>
          <a:xfrm>
            <a:off x="8997696" y="1325880"/>
            <a:ext cx="2670048" cy="2788920"/>
          </a:xfrm>
          <a:prstGeom prst="roundRect">
            <a:avLst>
              <a:gd name="adj" fmla="val 4110"/>
            </a:avLst>
          </a:prstGeom>
          <a:solidFill>
            <a:srgbClr val="F2F5F9"/>
          </a:solidFill>
          <a:ln w="12700">
            <a:solidFill>
              <a:srgbClr val="F2F5F9"/>
            </a:solidFill>
            <a:prstDash val="solid"/>
          </a:ln>
        </p:spPr>
        <p:txBody>
          <a:bodyPr/>
          <a:lstStyle/>
          <a:p>
            <a:endParaRPr lang="en-US"/>
          </a:p>
        </p:txBody>
      </p:sp>
      <p:sp>
        <p:nvSpPr>
          <p:cNvPr id="20" name="Shape 15"/>
          <p:cNvSpPr/>
          <p:nvPr/>
        </p:nvSpPr>
        <p:spPr>
          <a:xfrm>
            <a:off x="9180576" y="1463040"/>
            <a:ext cx="502920" cy="502920"/>
          </a:xfrm>
          <a:prstGeom prst="ellipse">
            <a:avLst/>
          </a:prstGeom>
          <a:solidFill>
            <a:srgbClr val="6E56CF"/>
          </a:solidFill>
          <a:ln w="12700">
            <a:solidFill>
              <a:srgbClr val="6E56C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306306" y="1588770"/>
            <a:ext cx="251460" cy="251460"/>
          </a:xfrm>
          <a:prstGeom prst="rect">
            <a:avLst/>
          </a:prstGeom>
        </p:spPr>
      </p:pic>
      <p:sp>
        <p:nvSpPr>
          <p:cNvPr id="22" name="Text 16"/>
          <p:cNvSpPr txBox="1"/>
          <p:nvPr/>
        </p:nvSpPr>
        <p:spPr>
          <a:xfrm>
            <a:off x="9774936" y="1463040"/>
            <a:ext cx="1783080" cy="50292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Uncertainty of LLM outputs</a:t>
            </a:r>
            <a:endParaRPr lang="en-US" sz="1400" dirty="0"/>
          </a:p>
        </p:txBody>
      </p:sp>
      <p:sp>
        <p:nvSpPr>
          <p:cNvPr id="23" name="Text 17"/>
          <p:cNvSpPr txBox="1"/>
          <p:nvPr/>
        </p:nvSpPr>
        <p:spPr>
          <a:xfrm>
            <a:off x="9180576"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Semantic entropy [23, 24]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Self-consistency (SelfCheckGPT) [25]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 uncertainty in SE tasks [26]</a:t>
            </a:r>
            <a:endParaRPr lang="en-US" sz="1200" dirty="0"/>
          </a:p>
        </p:txBody>
      </p:sp>
      <p:sp>
        <p:nvSpPr>
          <p:cNvPr id="24" name="Shape 18"/>
          <p:cNvSpPr/>
          <p:nvPr/>
        </p:nvSpPr>
        <p:spPr>
          <a:xfrm>
            <a:off x="548640" y="4224528"/>
            <a:ext cx="11094415" cy="502920"/>
          </a:xfrm>
          <a:prstGeom prst="roundRect">
            <a:avLst>
              <a:gd name="adj" fmla="val 21818"/>
            </a:avLst>
          </a:prstGeom>
          <a:solidFill>
            <a:srgbClr val="FFF4E0"/>
          </a:solidFill>
          <a:ln w="12700">
            <a:solidFill>
              <a:srgbClr val="FFF4E0"/>
            </a:solidFill>
            <a:prstDash val="solid"/>
          </a:ln>
        </p:spPr>
        <p:txBody>
          <a:bodyPr/>
          <a:lstStyle/>
          <a:p>
            <a:endParaRPr lang="en-US"/>
          </a:p>
        </p:txBody>
      </p:sp>
      <p:sp>
        <p:nvSpPr>
          <p:cNvPr id="25" name="Text 19"/>
          <p:cNvSpPr txBox="1"/>
          <p:nvPr/>
        </p:nvSpPr>
        <p:spPr>
          <a:xfrm>
            <a:off x="777240" y="4251960"/>
            <a:ext cx="10637215" cy="457200"/>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Demo 1 needs test-level trust estimates. Existing work covers CPS models, DNNs, robots, and LLM text—not executable tests generated by LLMs. Demo 2 addresses this gap.</a:t>
            </a:r>
            <a:endParaRPr lang="en-US" sz="1400" dirty="0"/>
          </a:p>
        </p:txBody>
      </p:sp>
      <p:sp>
        <p:nvSpPr>
          <p:cNvPr id="26" name="Text 20"/>
          <p:cNvSpPr txBox="1"/>
          <p:nvPr/>
        </p:nvSpPr>
        <p:spPr>
          <a:xfrm>
            <a:off x="548640" y="4846320"/>
            <a:ext cx="11094415" cy="1581912"/>
          </a:xfrm>
          <a:prstGeom prst="rect">
            <a:avLst/>
          </a:prstGeom>
          <a:noFill/>
          <a:ln/>
        </p:spPr>
        <p:txBody>
          <a:bodyPr wrap="square" lIns="0" tIns="0" rIns="0" bIns="0" rtlCol="0" anchor="b"/>
          <a:lstStyle/>
          <a:p>
            <a:pPr marL="0" indent="0">
              <a:buNone/>
            </a:pPr>
            <a:r>
              <a:rPr lang="en-US" sz="750" dirty="0">
                <a:solidFill>
                  <a:srgbClr val="5B6578"/>
                </a:solidFill>
                <a:latin typeface="Calibri" pitchFamily="34" charset="0"/>
                <a:ea typeface="Calibri" pitchFamily="34" charset="-122"/>
                <a:cs typeface="Calibri" pitchFamily="34" charset="-120"/>
              </a:rPr>
              <a:t>[1] M. Zhang et al., “Uncertainty-wise test case generation and minimization for cyber-physical systems,” J. Syst. Softw., 2019.   [2] M. Zhang et al., “Uncertainty-wise cyber-physical system test modeling,” Softw. Syst. Model., 2019.   [3] M. Zhang et al., “Understanding uncertainty in cyber-physical systems: A conceptual model,” Proc. ECMFA, 2016.   [4] F. O. Catak et al., “Uncertainty-aware prediction validator in deep learning models for cyber-physical system data,” ACM TOSEM, 2022.   [5] L. Han et al., “Uncertainty-aware robustness assessment of industrial elevator systems,” ACM TOSEM, 2023.   [6] P. Valle et al., “Defining and generating multi-level and uncertainty-wise test oracles for cyber-physical systems,” Softw. Syst. Model., 2025.   [7] P. Valle et al., “Evaluating uncertainty and quality of vision-language-action-enabled robots,” arXiv:2507.17049, 2025.   [8] J. Wu et al., “Reality bites: Assessing the realism of driving scenarios with large language models,” Proc. IEEE/ACM FORGE, 2024.   [10] C. Lu et al., “Foundation models for software engineering of cyber-physical systems: The road ahead,” ACM TOSEM, 2026.   [11] S. Ali et al., “Foundation models for the digital twins creation of cyber-physical systems,” Proc. ISoLA 2024, 2025.   [12] A. Calò et al., “Generating avoidable collision scenarios for testing autonomous driving systems,” Proc. IEEE ICST, 2020.   [13] T. Laurent et al., “Parameter coverage for testing of autonomous driving systems under uncertainty,” ACM TOSEM, 2023.   [14] Z. Zhang et al., “FalsifAI: Falsification of AI-enabled hybrid control systems guided by time-aware coverage criteria,” IEEE TSE, 2023.   [15] Z. Zhang et al., “Effective hybrid system falsification using Monte Carlo tree search guided by QB-robustness,” Proc. CAV, 2021.   [16] A. Arrieta et al., “Using machine learning to build test oracles: An industrial case study on elevators dispatching algorithms,” Proc. IEEE/ACM AST, 2021.   [17] J. Ayerdi et al., “Generating metamorphic relations for cyber-physical systems with genetic programming: An industrial case study,” Proc. ESEC/FSE, 2021.   [23] L. Kuhn et al., “Semantic uncertainty: Linguistic invariances for uncertainty estimation in natural language generation,” in Proc. ICLR, 2023.   [24] S. Farquhar et al., “Detecting hallucinations in large language models using semantic entropy,” Nature, 2024.   [25] P. Manakul et al., “SelfCheckGPT: Zero-resource black-box hallucination detection for generative large language models,” Proc. EMNLP, 2023.   [26] Y. Huang et al., “Look before you leap: An exploratory study of uncertainty analysis for large language models,” IEEE TSE, 2025.</a:t>
            </a:r>
            <a:endParaRPr lang="en-US" sz="750" dirty="0"/>
          </a:p>
        </p:txBody>
      </p:sp>
      <p:sp>
        <p:nvSpPr>
          <p:cNvPr id="2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Tree>
    <p:extLst>
      <p:ext uri="{BB962C8B-B14F-4D97-AF65-F5344CB8AC3E}">
        <p14:creationId xmlns:p14="http://schemas.microsoft.com/office/powerpoint/2010/main" val="1155785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Demo 2 uses uncertainty to flag tests that may be wrong</a:t>
            </a:r>
            <a:endParaRPr lang="en-US" sz="3000" dirty="0"/>
          </a:p>
        </p:txBody>
      </p:sp>
      <p:sp>
        <p:nvSpPr>
          <p:cNvPr id="4" name="Shape 2"/>
          <p:cNvSpPr/>
          <p:nvPr/>
        </p:nvSpPr>
        <p:spPr>
          <a:xfrm>
            <a:off x="603504" y="132588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1039346" y="149047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90222" y="1641348"/>
            <a:ext cx="301752" cy="301752"/>
          </a:xfrm>
          <a:prstGeom prst="rect">
            <a:avLst/>
          </a:prstGeom>
        </p:spPr>
      </p:pic>
      <p:sp>
        <p:nvSpPr>
          <p:cNvPr id="7" name="Text 4"/>
          <p:cNvSpPr txBox="1"/>
          <p:nvPr/>
        </p:nvSpPr>
        <p:spPr>
          <a:xfrm>
            <a:off x="640080" y="219456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Requirement</a:t>
            </a:r>
            <a:endParaRPr lang="en-US" sz="1500" dirty="0"/>
          </a:p>
        </p:txBody>
      </p:sp>
      <p:sp>
        <p:nvSpPr>
          <p:cNvPr id="8" name="Text 5"/>
          <p:cNvSpPr txBox="1"/>
          <p:nvPr/>
        </p:nvSpPr>
        <p:spPr>
          <a:xfrm>
            <a:off x="658368" y="256032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natural language</a:t>
            </a:r>
            <a:endParaRPr lang="en-US" sz="1200" dirty="0"/>
          </a:p>
        </p:txBody>
      </p:sp>
      <p:sp>
        <p:nvSpPr>
          <p:cNvPr id="9" name="Shape 6"/>
          <p:cNvSpPr/>
          <p:nvPr/>
        </p:nvSpPr>
        <p:spPr>
          <a:xfrm>
            <a:off x="2188420" y="132588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2624263" y="149047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775139" y="1641348"/>
            <a:ext cx="301752" cy="301752"/>
          </a:xfrm>
          <a:prstGeom prst="rect">
            <a:avLst/>
          </a:prstGeom>
        </p:spPr>
      </p:pic>
      <p:sp>
        <p:nvSpPr>
          <p:cNvPr id="12" name="Text 8"/>
          <p:cNvSpPr txBox="1"/>
          <p:nvPr/>
        </p:nvSpPr>
        <p:spPr>
          <a:xfrm>
            <a:off x="2224996" y="219456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N samples</a:t>
            </a:r>
            <a:endParaRPr lang="en-US" sz="1500" dirty="0"/>
          </a:p>
        </p:txBody>
      </p:sp>
      <p:sp>
        <p:nvSpPr>
          <p:cNvPr id="13" name="Text 9"/>
          <p:cNvSpPr txBox="1"/>
          <p:nvPr/>
        </p:nvSpPr>
        <p:spPr>
          <a:xfrm>
            <a:off x="2243284" y="256032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LLM: scenario + oracle + confidence</a:t>
            </a:r>
            <a:endParaRPr lang="en-US" sz="1200" dirty="0"/>
          </a:p>
        </p:txBody>
      </p:sp>
      <p:sp>
        <p:nvSpPr>
          <p:cNvPr id="14" name="Shape 10"/>
          <p:cNvSpPr/>
          <p:nvPr/>
        </p:nvSpPr>
        <p:spPr>
          <a:xfrm>
            <a:off x="3773337" y="132588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5" name="Shape 11"/>
          <p:cNvSpPr/>
          <p:nvPr/>
        </p:nvSpPr>
        <p:spPr>
          <a:xfrm>
            <a:off x="4209179" y="149047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360055" y="1641348"/>
            <a:ext cx="301752" cy="301752"/>
          </a:xfrm>
          <a:prstGeom prst="rect">
            <a:avLst/>
          </a:prstGeom>
        </p:spPr>
      </p:pic>
      <p:sp>
        <p:nvSpPr>
          <p:cNvPr id="17" name="Text 12"/>
          <p:cNvSpPr txBox="1"/>
          <p:nvPr/>
        </p:nvSpPr>
        <p:spPr>
          <a:xfrm>
            <a:off x="3809913" y="219456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Rule gate</a:t>
            </a:r>
            <a:endParaRPr lang="en-US" sz="1500" dirty="0"/>
          </a:p>
        </p:txBody>
      </p:sp>
      <p:sp>
        <p:nvSpPr>
          <p:cNvPr id="18" name="Text 13"/>
          <p:cNvSpPr txBox="1"/>
          <p:nvPr/>
        </p:nvSpPr>
        <p:spPr>
          <a:xfrm>
            <a:off x="3828201" y="256032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schema &amp; physics (from QA-Flow)</a:t>
            </a:r>
            <a:endParaRPr lang="en-US" sz="1200" dirty="0"/>
          </a:p>
        </p:txBody>
      </p:sp>
      <p:sp>
        <p:nvSpPr>
          <p:cNvPr id="19" name="Shape 14"/>
          <p:cNvSpPr/>
          <p:nvPr/>
        </p:nvSpPr>
        <p:spPr>
          <a:xfrm>
            <a:off x="5358253" y="132588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0" name="Shape 15"/>
          <p:cNvSpPr/>
          <p:nvPr/>
        </p:nvSpPr>
        <p:spPr>
          <a:xfrm>
            <a:off x="5794096" y="149047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5944972" y="1641348"/>
            <a:ext cx="301752" cy="301752"/>
          </a:xfrm>
          <a:prstGeom prst="rect">
            <a:avLst/>
          </a:prstGeom>
        </p:spPr>
      </p:pic>
      <p:sp>
        <p:nvSpPr>
          <p:cNvPr id="22" name="Text 16"/>
          <p:cNvSpPr txBox="1"/>
          <p:nvPr/>
        </p:nvSpPr>
        <p:spPr>
          <a:xfrm>
            <a:off x="5394829" y="219456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Simulate</a:t>
            </a:r>
            <a:endParaRPr lang="en-US" sz="1500" dirty="0"/>
          </a:p>
        </p:txBody>
      </p:sp>
      <p:sp>
        <p:nvSpPr>
          <p:cNvPr id="23" name="Text 17"/>
          <p:cNvSpPr txBox="1"/>
          <p:nvPr/>
        </p:nvSpPr>
        <p:spPr>
          <a:xfrm>
            <a:off x="5413117" y="256032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highway-env, ACC/AEB SUT</a:t>
            </a:r>
            <a:endParaRPr lang="en-US" sz="1200" dirty="0"/>
          </a:p>
        </p:txBody>
      </p:sp>
      <p:sp>
        <p:nvSpPr>
          <p:cNvPr id="24" name="Shape 18"/>
          <p:cNvSpPr/>
          <p:nvPr/>
        </p:nvSpPr>
        <p:spPr>
          <a:xfrm>
            <a:off x="6943170" y="132588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5" name="Shape 19"/>
          <p:cNvSpPr/>
          <p:nvPr/>
        </p:nvSpPr>
        <p:spPr>
          <a:xfrm>
            <a:off x="7379012" y="149047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7529888" y="1641348"/>
            <a:ext cx="301752" cy="301752"/>
          </a:xfrm>
          <a:prstGeom prst="rect">
            <a:avLst/>
          </a:prstGeom>
        </p:spPr>
      </p:pic>
      <p:sp>
        <p:nvSpPr>
          <p:cNvPr id="27" name="Text 20"/>
          <p:cNvSpPr txBox="1"/>
          <p:nvPr/>
        </p:nvSpPr>
        <p:spPr>
          <a:xfrm>
            <a:off x="6979746" y="219456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Quantify</a:t>
            </a:r>
            <a:endParaRPr lang="en-US" sz="1500" dirty="0"/>
          </a:p>
        </p:txBody>
      </p:sp>
      <p:sp>
        <p:nvSpPr>
          <p:cNvPr id="28" name="Text 21"/>
          <p:cNvSpPr txBox="1"/>
          <p:nvPr/>
        </p:nvSpPr>
        <p:spPr>
          <a:xfrm>
            <a:off x="6998034" y="256032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4 uncertainty signals</a:t>
            </a:r>
            <a:endParaRPr lang="en-US" sz="1200" dirty="0"/>
          </a:p>
        </p:txBody>
      </p:sp>
      <p:sp>
        <p:nvSpPr>
          <p:cNvPr id="29" name="Shape 22"/>
          <p:cNvSpPr/>
          <p:nvPr/>
        </p:nvSpPr>
        <p:spPr>
          <a:xfrm>
            <a:off x="8528086" y="132588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30" name="Shape 23"/>
          <p:cNvSpPr/>
          <p:nvPr/>
        </p:nvSpPr>
        <p:spPr>
          <a:xfrm>
            <a:off x="8963929" y="149047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9114805" y="1641348"/>
            <a:ext cx="301752" cy="301752"/>
          </a:xfrm>
          <a:prstGeom prst="rect">
            <a:avLst/>
          </a:prstGeom>
        </p:spPr>
      </p:pic>
      <p:sp>
        <p:nvSpPr>
          <p:cNvPr id="32" name="Text 24"/>
          <p:cNvSpPr txBox="1"/>
          <p:nvPr/>
        </p:nvSpPr>
        <p:spPr>
          <a:xfrm>
            <a:off x="8564662" y="219456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Triage</a:t>
            </a:r>
            <a:endParaRPr lang="en-US" sz="1500" dirty="0"/>
          </a:p>
        </p:txBody>
      </p:sp>
      <p:sp>
        <p:nvSpPr>
          <p:cNvPr id="33" name="Text 25"/>
          <p:cNvSpPr txBox="1"/>
          <p:nvPr/>
        </p:nvSpPr>
        <p:spPr>
          <a:xfrm>
            <a:off x="8582950" y="256032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accept / review / reject</a:t>
            </a:r>
            <a:endParaRPr lang="en-US" sz="1200" dirty="0"/>
          </a:p>
        </p:txBody>
      </p:sp>
      <p:sp>
        <p:nvSpPr>
          <p:cNvPr id="34" name="Shape 26"/>
          <p:cNvSpPr/>
          <p:nvPr/>
        </p:nvSpPr>
        <p:spPr>
          <a:xfrm>
            <a:off x="10113003" y="132588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35" name="Shape 27"/>
          <p:cNvSpPr/>
          <p:nvPr/>
        </p:nvSpPr>
        <p:spPr>
          <a:xfrm>
            <a:off x="10548845" y="1490472"/>
            <a:ext cx="603504" cy="603504"/>
          </a:xfrm>
          <a:prstGeom prst="ellipse">
            <a:avLst/>
          </a:prstGeom>
          <a:solidFill>
            <a:srgbClr val="E39B2D"/>
          </a:solidFill>
          <a:ln w="12700">
            <a:solidFill>
              <a:srgbClr val="E39B2D"/>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10699721" y="1641348"/>
            <a:ext cx="301752" cy="301752"/>
          </a:xfrm>
          <a:prstGeom prst="rect">
            <a:avLst/>
          </a:prstGeom>
        </p:spPr>
      </p:pic>
      <p:sp>
        <p:nvSpPr>
          <p:cNvPr id="37" name="Text 28"/>
          <p:cNvSpPr txBox="1"/>
          <p:nvPr/>
        </p:nvSpPr>
        <p:spPr>
          <a:xfrm>
            <a:off x="10149579" y="219456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Ground truth</a:t>
            </a:r>
            <a:endParaRPr lang="en-US" sz="1500" dirty="0"/>
          </a:p>
        </p:txBody>
      </p:sp>
      <p:sp>
        <p:nvSpPr>
          <p:cNvPr id="38" name="Text 29"/>
          <p:cNvSpPr txBox="1"/>
          <p:nvPr/>
        </p:nvSpPr>
        <p:spPr>
          <a:xfrm>
            <a:off x="10167867" y="256032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8 seeded faults (research)</a:t>
            </a:r>
            <a:endParaRPr lang="en-US" sz="1200" dirty="0"/>
          </a:p>
        </p:txBody>
      </p:sp>
      <p:pic>
        <p:nvPicPr>
          <p:cNvPr id="39" name="Image 7" descr="D:\hnp\uq-testgen\deck\assets\frame_c.png"/>
          <p:cNvPicPr>
            <a:picLocks noChangeAspect="1"/>
          </p:cNvPicPr>
          <p:nvPr/>
        </p:nvPicPr>
        <p:blipFill>
          <a:blip r:embed="rId10"/>
          <a:stretch>
            <a:fillRect/>
          </a:stretch>
        </p:blipFill>
        <p:spPr>
          <a:xfrm>
            <a:off x="548640" y="3520440"/>
            <a:ext cx="6675120" cy="1084707"/>
          </a:xfrm>
          <a:prstGeom prst="rect">
            <a:avLst/>
          </a:prstGeom>
        </p:spPr>
      </p:pic>
      <p:sp>
        <p:nvSpPr>
          <p:cNvPr id="40" name="Text 30"/>
          <p:cNvSpPr txBox="1"/>
          <p:nvPr/>
        </p:nvSpPr>
        <p:spPr>
          <a:xfrm>
            <a:off x="548640" y="4663440"/>
            <a:ext cx="6675120" cy="54864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System under test: adaptive cruise control with emergency braking and lane keeping in highway-env [29]. Green = ego, blue = scripted traffic.</a:t>
            </a:r>
            <a:endParaRPr lang="en-US" sz="1200" dirty="0"/>
          </a:p>
        </p:txBody>
      </p:sp>
      <p:sp>
        <p:nvSpPr>
          <p:cNvPr id="41" name="Shape 31"/>
          <p:cNvSpPr/>
          <p:nvPr/>
        </p:nvSpPr>
        <p:spPr>
          <a:xfrm>
            <a:off x="7498080" y="3520440"/>
            <a:ext cx="4142232" cy="2148840"/>
          </a:xfrm>
          <a:prstGeom prst="roundRect">
            <a:avLst>
              <a:gd name="adj" fmla="val 5106"/>
            </a:avLst>
          </a:prstGeom>
          <a:solidFill>
            <a:srgbClr val="E6F3F3"/>
          </a:solidFill>
          <a:ln w="12700">
            <a:solidFill>
              <a:srgbClr val="E6F3F3"/>
            </a:solidFill>
            <a:prstDash val="solid"/>
          </a:ln>
        </p:spPr>
        <p:txBody>
          <a:bodyPr/>
          <a:lstStyle/>
          <a:p>
            <a:endParaRPr lang="en-US"/>
          </a:p>
        </p:txBody>
      </p:sp>
      <p:sp>
        <p:nvSpPr>
          <p:cNvPr id="42" name="Text 32"/>
          <p:cNvSpPr txBox="1"/>
          <p:nvPr/>
        </p:nvSpPr>
        <p:spPr>
          <a:xfrm>
            <a:off x="7726680" y="3639312"/>
            <a:ext cx="3749040" cy="365760"/>
          </a:xfrm>
          <a:prstGeom prst="rect">
            <a:avLst/>
          </a:prstGeom>
          <a:noFill/>
          <a:ln/>
        </p:spPr>
        <p:txBody>
          <a:bodyPr wrap="square" lIns="0" tIns="0" rIns="0" bIns="0" rtlCol="0" anchor="t"/>
          <a:lstStyle/>
          <a:p>
            <a:pPr marL="0" indent="0">
              <a:buNone/>
            </a:pPr>
            <a:r>
              <a:rPr lang="en-US" sz="1600" b="1" dirty="0">
                <a:solidFill>
                  <a:srgbClr val="0F8B8D"/>
                </a:solidFill>
                <a:latin typeface="Calibri" pitchFamily="34" charset="0"/>
                <a:ea typeface="Calibri" pitchFamily="34" charset="-122"/>
                <a:cs typeface="Calibri" pitchFamily="34" charset="-120"/>
              </a:rPr>
              <a:t>How Demo 2 addresses the gap</a:t>
            </a:r>
            <a:endParaRPr lang="en-US" sz="1600" dirty="0"/>
          </a:p>
        </p:txBody>
      </p:sp>
      <p:sp>
        <p:nvSpPr>
          <p:cNvPr id="43" name="Text 33"/>
          <p:cNvSpPr txBox="1"/>
          <p:nvPr/>
        </p:nvSpPr>
        <p:spPr>
          <a:xfrm>
            <a:off x="7726680" y="4069080"/>
            <a:ext cx="3749040"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Generate several candidate tests instead of one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Measure disagreement without knowing the correct answer</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Accept, review, or reject tests based on risk</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Use seeded faults only to evaluate whether the signals work</a:t>
            </a:r>
            <a:endParaRPr lang="en-US" sz="1400" dirty="0"/>
          </a:p>
        </p:txBody>
      </p:sp>
      <p:sp>
        <p:nvSpPr>
          <p:cNvPr id="44" name="Text 34"/>
          <p:cNvSpPr txBox="1"/>
          <p:nvPr/>
        </p:nvSpPr>
        <p:spPr>
          <a:xfrm>
            <a:off x="548640" y="5989320"/>
            <a:ext cx="11094415" cy="4389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[29] E. Leurent, “An environment for autonomous driving decision-making,” GitHub repository, 2018.</a:t>
            </a:r>
            <a:endParaRPr lang="en-US" sz="900" dirty="0"/>
          </a:p>
        </p:txBody>
      </p:sp>
      <p:sp>
        <p:nvSpPr>
          <p:cNvPr id="4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294708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Four uncertainty signals — no ground truth needed</a:t>
            </a:r>
            <a:endParaRPr lang="en-US" sz="3000" dirty="0"/>
          </a:p>
        </p:txBody>
      </p:sp>
      <p:sp>
        <p:nvSpPr>
          <p:cNvPr id="4" name="Shape 2"/>
          <p:cNvSpPr/>
          <p:nvPr/>
        </p:nvSpPr>
        <p:spPr>
          <a:xfrm>
            <a:off x="548640" y="1325880"/>
            <a:ext cx="54406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22960" y="160020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82980" y="1760220"/>
            <a:ext cx="320040" cy="320040"/>
          </a:xfrm>
          <a:prstGeom prst="rect">
            <a:avLst/>
          </a:prstGeom>
        </p:spPr>
      </p:pic>
      <p:sp>
        <p:nvSpPr>
          <p:cNvPr id="7" name="Text 4"/>
          <p:cNvSpPr txBox="1"/>
          <p:nvPr/>
        </p:nvSpPr>
        <p:spPr>
          <a:xfrm>
            <a:off x="1645920" y="1527048"/>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8" name="Text 5"/>
          <p:cNvSpPr txBox="1"/>
          <p:nvPr/>
        </p:nvSpPr>
        <p:spPr>
          <a:xfrm>
            <a:off x="1645920" y="1947672"/>
            <a:ext cx="4114800" cy="365760"/>
          </a:xfrm>
          <a:prstGeom prst="rect">
            <a:avLst/>
          </a:prstGeom>
          <a:noFill/>
          <a:ln/>
        </p:spPr>
        <p:txBody>
          <a:bodyPr wrap="square" lIns="0" tIns="0" rIns="0" bIns="0" rtlCol="0" anchor="t"/>
          <a:lstStyle/>
          <a:p>
            <a:pPr marL="0" indent="0">
              <a:buNone/>
            </a:pPr>
            <a:r>
              <a:rPr lang="en-US" sz="1400" b="1" dirty="0">
                <a:solidFill>
                  <a:srgbClr val="1E2533"/>
                </a:solidFill>
                <a:latin typeface="Courier New" pitchFamily="34" charset="0"/>
                <a:ea typeface="Courier New" pitchFamily="34" charset="-122"/>
                <a:cs typeface="Courier New" pitchFamily="34" charset="-120"/>
              </a:rPr>
              <a:t>U = 1 − c</a:t>
            </a:r>
            <a:endParaRPr lang="en-US" sz="1400" dirty="0"/>
          </a:p>
        </p:txBody>
      </p:sp>
      <p:sp>
        <p:nvSpPr>
          <p:cNvPr id="9" name="Text 6"/>
          <p:cNvSpPr txBox="1"/>
          <p:nvPr/>
        </p:nvSpPr>
        <p:spPr>
          <a:xfrm>
            <a:off x="1645920" y="2313432"/>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The LLM's own probability that the test is correct. Baseline.</a:t>
            </a:r>
            <a:endParaRPr lang="en-US" sz="1400" dirty="0"/>
          </a:p>
        </p:txBody>
      </p:sp>
      <p:sp>
        <p:nvSpPr>
          <p:cNvPr id="10" name="Shape 7"/>
          <p:cNvSpPr/>
          <p:nvPr/>
        </p:nvSpPr>
        <p:spPr>
          <a:xfrm>
            <a:off x="6172200" y="1325880"/>
            <a:ext cx="54406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1" name="Shape 8"/>
          <p:cNvSpPr/>
          <p:nvPr/>
        </p:nvSpPr>
        <p:spPr>
          <a:xfrm>
            <a:off x="6446520" y="160020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606540" y="1760220"/>
            <a:ext cx="320040" cy="320040"/>
          </a:xfrm>
          <a:prstGeom prst="rect">
            <a:avLst/>
          </a:prstGeom>
        </p:spPr>
      </p:pic>
      <p:sp>
        <p:nvSpPr>
          <p:cNvPr id="13" name="Text 9"/>
          <p:cNvSpPr txBox="1"/>
          <p:nvPr/>
        </p:nvSpPr>
        <p:spPr>
          <a:xfrm>
            <a:off x="7269480" y="1527048"/>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4" name="Text 10"/>
          <p:cNvSpPr txBox="1"/>
          <p:nvPr/>
        </p:nvSpPr>
        <p:spPr>
          <a:xfrm>
            <a:off x="7269480" y="1947672"/>
            <a:ext cx="4114800" cy="365760"/>
          </a:xfrm>
          <a:prstGeom prst="rect">
            <a:avLst/>
          </a:prstGeom>
          <a:noFill/>
          <a:ln/>
        </p:spPr>
        <p:txBody>
          <a:bodyPr wrap="square" lIns="0" tIns="0" rIns="0" bIns="0" rtlCol="0" anchor="t"/>
          <a:lstStyle/>
          <a:p>
            <a:pPr marL="0" indent="0">
              <a:buNone/>
            </a:pPr>
            <a:r>
              <a:rPr lang="en-US" sz="1400" b="1" dirty="0">
                <a:solidFill>
                  <a:srgbClr val="3567C8"/>
                </a:solidFill>
                <a:latin typeface="Courier New" pitchFamily="34" charset="0"/>
                <a:ea typeface="Courier New" pitchFamily="34" charset="-122"/>
                <a:cs typeface="Courier New" pitchFamily="34" charset="-120"/>
              </a:rPr>
              <a:t>U = −log p(cluster) / log N</a:t>
            </a:r>
            <a:endParaRPr lang="en-US" sz="1400" dirty="0"/>
          </a:p>
        </p:txBody>
      </p:sp>
      <p:sp>
        <p:nvSpPr>
          <p:cNvPr id="15" name="Text 11"/>
          <p:cNvSpPr txBox="1"/>
          <p:nvPr/>
        </p:nvSpPr>
        <p:spPr>
          <a:xfrm>
            <a:off x="7269480" y="2313432"/>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400" dirty="0"/>
          </a:p>
        </p:txBody>
      </p:sp>
      <p:sp>
        <p:nvSpPr>
          <p:cNvPr id="16" name="Shape 12"/>
          <p:cNvSpPr/>
          <p:nvPr/>
        </p:nvSpPr>
        <p:spPr>
          <a:xfrm>
            <a:off x="548640" y="3429000"/>
            <a:ext cx="5440680" cy="1920240"/>
          </a:xfrm>
          <a:prstGeom prst="roundRect">
            <a:avLst>
              <a:gd name="adj" fmla="val 5714"/>
            </a:avLst>
          </a:prstGeom>
          <a:solidFill>
            <a:srgbClr val="E6F3F3"/>
          </a:solidFill>
          <a:ln w="12700">
            <a:solidFill>
              <a:srgbClr val="E6F3F3"/>
            </a:solidFill>
            <a:prstDash val="solid"/>
          </a:ln>
        </p:spPr>
        <p:txBody>
          <a:bodyPr/>
          <a:lstStyle/>
          <a:p>
            <a:endParaRPr lang="en-US"/>
          </a:p>
        </p:txBody>
      </p:sp>
      <p:sp>
        <p:nvSpPr>
          <p:cNvPr id="17" name="Shape 13"/>
          <p:cNvSpPr/>
          <p:nvPr/>
        </p:nvSpPr>
        <p:spPr>
          <a:xfrm>
            <a:off x="822960" y="370332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82980" y="3863340"/>
            <a:ext cx="320040" cy="320040"/>
          </a:xfrm>
          <a:prstGeom prst="rect">
            <a:avLst/>
          </a:prstGeom>
        </p:spPr>
      </p:pic>
      <p:sp>
        <p:nvSpPr>
          <p:cNvPr id="19" name="Text 14"/>
          <p:cNvSpPr txBox="1"/>
          <p:nvPr/>
        </p:nvSpPr>
        <p:spPr>
          <a:xfrm>
            <a:off x="1645920" y="3630168"/>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Behavioural entropy (new)</a:t>
            </a:r>
            <a:endParaRPr lang="en-US" sz="1800" dirty="0"/>
          </a:p>
        </p:txBody>
      </p:sp>
      <p:sp>
        <p:nvSpPr>
          <p:cNvPr id="20" name="Text 15"/>
          <p:cNvSpPr txBox="1"/>
          <p:nvPr/>
        </p:nvSpPr>
        <p:spPr>
          <a:xfrm>
            <a:off x="1645920" y="4050792"/>
            <a:ext cx="4114800" cy="365760"/>
          </a:xfrm>
          <a:prstGeom prst="rect">
            <a:avLst/>
          </a:prstGeom>
          <a:noFill/>
          <a:ln/>
        </p:spPr>
        <p:txBody>
          <a:bodyPr wrap="square" lIns="0" tIns="0" rIns="0" bIns="0" rtlCol="0" anchor="t"/>
          <a:lstStyle/>
          <a:p>
            <a:pPr marL="0" indent="0">
              <a:buNone/>
            </a:pPr>
            <a:r>
              <a:rPr lang="en-US" sz="1400" b="1" dirty="0">
                <a:solidFill>
                  <a:srgbClr val="0F8B8D"/>
                </a:solidFill>
                <a:latin typeface="Courier New" pitchFamily="34" charset="0"/>
                <a:ea typeface="Courier New" pitchFamily="34" charset="-122"/>
                <a:cs typeface="Courier New" pitchFamily="34" charset="-120"/>
              </a:rPr>
              <a:t>U = −log p(behaviour) / log N</a:t>
            </a:r>
            <a:endParaRPr lang="en-US" sz="1400" dirty="0"/>
          </a:p>
        </p:txBody>
      </p:sp>
      <p:sp>
        <p:nvSpPr>
          <p:cNvPr id="21" name="Text 16"/>
          <p:cNvSpPr txBox="1"/>
          <p:nvPr/>
        </p:nvSpPr>
        <p:spPr>
          <a:xfrm>
            <a:off x="1645920" y="4416552"/>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what they do on the SUT: own verdict, collision, emergency braking, minimum-gap band.</a:t>
            </a:r>
            <a:endParaRPr lang="en-US" sz="1400" dirty="0"/>
          </a:p>
        </p:txBody>
      </p:sp>
      <p:sp>
        <p:nvSpPr>
          <p:cNvPr id="22" name="Shape 17"/>
          <p:cNvSpPr/>
          <p:nvPr/>
        </p:nvSpPr>
        <p:spPr>
          <a:xfrm>
            <a:off x="6172200" y="3429000"/>
            <a:ext cx="54406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23" name="Shape 18"/>
          <p:cNvSpPr/>
          <p:nvPr/>
        </p:nvSpPr>
        <p:spPr>
          <a:xfrm>
            <a:off x="6446520" y="370332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606540" y="3863340"/>
            <a:ext cx="320040" cy="320040"/>
          </a:xfrm>
          <a:prstGeom prst="rect">
            <a:avLst/>
          </a:prstGeom>
        </p:spPr>
      </p:pic>
      <p:sp>
        <p:nvSpPr>
          <p:cNvPr id="25" name="Text 19"/>
          <p:cNvSpPr txBox="1"/>
          <p:nvPr/>
        </p:nvSpPr>
        <p:spPr>
          <a:xfrm>
            <a:off x="7269480" y="3630168"/>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6" name="Text 20"/>
          <p:cNvSpPr txBox="1"/>
          <p:nvPr/>
        </p:nvSpPr>
        <p:spPr>
          <a:xfrm>
            <a:off x="7269480" y="4050792"/>
            <a:ext cx="4114800" cy="365760"/>
          </a:xfrm>
          <a:prstGeom prst="rect">
            <a:avLst/>
          </a:prstGeom>
          <a:noFill/>
          <a:ln/>
        </p:spPr>
        <p:txBody>
          <a:bodyPr wrap="square" lIns="0" tIns="0" rIns="0" bIns="0" rtlCol="0" anchor="t"/>
          <a:lstStyle/>
          <a:p>
            <a:pPr marL="0" indent="0">
              <a:buNone/>
            </a:pPr>
            <a:r>
              <a:rPr lang="en-US" sz="1400" b="1" dirty="0">
                <a:solidFill>
                  <a:srgbClr val="6E56CF"/>
                </a:solidFill>
                <a:latin typeface="Courier New" pitchFamily="34" charset="0"/>
                <a:ea typeface="Courier New" pitchFamily="34" charset="-122"/>
                <a:cs typeface="Courier New" pitchFamily="34" charset="-120"/>
              </a:rPr>
              <a:t>U = disagreeing peers / (N − 1)</a:t>
            </a:r>
            <a:endParaRPr lang="en-US" sz="1400" dirty="0"/>
          </a:p>
        </p:txBody>
      </p:sp>
      <p:sp>
        <p:nvSpPr>
          <p:cNvPr id="27" name="Text 21"/>
          <p:cNvSpPr txBox="1"/>
          <p:nvPr/>
        </p:nvSpPr>
        <p:spPr>
          <a:xfrm>
            <a:off x="7269480" y="4416552"/>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400" dirty="0"/>
          </a:p>
        </p:txBody>
      </p:sp>
      <p:sp>
        <p:nvSpPr>
          <p:cNvPr id="28" name="Text 22"/>
          <p:cNvSpPr txBox="1"/>
          <p:nvPr/>
        </p:nvSpPr>
        <p:spPr>
          <a:xfrm>
            <a:off x="548640" y="5596128"/>
            <a:ext cx="11094415" cy="27432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Combined score = mean(structural, behavioural); oracle disagreement was uninformative on a development round and is reported only.</a:t>
            </a:r>
            <a:endParaRPr lang="en-US" sz="1200" dirty="0"/>
          </a:p>
        </p:txBody>
      </p:sp>
      <p:sp>
        <p:nvSpPr>
          <p:cNvPr id="29" name="Text 23"/>
          <p:cNvSpPr txBox="1"/>
          <p:nvPr/>
        </p:nvSpPr>
        <p:spPr>
          <a:xfrm>
            <a:off x="548640" y="6035040"/>
            <a:ext cx="11094415" cy="39319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[23] L. Kuhn et al., “Semantic uncertainty: Linguistic invariances for uncertainty estimation in natural language generation,” in Proc. ICLR, 2023.</a:t>
            </a:r>
            <a:endParaRPr lang="en-US" sz="900" dirty="0"/>
          </a:p>
        </p:txBody>
      </p:sp>
      <p:sp>
        <p:nvSpPr>
          <p:cNvPr id="30"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Demo 2: one requirement, end to end, live LLM</a:t>
            </a:r>
            <a:endParaRPr lang="en-US" sz="30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txBody>
          <a:bodyPr/>
          <a:lstStyle/>
          <a:p>
            <a:endParaRPr lang="en-US"/>
          </a:p>
        </p:txBody>
      </p:sp>
      <p:sp>
        <p:nvSpPr>
          <p:cNvPr id="6" name="Text 3"/>
          <p:cNvSpPr txBox="1"/>
          <p:nvPr/>
        </p:nvSpPr>
        <p:spPr>
          <a:xfrm>
            <a:off x="8641080" y="1463040"/>
            <a:ext cx="24688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a cut-out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8 samples from gpt-5.6-luna</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Live stages: generate → gate → simulate → quantify → triage → ground truth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Most uncertain test = the irrelevant one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seeded fault: the oracle catches it</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Behavioural entropy beats the LLM's self-confidence</a:t>
            </a:r>
            <a:endParaRPr lang="en-US" sz="3000" dirty="0"/>
          </a:p>
        </p:txBody>
      </p:sp>
      <p:sp>
        <p:nvSpPr>
          <p:cNvPr id="4" name="Text 2"/>
          <p:cNvSpPr txBox="1"/>
          <p:nvPr/>
        </p:nvSpPr>
        <p:spPr>
          <a:xfrm>
            <a:off x="548640" y="1188720"/>
            <a:ext cx="11094415" cy="274320"/>
          </a:xfrm>
          <a:prstGeom prst="rect">
            <a:avLst/>
          </a:prstGeom>
          <a:noFill/>
          <a:ln/>
        </p:spPr>
        <p:txBody>
          <a:bodyPr wrap="square" lIns="0" tIns="0" rIns="0" bIns="0" rtlCol="0" anchor="t"/>
          <a:lstStyle/>
          <a:p>
            <a:pPr marL="0" indent="0">
              <a:buNone/>
            </a:pPr>
            <a:r>
              <a:rPr lang="en-US" sz="1300" b="1" dirty="0">
                <a:solidFill>
                  <a:srgbClr val="5B6578"/>
                </a:solidFill>
                <a:latin typeface="Calibri" pitchFamily="34" charset="0"/>
                <a:ea typeface="Calibri" pitchFamily="34" charset="-122"/>
                <a:cs typeface="Calibri" pitchFamily="34" charset="-120"/>
              </a:rPr>
              <a:t>210 generated tests · 7 ACC requirements · 3 LLMs × N = 10 · 8 seeded faults · 1,890 simulations · held-out round</a:t>
            </a:r>
            <a:endParaRPr lang="en-US" sz="1300" dirty="0"/>
          </a:p>
        </p:txBody>
      </p:sp>
      <p:graphicFrame>
        <p:nvGraphicFramePr>
          <p:cNvPr id="5" name="Chart 0"/>
          <p:cNvGraphicFramePr/>
          <p:nvPr/>
        </p:nvGraphicFramePr>
        <p:xfrm>
          <a:off x="548640" y="1554480"/>
          <a:ext cx="694944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554480"/>
            <a:ext cx="3867912" cy="4251960"/>
          </a:xfrm>
          <a:prstGeom prst="roundRect">
            <a:avLst>
              <a:gd name="adj" fmla="val 2837"/>
            </a:avLst>
          </a:prstGeom>
          <a:solidFill>
            <a:srgbClr val="F2F5F9"/>
          </a:solidFill>
          <a:ln w="12700">
            <a:solidFill>
              <a:srgbClr val="F2F5F9"/>
            </a:solidFill>
            <a:prstDash val="solid"/>
          </a:ln>
        </p:spPr>
        <p:txBody>
          <a:bodyPr/>
          <a:lstStyle/>
          <a:p>
            <a:endParaRPr lang="en-US"/>
          </a:p>
        </p:txBody>
      </p:sp>
      <p:sp>
        <p:nvSpPr>
          <p:cNvPr id="7" name="Text 4"/>
          <p:cNvSpPr txBox="1"/>
          <p:nvPr/>
        </p:nvSpPr>
        <p:spPr>
          <a:xfrm>
            <a:off x="8046720" y="1691640"/>
            <a:ext cx="3383280" cy="82296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0.90</a:t>
            </a:r>
            <a:endParaRPr lang="en-US" sz="4800" dirty="0"/>
          </a:p>
        </p:txBody>
      </p:sp>
      <p:sp>
        <p:nvSpPr>
          <p:cNvPr id="8" name="Text 5"/>
          <p:cNvSpPr txBox="1"/>
          <p:nvPr/>
        </p:nvSpPr>
        <p:spPr>
          <a:xfrm>
            <a:off x="8046720" y="2514600"/>
            <a:ext cx="3383280" cy="6400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AUROC of behavioural entropy vs. 0.74 for the LLM's own confidence</a:t>
            </a:r>
            <a:endParaRPr lang="en-US" sz="1400" dirty="0"/>
          </a:p>
        </p:txBody>
      </p:sp>
      <p:sp>
        <p:nvSpPr>
          <p:cNvPr id="9" name="Text 6"/>
          <p:cNvSpPr txBox="1"/>
          <p:nvPr/>
        </p:nvSpPr>
        <p:spPr>
          <a:xfrm>
            <a:off x="8046720" y="3246120"/>
            <a:ext cx="3429000" cy="2514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Ranks the 17 incorrect tests (of 210) mostly at the top</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Batch level: behavioural entropy vs. share of correct tests, Spearman ρ = -0.85</a:t>
            </a:r>
            <a:endParaRPr lang="en-US" sz="1300" dirty="0"/>
          </a:p>
          <a:p>
            <a:pPr marL="177800" indent="-177800">
              <a:buSzPct val="100000"/>
              <a:buChar char="•"/>
            </a:pPr>
            <a:r>
              <a:rPr lang="en-US" sz="1300" b="1" dirty="0">
                <a:solidFill>
                  <a:srgbClr val="1E2533"/>
                </a:solidFill>
                <a:latin typeface="Calibri" pitchFamily="34" charset="0"/>
                <a:ea typeface="Calibri" pitchFamily="34" charset="-122"/>
                <a:cs typeface="Calibri" pitchFamily="34" charset="-120"/>
              </a:rPr>
              <a:t>Honest caveat: </a:t>
            </a:r>
            <a:r>
              <a:rPr lang="en-US" sz="1300" dirty="0">
                <a:solidFill>
                  <a:srgbClr val="1E2533"/>
                </a:solidFill>
                <a:latin typeface="Calibri" pitchFamily="34" charset="0"/>
                <a:ea typeface="Calibri" pitchFamily="34" charset="-122"/>
                <a:cs typeface="Calibri" pitchFamily="34" charset="-120"/>
              </a:rPr>
              <a:t>within one requirement the signal drops to 0.71 — it mostly flags hard requirements</a:t>
            </a:r>
            <a:endParaRPr lang="en-US" sz="1300" dirty="0"/>
          </a:p>
        </p:txBody>
      </p:sp>
      <p:sp>
        <p:nvSpPr>
          <p:cNvPr id="10" name="Text 7"/>
          <p:cNvSpPr txBox="1"/>
          <p:nvPr/>
        </p:nvSpPr>
        <p:spPr>
          <a:xfrm>
            <a:off x="548640" y="5989320"/>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Ground truth: a test is correct if it exercises the requirement and its oracle agrees with the reference on the SUT and all 8 faulty versions. Within-batch AUROC averaged over the 6 batches with incorrect tests.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Risk-based triage: 77% auto-accepted at 98.8% precision</a:t>
            </a:r>
            <a:endParaRPr lang="en-US" sz="3000" dirty="0"/>
          </a:p>
        </p:txBody>
      </p:sp>
      <p:graphicFrame>
        <p:nvGraphicFramePr>
          <p:cNvPr id="4" name="Chart 0"/>
          <p:cNvGraphicFramePr/>
          <p:nvPr/>
        </p:nvGraphicFramePr>
        <p:xfrm>
          <a:off x="548640" y="1325880"/>
          <a:ext cx="58521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txBody>
          <a:bodyPr/>
          <a:lstStyle/>
          <a:p>
            <a:endParaRPr lang="en-US"/>
          </a:p>
        </p:txBody>
      </p:sp>
      <p:sp>
        <p:nvSpPr>
          <p:cNvPr id="6" name="Text 3"/>
          <p:cNvSpPr txBox="1"/>
          <p:nvPr/>
        </p:nvSpPr>
        <p:spPr>
          <a:xfrm>
            <a:off x="6949440" y="1435608"/>
            <a:ext cx="109728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162</a:t>
            </a:r>
            <a:endParaRPr lang="en-US" sz="4000" dirty="0"/>
          </a:p>
        </p:txBody>
      </p:sp>
      <p:sp>
        <p:nvSpPr>
          <p:cNvPr id="7" name="Text 4"/>
          <p:cNvSpPr txBox="1"/>
          <p:nvPr/>
        </p:nvSpPr>
        <p:spPr>
          <a:xfrm>
            <a:off x="8092440" y="1463040"/>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Auto-accept</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160 correct · precision 99%</a:t>
            </a:r>
            <a:endParaRPr lang="en-US" sz="1600" dirty="0"/>
          </a:p>
        </p:txBody>
      </p:sp>
      <p:sp>
        <p:nvSpPr>
          <p:cNvPr id="8" name="Shape 5"/>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txBody>
          <a:bodyPr/>
          <a:lstStyle/>
          <a:p>
            <a:endParaRPr lang="en-US"/>
          </a:p>
        </p:txBody>
      </p:sp>
      <p:sp>
        <p:nvSpPr>
          <p:cNvPr id="9" name="Text 6"/>
          <p:cNvSpPr txBox="1"/>
          <p:nvPr/>
        </p:nvSpPr>
        <p:spPr>
          <a:xfrm>
            <a:off x="6949440" y="2642616"/>
            <a:ext cx="1097280" cy="822960"/>
          </a:xfrm>
          <a:prstGeom prst="rect">
            <a:avLst/>
          </a:prstGeom>
          <a:noFill/>
          <a:ln/>
        </p:spPr>
        <p:txBody>
          <a:bodyPr wrap="square" lIns="0" tIns="0" rIns="0" bIns="0" rtlCol="0" anchor="ctr"/>
          <a:lstStyle/>
          <a:p>
            <a:pPr marL="0" indent="0">
              <a:buNone/>
            </a:pPr>
            <a:r>
              <a:rPr lang="en-US" sz="4000" b="1" dirty="0">
                <a:solidFill>
                  <a:srgbClr val="E39B2D"/>
                </a:solidFill>
                <a:latin typeface="Cambria" pitchFamily="34" charset="0"/>
                <a:ea typeface="Cambria" pitchFamily="34" charset="-122"/>
                <a:cs typeface="Cambria" pitchFamily="34" charset="-120"/>
              </a:rPr>
              <a:t>39</a:t>
            </a:r>
            <a:endParaRPr lang="en-US" sz="4000" dirty="0"/>
          </a:p>
        </p:txBody>
      </p:sp>
      <p:sp>
        <p:nvSpPr>
          <p:cNvPr id="10" name="Text 7"/>
          <p:cNvSpPr txBox="1"/>
          <p:nvPr/>
        </p:nvSpPr>
        <p:spPr>
          <a:xfrm>
            <a:off x="8092440" y="2670048"/>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Human review</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30 correct · precision 77%</a:t>
            </a:r>
            <a:endParaRPr lang="en-US" sz="1600" dirty="0"/>
          </a:p>
        </p:txBody>
      </p:sp>
      <p:sp>
        <p:nvSpPr>
          <p:cNvPr id="11" name="Shape 8"/>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txBody>
          <a:bodyPr/>
          <a:lstStyle/>
          <a:p>
            <a:endParaRPr lang="en-US"/>
          </a:p>
        </p:txBody>
      </p:sp>
      <p:sp>
        <p:nvSpPr>
          <p:cNvPr id="12" name="Text 9"/>
          <p:cNvSpPr txBox="1"/>
          <p:nvPr/>
        </p:nvSpPr>
        <p:spPr>
          <a:xfrm>
            <a:off x="6949440" y="3849624"/>
            <a:ext cx="1097280" cy="822960"/>
          </a:xfrm>
          <a:prstGeom prst="rect">
            <a:avLst/>
          </a:prstGeom>
          <a:noFill/>
          <a:ln/>
        </p:spPr>
        <p:txBody>
          <a:bodyPr wrap="square" lIns="0" tIns="0" rIns="0" bIns="0" rtlCol="0" anchor="ctr"/>
          <a:lstStyle/>
          <a:p>
            <a:pPr marL="0" indent="0">
              <a:buNone/>
            </a:pPr>
            <a:r>
              <a:rPr lang="en-US" sz="4000" b="1" dirty="0">
                <a:solidFill>
                  <a:srgbClr val="C8463D"/>
                </a:solidFill>
                <a:latin typeface="Cambria" pitchFamily="34" charset="0"/>
                <a:ea typeface="Cambria" pitchFamily="34" charset="-122"/>
                <a:cs typeface="Cambria" pitchFamily="34" charset="-120"/>
              </a:rPr>
              <a:t>9</a:t>
            </a:r>
            <a:endParaRPr lang="en-US" sz="4000" dirty="0"/>
          </a:p>
        </p:txBody>
      </p:sp>
      <p:sp>
        <p:nvSpPr>
          <p:cNvPr id="13" name="Text 10"/>
          <p:cNvSpPr txBox="1"/>
          <p:nvPr/>
        </p:nvSpPr>
        <p:spPr>
          <a:xfrm>
            <a:off x="8092440" y="3877056"/>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Reject / regenerate</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 correct · precision 33%</a:t>
            </a:r>
            <a:endParaRPr lang="en-US" sz="1600" dirty="0"/>
          </a:p>
        </p:txBody>
      </p:sp>
      <p:sp>
        <p:nvSpPr>
          <p:cNvPr id="14" name="Shape 11"/>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txBody>
          <a:bodyPr/>
          <a:lstStyle/>
          <a:p>
            <a:endParaRPr lang="en-US"/>
          </a:p>
        </p:txBody>
      </p:sp>
      <p:sp>
        <p:nvSpPr>
          <p:cNvPr id="15" name="Text 12"/>
          <p:cNvSpPr txBox="1"/>
          <p:nvPr/>
        </p:nvSpPr>
        <p:spPr>
          <a:xfrm>
            <a:off x="6949440" y="5029200"/>
            <a:ext cx="4526280" cy="731520"/>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Cost: ~16 s and ~2900 tokens per sample; ~1.0 s to simulate one test on 9 versions.</a:t>
            </a:r>
            <a:endParaRPr lang="en-US" sz="1300" dirty="0"/>
          </a:p>
        </p:txBody>
      </p:sp>
      <p:sp>
        <p:nvSpPr>
          <p:cNvPr id="16" name="Text 13"/>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Accepting all tests gives 92% correct. Thresholds (accept ≤ 0.25 &lt; review &lt; 0.55 ≤ reject) are heuristic; calibrating them against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C · OBJECTIVES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4" name="Shape 2"/>
          <p:cNvSpPr/>
          <p:nvPr/>
        </p:nvSpPr>
        <p:spPr>
          <a:xfrm>
            <a:off x="548640"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22960" y="164592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94410" y="1817370"/>
            <a:ext cx="342900" cy="342900"/>
          </a:xfrm>
          <a:prstGeom prst="rect">
            <a:avLst/>
          </a:prstGeom>
        </p:spPr>
      </p:pic>
      <p:sp>
        <p:nvSpPr>
          <p:cNvPr id="7" name="Text 4"/>
          <p:cNvSpPr txBox="1"/>
          <p:nvPr/>
        </p:nvSpPr>
        <p:spPr>
          <a:xfrm>
            <a:off x="1645920" y="171907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8" name="Text 5"/>
          <p:cNvSpPr txBox="1"/>
          <p:nvPr/>
        </p:nvSpPr>
        <p:spPr>
          <a:xfrm>
            <a:off x="822960"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9" name="Text 6"/>
          <p:cNvSpPr txBox="1"/>
          <p:nvPr/>
        </p:nvSpPr>
        <p:spPr>
          <a:xfrm>
            <a:off x="822960"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10" name="Shape 7"/>
          <p:cNvSpPr/>
          <p:nvPr/>
        </p:nvSpPr>
        <p:spPr>
          <a:xfrm>
            <a:off x="3364992"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1" name="Shape 8"/>
          <p:cNvSpPr/>
          <p:nvPr/>
        </p:nvSpPr>
        <p:spPr>
          <a:xfrm>
            <a:off x="3639312" y="164592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810762" y="1817370"/>
            <a:ext cx="342900" cy="342900"/>
          </a:xfrm>
          <a:prstGeom prst="rect">
            <a:avLst/>
          </a:prstGeom>
        </p:spPr>
      </p:pic>
      <p:sp>
        <p:nvSpPr>
          <p:cNvPr id="13" name="Text 9"/>
          <p:cNvSpPr txBox="1"/>
          <p:nvPr/>
        </p:nvSpPr>
        <p:spPr>
          <a:xfrm>
            <a:off x="4462272" y="171907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4" name="Text 10"/>
          <p:cNvSpPr txBox="1"/>
          <p:nvPr/>
        </p:nvSpPr>
        <p:spPr>
          <a:xfrm>
            <a:off x="3639312"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5" name="Text 11"/>
          <p:cNvSpPr txBox="1"/>
          <p:nvPr/>
        </p:nvSpPr>
        <p:spPr>
          <a:xfrm>
            <a:off x="3639312"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6" name="Shape 12"/>
          <p:cNvSpPr/>
          <p:nvPr/>
        </p:nvSpPr>
        <p:spPr>
          <a:xfrm>
            <a:off x="6181344"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7" name="Shape 13"/>
          <p:cNvSpPr/>
          <p:nvPr/>
        </p:nvSpPr>
        <p:spPr>
          <a:xfrm>
            <a:off x="6455664" y="164592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627114" y="1817370"/>
            <a:ext cx="342900" cy="342900"/>
          </a:xfrm>
          <a:prstGeom prst="rect">
            <a:avLst/>
          </a:prstGeom>
        </p:spPr>
      </p:pic>
      <p:sp>
        <p:nvSpPr>
          <p:cNvPr id="19" name="Text 14"/>
          <p:cNvSpPr txBox="1"/>
          <p:nvPr/>
        </p:nvSpPr>
        <p:spPr>
          <a:xfrm>
            <a:off x="7278624" y="171907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20" name="Text 15"/>
          <p:cNvSpPr txBox="1"/>
          <p:nvPr/>
        </p:nvSpPr>
        <p:spPr>
          <a:xfrm>
            <a:off x="6455664"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1" name="Text 16"/>
          <p:cNvSpPr txBox="1"/>
          <p:nvPr/>
        </p:nvSpPr>
        <p:spPr>
          <a:xfrm>
            <a:off x="6455664"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2" name="Shape 17"/>
          <p:cNvSpPr/>
          <p:nvPr/>
        </p:nvSpPr>
        <p:spPr>
          <a:xfrm>
            <a:off x="8997696"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3" name="Shape 18"/>
          <p:cNvSpPr/>
          <p:nvPr/>
        </p:nvSpPr>
        <p:spPr>
          <a:xfrm>
            <a:off x="9272016" y="164592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443466" y="1817370"/>
            <a:ext cx="342900" cy="342900"/>
          </a:xfrm>
          <a:prstGeom prst="rect">
            <a:avLst/>
          </a:prstGeom>
        </p:spPr>
      </p:pic>
      <p:sp>
        <p:nvSpPr>
          <p:cNvPr id="25" name="Text 19"/>
          <p:cNvSpPr txBox="1"/>
          <p:nvPr/>
        </p:nvSpPr>
        <p:spPr>
          <a:xfrm>
            <a:off x="10094976" y="171907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6" name="Text 20"/>
          <p:cNvSpPr txBox="1"/>
          <p:nvPr/>
        </p:nvSpPr>
        <p:spPr>
          <a:xfrm>
            <a:off x="9272016"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7" name="Text 21"/>
          <p:cNvSpPr txBox="1"/>
          <p:nvPr/>
        </p:nvSpPr>
        <p:spPr>
          <a:xfrm>
            <a:off x="9272016"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8" name="Text 22"/>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900" dirty="0"/>
          </a:p>
        </p:txBody>
      </p:sp>
      <p:sp>
        <p:nvSpPr>
          <p:cNvPr id="2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C · GAPS → NEXT IMPLEMENTATION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both demos cannot do yet becomes the research agenda</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937760"/>
        </p:xfrm>
        <a:graphic>
          <a:graphicData uri="http://schemas.openxmlformats.org/drawingml/2006/table">
            <a:tbl>
              <a:tblPr/>
              <a:tblGrid>
                <a:gridCol w="960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4515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822960">
                <a:tc>
                  <a:txBody>
                    <a:bodyPr/>
                    <a:lstStyle/>
                    <a:p>
                      <a:pPr marL="0" indent="0">
                        <a:buNone/>
                      </a:pPr>
                      <a:r>
                        <a:rPr lang="en-US" sz="1400" b="1" dirty="0">
                          <a:solidFill>
                            <a:srgbClr val="FFFFFF"/>
                          </a:solidFill>
                        </a:rPr>
                        <a:t>From</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Gap seen in the demo</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Next implementation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82296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Rules cannot tell a wrong test from a real defect (6 of 18 FAILs were wrong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Uncertainty per generated artefact, incl. oracles and bug reports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822960">
                <a:tc>
                  <a:txBody>
                    <a:bodyPr/>
                    <a:lstStyle/>
                    <a:p>
                      <a:pPr marL="0" indent="0">
                        <a:buNone/>
                      </a:pPr>
                      <a:r>
                        <a:rPr lang="en-US" sz="1300" b="1" dirty="0">
                          <a:solidFill>
                            <a:srgbClr val="0F8B8D"/>
                          </a:solidFill>
                        </a:rPr>
                        <a:t>Demo 2</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Per-test signal weak within a requirement (AUROC 0.71); black-box only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White-box (log-prob) and trajectory-level metrics; calibration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F8B8D"/>
                          </a:solidFill>
                        </a:rPr>
                        <a:t>O1</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buNone/>
                      </a:pPr>
                      <a:r>
                        <a:rPr lang="en-US" sz="1300" b="1" dirty="0">
                          <a:solidFill>
                            <a:srgbClr val="0F8B8D"/>
                          </a:solidFill>
                        </a:rPr>
                        <a:t>Demo 2</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Thresholds are heuristic; risk ignores the severity of the requirement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Risk = uncertainty × consequence; selective guarantees; review budget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3567C8"/>
                          </a:solidFill>
                        </a:rPr>
                        <a:t>O2</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822960">
                <a:tc>
                  <a:txBody>
                    <a:bodyPr/>
                    <a:lstStyle/>
                    <a:p>
                      <a:pPr marL="0" indent="0">
                        <a:buNone/>
                      </a:pPr>
                      <a:r>
                        <a:rPr lang="en-US" sz="1300" b="1" dirty="0">
                          <a:solidFill>
                            <a:srgbClr val="5B6578"/>
                          </a:solidFill>
                        </a:rPr>
                        <a:t>Both</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Uncertainty vs. effectiveness only hinted (ρ = -0.28 with mutation score); cost of N samples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Large study: correctness, fault detection, flakiness, latency and token cost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E39B2D"/>
                          </a:solidFill>
                        </a:rPr>
                        <a:t>O3</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22960">
                <a:tc>
                  <a:txBody>
                    <a:bodyPr/>
                    <a:lstStyle/>
                    <a:p>
                      <a:pPr marL="0" indent="0">
                        <a:buNone/>
                      </a:pPr>
                      <a:r>
                        <a:rPr lang="en-US" sz="1300" b="1" dirty="0">
                          <a:solidFill>
                            <a:srgbClr val="5B6578"/>
                          </a:solidFill>
                        </a:rPr>
                        <a:t>Both</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One app or one simulator, 3 hosted LLMs, seeded faults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Open-source ACPS, industrial cases, InnoGuard platform; newer and quantum ML models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6E56CF"/>
                          </a:solidFill>
                        </a:rPr>
                        <a:t>O4</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C · RESEARCH QUESTIONS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4" name="Shape 2"/>
          <p:cNvSpPr/>
          <p:nvPr/>
        </p:nvSpPr>
        <p:spPr>
          <a:xfrm>
            <a:off x="548640" y="128016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777240" y="1417320"/>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783080" y="136245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7" name="Text 5"/>
          <p:cNvSpPr txBox="1"/>
          <p:nvPr/>
        </p:nvSpPr>
        <p:spPr>
          <a:xfrm>
            <a:off x="6537960" y="136245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8" name="Shape 6"/>
          <p:cNvSpPr/>
          <p:nvPr/>
        </p:nvSpPr>
        <p:spPr>
          <a:xfrm>
            <a:off x="548640" y="237744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777240" y="2514600"/>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10" name="Text 8"/>
          <p:cNvSpPr txBox="1"/>
          <p:nvPr/>
        </p:nvSpPr>
        <p:spPr>
          <a:xfrm>
            <a:off x="1783080" y="245973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1" name="Text 9"/>
          <p:cNvSpPr txBox="1"/>
          <p:nvPr/>
        </p:nvSpPr>
        <p:spPr>
          <a:xfrm>
            <a:off x="6537960" y="245973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2" name="Shape 10"/>
          <p:cNvSpPr/>
          <p:nvPr/>
        </p:nvSpPr>
        <p:spPr>
          <a:xfrm>
            <a:off x="548640" y="347472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777240" y="3611880"/>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4" name="Text 12"/>
          <p:cNvSpPr txBox="1"/>
          <p:nvPr/>
        </p:nvSpPr>
        <p:spPr>
          <a:xfrm>
            <a:off x="1783080" y="355701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5" name="Text 13"/>
          <p:cNvSpPr txBox="1"/>
          <p:nvPr/>
        </p:nvSpPr>
        <p:spPr>
          <a:xfrm>
            <a:off x="6537960" y="355701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6" name="Shape 14"/>
          <p:cNvSpPr/>
          <p:nvPr/>
        </p:nvSpPr>
        <p:spPr>
          <a:xfrm>
            <a:off x="548640" y="457200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7" name="Text 15"/>
          <p:cNvSpPr txBox="1"/>
          <p:nvPr/>
        </p:nvSpPr>
        <p:spPr>
          <a:xfrm>
            <a:off x="777240" y="4709160"/>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8" name="Text 16"/>
          <p:cNvSpPr txBox="1"/>
          <p:nvPr/>
        </p:nvSpPr>
        <p:spPr>
          <a:xfrm>
            <a:off x="1783080" y="465429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9" name="Text 17"/>
          <p:cNvSpPr txBox="1"/>
          <p:nvPr/>
        </p:nvSpPr>
        <p:spPr>
          <a:xfrm>
            <a:off x="6537960" y="465429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0" name="Text 18"/>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C · WORK PLAN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4" name="Shape 2"/>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5" name="Text 3"/>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6" name="Shape 4"/>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7" name="Text 5"/>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8" name="Shape 6"/>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9" name="Text 7"/>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10" name="Text 8"/>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1" name="Shape 9"/>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2" name="Text 10"/>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3" name="Shape 11"/>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4" name="Text 12"/>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5" name="Shape 13"/>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6" name="Text 14"/>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7" name="Shape 15"/>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8" name="Text 16"/>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9" name="Shape 17"/>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20" name="Text 18"/>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1" name="Shape 19"/>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2" name="Text 20"/>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3" name="Shape 21"/>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4" name="Text 22"/>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5" name="Shape 23"/>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6" name="Shape 24"/>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7" name="Text 25"/>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8" name="Shape 26"/>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9" name="Text 27"/>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30" name="Shape 28"/>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1" name="Text 29"/>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2" name="Shape 30"/>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3" name="Text 31"/>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4" name="Shape 32"/>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5" name="Text 33"/>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6" name="Text 34"/>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C · CONTRIBUTIONS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4" name="Shape 2"/>
          <p:cNvSpPr/>
          <p:nvPr/>
        </p:nvSpPr>
        <p:spPr>
          <a:xfrm>
            <a:off x="548640" y="143560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08660" y="1595628"/>
            <a:ext cx="320040" cy="320040"/>
          </a:xfrm>
          <a:prstGeom prst="rect">
            <a:avLst/>
          </a:prstGeom>
        </p:spPr>
      </p:pic>
      <p:sp>
        <p:nvSpPr>
          <p:cNvPr id="6" name="Text 3"/>
          <p:cNvSpPr txBox="1"/>
          <p:nvPr/>
        </p:nvSpPr>
        <p:spPr>
          <a:xfrm>
            <a:off x="1417320" y="139903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7" name="Text 4"/>
          <p:cNvSpPr txBox="1"/>
          <p:nvPr/>
        </p:nvSpPr>
        <p:spPr>
          <a:xfrm>
            <a:off x="3200400" y="139903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incl. behavioural entropy for executable CPS tests</a:t>
            </a:r>
            <a:endParaRPr lang="en-US" sz="1400" dirty="0"/>
          </a:p>
        </p:txBody>
      </p:sp>
      <p:sp>
        <p:nvSpPr>
          <p:cNvPr id="8" name="Shape 5"/>
          <p:cNvSpPr/>
          <p:nvPr/>
        </p:nvSpPr>
        <p:spPr>
          <a:xfrm>
            <a:off x="548640" y="242316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08660" y="2583180"/>
            <a:ext cx="320040" cy="320040"/>
          </a:xfrm>
          <a:prstGeom prst="rect">
            <a:avLst/>
          </a:prstGeom>
        </p:spPr>
      </p:pic>
      <p:sp>
        <p:nvSpPr>
          <p:cNvPr id="10" name="Text 6"/>
          <p:cNvSpPr txBox="1"/>
          <p:nvPr/>
        </p:nvSpPr>
        <p:spPr>
          <a:xfrm>
            <a:off x="1417320" y="2386584"/>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1" name="Text 7"/>
          <p:cNvSpPr txBox="1"/>
          <p:nvPr/>
        </p:nvSpPr>
        <p:spPr>
          <a:xfrm>
            <a:off x="3200400" y="2386584"/>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2" name="Shape 8"/>
          <p:cNvSpPr/>
          <p:nvPr/>
        </p:nvSpPr>
        <p:spPr>
          <a:xfrm>
            <a:off x="548640" y="3410712"/>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08660" y="3570732"/>
            <a:ext cx="320040" cy="320040"/>
          </a:xfrm>
          <a:prstGeom prst="rect">
            <a:avLst/>
          </a:prstGeom>
        </p:spPr>
      </p:pic>
      <p:sp>
        <p:nvSpPr>
          <p:cNvPr id="14" name="Text 9"/>
          <p:cNvSpPr txBox="1"/>
          <p:nvPr/>
        </p:nvSpPr>
        <p:spPr>
          <a:xfrm>
            <a:off x="1417320" y="3374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5" name="Text 10"/>
          <p:cNvSpPr txBox="1"/>
          <p:nvPr/>
        </p:nvSpPr>
        <p:spPr>
          <a:xfrm>
            <a:off x="3200400" y="3374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6" name="Shape 11"/>
          <p:cNvSpPr/>
          <p:nvPr/>
        </p:nvSpPr>
        <p:spPr>
          <a:xfrm>
            <a:off x="548640" y="4398264"/>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08660" y="4558284"/>
            <a:ext cx="320040" cy="320040"/>
          </a:xfrm>
          <a:prstGeom prst="rect">
            <a:avLst/>
          </a:prstGeom>
        </p:spPr>
      </p:pic>
      <p:sp>
        <p:nvSpPr>
          <p:cNvPr id="18" name="Text 12"/>
          <p:cNvSpPr txBox="1"/>
          <p:nvPr/>
        </p:nvSpPr>
        <p:spPr>
          <a:xfrm>
            <a:off x="1417320" y="436168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9" name="Text 13"/>
          <p:cNvSpPr txBox="1"/>
          <p:nvPr/>
        </p:nvSpPr>
        <p:spPr>
          <a:xfrm>
            <a:off x="3200400" y="436168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Open benchmark, both tools and replication packages; integration with the InnoGuard platform</a:t>
            </a:r>
            <a:endParaRPr lang="en-US" sz="1400" dirty="0"/>
          </a:p>
        </p:txBody>
      </p:sp>
      <p:sp>
        <p:nvSpPr>
          <p:cNvPr id="20" name="Shape 14"/>
          <p:cNvSpPr/>
          <p:nvPr/>
        </p:nvSpPr>
        <p:spPr>
          <a:xfrm>
            <a:off x="7406640" y="1325880"/>
            <a:ext cx="4233672" cy="3931920"/>
          </a:xfrm>
          <a:prstGeom prst="roundRect">
            <a:avLst>
              <a:gd name="adj" fmla="val 2791"/>
            </a:avLst>
          </a:prstGeom>
          <a:solidFill>
            <a:srgbClr val="F2F5F9"/>
          </a:solidFill>
          <a:ln w="12700">
            <a:solidFill>
              <a:srgbClr val="F2F5F9"/>
            </a:solidFill>
            <a:prstDash val="solid"/>
          </a:ln>
        </p:spPr>
        <p:txBody>
          <a:bodyPr/>
          <a:lstStyle/>
          <a:p>
            <a:endParaRPr lang="en-US"/>
          </a:p>
        </p:txBody>
      </p:sp>
      <p:sp>
        <p:nvSpPr>
          <p:cNvPr id="21" name="Text 15"/>
          <p:cNvSpPr txBox="1"/>
          <p:nvPr/>
        </p:nvSpPr>
        <p:spPr>
          <a:xfrm>
            <a:off x="7635240" y="149047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2" name="Text 16"/>
          <p:cNvSpPr txBox="1"/>
          <p:nvPr/>
        </p:nvSpPr>
        <p:spPr>
          <a:xfrm>
            <a:off x="7635240" y="19202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3" name="Text 17"/>
          <p:cNvSpPr txBox="1"/>
          <p:nvPr/>
        </p:nvSpPr>
        <p:spPr>
          <a:xfrm>
            <a:off x="548640" y="5669280"/>
            <a:ext cx="11094415" cy="7589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[11] S. Ali et al., “Foundation models for the digital twins creation of cyber-physical systems,” Proc. ISoLA 2024, 2025.</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D · MY BACKGROUND</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4" name="Shape 2"/>
          <p:cNvSpPr/>
          <p:nvPr/>
        </p:nvSpPr>
        <p:spPr>
          <a:xfrm>
            <a:off x="1658082" y="2121408"/>
            <a:ext cx="8875532" cy="0"/>
          </a:xfrm>
          <a:prstGeom prst="line">
            <a:avLst/>
          </a:prstGeom>
          <a:noFill/>
          <a:ln w="25400">
            <a:solidFill>
              <a:srgbClr val="DDE3EC"/>
            </a:solidFill>
            <a:prstDash val="solid"/>
          </a:ln>
        </p:spPr>
        <p:txBody>
          <a:bodyPr/>
          <a:lstStyle/>
          <a:p>
            <a:endParaRPr lang="en-US"/>
          </a:p>
        </p:txBody>
      </p:sp>
      <p:sp>
        <p:nvSpPr>
          <p:cNvPr id="5" name="Shape 3"/>
          <p:cNvSpPr/>
          <p:nvPr/>
        </p:nvSpPr>
        <p:spPr>
          <a:xfrm>
            <a:off x="1365474" y="182880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511778" y="1975104"/>
            <a:ext cx="292608" cy="292608"/>
          </a:xfrm>
          <a:prstGeom prst="rect">
            <a:avLst/>
          </a:prstGeom>
        </p:spPr>
      </p:pic>
      <p:sp>
        <p:nvSpPr>
          <p:cNvPr id="7" name="Text 4"/>
          <p:cNvSpPr txBox="1"/>
          <p:nvPr/>
        </p:nvSpPr>
        <p:spPr>
          <a:xfrm>
            <a:off x="548640" y="254203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8" name="Text 5"/>
          <p:cNvSpPr txBox="1"/>
          <p:nvPr/>
        </p:nvSpPr>
        <p:spPr>
          <a:xfrm>
            <a:off x="621792"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9" name="Text 6"/>
          <p:cNvSpPr txBox="1"/>
          <p:nvPr/>
        </p:nvSpPr>
        <p:spPr>
          <a:xfrm>
            <a:off x="640080"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10" name="Shape 7"/>
          <p:cNvSpPr/>
          <p:nvPr/>
        </p:nvSpPr>
        <p:spPr>
          <a:xfrm>
            <a:off x="3584357" y="182880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30661" y="1975104"/>
            <a:ext cx="292608" cy="292608"/>
          </a:xfrm>
          <a:prstGeom prst="rect">
            <a:avLst/>
          </a:prstGeom>
        </p:spPr>
      </p:pic>
      <p:sp>
        <p:nvSpPr>
          <p:cNvPr id="12" name="Text 8"/>
          <p:cNvSpPr txBox="1"/>
          <p:nvPr/>
        </p:nvSpPr>
        <p:spPr>
          <a:xfrm>
            <a:off x="2767523" y="254203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3" name="Text 9"/>
          <p:cNvSpPr txBox="1"/>
          <p:nvPr/>
        </p:nvSpPr>
        <p:spPr>
          <a:xfrm>
            <a:off x="2840675"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4" name="Text 10"/>
          <p:cNvSpPr txBox="1"/>
          <p:nvPr/>
        </p:nvSpPr>
        <p:spPr>
          <a:xfrm>
            <a:off x="2858963"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5" name="Shape 11"/>
          <p:cNvSpPr/>
          <p:nvPr/>
        </p:nvSpPr>
        <p:spPr>
          <a:xfrm>
            <a:off x="5803240" y="182880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949544" y="1975104"/>
            <a:ext cx="292608" cy="292608"/>
          </a:xfrm>
          <a:prstGeom prst="rect">
            <a:avLst/>
          </a:prstGeom>
        </p:spPr>
      </p:pic>
      <p:sp>
        <p:nvSpPr>
          <p:cNvPr id="17" name="Text 12"/>
          <p:cNvSpPr txBox="1"/>
          <p:nvPr/>
        </p:nvSpPr>
        <p:spPr>
          <a:xfrm>
            <a:off x="4986406" y="254203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8" name="Text 13"/>
          <p:cNvSpPr txBox="1"/>
          <p:nvPr/>
        </p:nvSpPr>
        <p:spPr>
          <a:xfrm>
            <a:off x="5059558"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9" name="Text 14"/>
          <p:cNvSpPr txBox="1"/>
          <p:nvPr/>
        </p:nvSpPr>
        <p:spPr>
          <a:xfrm>
            <a:off x="5077846"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20" name="Shape 15"/>
          <p:cNvSpPr/>
          <p:nvPr/>
        </p:nvSpPr>
        <p:spPr>
          <a:xfrm>
            <a:off x="8022123" y="182880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168427" y="1975104"/>
            <a:ext cx="292608" cy="292608"/>
          </a:xfrm>
          <a:prstGeom prst="rect">
            <a:avLst/>
          </a:prstGeom>
        </p:spPr>
      </p:pic>
      <p:sp>
        <p:nvSpPr>
          <p:cNvPr id="22" name="Text 16"/>
          <p:cNvSpPr txBox="1"/>
          <p:nvPr/>
        </p:nvSpPr>
        <p:spPr>
          <a:xfrm>
            <a:off x="7205289" y="254203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3" name="Text 17"/>
          <p:cNvSpPr txBox="1"/>
          <p:nvPr/>
        </p:nvSpPr>
        <p:spPr>
          <a:xfrm>
            <a:off x="7278441"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4" name="Text 18"/>
          <p:cNvSpPr txBox="1"/>
          <p:nvPr/>
        </p:nvSpPr>
        <p:spPr>
          <a:xfrm>
            <a:off x="7296729"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5" name="Shape 19"/>
          <p:cNvSpPr/>
          <p:nvPr/>
        </p:nvSpPr>
        <p:spPr>
          <a:xfrm>
            <a:off x="10241006" y="182880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10387310" y="1975104"/>
            <a:ext cx="292608" cy="292608"/>
          </a:xfrm>
          <a:prstGeom prst="rect">
            <a:avLst/>
          </a:prstGeom>
        </p:spPr>
      </p:pic>
      <p:sp>
        <p:nvSpPr>
          <p:cNvPr id="27" name="Text 20"/>
          <p:cNvSpPr txBox="1"/>
          <p:nvPr/>
        </p:nvSpPr>
        <p:spPr>
          <a:xfrm>
            <a:off x="9424172" y="254203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8" name="Text 21"/>
          <p:cNvSpPr txBox="1"/>
          <p:nvPr/>
        </p:nvSpPr>
        <p:spPr>
          <a:xfrm>
            <a:off x="9497324"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9" name="Text 22"/>
          <p:cNvSpPr txBox="1"/>
          <p:nvPr/>
        </p:nvSpPr>
        <p:spPr>
          <a:xfrm>
            <a:off x="9515612"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30" name="Shape 23"/>
          <p:cNvSpPr/>
          <p:nvPr/>
        </p:nvSpPr>
        <p:spPr>
          <a:xfrm>
            <a:off x="548640" y="461772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1" name="Text 24"/>
          <p:cNvSpPr txBox="1"/>
          <p:nvPr/>
        </p:nvSpPr>
        <p:spPr>
          <a:xfrm>
            <a:off x="822960" y="478231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D · WHAT I BRING</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and why this team</a:t>
            </a:r>
            <a:endParaRPr lang="en-US" sz="3000" dirty="0"/>
          </a:p>
        </p:txBody>
      </p:sp>
      <p:sp>
        <p:nvSpPr>
          <p:cNvPr id="4" name="Shape 2"/>
          <p:cNvSpPr/>
          <p:nvPr/>
        </p:nvSpPr>
        <p:spPr>
          <a:xfrm>
            <a:off x="54864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777240" y="155448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691640"/>
            <a:ext cx="274320" cy="274320"/>
          </a:xfrm>
          <a:prstGeom prst="rect">
            <a:avLst/>
          </a:prstGeom>
        </p:spPr>
      </p:pic>
      <p:sp>
        <p:nvSpPr>
          <p:cNvPr id="7" name="Text 4"/>
          <p:cNvSpPr txBox="1"/>
          <p:nvPr/>
        </p:nvSpPr>
        <p:spPr>
          <a:xfrm>
            <a:off x="146304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Testing cyber-physical systems</a:t>
            </a:r>
            <a:endParaRPr lang="en-US" sz="1500" dirty="0"/>
          </a:p>
        </p:txBody>
      </p:sp>
      <p:sp>
        <p:nvSpPr>
          <p:cNvPr id="8" name="Text 5"/>
          <p:cNvSpPr txBox="1"/>
          <p:nvPr/>
        </p:nvSpPr>
        <p:spPr>
          <a:xfrm>
            <a:off x="77724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Automotive ECU testing (CAN, CAPL, ETAS INCA); robotics (ROS/ROS2) and embedded domains</a:t>
            </a:r>
            <a:endParaRPr lang="en-US" sz="1300" dirty="0"/>
          </a:p>
        </p:txBody>
      </p:sp>
      <p:sp>
        <p:nvSpPr>
          <p:cNvPr id="9" name="Shape 6"/>
          <p:cNvSpPr/>
          <p:nvPr/>
        </p:nvSpPr>
        <p:spPr>
          <a:xfrm>
            <a:off x="429768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4526280" y="155448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3440" y="1691640"/>
            <a:ext cx="274320" cy="274320"/>
          </a:xfrm>
          <a:prstGeom prst="rect">
            <a:avLst/>
          </a:prstGeom>
        </p:spPr>
      </p:pic>
      <p:sp>
        <p:nvSpPr>
          <p:cNvPr id="12" name="Text 8"/>
          <p:cNvSpPr txBox="1"/>
          <p:nvPr/>
        </p:nvSpPr>
        <p:spPr>
          <a:xfrm>
            <a:off x="521208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Verification research</a:t>
            </a:r>
            <a:endParaRPr lang="en-US" sz="1500" dirty="0"/>
          </a:p>
        </p:txBody>
      </p:sp>
      <p:sp>
        <p:nvSpPr>
          <p:cNvPr id="13" name="Text 9"/>
          <p:cNvSpPr txBox="1"/>
          <p:nvPr/>
        </p:nvSpPr>
        <p:spPr>
          <a:xfrm>
            <a:off x="452628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Falsification, function abstraction via active learning, property-based testing — close to robustness-guided falsification [14]</a:t>
            </a:r>
            <a:endParaRPr lang="en-US" sz="1300" dirty="0"/>
          </a:p>
        </p:txBody>
      </p:sp>
      <p:sp>
        <p:nvSpPr>
          <p:cNvPr id="14" name="Shape 10"/>
          <p:cNvSpPr/>
          <p:nvPr/>
        </p:nvSpPr>
        <p:spPr>
          <a:xfrm>
            <a:off x="54864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5" name="Shape 11"/>
          <p:cNvSpPr/>
          <p:nvPr/>
        </p:nvSpPr>
        <p:spPr>
          <a:xfrm>
            <a:off x="777240" y="361188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749040"/>
            <a:ext cx="274320" cy="274320"/>
          </a:xfrm>
          <a:prstGeom prst="rect">
            <a:avLst/>
          </a:prstGeom>
        </p:spPr>
      </p:pic>
      <p:sp>
        <p:nvSpPr>
          <p:cNvPr id="17" name="Text 12"/>
          <p:cNvSpPr txBox="1"/>
          <p:nvPr/>
        </p:nvSpPr>
        <p:spPr>
          <a:xfrm>
            <a:off x="146304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LLMs for quality engineering</a:t>
            </a:r>
            <a:endParaRPr lang="en-US" sz="1500" dirty="0"/>
          </a:p>
        </p:txBody>
      </p:sp>
      <p:sp>
        <p:nvSpPr>
          <p:cNvPr id="18" name="Text 13"/>
          <p:cNvSpPr txBox="1"/>
          <p:nvPr/>
        </p:nvSpPr>
        <p:spPr>
          <a:xfrm>
            <a:off x="77724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Built QA-Flow and UQ-TestGen: RAG, LLM agents, MCP-based workflows, Playwright</a:t>
            </a:r>
            <a:endParaRPr lang="en-US" sz="1300" dirty="0"/>
          </a:p>
        </p:txBody>
      </p:sp>
      <p:sp>
        <p:nvSpPr>
          <p:cNvPr id="19" name="Shape 14"/>
          <p:cNvSpPr/>
          <p:nvPr/>
        </p:nvSpPr>
        <p:spPr>
          <a:xfrm>
            <a:off x="429768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20" name="Shape 15"/>
          <p:cNvSpPr/>
          <p:nvPr/>
        </p:nvSpPr>
        <p:spPr>
          <a:xfrm>
            <a:off x="4526280" y="3611880"/>
            <a:ext cx="548640" cy="548640"/>
          </a:xfrm>
          <a:prstGeom prst="ellipse">
            <a:avLst/>
          </a:prstGeom>
          <a:solidFill>
            <a:srgbClr val="6E56CF"/>
          </a:solidFill>
          <a:ln w="12700">
            <a:solidFill>
              <a:srgbClr val="6E56C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663440" y="3749040"/>
            <a:ext cx="274320" cy="274320"/>
          </a:xfrm>
          <a:prstGeom prst="rect">
            <a:avLst/>
          </a:prstGeom>
        </p:spPr>
      </p:pic>
      <p:sp>
        <p:nvSpPr>
          <p:cNvPr id="22" name="Text 16"/>
          <p:cNvSpPr txBox="1"/>
          <p:nvPr/>
        </p:nvSpPr>
        <p:spPr>
          <a:xfrm>
            <a:off x="521208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Python &amp; empirical studies</a:t>
            </a:r>
            <a:endParaRPr lang="en-US" sz="1500" dirty="0"/>
          </a:p>
        </p:txBody>
      </p:sp>
      <p:sp>
        <p:nvSpPr>
          <p:cNvPr id="23" name="Text 17"/>
          <p:cNvSpPr txBox="1"/>
          <p:nvPr/>
        </p:nvSpPr>
        <p:spPr>
          <a:xfrm>
            <a:off x="452628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Controlled experiments on test generators (KCC'25, KCSE'26); held-out evaluation in this talk</a:t>
            </a:r>
            <a:endParaRPr lang="en-US" sz="1300" dirty="0"/>
          </a:p>
        </p:txBody>
      </p:sp>
      <p:sp>
        <p:nvSpPr>
          <p:cNvPr id="24" name="Shape 18"/>
          <p:cNvSpPr/>
          <p:nvPr/>
        </p:nvSpPr>
        <p:spPr>
          <a:xfrm>
            <a:off x="8092440" y="1325880"/>
            <a:ext cx="3547872" cy="3977640"/>
          </a:xfrm>
          <a:prstGeom prst="roundRect">
            <a:avLst>
              <a:gd name="adj" fmla="val 3093"/>
            </a:avLst>
          </a:prstGeom>
          <a:solidFill>
            <a:srgbClr val="13213C"/>
          </a:solidFill>
          <a:ln w="12700">
            <a:solidFill>
              <a:srgbClr val="13213C"/>
            </a:solidFill>
            <a:prstDash val="solid"/>
          </a:ln>
        </p:spPr>
        <p:txBody>
          <a:bodyPr/>
          <a:lstStyle/>
          <a:p>
            <a:endParaRPr lang="en-US"/>
          </a:p>
        </p:txBody>
      </p:sp>
      <p:sp>
        <p:nvSpPr>
          <p:cNvPr id="25" name="Text 19"/>
          <p:cNvSpPr txBox="1"/>
          <p:nvPr/>
        </p:nvSpPr>
        <p:spPr>
          <a:xfrm>
            <a:off x="8321040" y="1508760"/>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Why this team</a:t>
            </a:r>
            <a:endParaRPr lang="en-US" sz="1700" dirty="0"/>
          </a:p>
        </p:txBody>
      </p:sp>
      <p:sp>
        <p:nvSpPr>
          <p:cNvPr id="26" name="Text 20"/>
          <p:cNvSpPr txBox="1"/>
          <p:nvPr/>
        </p:nvSpPr>
        <p:spPr>
          <a:xfrm>
            <a:off x="8321040" y="1965960"/>
            <a:ext cx="31546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Uncertainty-wise CPS testing (Simula)</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ADS testing &amp; falsification (NII)</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Industrial CPS oracles &amp; elevators (Mondragon)</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My demos sit exactly where the three meet</a:t>
            </a:r>
            <a:endParaRPr lang="en-US" sz="1400" dirty="0"/>
          </a:p>
        </p:txBody>
      </p:sp>
      <p:sp>
        <p:nvSpPr>
          <p:cNvPr id="27" name="Text 21"/>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[14] Z. Zhang et al., “FalsifAI: Falsification of AI-enabled hybrid control systems guided by time-aware coverage criteria,” IEEE TSE, 2023.</a:t>
            </a:r>
            <a:endParaRPr lang="en-US" sz="9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548640" y="3108960"/>
            <a:ext cx="8686800" cy="173736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1 · QA-Flow: LLM tests end to end, trusted by rules — and fooled by wrong tests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2 · UQ-TestGen: uncertainty tells which generated tests to trust</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PhD: metrics, risk methods, evidence and transfer — O1 to O4</a:t>
            </a:r>
            <a:endParaRPr lang="en-US" sz="1800" dirty="0"/>
          </a:p>
        </p:txBody>
      </p:sp>
      <p:sp>
        <p:nvSpPr>
          <p:cNvPr id="4" name="Text 2"/>
          <p:cNvSpPr txBox="1"/>
          <p:nvPr/>
        </p:nvSpPr>
        <p:spPr>
          <a:xfrm>
            <a:off x="548640" y="4983480"/>
            <a:ext cx="548640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zavinhle@gmail.com</a:t>
            </a:r>
            <a:endParaRPr lang="en-US" sz="1600" dirty="0"/>
          </a:p>
        </p:txBody>
      </p:sp>
      <p:pic>
        <p:nvPicPr>
          <p:cNvPr id="5" name="Image 0" descr="D:\hnp\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QA-Flow demo: planted defects, faults and gates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3200400"/>
        </p:xfrm>
        <a:graphic>
          <a:graphicData uri="http://schemas.openxmlformats.org/drawingml/2006/table">
            <a:tbl>
              <a:tblPr/>
              <a:tblGrid>
                <a:gridCol w="3291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rPr>
                        <a:t>Planted defect (ShopLite)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Type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Found by test(s)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E2533"/>
                          </a:solidFill>
                        </a:rPr>
                        <a:t>SAVE10 subtracts €10 instead of 10 %</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web</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E2533"/>
                          </a:solidFill>
                        </a:rPr>
                        <a:t>Unknown product → 500 instead of 404</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TC-19.1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E2533"/>
                          </a:solidFill>
                        </a:rPr>
                        <a:t>Quantity 0 / negative accepted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TC-09.2, TC-22.2, TC-24.2, TC-24.3, TC-25.1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E2533"/>
                          </a:solidFill>
                        </a:rPr>
                        <a:t>No Content-Security-Policy header</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TC-06.3, TC-29.1, TC-29.2,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E2533"/>
                          </a:solidFill>
                        </a:rPr>
                        <a:t>Reflected XSS in search</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TC-06.3,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E2533"/>
                          </a:solidFill>
                        </a:rPr>
                        <a:t>Login reveals registered emails</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TC-31.1, TC-32.1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E2533"/>
                          </a:solidFill>
                        </a:rPr>
                        <a:t>IDOR: other users' orders readable</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7"/>
                  </a:ext>
                </a:extLst>
              </a:tr>
            </a:tbl>
          </a:graphicData>
        </a:graphic>
      </p:graphicFrame>
      <p:sp>
        <p:nvSpPr>
          <p:cNvPr id="4" name="Shape 1"/>
          <p:cNvSpPr/>
          <p:nvPr/>
        </p:nvSpPr>
        <p:spPr>
          <a:xfrm>
            <a:off x="7498080" y="1325880"/>
            <a:ext cx="4142232" cy="4480560"/>
          </a:xfrm>
          <a:prstGeom prst="roundRect">
            <a:avLst>
              <a:gd name="adj" fmla="val 2649"/>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7726680" y="1463040"/>
            <a:ext cx="374904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Run details</a:t>
            </a:r>
            <a:endParaRPr lang="en-US" sz="1600" dirty="0"/>
          </a:p>
        </p:txBody>
      </p:sp>
      <p:sp>
        <p:nvSpPr>
          <p:cNvPr id="6" name="Text 3"/>
          <p:cNvSpPr txBox="1"/>
          <p:nvPr/>
        </p:nvSpPr>
        <p:spPr>
          <a:xfrm>
            <a:off x="7726680" y="1874520"/>
            <a:ext cx="3749040" cy="38404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34 requirements, 62 tests (51 LLM-designed, 11 rule-derived)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Schema gate: 55 agent replies, 2 rejected, 0 repaired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Grounding gate: 0 tests ungrounded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Fault gate: 13 broken builds; 13 passing tests never failed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Wrong tests among FAILs: TC-10.1, TC-11.1, TC-20.1, TC-27.1, TC-27.2, TC-28.1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Total run time 23 min (gpt-5.6-luna)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UQ-TestGen results per model and requirement</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1536192"/>
        </p:xfrm>
        <a:graphic>
          <a:graphicData uri="http://schemas.openxmlformats.org/drawingml/2006/table">
            <a:tbl>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99032">
                  <a:extLst>
                    <a:ext uri="{9D8B030D-6E8A-4147-A177-3AD203B41FA5}">
                      <a16:colId xmlns:a16="http://schemas.microsoft.com/office/drawing/2014/main" val="20006"/>
                    </a:ext>
                  </a:extLst>
                </a:gridCol>
              </a:tblGrid>
              <a:tr h="384048">
                <a:tc>
                  <a:txBody>
                    <a:bodyPr/>
                    <a:lstStyle/>
                    <a:p>
                      <a:pPr marL="0" indent="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bl>
          </a:graphicData>
        </a:graphic>
      </p:graphicFrame>
      <p:graphicFrame>
        <p:nvGraphicFramePr>
          <p:cNvPr id="4" name="Chart 0"/>
          <p:cNvGraphicFramePr/>
          <p:nvPr/>
        </p:nvGraphicFramePr>
        <p:xfrm>
          <a:off x="548640" y="3108960"/>
          <a:ext cx="11094415"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the demos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Correctness = agreement with my reference formalisation; mutants and planted defects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UQ 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web app, one SUT, one simulator,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17 incorrect tests in 6 batches; one QA-Flow run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371600"/>
            <a:ext cx="6766560" cy="402336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192024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468880"/>
            <a:ext cx="1097280" cy="1097280"/>
          </a:xfrm>
          <a:prstGeom prst="rect">
            <a:avLst/>
          </a:prstGeom>
        </p:spPr>
      </p:pic>
      <p:sp>
        <p:nvSpPr>
          <p:cNvPr id="6" name="Text 3"/>
          <p:cNvSpPr txBox="1"/>
          <p:nvPr/>
        </p:nvSpPr>
        <p:spPr>
          <a:xfrm>
            <a:off x="548640" y="5577840"/>
            <a:ext cx="11094415" cy="85039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[19] S. Ali et al., “Assessing the effectiveness of input and output coverage criteria for testing quantum programs,” Proc. IEEE ICST, 2021.</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[22] X. Wang et al., “Quantum artificial intelligence for software engineering: The road ahead,” ACM TOSEM, 2026.</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16A0BCF-5A54-49AE-AEB9-75CC1015F855}">
  <we:reference id="wa200010215" version="2.0.0.1" store="en-US" storeType="OMEX"/>
  <we:alternateReferences>
    <we:reference id="WA200010215" version="2.0.0.1" store="" storeType="OMEX"/>
  </we:alternateReferences>
  <we:properties>
    <we:property name="bps.codex_control.document_id" value="&quot;a6faca33-ec82-432d-a823-cdf7b2c332f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679</TotalTime>
  <Words>6985</Words>
  <Application>Microsoft Office PowerPoint</Application>
  <PresentationFormat>Widescreen</PresentationFormat>
  <Paragraphs>513</Paragraphs>
  <Slides>26</Slides>
  <Notes>26</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Courier New</vt:lpstr>
      <vt:lpstr>InnoGuard Interview</vt:lpstr>
      <vt:lpstr>When can we trust AI-generated tests? Uncertainty quantification for risk-based testing of autonomous CPS</vt:lpstr>
      <vt:lpstr>Turning specifications into tests by hand does not scale</vt:lpstr>
      <vt:lpstr>QA-Flow: From a requirements document to test report</vt:lpstr>
      <vt:lpstr>Demo 1: QA-Flow Tool</vt:lpstr>
      <vt:lpstr>Valid-looking AI tests can still be wrong</vt:lpstr>
      <vt:lpstr>In safety-critical systems, a wrong test can create a safety risk</vt:lpstr>
      <vt:lpstr>Existing work measures uncertainty—but not for executable AI-generated tests</vt:lpstr>
      <vt:lpstr>Demo 2 uses uncertainty to flag tests that may be wrong</vt:lpstr>
      <vt:lpstr>Four uncertainty signals — no ground truth needed</vt:lpstr>
      <vt:lpstr>Demo 2: one requirement, end to end, live LLM</vt:lpstr>
      <vt:lpstr>Behavioural entropy beats the LLM's self-confidence</vt:lpstr>
      <vt:lpstr>Risk-based triage: 77% auto-accepted at 98.8% precision</vt:lpstr>
      <vt:lpstr>The position's four objectives, as research questions</vt:lpstr>
      <vt:lpstr>What both demos cannot do yet becomes the research agenda</vt:lpstr>
      <vt:lpstr>Research questions and how I will answer them</vt:lpstr>
      <vt:lpstr>36-month plan with secondment and publications</vt:lpstr>
      <vt:lpstr>Expected contributions to InnoGuard</vt:lpstr>
      <vt:lpstr>From automotive test benches to AI-driven testing</vt:lpstr>
      <vt:lpstr>What I bring, and why this team</vt:lpstr>
      <vt:lpstr>Thank you</vt:lpstr>
      <vt:lpstr>Backup · QA-Flow demo: planted defects, faults and gates</vt:lpstr>
      <vt:lpstr>Backup · UQ-TestGen results per model and requirement</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Henry Le</cp:lastModifiedBy>
  <cp:revision>4</cp:revision>
  <dcterms:created xsi:type="dcterms:W3CDTF">2026-10-27T08:38:03Z</dcterms:created>
  <dcterms:modified xsi:type="dcterms:W3CDTF">2026-10-27T23:02:35Z</dcterms:modified>
</cp:coreProperties>
</file>
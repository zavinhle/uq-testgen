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56" r:id="rId2"/>
    <p:sldId id="277" r:id="rId3"/>
    <p:sldId id="278" r:id="rId4"/>
    <p:sldId id="260" r:id="rId5"/>
    <p:sldId id="279"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E047273-5134-1B34-9BB5-4B040650920D}">
          <p14:sldIdLst>
            <p14:sldId id="256"/>
          </p14:sldIdLst>
        </p14:section>
        <p14:section name="A · The problem I hit (Demo 1)" id="{7CB31AD3-2173-C118-479C-3CF3B0A622F3}">
          <p14:sldIdLst>
            <p14:sldId id="277"/>
            <p14:sldId id="278"/>
            <p14:sldId id="260"/>
            <p14:sldId id="279"/>
            <p14:sldId id="261"/>
            <p14:sldId id="262"/>
          </p14:sldIdLst>
        </p14:section>
        <p14:section name="B · The PhD plan" id="{412C0BE4-6EA0-9AA4-2DCD-79540D27899C}">
          <p14:sldIdLst>
            <p14:sldId id="263"/>
            <p14:sldId id="264"/>
            <p14:sldId id="265"/>
            <p14:sldId id="266"/>
            <p14:sldId id="267"/>
            <p14:sldId id="268"/>
          </p14:sldIdLst>
        </p14:section>
        <p14:section name="C · What I can contribute" id="{03556DD3-1E2B-7DF6-7E99-B7D8504A12EA}">
          <p14:sldIdLst>
            <p14:sldId id="269"/>
            <p14:sldId id="270"/>
            <p14:sldId id="271"/>
          </p14:sldIdLst>
        </p14:section>
        <p14:section name="Backup" id="{C61593C6-5102-FA52-BA51-8BCDB6E68A39}">
          <p14:sldIdLst>
            <p14:sldId id="272"/>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1" d="100"/>
          <a:sy n="111" d="100"/>
        </p:scale>
        <p:origin x="55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85354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and thank you for the invitation. My talk has three parts: first a real problem I hit with my own AI testing tool, shown in a demo; then how I want to solve it in the PhD, along the four objectives of the position; and finally what I bring.</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motivation comes from my daily work as a tester. For every release we read the specification, write test cases, write scripts, run them and file bugs — and when the specification changes, we do it again. The bottleneck is test design, not execution. LLMs can now read specifications and write tests, so I asked: can one pipeline go from the document to the report?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QA-Flow, the tool I started from. Its six stages: the requirements document plus a discovery of the running application; retrieval over the documents; three LLM agents; a closed step language that code compiles into Playwright scripts; execution of web, API and security tests; and a report. Trust is handled by four hand-written rules. The demo application, ShopLite, contains seven planted defects so we know what should be found.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result: QA-Flow extracted 34 requirements and ran 62 tests, and it found 5 of the 7 planted defects. But when I re-ran every failing test on a build with the planted defects fixed, 6 of the 18 FAILs still failed: the bug was in the AI's test, not in the shop. Every one of them passed all four trust rules. So the rules cannot tell a wrong test from a real defect. Let me show you one up close.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Before the results, here is how to read the report. PASS: the test's check held, and the test also fails on a broken version of the shop, so we know it can catch bugs. FAIL: the check did not hold, so the tool reports a bug in the shop. REVIEW: the tool does not trust the test, for example because it passes even on a broken shop, so a person decides. And a false alarm: a FAIL where the mistake is in the AI's own test, not in the shop. The tool cannot tell these apart; I found them afterwards by re-running every FAIL on a shop with the planted bugs removed.</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one of these wrong tests up close, because it explains the whole problem. The requirement says the code SAVE10 gives ten percent off. On the left is what a correct test would do: put a pair of shoes for 89 euros in the cart, enter SAVE10, and expect 80 euros 10. ShopLite has a planted bug and shows 79 euros, so the correct test fails and finds the bug. On the right is what the AI's test actually did: it opened the cart without adding anything, so the cart was empty, it never reached the discount, it saw zero euros and failed. The report files this as a bug, but the bug is in the test, and the real discount bug was never tested. The privacy tests made the same kind of mistake: they logged in the wrong way, got 'not logged in', and never checked whether one customer can see another customer's orders.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did none of QA-Flow's rules catch it? Look at what each rule checks. The schema check: the answer is well-formed, passed. Grounding: the pages and fields exist and the quote is word-for-word, passed. The review flag: the test has a source, so it is not flagged. The fault-injection gate only looks at passing tests, and this one failed. So every rule checks the form of the test, and no rule asks whether the test really tests the requirement. A test can be wrong in three ways: the wrong scenario, the wrong check, or a test that catches no bug. In a web shop that wastes time. In an autonomous car, a wrong test means false safety, and AI is already being used to engineer exactly these systems.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leads to the question of my PhD: when can we trust an AI-generated test? My idea is simple: ask the AI for the same test several times and compare what the tests do. If they agree, we can trust them more; if they scatter, a human should look. This idea works for chatbot answers, in work on semantic entropy and self-consistency, but nobody has studied it for executable tests. It builds directly on your work: uncertainty-wise testing of cyber-physical systems, testing of driving systems and falsification, industrial oracles for elevators, and the use of foundation models in CPS engineering.</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I read the four objectives of the position, phrased as questions. What Demo 1 cannot do yet maps onto them.</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thing Demo 1 cannot do becomes an objective. The rules cannot tell a wrong test from a real defect: I need uncertainty signals for every generated test, that is O1. Every FAIL looks the same, so a human checks all of them: I need risk-based decisions, O2. Wrong tests hid real bugs, and we have no measure of what a generated test is worth: a study of uncertainty against correctness, bug-finding power and cost, O3. And everything so far is one web shop and one model: the PhD moves to autonomous systems, industrial cases and newer models, O4.</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research questions, one per objective, each with its method, evaluated on open-source ACPS, industrial cases through the network such as the Mondragon elevator systems, and the InnoGuard platform, with fault-injection or expert ground truth.</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36-month plan. Year 1: a mapping study, an open benchmark that includes both QA-Flow-style web/API artefacts and ACPS tests, and the first metric suite. Year 2: the empirical study, risk methods and the planned secondment at Mondragon. Year 3: industrial and InnoGuard-platform evaluation, the quantum ML extension, and the thesis. Secondment dates are indicative.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contributions — metrics, risk methods, empirical evidence and open artefacts — published at the main SE venues and developed jointly across the network, with the Mondragon secondment as the industrial anchor.</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path: from hardware to automotive software testing at Bosch, then research on falsification and test generation for controller software at Kyungpook National University, and now LLM-based testing in industry — which is where QA-Flow comes from. The common thread is making automated testing of safety-relevant software trustworthy.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bring maps onto the preferred profile: CPS testing practice, verification research, hands-on LLM tooling — QA-Flow in this talk — and empirical studies. And why this team: uncertainty-wise CPS testing at Simula, ADS testing and falsification with Prof. Arcaini, industrial oracles at Mondragon. My work sits exactly where these meet.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summarise: QA-Flow lets AI write and run tests end to end, and it finds real bugs. But its rules cannot spot the AI's own wrong tests. My PhD is about measuring when AI-generated tests can be trusted, with metrics, risk methods, evidence and transfer to autonomous systems, along O1 to O4. Thank you — I look forward to your questions.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Details of the QA-Flow run behind Demo 1: which planted defects were found by which tests, and how many outputs each trust rule caught.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 threats: planted defects and my own ground truth define what counts as wrong; one shop, one model and one run; and small numbers. Each has a mitigation in the plan.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objective 4: shot-based sampling is a natural analogue to sampling an LLM, so the same disagreement-based metrics can be tested, with quantum noise as an extra source of uncertainty.</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3213C"/>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828800"/>
            <a:ext cx="10515600" cy="1097280"/>
          </a:xfrm>
          <a:prstGeom prst="rect">
            <a:avLst/>
          </a:prstGeom>
          <a:noFill/>
          <a:ln/>
        </p:spPr>
        <p:txBody>
          <a:bodyPr wrap="square" rtlCol="0"/>
          <a:lstStyle>
            <a:lvl1pPr marL="0" indent="0" algn="l">
              <a:buNone/>
              <a:defRPr lang="en-US" sz="4000" b="1" dirty="0">
                <a:solidFill>
                  <a:srgbClr val="FFFFFF"/>
                </a:solidFill>
                <a:latin typeface="Calibri" pitchFamily="34" charset="0"/>
                <a:ea typeface="Calibri" pitchFamily="34" charset="-122"/>
                <a:cs typeface="Calibri" pitchFamily="34" charset="-120"/>
              </a:defRPr>
            </a:lvl1pPr>
          </a:lstStyle>
          <a:p>
            <a:pPr marL="0" indent="0" algn="l">
              <a:buNone/>
            </a:pPr>
            <a:endParaRPr lang="en-US" sz="4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rtlCol="0"/>
          <a:lstStyle>
            <a:lvl1pPr marL="0" indent="0">
              <a:buNone/>
              <a:defRPr lang="en-US" sz="3000" b="1" dirty="0">
                <a:solidFill>
                  <a:srgbClr val="13213C"/>
                </a:solidFill>
                <a:latin typeface="Cambria" pitchFamily="34" charset="0"/>
                <a:ea typeface="Cambria" pitchFamily="34" charset="-122"/>
                <a:cs typeface="Cambria" pitchFamily="34" charset="-120"/>
              </a:defRPr>
            </a:lvl1pPr>
          </a:lstStyle>
          <a:p>
            <a:pPr marL="0" indent="0">
              <a:buNone/>
            </a:pPr>
            <a:endParaRPr lang="en-US" sz="3000" dirty="0"/>
          </a:p>
        </p:txBody>
      </p:sp>
      <p:sp>
        <p:nvSpPr>
          <p:cNvPr id="3" name="Text 0"/>
          <p:cNvSpPr/>
          <p:nvPr/>
        </p:nvSpPr>
        <p:spPr>
          <a:xfrm>
            <a:off x="548640" y="6473952"/>
            <a:ext cx="6400800" cy="274320"/>
          </a:xfrm>
          <a:prstGeom prst="rect">
            <a:avLst/>
          </a:prstGeom>
          <a:noFill/>
          <a:ln/>
        </p:spPr>
        <p:txBody>
          <a:bodyPr wrap="square" lIns="0" tIns="0" rIns="0" bIns="0" rtlCol="0" anchor="ctr"/>
          <a:lstStyle/>
          <a:p>
            <a:pPr marL="0" indent="0">
              <a:buNone/>
            </a:pPr>
            <a:r>
              <a:rPr lang="en-US" sz="1000" dirty="0">
                <a:solidFill>
                  <a:srgbClr val="5B6578"/>
                </a:solidFill>
                <a:latin typeface="Calibri" pitchFamily="34" charset="0"/>
                <a:ea typeface="Calibri" pitchFamily="34" charset="-122"/>
                <a:cs typeface="Calibri" pitchFamily="34" charset="-120"/>
              </a:rPr>
              <a:t>Za Vinh Le  ·  PhD research proposal  ·  InnoGuard @ Simula</a:t>
            </a:r>
            <a:endParaRPr lang="en-US" sz="10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578"/>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578"/>
                </a:solidFill>
                <a:latin typeface="Calibri"/>
                <a:ea typeface="Calibri"/>
                <a:cs typeface="Calibri"/>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3.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image" Target="../media/image2.png"/><Relationship Id="rId7"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3.xml"/><Relationship Id="rId6" Type="http://schemas.openxmlformats.org/officeDocument/2006/relationships/image" Target="../media/image4.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3.xml"/><Relationship Id="rId5" Type="http://schemas.openxmlformats.org/officeDocument/2006/relationships/image" Target="../media/image15.png"/><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3.xml"/><Relationship Id="rId1" Type="http://schemas.openxmlformats.org/officeDocument/2006/relationships/slideLayout" Target="../slideLayouts/slideLayout3.xml"/><Relationship Id="rId6" Type="http://schemas.openxmlformats.org/officeDocument/2006/relationships/image" Target="../media/image20.png"/><Relationship Id="rId5" Type="http://schemas.openxmlformats.org/officeDocument/2006/relationships/image" Target="../media/image18.png"/><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3" Type="http://schemas.openxmlformats.org/officeDocument/2006/relationships/image" Target="../media/image21.png"/><Relationship Id="rId7" Type="http://schemas.openxmlformats.org/officeDocument/2006/relationships/image" Target="../media/image25.png"/><Relationship Id="rId2" Type="http://schemas.openxmlformats.org/officeDocument/2006/relationships/notesSlide" Target="../notesSlides/notesSlide14.xml"/><Relationship Id="rId1" Type="http://schemas.openxmlformats.org/officeDocument/2006/relationships/slideLayout" Target="../slideLayouts/slideLayout3.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1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5.xml"/><Relationship Id="rId1" Type="http://schemas.openxmlformats.org/officeDocument/2006/relationships/slideLayout" Target="../slideLayouts/slideLayout3.xml"/><Relationship Id="rId6" Type="http://schemas.openxmlformats.org/officeDocument/2006/relationships/image" Target="../media/image27.png"/><Relationship Id="rId5" Type="http://schemas.openxmlformats.org/officeDocument/2006/relationships/image" Target="../media/image8.png"/><Relationship Id="rId4" Type="http://schemas.openxmlformats.org/officeDocument/2006/relationships/image" Target="../media/image26.pn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325880"/>
            <a:ext cx="10058400" cy="365760"/>
          </a:xfrm>
          <a:prstGeom prst="rect">
            <a:avLst/>
          </a:prstGeom>
          <a:noFill/>
          <a:ln/>
        </p:spPr>
        <p:txBody>
          <a:bodyPr wrap="square" lIns="0" tIns="0" rIns="0" bIns="0" rtlCol="0" anchor="t"/>
          <a:lstStyle/>
          <a:p>
            <a:pPr marL="0" indent="0">
              <a:buNone/>
            </a:pPr>
            <a:r>
              <a:rPr lang="en-US" sz="1400" b="1" kern="0" spc="100" dirty="0">
                <a:solidFill>
                  <a:srgbClr val="CFE3F1"/>
                </a:solidFill>
                <a:latin typeface="Calibri" pitchFamily="34" charset="0"/>
                <a:ea typeface="Calibri" pitchFamily="34" charset="-122"/>
                <a:cs typeface="Calibri" pitchFamily="34" charset="-120"/>
              </a:rPr>
              <a:t>PhD RESEARCH PROPOSAL</a:t>
            </a:r>
            <a:endParaRPr lang="en-US" sz="1400" dirty="0"/>
          </a:p>
        </p:txBody>
      </p:sp>
      <p:sp>
        <p:nvSpPr>
          <p:cNvPr id="3" name="Text 0"/>
          <p:cNvSpPr>
            <a:spLocks noGrp="1"/>
          </p:cNvSpPr>
          <p:nvPr>
            <p:ph type="title" idx="100" hasCustomPrompt="1"/>
          </p:nvPr>
        </p:nvSpPr>
        <p:spPr>
          <a:xfrm>
            <a:off x="548640" y="1828800"/>
            <a:ext cx="10515600" cy="1097280"/>
          </a:xfrm>
          <a:prstGeom prst="rect">
            <a:avLst/>
          </a:prstGeom>
          <a:noFill/>
          <a:ln/>
        </p:spPr>
        <p:txBody>
          <a:bodyPr wrap="square" lIns="0" tIns="0" rIns="0" bIns="0" rtlCol="0" anchor="t"/>
          <a:lstStyle/>
          <a:p>
            <a:pPr marL="0" indent="0" algn="l">
              <a:buNone/>
            </a:pPr>
            <a:r>
              <a:rPr lang="en-US" sz="4000" b="1" dirty="0">
                <a:solidFill>
                  <a:srgbClr val="FFFFFF"/>
                </a:solidFill>
                <a:latin typeface="Calibri" pitchFamily="34" charset="0"/>
                <a:ea typeface="Calibri" pitchFamily="34" charset="-122"/>
                <a:cs typeface="Calibri" pitchFamily="34" charset="-120"/>
              </a:rPr>
              <a:t>When can we trust AI-generated tests?</a:t>
            </a:r>
            <a:endParaRPr lang="en-US" sz="4000" dirty="0"/>
          </a:p>
          <a:p>
            <a:pPr marL="0" indent="0" algn="l">
              <a:buNone/>
            </a:pPr>
            <a:r>
              <a:rPr lang="en-US" sz="4000" b="1" dirty="0">
                <a:solidFill>
                  <a:srgbClr val="FFFFFF"/>
                </a:solidFill>
                <a:latin typeface="Calibri" pitchFamily="34" charset="0"/>
                <a:ea typeface="Calibri" pitchFamily="34" charset="-122"/>
                <a:cs typeface="Calibri" pitchFamily="34" charset="-120"/>
              </a:rPr>
              <a:t>Uncertainty quantification for risk-based testing of autonomous CPS</a:t>
            </a:r>
            <a:endParaRPr lang="en-US" sz="4000" dirty="0"/>
          </a:p>
        </p:txBody>
      </p:sp>
      <p:sp>
        <p:nvSpPr>
          <p:cNvPr id="4" name="Text 2"/>
          <p:cNvSpPr txBox="1"/>
          <p:nvPr/>
        </p:nvSpPr>
        <p:spPr>
          <a:xfrm>
            <a:off x="548640" y="4526280"/>
            <a:ext cx="8229600" cy="457200"/>
          </a:xfrm>
          <a:prstGeom prst="rect">
            <a:avLst/>
          </a:prstGeom>
          <a:noFill/>
          <a:ln/>
        </p:spPr>
        <p:txBody>
          <a:bodyPr wrap="square" lIns="0" tIns="0" rIns="0" bIns="0" rtlCol="0" anchor="t"/>
          <a:lstStyle/>
          <a:p>
            <a:pPr marL="0" indent="0">
              <a:buNone/>
            </a:pPr>
            <a:r>
              <a:rPr lang="en-US" sz="2000" b="1" dirty="0">
                <a:solidFill>
                  <a:srgbClr val="FFFFFF"/>
                </a:solidFill>
                <a:latin typeface="Calibri" pitchFamily="34" charset="0"/>
                <a:ea typeface="Calibri" pitchFamily="34" charset="-122"/>
                <a:cs typeface="Calibri" pitchFamily="34" charset="-120"/>
              </a:rPr>
              <a:t>Za Vinh Le</a:t>
            </a:r>
            <a:endParaRPr lang="en-US" sz="2000" dirty="0"/>
          </a:p>
        </p:txBody>
      </p:sp>
      <p:pic>
        <p:nvPicPr>
          <p:cNvPr id="5" name="Image 0" descr="D:\git\phd\uq-testgen\deck\assets\strip.png"/>
          <p:cNvPicPr>
            <a:picLocks noChangeAspect="1"/>
          </p:cNvPicPr>
          <p:nvPr/>
        </p:nvPicPr>
        <p:blipFill>
          <a:blip r:embed="rId3"/>
          <a:stretch>
            <a:fillRect/>
          </a:stretch>
        </p:blipFill>
        <p:spPr>
          <a:xfrm>
            <a:off x="0" y="5641848"/>
            <a:ext cx="12191695" cy="121917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109728"/>
            <a:ext cx="7315200" cy="228600"/>
          </a:xfrm>
          <a:prstGeom prst="rect">
            <a:avLst/>
          </a:prstGeom>
          <a:noFill/>
          <a:ln/>
        </p:spPr>
        <p:txBody>
          <a:bodyPr wrap="square" lIns="0" tIns="0" rIns="0" bIns="0" rtlCol="0" anchor="t"/>
          <a:lstStyle/>
          <a:p>
            <a:pPr marL="0" indent="0">
              <a:buNone/>
            </a:pPr>
            <a:r>
              <a:rPr lang="en-US" sz="1100" b="1" kern="0" spc="100" dirty="0">
                <a:solidFill>
                  <a:srgbClr val="4F46E5"/>
                </a:solidFill>
                <a:latin typeface="Calibri" pitchFamily="34" charset="0"/>
                <a:ea typeface="Calibri" pitchFamily="34" charset="-122"/>
                <a:cs typeface="Calibri" pitchFamily="34" charset="-120"/>
              </a:rPr>
              <a:t>MOTIVATION</a:t>
            </a:r>
            <a:endParaRPr lang="en-US" sz="1100" dirty="0"/>
          </a:p>
        </p:txBody>
      </p:sp>
      <p:sp>
        <p:nvSpPr>
          <p:cNvPr id="3"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buNone/>
            </a:pPr>
            <a:r>
              <a:rPr lang="en-US" sz="3000" b="1" dirty="0">
                <a:solidFill>
                  <a:srgbClr val="13213C"/>
                </a:solidFill>
                <a:latin typeface="Cambria" pitchFamily="34" charset="0"/>
                <a:ea typeface="Cambria" pitchFamily="34" charset="-122"/>
                <a:cs typeface="Cambria" pitchFamily="34" charset="-120"/>
              </a:rPr>
              <a:t>Write tests manually does not scale</a:t>
            </a:r>
            <a:endParaRPr lang="en-US" sz="3000" dirty="0"/>
          </a:p>
        </p:txBody>
      </p:sp>
      <p:sp>
        <p:nvSpPr>
          <p:cNvPr id="4" name="Shape 2"/>
          <p:cNvSpPr/>
          <p:nvPr/>
        </p:nvSpPr>
        <p:spPr>
          <a:xfrm>
            <a:off x="1338042" y="1417320"/>
            <a:ext cx="640080" cy="640080"/>
          </a:xfrm>
          <a:prstGeom prst="ellipse">
            <a:avLst/>
          </a:prstGeom>
          <a:solidFill>
            <a:srgbClr val="5B6578"/>
          </a:solidFill>
          <a:ln w="12700">
            <a:solidFill>
              <a:srgbClr val="5B6578"/>
            </a:solidFill>
            <a:prstDash val="solid"/>
          </a:ln>
        </p:spPr>
        <p:txBody>
          <a:bodyPr/>
          <a:lstStyle/>
          <a:p>
            <a:endParaRPr lang="en-US"/>
          </a:p>
        </p:txBody>
      </p:sp>
      <p:pic>
        <p:nvPicPr>
          <p:cNvPr id="5" name="Image 0" descr="preencoded.png"/>
          <p:cNvPicPr>
            <a:picLocks noChangeAspect="1"/>
          </p:cNvPicPr>
          <p:nvPr/>
        </p:nvPicPr>
        <p:blipFill>
          <a:blip r:embed="rId3"/>
          <a:stretch>
            <a:fillRect/>
          </a:stretch>
        </p:blipFill>
        <p:spPr>
          <a:xfrm>
            <a:off x="1498062" y="1577340"/>
            <a:ext cx="320040" cy="320040"/>
          </a:xfrm>
          <a:prstGeom prst="rect">
            <a:avLst/>
          </a:prstGeom>
        </p:spPr>
      </p:pic>
      <p:sp>
        <p:nvSpPr>
          <p:cNvPr id="6" name="Text 3"/>
          <p:cNvSpPr txBox="1"/>
          <p:nvPr/>
        </p:nvSpPr>
        <p:spPr>
          <a:xfrm>
            <a:off x="548640" y="2148840"/>
            <a:ext cx="2218883" cy="320040"/>
          </a:xfrm>
          <a:prstGeom prst="rect">
            <a:avLst/>
          </a:prstGeom>
          <a:noFill/>
          <a:ln/>
        </p:spPr>
        <p:txBody>
          <a:bodyPr wrap="square" lIns="0" tIns="0" rIns="0" bIns="0" rtlCol="0" anchor="t"/>
          <a:lstStyle/>
          <a:p>
            <a:pPr marL="0" indent="0" algn="ctr">
              <a:buNone/>
            </a:pPr>
            <a:r>
              <a:rPr lang="en-US" sz="1500" b="1" dirty="0">
                <a:solidFill>
                  <a:srgbClr val="13213C"/>
                </a:solidFill>
                <a:latin typeface="Calibri" pitchFamily="34" charset="0"/>
                <a:ea typeface="Calibri" pitchFamily="34" charset="-122"/>
                <a:cs typeface="Calibri" pitchFamily="34" charset="-120"/>
              </a:rPr>
              <a:t>Read the spec</a:t>
            </a:r>
            <a:endParaRPr lang="en-US" sz="1500" dirty="0"/>
          </a:p>
        </p:txBody>
      </p:sp>
      <p:sp>
        <p:nvSpPr>
          <p:cNvPr id="7" name="Text 4"/>
          <p:cNvSpPr txBox="1"/>
          <p:nvPr/>
        </p:nvSpPr>
        <p:spPr>
          <a:xfrm>
            <a:off x="548640" y="2468880"/>
            <a:ext cx="2218883" cy="274320"/>
          </a:xfrm>
          <a:prstGeom prst="rect">
            <a:avLst/>
          </a:prstGeom>
          <a:noFill/>
          <a:ln/>
        </p:spPr>
        <p:txBody>
          <a:bodyPr wrap="square" lIns="0" tIns="0" rIns="0" bIns="0" rtlCol="0" anchor="t"/>
          <a:lstStyle/>
          <a:p>
            <a:pPr marL="0" indent="0" algn="ctr">
              <a:buNone/>
            </a:pPr>
            <a:r>
              <a:rPr lang="en-US" sz="1200" i="1" dirty="0">
                <a:solidFill>
                  <a:srgbClr val="C8463D"/>
                </a:solidFill>
                <a:latin typeface="Calibri" pitchFamily="34" charset="0"/>
                <a:ea typeface="Calibri" pitchFamily="34" charset="-122"/>
                <a:cs typeface="Calibri" pitchFamily="34" charset="-120"/>
              </a:rPr>
              <a:t>manual</a:t>
            </a:r>
            <a:endParaRPr lang="en-US" sz="1200" dirty="0"/>
          </a:p>
        </p:txBody>
      </p:sp>
      <p:sp>
        <p:nvSpPr>
          <p:cNvPr id="8" name="Shape 5"/>
          <p:cNvSpPr/>
          <p:nvPr/>
        </p:nvSpPr>
        <p:spPr>
          <a:xfrm>
            <a:off x="2115282" y="1627632"/>
            <a:ext cx="1304483" cy="219456"/>
          </a:xfrm>
          <a:prstGeom prst="rightArrow">
            <a:avLst/>
          </a:prstGeom>
          <a:solidFill>
            <a:srgbClr val="DDE3EC"/>
          </a:solidFill>
          <a:ln w="12700">
            <a:solidFill>
              <a:srgbClr val="DDE3EC"/>
            </a:solidFill>
            <a:prstDash val="solid"/>
          </a:ln>
        </p:spPr>
        <p:txBody>
          <a:bodyPr/>
          <a:lstStyle/>
          <a:p>
            <a:endParaRPr lang="en-US"/>
          </a:p>
        </p:txBody>
      </p:sp>
      <p:sp>
        <p:nvSpPr>
          <p:cNvPr id="9" name="Shape 6"/>
          <p:cNvSpPr/>
          <p:nvPr/>
        </p:nvSpPr>
        <p:spPr>
          <a:xfrm>
            <a:off x="3556925" y="1417320"/>
            <a:ext cx="640080" cy="640080"/>
          </a:xfrm>
          <a:prstGeom prst="ellipse">
            <a:avLst/>
          </a:prstGeom>
          <a:solidFill>
            <a:srgbClr val="5B6578"/>
          </a:solidFill>
          <a:ln w="12700">
            <a:solidFill>
              <a:srgbClr val="5B6578"/>
            </a:solidFill>
            <a:prstDash val="solid"/>
          </a:ln>
        </p:spPr>
        <p:txBody>
          <a:bodyPr/>
          <a:lstStyle/>
          <a:p>
            <a:endParaRPr lang="en-US"/>
          </a:p>
        </p:txBody>
      </p:sp>
      <p:pic>
        <p:nvPicPr>
          <p:cNvPr id="10" name="Image 1" descr="preencoded.png"/>
          <p:cNvPicPr>
            <a:picLocks noChangeAspect="1"/>
          </p:cNvPicPr>
          <p:nvPr/>
        </p:nvPicPr>
        <p:blipFill>
          <a:blip r:embed="rId4"/>
          <a:stretch>
            <a:fillRect/>
          </a:stretch>
        </p:blipFill>
        <p:spPr>
          <a:xfrm>
            <a:off x="3716945" y="1577340"/>
            <a:ext cx="320040" cy="320040"/>
          </a:xfrm>
          <a:prstGeom prst="rect">
            <a:avLst/>
          </a:prstGeom>
        </p:spPr>
      </p:pic>
      <p:sp>
        <p:nvSpPr>
          <p:cNvPr id="11" name="Text 7"/>
          <p:cNvSpPr txBox="1"/>
          <p:nvPr/>
        </p:nvSpPr>
        <p:spPr>
          <a:xfrm>
            <a:off x="2767523" y="2148840"/>
            <a:ext cx="2218883" cy="320040"/>
          </a:xfrm>
          <a:prstGeom prst="rect">
            <a:avLst/>
          </a:prstGeom>
          <a:noFill/>
          <a:ln/>
        </p:spPr>
        <p:txBody>
          <a:bodyPr wrap="square" lIns="0" tIns="0" rIns="0" bIns="0" rtlCol="0" anchor="t"/>
          <a:lstStyle/>
          <a:p>
            <a:pPr marL="0" indent="0" algn="ctr">
              <a:buNone/>
            </a:pPr>
            <a:r>
              <a:rPr lang="en-US" sz="1500" b="1" dirty="0">
                <a:solidFill>
                  <a:srgbClr val="13213C"/>
                </a:solidFill>
                <a:latin typeface="Calibri" pitchFamily="34" charset="0"/>
                <a:ea typeface="Calibri" pitchFamily="34" charset="-122"/>
                <a:cs typeface="Calibri" pitchFamily="34" charset="-120"/>
              </a:rPr>
              <a:t>Write test cases</a:t>
            </a:r>
            <a:endParaRPr lang="en-US" sz="1500" dirty="0"/>
          </a:p>
        </p:txBody>
      </p:sp>
      <p:sp>
        <p:nvSpPr>
          <p:cNvPr id="12" name="Text 8"/>
          <p:cNvSpPr txBox="1"/>
          <p:nvPr/>
        </p:nvSpPr>
        <p:spPr>
          <a:xfrm>
            <a:off x="2767523" y="2468880"/>
            <a:ext cx="2218883" cy="274320"/>
          </a:xfrm>
          <a:prstGeom prst="rect">
            <a:avLst/>
          </a:prstGeom>
          <a:noFill/>
          <a:ln/>
        </p:spPr>
        <p:txBody>
          <a:bodyPr wrap="square" lIns="0" tIns="0" rIns="0" bIns="0" rtlCol="0" anchor="t"/>
          <a:lstStyle/>
          <a:p>
            <a:pPr marL="0" indent="0" algn="ctr">
              <a:buNone/>
            </a:pPr>
            <a:r>
              <a:rPr lang="en-US" sz="1200" i="1" dirty="0">
                <a:solidFill>
                  <a:srgbClr val="C8463D"/>
                </a:solidFill>
                <a:latin typeface="Calibri" pitchFamily="34" charset="0"/>
                <a:ea typeface="Calibri" pitchFamily="34" charset="-122"/>
                <a:cs typeface="Calibri" pitchFamily="34" charset="-120"/>
              </a:rPr>
              <a:t>manual</a:t>
            </a:r>
            <a:endParaRPr lang="en-US" sz="1200" dirty="0"/>
          </a:p>
        </p:txBody>
      </p:sp>
      <p:sp>
        <p:nvSpPr>
          <p:cNvPr id="13" name="Shape 9"/>
          <p:cNvSpPr/>
          <p:nvPr/>
        </p:nvSpPr>
        <p:spPr>
          <a:xfrm>
            <a:off x="4334165" y="1627632"/>
            <a:ext cx="1304483" cy="219456"/>
          </a:xfrm>
          <a:prstGeom prst="rightArrow">
            <a:avLst/>
          </a:prstGeom>
          <a:solidFill>
            <a:srgbClr val="DDE3EC"/>
          </a:solidFill>
          <a:ln w="12700">
            <a:solidFill>
              <a:srgbClr val="DDE3EC"/>
            </a:solidFill>
            <a:prstDash val="solid"/>
          </a:ln>
        </p:spPr>
        <p:txBody>
          <a:bodyPr/>
          <a:lstStyle/>
          <a:p>
            <a:endParaRPr lang="en-US"/>
          </a:p>
        </p:txBody>
      </p:sp>
      <p:sp>
        <p:nvSpPr>
          <p:cNvPr id="14" name="Shape 10"/>
          <p:cNvSpPr/>
          <p:nvPr/>
        </p:nvSpPr>
        <p:spPr>
          <a:xfrm>
            <a:off x="5775808" y="1417320"/>
            <a:ext cx="640080" cy="640080"/>
          </a:xfrm>
          <a:prstGeom prst="ellipse">
            <a:avLst/>
          </a:prstGeom>
          <a:solidFill>
            <a:srgbClr val="5B6578"/>
          </a:solidFill>
          <a:ln w="12700">
            <a:solidFill>
              <a:srgbClr val="5B6578"/>
            </a:solidFill>
            <a:prstDash val="solid"/>
          </a:ln>
        </p:spPr>
        <p:txBody>
          <a:bodyPr/>
          <a:lstStyle/>
          <a:p>
            <a:endParaRPr lang="en-US"/>
          </a:p>
        </p:txBody>
      </p:sp>
      <p:pic>
        <p:nvPicPr>
          <p:cNvPr id="15" name="Image 2" descr="preencoded.png"/>
          <p:cNvPicPr>
            <a:picLocks noChangeAspect="1"/>
          </p:cNvPicPr>
          <p:nvPr/>
        </p:nvPicPr>
        <p:blipFill>
          <a:blip r:embed="rId5"/>
          <a:stretch>
            <a:fillRect/>
          </a:stretch>
        </p:blipFill>
        <p:spPr>
          <a:xfrm>
            <a:off x="5935828" y="1577340"/>
            <a:ext cx="320040" cy="320040"/>
          </a:xfrm>
          <a:prstGeom prst="rect">
            <a:avLst/>
          </a:prstGeom>
        </p:spPr>
      </p:pic>
      <p:sp>
        <p:nvSpPr>
          <p:cNvPr id="16" name="Text 11"/>
          <p:cNvSpPr txBox="1"/>
          <p:nvPr/>
        </p:nvSpPr>
        <p:spPr>
          <a:xfrm>
            <a:off x="4986406" y="2148840"/>
            <a:ext cx="2218883" cy="320040"/>
          </a:xfrm>
          <a:prstGeom prst="rect">
            <a:avLst/>
          </a:prstGeom>
          <a:noFill/>
          <a:ln/>
        </p:spPr>
        <p:txBody>
          <a:bodyPr wrap="square" lIns="0" tIns="0" rIns="0" bIns="0" rtlCol="0" anchor="t"/>
          <a:lstStyle/>
          <a:p>
            <a:pPr marL="0" indent="0" algn="ctr">
              <a:buNone/>
            </a:pPr>
            <a:r>
              <a:rPr lang="en-US" sz="1500" b="1" dirty="0">
                <a:solidFill>
                  <a:srgbClr val="13213C"/>
                </a:solidFill>
                <a:latin typeface="Calibri" pitchFamily="34" charset="0"/>
                <a:ea typeface="Calibri" pitchFamily="34" charset="-122"/>
                <a:cs typeface="Calibri" pitchFamily="34" charset="-120"/>
              </a:rPr>
              <a:t>Write scripts</a:t>
            </a:r>
            <a:endParaRPr lang="en-US" sz="1500" dirty="0"/>
          </a:p>
        </p:txBody>
      </p:sp>
      <p:sp>
        <p:nvSpPr>
          <p:cNvPr id="17" name="Text 12"/>
          <p:cNvSpPr txBox="1"/>
          <p:nvPr/>
        </p:nvSpPr>
        <p:spPr>
          <a:xfrm>
            <a:off x="4986406" y="2468880"/>
            <a:ext cx="2218883" cy="274320"/>
          </a:xfrm>
          <a:prstGeom prst="rect">
            <a:avLst/>
          </a:prstGeom>
          <a:noFill/>
          <a:ln/>
        </p:spPr>
        <p:txBody>
          <a:bodyPr wrap="square" lIns="0" tIns="0" rIns="0" bIns="0" rtlCol="0" anchor="t"/>
          <a:lstStyle/>
          <a:p>
            <a:pPr marL="0" indent="0" algn="ctr">
              <a:buNone/>
            </a:pPr>
            <a:r>
              <a:rPr lang="en-US" sz="1200" i="1" dirty="0">
                <a:solidFill>
                  <a:srgbClr val="C8463D"/>
                </a:solidFill>
                <a:latin typeface="Calibri" pitchFamily="34" charset="0"/>
                <a:ea typeface="Calibri" pitchFamily="34" charset="-122"/>
                <a:cs typeface="Calibri" pitchFamily="34" charset="-120"/>
              </a:rPr>
              <a:t>manual</a:t>
            </a:r>
            <a:endParaRPr lang="en-US" sz="1200" dirty="0"/>
          </a:p>
        </p:txBody>
      </p:sp>
      <p:sp>
        <p:nvSpPr>
          <p:cNvPr id="18" name="Shape 13"/>
          <p:cNvSpPr/>
          <p:nvPr/>
        </p:nvSpPr>
        <p:spPr>
          <a:xfrm>
            <a:off x="6553048" y="1627632"/>
            <a:ext cx="1304483" cy="219456"/>
          </a:xfrm>
          <a:prstGeom prst="rightArrow">
            <a:avLst/>
          </a:prstGeom>
          <a:solidFill>
            <a:srgbClr val="DDE3EC"/>
          </a:solidFill>
          <a:ln w="12700">
            <a:solidFill>
              <a:srgbClr val="DDE3EC"/>
            </a:solidFill>
            <a:prstDash val="solid"/>
          </a:ln>
        </p:spPr>
        <p:txBody>
          <a:bodyPr/>
          <a:lstStyle/>
          <a:p>
            <a:endParaRPr lang="en-US"/>
          </a:p>
        </p:txBody>
      </p:sp>
      <p:sp>
        <p:nvSpPr>
          <p:cNvPr id="19" name="Shape 14"/>
          <p:cNvSpPr/>
          <p:nvPr/>
        </p:nvSpPr>
        <p:spPr>
          <a:xfrm>
            <a:off x="7994691" y="1417320"/>
            <a:ext cx="640080" cy="640080"/>
          </a:xfrm>
          <a:prstGeom prst="ellipse">
            <a:avLst/>
          </a:prstGeom>
          <a:solidFill>
            <a:srgbClr val="5B6578"/>
          </a:solidFill>
          <a:ln w="12700">
            <a:solidFill>
              <a:srgbClr val="5B6578"/>
            </a:solidFill>
            <a:prstDash val="solid"/>
          </a:ln>
        </p:spPr>
        <p:txBody>
          <a:bodyPr/>
          <a:lstStyle/>
          <a:p>
            <a:endParaRPr lang="en-US"/>
          </a:p>
        </p:txBody>
      </p:sp>
      <p:pic>
        <p:nvPicPr>
          <p:cNvPr id="20" name="Image 3" descr="preencoded.png"/>
          <p:cNvPicPr>
            <a:picLocks noChangeAspect="1"/>
          </p:cNvPicPr>
          <p:nvPr/>
        </p:nvPicPr>
        <p:blipFill>
          <a:blip r:embed="rId6"/>
          <a:stretch>
            <a:fillRect/>
          </a:stretch>
        </p:blipFill>
        <p:spPr>
          <a:xfrm>
            <a:off x="8154711" y="1577340"/>
            <a:ext cx="320040" cy="320040"/>
          </a:xfrm>
          <a:prstGeom prst="rect">
            <a:avLst/>
          </a:prstGeom>
        </p:spPr>
      </p:pic>
      <p:sp>
        <p:nvSpPr>
          <p:cNvPr id="21" name="Text 15"/>
          <p:cNvSpPr txBox="1"/>
          <p:nvPr/>
        </p:nvSpPr>
        <p:spPr>
          <a:xfrm>
            <a:off x="7205289" y="2148840"/>
            <a:ext cx="2218883" cy="320040"/>
          </a:xfrm>
          <a:prstGeom prst="rect">
            <a:avLst/>
          </a:prstGeom>
          <a:noFill/>
          <a:ln/>
        </p:spPr>
        <p:txBody>
          <a:bodyPr wrap="square" lIns="0" tIns="0" rIns="0" bIns="0" rtlCol="0" anchor="t"/>
          <a:lstStyle/>
          <a:p>
            <a:pPr marL="0" indent="0" algn="ctr">
              <a:buNone/>
            </a:pPr>
            <a:r>
              <a:rPr lang="en-US" sz="1500" b="1" dirty="0">
                <a:solidFill>
                  <a:srgbClr val="13213C"/>
                </a:solidFill>
                <a:latin typeface="Calibri" pitchFamily="34" charset="0"/>
                <a:ea typeface="Calibri" pitchFamily="34" charset="-122"/>
                <a:cs typeface="Calibri" pitchFamily="34" charset="-120"/>
              </a:rPr>
              <a:t>Run scripts</a:t>
            </a:r>
            <a:endParaRPr lang="en-US" sz="1500" dirty="0"/>
          </a:p>
        </p:txBody>
      </p:sp>
      <p:sp>
        <p:nvSpPr>
          <p:cNvPr id="22" name="Text 16"/>
          <p:cNvSpPr txBox="1"/>
          <p:nvPr/>
        </p:nvSpPr>
        <p:spPr>
          <a:xfrm>
            <a:off x="7205289" y="2468880"/>
            <a:ext cx="2218883" cy="274320"/>
          </a:xfrm>
          <a:prstGeom prst="rect">
            <a:avLst/>
          </a:prstGeom>
          <a:noFill/>
          <a:ln/>
        </p:spPr>
        <p:txBody>
          <a:bodyPr wrap="square" lIns="0" tIns="0" rIns="0" bIns="0" rtlCol="0" anchor="t"/>
          <a:lstStyle/>
          <a:p>
            <a:pPr marL="0" indent="0" algn="ctr">
              <a:buNone/>
            </a:pPr>
            <a:r>
              <a:rPr lang="en-US" sz="1200" i="1" dirty="0">
                <a:solidFill>
                  <a:srgbClr val="C8463D"/>
                </a:solidFill>
                <a:latin typeface="Calibri" pitchFamily="34" charset="0"/>
                <a:ea typeface="Calibri" pitchFamily="34" charset="-122"/>
                <a:cs typeface="Calibri" pitchFamily="34" charset="-120"/>
              </a:rPr>
              <a:t>manual</a:t>
            </a:r>
            <a:endParaRPr lang="en-US" sz="1200" dirty="0"/>
          </a:p>
        </p:txBody>
      </p:sp>
      <p:sp>
        <p:nvSpPr>
          <p:cNvPr id="23" name="Shape 17"/>
          <p:cNvSpPr/>
          <p:nvPr/>
        </p:nvSpPr>
        <p:spPr>
          <a:xfrm>
            <a:off x="8771931" y="1627632"/>
            <a:ext cx="1304483" cy="219456"/>
          </a:xfrm>
          <a:prstGeom prst="rightArrow">
            <a:avLst/>
          </a:prstGeom>
          <a:solidFill>
            <a:srgbClr val="DDE3EC"/>
          </a:solidFill>
          <a:ln w="12700">
            <a:solidFill>
              <a:srgbClr val="DDE3EC"/>
            </a:solidFill>
            <a:prstDash val="solid"/>
          </a:ln>
        </p:spPr>
        <p:txBody>
          <a:bodyPr/>
          <a:lstStyle/>
          <a:p>
            <a:endParaRPr lang="en-US"/>
          </a:p>
        </p:txBody>
      </p:sp>
      <p:sp>
        <p:nvSpPr>
          <p:cNvPr id="24" name="Shape 18"/>
          <p:cNvSpPr/>
          <p:nvPr/>
        </p:nvSpPr>
        <p:spPr>
          <a:xfrm>
            <a:off x="10213574" y="1417320"/>
            <a:ext cx="640080" cy="640080"/>
          </a:xfrm>
          <a:prstGeom prst="ellipse">
            <a:avLst/>
          </a:prstGeom>
          <a:solidFill>
            <a:srgbClr val="5B6578"/>
          </a:solidFill>
          <a:ln w="12700">
            <a:solidFill>
              <a:srgbClr val="5B6578"/>
            </a:solidFill>
            <a:prstDash val="solid"/>
          </a:ln>
        </p:spPr>
        <p:txBody>
          <a:bodyPr/>
          <a:lstStyle/>
          <a:p>
            <a:endParaRPr lang="en-US"/>
          </a:p>
        </p:txBody>
      </p:sp>
      <p:pic>
        <p:nvPicPr>
          <p:cNvPr id="25" name="Image 4" descr="preencoded.png"/>
          <p:cNvPicPr>
            <a:picLocks noChangeAspect="1"/>
          </p:cNvPicPr>
          <p:nvPr/>
        </p:nvPicPr>
        <p:blipFill>
          <a:blip r:embed="rId7"/>
          <a:stretch>
            <a:fillRect/>
          </a:stretch>
        </p:blipFill>
        <p:spPr>
          <a:xfrm>
            <a:off x="10373594" y="1577340"/>
            <a:ext cx="320040" cy="320040"/>
          </a:xfrm>
          <a:prstGeom prst="rect">
            <a:avLst/>
          </a:prstGeom>
        </p:spPr>
      </p:pic>
      <p:sp>
        <p:nvSpPr>
          <p:cNvPr id="26" name="Text 19"/>
          <p:cNvSpPr txBox="1"/>
          <p:nvPr/>
        </p:nvSpPr>
        <p:spPr>
          <a:xfrm>
            <a:off x="9424172" y="2148840"/>
            <a:ext cx="2218883" cy="320040"/>
          </a:xfrm>
          <a:prstGeom prst="rect">
            <a:avLst/>
          </a:prstGeom>
          <a:noFill/>
          <a:ln/>
        </p:spPr>
        <p:txBody>
          <a:bodyPr wrap="square" lIns="0" tIns="0" rIns="0" bIns="0" rtlCol="0" anchor="t"/>
          <a:lstStyle/>
          <a:p>
            <a:pPr marL="0" indent="0" algn="ctr">
              <a:buNone/>
            </a:pPr>
            <a:r>
              <a:rPr lang="en-US" sz="1500" b="1" dirty="0">
                <a:solidFill>
                  <a:srgbClr val="13213C"/>
                </a:solidFill>
                <a:latin typeface="Calibri" pitchFamily="34" charset="0"/>
                <a:ea typeface="Calibri" pitchFamily="34" charset="-122"/>
                <a:cs typeface="Calibri" pitchFamily="34" charset="-120"/>
              </a:rPr>
              <a:t>Test reports</a:t>
            </a:r>
          </a:p>
        </p:txBody>
      </p:sp>
      <p:sp>
        <p:nvSpPr>
          <p:cNvPr id="27" name="Text 20"/>
          <p:cNvSpPr txBox="1"/>
          <p:nvPr/>
        </p:nvSpPr>
        <p:spPr>
          <a:xfrm>
            <a:off x="9424172" y="2468880"/>
            <a:ext cx="2218883" cy="274320"/>
          </a:xfrm>
          <a:prstGeom prst="rect">
            <a:avLst/>
          </a:prstGeom>
          <a:noFill/>
          <a:ln/>
        </p:spPr>
        <p:txBody>
          <a:bodyPr wrap="square" lIns="0" tIns="0" rIns="0" bIns="0" rtlCol="0" anchor="t"/>
          <a:lstStyle/>
          <a:p>
            <a:pPr marL="0" indent="0" algn="ctr">
              <a:buNone/>
            </a:pPr>
            <a:r>
              <a:rPr lang="en-US" sz="1200" i="1" dirty="0">
                <a:solidFill>
                  <a:srgbClr val="C8463D"/>
                </a:solidFill>
                <a:latin typeface="Calibri" pitchFamily="34" charset="0"/>
                <a:ea typeface="Calibri" pitchFamily="34" charset="-122"/>
                <a:cs typeface="Calibri" pitchFamily="34" charset="-120"/>
              </a:rPr>
              <a:t>manual</a:t>
            </a:r>
            <a:endParaRPr lang="en-US" sz="1200" dirty="0"/>
          </a:p>
        </p:txBody>
      </p:sp>
      <p:sp>
        <p:nvSpPr>
          <p:cNvPr id="28" name="Text 21"/>
          <p:cNvSpPr txBox="1"/>
          <p:nvPr/>
        </p:nvSpPr>
        <p:spPr>
          <a:xfrm>
            <a:off x="548640" y="3063240"/>
            <a:ext cx="6492240" cy="2377440"/>
          </a:xfrm>
          <a:prstGeom prst="rect">
            <a:avLst/>
          </a:prstGeom>
          <a:noFill/>
          <a:ln/>
        </p:spPr>
        <p:txBody>
          <a:bodyPr wrap="square" lIns="0" tIns="0" rIns="0" bIns="0" rtlCol="0" anchor="t"/>
          <a:lstStyle/>
          <a:p>
            <a:pPr marL="177800" indent="-177800">
              <a:lnSpc>
                <a:spcPct val="150000"/>
              </a:lnSpc>
              <a:buSzPct val="100000"/>
              <a:buChar char="•"/>
            </a:pPr>
            <a:r>
              <a:rPr lang="en-US" sz="1700" b="1" dirty="0">
                <a:solidFill>
                  <a:srgbClr val="1E2533"/>
                </a:solidFill>
                <a:latin typeface="Calibri" pitchFamily="34" charset="0"/>
                <a:ea typeface="Calibri" pitchFamily="34" charset="-122"/>
                <a:cs typeface="Calibri" pitchFamily="34" charset="-120"/>
              </a:rPr>
              <a:t>Every release: </a:t>
            </a:r>
            <a:r>
              <a:rPr lang="en-US" sz="1700" dirty="0">
                <a:solidFill>
                  <a:srgbClr val="1E2533"/>
                </a:solidFill>
                <a:latin typeface="Calibri" pitchFamily="34" charset="0"/>
                <a:ea typeface="Calibri" pitchFamily="34" charset="-122"/>
                <a:cs typeface="Calibri" pitchFamily="34" charset="-120"/>
              </a:rPr>
              <a:t>tests are rewritten by hand</a:t>
            </a:r>
            <a:endParaRPr lang="en-US" sz="1700" dirty="0"/>
          </a:p>
          <a:p>
            <a:pPr marL="177800" indent="-177800">
              <a:lnSpc>
                <a:spcPct val="150000"/>
              </a:lnSpc>
              <a:buSzPct val="100000"/>
              <a:buChar char="•"/>
            </a:pPr>
            <a:r>
              <a:rPr lang="en-US" sz="1700" b="1" dirty="0">
                <a:solidFill>
                  <a:srgbClr val="1E2533"/>
                </a:solidFill>
                <a:latin typeface="Calibri" pitchFamily="34" charset="0"/>
                <a:ea typeface="Calibri" pitchFamily="34" charset="-122"/>
                <a:cs typeface="Calibri" pitchFamily="34" charset="-120"/>
              </a:rPr>
              <a:t>AI can now read a spec and write tests [27]</a:t>
            </a:r>
            <a:endParaRPr lang="en-US" sz="1700" dirty="0"/>
          </a:p>
        </p:txBody>
      </p:sp>
      <p:sp>
        <p:nvSpPr>
          <p:cNvPr id="29" name="Shape 22"/>
          <p:cNvSpPr/>
          <p:nvPr/>
        </p:nvSpPr>
        <p:spPr>
          <a:xfrm>
            <a:off x="7315200" y="3063240"/>
            <a:ext cx="4325112" cy="1280160"/>
          </a:xfrm>
          <a:prstGeom prst="roundRect">
            <a:avLst>
              <a:gd name="adj" fmla="val 4898"/>
            </a:avLst>
          </a:prstGeom>
          <a:solidFill>
            <a:srgbClr val="EEF0FE"/>
          </a:solidFill>
          <a:ln w="12700">
            <a:solidFill>
              <a:srgbClr val="EEF0FE"/>
            </a:solidFill>
            <a:prstDash val="solid"/>
          </a:ln>
        </p:spPr>
        <p:txBody>
          <a:bodyPr/>
          <a:lstStyle/>
          <a:p>
            <a:endParaRPr lang="en-US"/>
          </a:p>
        </p:txBody>
      </p:sp>
      <p:sp>
        <p:nvSpPr>
          <p:cNvPr id="30" name="Text 23"/>
          <p:cNvSpPr txBox="1"/>
          <p:nvPr/>
        </p:nvSpPr>
        <p:spPr>
          <a:xfrm>
            <a:off x="7589520" y="3246120"/>
            <a:ext cx="3840480" cy="365760"/>
          </a:xfrm>
          <a:prstGeom prst="rect">
            <a:avLst/>
          </a:prstGeom>
          <a:noFill/>
          <a:ln/>
        </p:spPr>
        <p:txBody>
          <a:bodyPr wrap="square" lIns="0" tIns="0" rIns="0" bIns="0" rtlCol="0" anchor="t"/>
          <a:lstStyle/>
          <a:p>
            <a:pPr marL="0" indent="0">
              <a:buNone/>
            </a:pPr>
            <a:r>
              <a:rPr lang="en-US" sz="1600" b="1" dirty="0">
                <a:solidFill>
                  <a:srgbClr val="4F46E5"/>
                </a:solidFill>
                <a:latin typeface="Calibri" pitchFamily="34" charset="0"/>
                <a:ea typeface="Calibri" pitchFamily="34" charset="-122"/>
                <a:cs typeface="Calibri" pitchFamily="34" charset="-120"/>
              </a:rPr>
              <a:t>Goal</a:t>
            </a:r>
          </a:p>
        </p:txBody>
      </p:sp>
      <p:sp>
        <p:nvSpPr>
          <p:cNvPr id="31" name="Text 24"/>
          <p:cNvSpPr txBox="1"/>
          <p:nvPr/>
        </p:nvSpPr>
        <p:spPr>
          <a:xfrm>
            <a:off x="7589520" y="3535680"/>
            <a:ext cx="3840480" cy="701040"/>
          </a:xfrm>
          <a:prstGeom prst="rect">
            <a:avLst/>
          </a:prstGeom>
          <a:noFill/>
          <a:ln/>
        </p:spPr>
        <p:txBody>
          <a:bodyPr wrap="square" lIns="0" tIns="0" rIns="0" bIns="0" rtlCol="0" anchor="t"/>
          <a:lstStyle/>
          <a:p>
            <a:pPr marL="0" indent="0">
              <a:lnSpc>
                <a:spcPct val="150000"/>
              </a:lnSpc>
              <a:buNone/>
            </a:pPr>
            <a:r>
              <a:rPr lang="en-US" sz="1500" dirty="0">
                <a:solidFill>
                  <a:srgbClr val="1E2533"/>
                </a:solidFill>
                <a:latin typeface="Calibri" pitchFamily="34" charset="0"/>
                <a:ea typeface="Calibri" pitchFamily="34" charset="-122"/>
                <a:cs typeface="Calibri" pitchFamily="34" charset="-120"/>
              </a:rPr>
              <a:t>One tool: from the requirements document to a bug report, with AI writing the tests</a:t>
            </a:r>
          </a:p>
        </p:txBody>
      </p:sp>
      <p:sp>
        <p:nvSpPr>
          <p:cNvPr id="32" name="Text 25"/>
          <p:cNvSpPr txBox="1"/>
          <p:nvPr/>
        </p:nvSpPr>
        <p:spPr>
          <a:xfrm>
            <a:off x="548640" y="5897880"/>
            <a:ext cx="11094415" cy="530352"/>
          </a:xfrm>
          <a:prstGeom prst="rect">
            <a:avLst/>
          </a:prstGeom>
          <a:noFill/>
          <a:ln/>
        </p:spPr>
        <p:txBody>
          <a:bodyPr wrap="square" lIns="0" tIns="0" rIns="0" bIns="0" rtlCol="0" anchor="b"/>
          <a:lstStyle/>
          <a:p>
            <a:pPr marL="0" indent="0">
              <a:buNone/>
            </a:pPr>
            <a:r>
              <a:rPr lang="en-US" sz="900" dirty="0">
                <a:solidFill>
                  <a:srgbClr val="5B6578"/>
                </a:solidFill>
                <a:latin typeface="Calibri" pitchFamily="34" charset="0"/>
                <a:ea typeface="Calibri" pitchFamily="34" charset="-122"/>
                <a:cs typeface="Calibri" pitchFamily="34" charset="-120"/>
              </a:rPr>
              <a:t>[27] J. Wang et al., “Software testing with large language models: Survey, landscape, and vision,” IEEE TSE, 2024.</a:t>
            </a:r>
            <a:endParaRPr lang="en-US" sz="900" dirty="0"/>
          </a:p>
        </p:txBody>
      </p:sp>
      <p:sp>
        <p:nvSpPr>
          <p:cNvPr id="33"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578"/>
                </a:solidFill>
                <a:latin typeface="Calibri"/>
                <a:ea typeface="Calibri"/>
                <a:cs typeface="Calibri"/>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109728"/>
            <a:ext cx="7315200" cy="228600"/>
          </a:xfrm>
          <a:prstGeom prst="rect">
            <a:avLst/>
          </a:prstGeom>
          <a:noFill/>
          <a:ln/>
        </p:spPr>
        <p:txBody>
          <a:bodyPr wrap="square" lIns="0" tIns="0" rIns="0" bIns="0" rtlCol="0" anchor="t"/>
          <a:lstStyle/>
          <a:p>
            <a:pPr marL="0" indent="0">
              <a:buNone/>
            </a:pPr>
            <a:r>
              <a:rPr lang="en-US" sz="1100" b="1" kern="0" spc="100" dirty="0">
                <a:solidFill>
                  <a:srgbClr val="4F46E5"/>
                </a:solidFill>
                <a:latin typeface="Calibri" pitchFamily="34" charset="0"/>
                <a:ea typeface="Calibri" pitchFamily="34" charset="-122"/>
                <a:cs typeface="Calibri" pitchFamily="34" charset="-120"/>
              </a:rPr>
              <a:t>IMPLEMENTATION</a:t>
            </a:r>
            <a:endParaRPr lang="en-US" sz="1100" dirty="0"/>
          </a:p>
        </p:txBody>
      </p:sp>
      <p:sp>
        <p:nvSpPr>
          <p:cNvPr id="3"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buNone/>
            </a:pPr>
            <a:r>
              <a:rPr lang="en-US" sz="3000" b="1" dirty="0">
                <a:solidFill>
                  <a:srgbClr val="13213C"/>
                </a:solidFill>
                <a:latin typeface="Cambria" pitchFamily="34" charset="0"/>
                <a:ea typeface="Cambria" pitchFamily="34" charset="-122"/>
                <a:cs typeface="Cambria" pitchFamily="34" charset="-120"/>
              </a:rPr>
              <a:t>QA-Flow: </a:t>
            </a:r>
            <a:r>
              <a:rPr lang="en-US" dirty="0"/>
              <a:t>f</a:t>
            </a:r>
            <a:r>
              <a:rPr lang="en-US" sz="3000" b="1" dirty="0">
                <a:solidFill>
                  <a:srgbClr val="13213C"/>
                </a:solidFill>
                <a:latin typeface="Cambria" pitchFamily="34" charset="0"/>
                <a:ea typeface="Cambria" pitchFamily="34" charset="-122"/>
                <a:cs typeface="Cambria" pitchFamily="34" charset="-120"/>
              </a:rPr>
              <a:t>rom a requirements document to a bug report</a:t>
            </a:r>
            <a:endParaRPr lang="en-US" sz="3000" dirty="0"/>
          </a:p>
        </p:txBody>
      </p:sp>
      <p:sp>
        <p:nvSpPr>
          <p:cNvPr id="4" name="Shape 2"/>
          <p:cNvSpPr/>
          <p:nvPr/>
        </p:nvSpPr>
        <p:spPr>
          <a:xfrm>
            <a:off x="1153135" y="1325880"/>
            <a:ext cx="640080" cy="640080"/>
          </a:xfrm>
          <a:prstGeom prst="ellipse">
            <a:avLst/>
          </a:prstGeom>
          <a:solidFill>
            <a:srgbClr val="4F46E5"/>
          </a:solidFill>
          <a:ln w="12700">
            <a:solidFill>
              <a:srgbClr val="4F46E5"/>
            </a:solidFill>
            <a:prstDash val="solid"/>
          </a:ln>
        </p:spPr>
        <p:txBody>
          <a:bodyPr/>
          <a:lstStyle/>
          <a:p>
            <a:endParaRPr lang="en-US"/>
          </a:p>
        </p:txBody>
      </p:sp>
      <p:pic>
        <p:nvPicPr>
          <p:cNvPr id="5" name="Image 0" descr="preencoded.png"/>
          <p:cNvPicPr>
            <a:picLocks noChangeAspect="1"/>
          </p:cNvPicPr>
          <p:nvPr/>
        </p:nvPicPr>
        <p:blipFill>
          <a:blip r:embed="rId3"/>
          <a:stretch>
            <a:fillRect/>
          </a:stretch>
        </p:blipFill>
        <p:spPr>
          <a:xfrm>
            <a:off x="1313155" y="1485900"/>
            <a:ext cx="320040" cy="320040"/>
          </a:xfrm>
          <a:prstGeom prst="rect">
            <a:avLst/>
          </a:prstGeom>
        </p:spPr>
      </p:pic>
      <p:sp>
        <p:nvSpPr>
          <p:cNvPr id="6" name="Text 3"/>
          <p:cNvSpPr txBox="1"/>
          <p:nvPr/>
        </p:nvSpPr>
        <p:spPr>
          <a:xfrm>
            <a:off x="548640" y="2057400"/>
            <a:ext cx="1849069" cy="320040"/>
          </a:xfrm>
          <a:prstGeom prst="rect">
            <a:avLst/>
          </a:prstGeom>
          <a:noFill/>
          <a:ln/>
        </p:spPr>
        <p:txBody>
          <a:bodyPr wrap="square" lIns="0" tIns="0" rIns="0" bIns="0" rtlCol="0" anchor="t"/>
          <a:lstStyle/>
          <a:p>
            <a:pPr marL="0" indent="0" algn="ctr">
              <a:buNone/>
            </a:pPr>
            <a:r>
              <a:rPr lang="en-US" sz="1400" b="1" dirty="0">
                <a:solidFill>
                  <a:srgbClr val="13213C"/>
                </a:solidFill>
                <a:latin typeface="Calibri" pitchFamily="34" charset="0"/>
                <a:ea typeface="Calibri" pitchFamily="34" charset="-122"/>
                <a:cs typeface="Calibri" pitchFamily="34" charset="-120"/>
              </a:rPr>
              <a:t>Read the requirements</a:t>
            </a:r>
            <a:endParaRPr lang="en-US" sz="1400" dirty="0"/>
          </a:p>
        </p:txBody>
      </p:sp>
      <p:sp>
        <p:nvSpPr>
          <p:cNvPr id="8" name="Shape 5"/>
          <p:cNvSpPr/>
          <p:nvPr/>
        </p:nvSpPr>
        <p:spPr>
          <a:xfrm>
            <a:off x="1930375" y="1536192"/>
            <a:ext cx="934669" cy="219456"/>
          </a:xfrm>
          <a:prstGeom prst="rightArrow">
            <a:avLst/>
          </a:prstGeom>
          <a:solidFill>
            <a:srgbClr val="DDE3EC"/>
          </a:solidFill>
          <a:ln w="12700">
            <a:solidFill>
              <a:srgbClr val="DDE3EC"/>
            </a:solidFill>
            <a:prstDash val="solid"/>
          </a:ln>
        </p:spPr>
        <p:txBody>
          <a:bodyPr/>
          <a:lstStyle/>
          <a:p>
            <a:endParaRPr lang="en-US"/>
          </a:p>
        </p:txBody>
      </p:sp>
      <p:sp>
        <p:nvSpPr>
          <p:cNvPr id="9" name="Shape 6"/>
          <p:cNvSpPr/>
          <p:nvPr/>
        </p:nvSpPr>
        <p:spPr>
          <a:xfrm>
            <a:off x="3002204" y="1325880"/>
            <a:ext cx="640080" cy="640080"/>
          </a:xfrm>
          <a:prstGeom prst="ellipse">
            <a:avLst/>
          </a:prstGeom>
          <a:solidFill>
            <a:srgbClr val="4F46E5"/>
          </a:solidFill>
          <a:ln w="12700">
            <a:solidFill>
              <a:srgbClr val="4F46E5"/>
            </a:solidFill>
            <a:prstDash val="solid"/>
          </a:ln>
        </p:spPr>
        <p:txBody>
          <a:bodyPr/>
          <a:lstStyle/>
          <a:p>
            <a:endParaRPr lang="en-US"/>
          </a:p>
        </p:txBody>
      </p:sp>
      <p:pic>
        <p:nvPicPr>
          <p:cNvPr id="10" name="Image 1" descr="preencoded.png"/>
          <p:cNvPicPr>
            <a:picLocks noChangeAspect="1"/>
          </p:cNvPicPr>
          <p:nvPr/>
        </p:nvPicPr>
        <p:blipFill>
          <a:blip r:embed="rId4"/>
          <a:stretch>
            <a:fillRect/>
          </a:stretch>
        </p:blipFill>
        <p:spPr>
          <a:xfrm>
            <a:off x="3162224" y="1485900"/>
            <a:ext cx="320040" cy="320040"/>
          </a:xfrm>
          <a:prstGeom prst="rect">
            <a:avLst/>
          </a:prstGeom>
        </p:spPr>
      </p:pic>
      <p:sp>
        <p:nvSpPr>
          <p:cNvPr id="11" name="Text 7"/>
          <p:cNvSpPr txBox="1"/>
          <p:nvPr/>
        </p:nvSpPr>
        <p:spPr>
          <a:xfrm>
            <a:off x="2397709" y="2057400"/>
            <a:ext cx="1849069" cy="320040"/>
          </a:xfrm>
          <a:prstGeom prst="rect">
            <a:avLst/>
          </a:prstGeom>
          <a:noFill/>
          <a:ln/>
        </p:spPr>
        <p:txBody>
          <a:bodyPr wrap="square" lIns="0" tIns="0" rIns="0" bIns="0" rtlCol="0" anchor="t"/>
          <a:lstStyle/>
          <a:p>
            <a:pPr marL="0" indent="0" algn="ctr">
              <a:buNone/>
            </a:pPr>
            <a:r>
              <a:rPr lang="en-US" sz="1400" b="1" dirty="0">
                <a:solidFill>
                  <a:srgbClr val="13213C"/>
                </a:solidFill>
                <a:latin typeface="Calibri" pitchFamily="34" charset="0"/>
                <a:ea typeface="Calibri" pitchFamily="34" charset="-122"/>
                <a:cs typeface="Calibri" pitchFamily="34" charset="-120"/>
              </a:rPr>
              <a:t>Find the relevant text</a:t>
            </a:r>
            <a:endParaRPr lang="en-US" sz="1400" dirty="0"/>
          </a:p>
        </p:txBody>
      </p:sp>
      <p:sp>
        <p:nvSpPr>
          <p:cNvPr id="13" name="Shape 9"/>
          <p:cNvSpPr/>
          <p:nvPr/>
        </p:nvSpPr>
        <p:spPr>
          <a:xfrm>
            <a:off x="3779444" y="1536192"/>
            <a:ext cx="934669" cy="219456"/>
          </a:xfrm>
          <a:prstGeom prst="rightArrow">
            <a:avLst/>
          </a:prstGeom>
          <a:solidFill>
            <a:srgbClr val="DDE3EC"/>
          </a:solidFill>
          <a:ln w="12700">
            <a:solidFill>
              <a:srgbClr val="DDE3EC"/>
            </a:solidFill>
            <a:prstDash val="solid"/>
          </a:ln>
        </p:spPr>
        <p:txBody>
          <a:bodyPr/>
          <a:lstStyle/>
          <a:p>
            <a:endParaRPr lang="en-US"/>
          </a:p>
        </p:txBody>
      </p:sp>
      <p:sp>
        <p:nvSpPr>
          <p:cNvPr id="14" name="Shape 10"/>
          <p:cNvSpPr/>
          <p:nvPr/>
        </p:nvSpPr>
        <p:spPr>
          <a:xfrm>
            <a:off x="4851273" y="1325880"/>
            <a:ext cx="640080" cy="640080"/>
          </a:xfrm>
          <a:prstGeom prst="ellipse">
            <a:avLst/>
          </a:prstGeom>
          <a:solidFill>
            <a:srgbClr val="4F46E5"/>
          </a:solidFill>
          <a:ln w="12700">
            <a:solidFill>
              <a:srgbClr val="4F46E5"/>
            </a:solidFill>
            <a:prstDash val="solid"/>
          </a:ln>
        </p:spPr>
        <p:txBody>
          <a:bodyPr/>
          <a:lstStyle/>
          <a:p>
            <a:endParaRPr lang="en-US"/>
          </a:p>
        </p:txBody>
      </p:sp>
      <p:pic>
        <p:nvPicPr>
          <p:cNvPr id="15" name="Image 2" descr="preencoded.png"/>
          <p:cNvPicPr>
            <a:picLocks noChangeAspect="1"/>
          </p:cNvPicPr>
          <p:nvPr/>
        </p:nvPicPr>
        <p:blipFill>
          <a:blip r:embed="rId5"/>
          <a:stretch>
            <a:fillRect/>
          </a:stretch>
        </p:blipFill>
        <p:spPr>
          <a:xfrm>
            <a:off x="5011293" y="1485900"/>
            <a:ext cx="320040" cy="320040"/>
          </a:xfrm>
          <a:prstGeom prst="rect">
            <a:avLst/>
          </a:prstGeom>
        </p:spPr>
      </p:pic>
      <p:sp>
        <p:nvSpPr>
          <p:cNvPr id="16" name="Text 11"/>
          <p:cNvSpPr txBox="1"/>
          <p:nvPr/>
        </p:nvSpPr>
        <p:spPr>
          <a:xfrm>
            <a:off x="4246778" y="2057400"/>
            <a:ext cx="1849069" cy="320040"/>
          </a:xfrm>
          <a:prstGeom prst="rect">
            <a:avLst/>
          </a:prstGeom>
          <a:noFill/>
          <a:ln/>
        </p:spPr>
        <p:txBody>
          <a:bodyPr wrap="square" lIns="0" tIns="0" rIns="0" bIns="0" rtlCol="0" anchor="t"/>
          <a:lstStyle/>
          <a:p>
            <a:pPr marL="0" indent="0" algn="ctr">
              <a:buNone/>
            </a:pPr>
            <a:r>
              <a:rPr lang="en-US" sz="1400" b="1" dirty="0">
                <a:solidFill>
                  <a:srgbClr val="13213C"/>
                </a:solidFill>
                <a:latin typeface="Calibri" pitchFamily="34" charset="0"/>
                <a:ea typeface="Calibri" pitchFamily="34" charset="-122"/>
                <a:cs typeface="Calibri" pitchFamily="34" charset="-120"/>
              </a:rPr>
              <a:t>AI designs the tests</a:t>
            </a:r>
            <a:endParaRPr lang="en-US" sz="1400" dirty="0"/>
          </a:p>
        </p:txBody>
      </p:sp>
      <p:sp>
        <p:nvSpPr>
          <p:cNvPr id="18" name="Shape 13"/>
          <p:cNvSpPr/>
          <p:nvPr/>
        </p:nvSpPr>
        <p:spPr>
          <a:xfrm>
            <a:off x="5628513" y="1536192"/>
            <a:ext cx="934669" cy="219456"/>
          </a:xfrm>
          <a:prstGeom prst="rightArrow">
            <a:avLst/>
          </a:prstGeom>
          <a:solidFill>
            <a:srgbClr val="DDE3EC"/>
          </a:solidFill>
          <a:ln w="12700">
            <a:solidFill>
              <a:srgbClr val="DDE3EC"/>
            </a:solidFill>
            <a:prstDash val="solid"/>
          </a:ln>
        </p:spPr>
        <p:txBody>
          <a:bodyPr/>
          <a:lstStyle/>
          <a:p>
            <a:endParaRPr lang="en-US"/>
          </a:p>
        </p:txBody>
      </p:sp>
      <p:sp>
        <p:nvSpPr>
          <p:cNvPr id="19" name="Shape 14"/>
          <p:cNvSpPr/>
          <p:nvPr/>
        </p:nvSpPr>
        <p:spPr>
          <a:xfrm>
            <a:off x="6700342" y="1325880"/>
            <a:ext cx="640080" cy="640080"/>
          </a:xfrm>
          <a:prstGeom prst="ellipse">
            <a:avLst/>
          </a:prstGeom>
          <a:solidFill>
            <a:srgbClr val="4F46E5"/>
          </a:solidFill>
          <a:ln w="12700">
            <a:solidFill>
              <a:srgbClr val="4F46E5"/>
            </a:solidFill>
            <a:prstDash val="solid"/>
          </a:ln>
        </p:spPr>
        <p:txBody>
          <a:bodyPr/>
          <a:lstStyle/>
          <a:p>
            <a:endParaRPr lang="en-US"/>
          </a:p>
        </p:txBody>
      </p:sp>
      <p:pic>
        <p:nvPicPr>
          <p:cNvPr id="20" name="Image 3" descr="preencoded.png"/>
          <p:cNvPicPr>
            <a:picLocks noChangeAspect="1"/>
          </p:cNvPicPr>
          <p:nvPr/>
        </p:nvPicPr>
        <p:blipFill>
          <a:blip r:embed="rId6"/>
          <a:stretch>
            <a:fillRect/>
          </a:stretch>
        </p:blipFill>
        <p:spPr>
          <a:xfrm>
            <a:off x="6860362" y="1485900"/>
            <a:ext cx="320040" cy="320040"/>
          </a:xfrm>
          <a:prstGeom prst="rect">
            <a:avLst/>
          </a:prstGeom>
        </p:spPr>
      </p:pic>
      <p:sp>
        <p:nvSpPr>
          <p:cNvPr id="21" name="Text 15"/>
          <p:cNvSpPr txBox="1"/>
          <p:nvPr/>
        </p:nvSpPr>
        <p:spPr>
          <a:xfrm>
            <a:off x="6095848" y="2057400"/>
            <a:ext cx="1849069" cy="320040"/>
          </a:xfrm>
          <a:prstGeom prst="rect">
            <a:avLst/>
          </a:prstGeom>
          <a:noFill/>
          <a:ln/>
        </p:spPr>
        <p:txBody>
          <a:bodyPr wrap="square" lIns="0" tIns="0" rIns="0" bIns="0" rtlCol="0" anchor="t"/>
          <a:lstStyle/>
          <a:p>
            <a:pPr marL="0" indent="0" algn="ctr">
              <a:buNone/>
            </a:pPr>
            <a:r>
              <a:rPr lang="en-US" sz="1400" b="1" dirty="0">
                <a:solidFill>
                  <a:srgbClr val="13213C"/>
                </a:solidFill>
                <a:latin typeface="Calibri" pitchFamily="34" charset="0"/>
                <a:ea typeface="Calibri" pitchFamily="34" charset="-122"/>
                <a:cs typeface="Calibri" pitchFamily="34" charset="-120"/>
              </a:rPr>
              <a:t>Write test scripts</a:t>
            </a:r>
            <a:endParaRPr lang="en-US" sz="1400" dirty="0"/>
          </a:p>
        </p:txBody>
      </p:sp>
      <p:sp>
        <p:nvSpPr>
          <p:cNvPr id="23" name="Shape 17"/>
          <p:cNvSpPr/>
          <p:nvPr/>
        </p:nvSpPr>
        <p:spPr>
          <a:xfrm>
            <a:off x="7477582" y="1536192"/>
            <a:ext cx="934669" cy="219456"/>
          </a:xfrm>
          <a:prstGeom prst="rightArrow">
            <a:avLst/>
          </a:prstGeom>
          <a:solidFill>
            <a:srgbClr val="DDE3EC"/>
          </a:solidFill>
          <a:ln w="12700">
            <a:solidFill>
              <a:srgbClr val="DDE3EC"/>
            </a:solidFill>
            <a:prstDash val="solid"/>
          </a:ln>
        </p:spPr>
        <p:txBody>
          <a:bodyPr/>
          <a:lstStyle/>
          <a:p>
            <a:endParaRPr lang="en-US"/>
          </a:p>
        </p:txBody>
      </p:sp>
      <p:sp>
        <p:nvSpPr>
          <p:cNvPr id="24" name="Shape 18"/>
          <p:cNvSpPr/>
          <p:nvPr/>
        </p:nvSpPr>
        <p:spPr>
          <a:xfrm>
            <a:off x="8549411" y="1325880"/>
            <a:ext cx="640080" cy="640080"/>
          </a:xfrm>
          <a:prstGeom prst="ellipse">
            <a:avLst/>
          </a:prstGeom>
          <a:solidFill>
            <a:srgbClr val="4F46E5"/>
          </a:solidFill>
          <a:ln w="12700">
            <a:solidFill>
              <a:srgbClr val="4F46E5"/>
            </a:solidFill>
            <a:prstDash val="solid"/>
          </a:ln>
        </p:spPr>
        <p:txBody>
          <a:bodyPr/>
          <a:lstStyle/>
          <a:p>
            <a:endParaRPr lang="en-US"/>
          </a:p>
        </p:txBody>
      </p:sp>
      <p:pic>
        <p:nvPicPr>
          <p:cNvPr id="25" name="Image 4" descr="preencoded.png"/>
          <p:cNvPicPr>
            <a:picLocks noChangeAspect="1"/>
          </p:cNvPicPr>
          <p:nvPr/>
        </p:nvPicPr>
        <p:blipFill>
          <a:blip r:embed="rId7"/>
          <a:stretch>
            <a:fillRect/>
          </a:stretch>
        </p:blipFill>
        <p:spPr>
          <a:xfrm>
            <a:off x="8709431" y="1485900"/>
            <a:ext cx="320040" cy="320040"/>
          </a:xfrm>
          <a:prstGeom prst="rect">
            <a:avLst/>
          </a:prstGeom>
        </p:spPr>
      </p:pic>
      <p:sp>
        <p:nvSpPr>
          <p:cNvPr id="26" name="Text 19"/>
          <p:cNvSpPr txBox="1"/>
          <p:nvPr/>
        </p:nvSpPr>
        <p:spPr>
          <a:xfrm>
            <a:off x="7944917" y="2057400"/>
            <a:ext cx="1849069" cy="320040"/>
          </a:xfrm>
          <a:prstGeom prst="rect">
            <a:avLst/>
          </a:prstGeom>
          <a:noFill/>
          <a:ln/>
        </p:spPr>
        <p:txBody>
          <a:bodyPr wrap="square" lIns="0" tIns="0" rIns="0" bIns="0" rtlCol="0" anchor="t"/>
          <a:lstStyle/>
          <a:p>
            <a:pPr marL="0" indent="0" algn="ctr">
              <a:buNone/>
            </a:pPr>
            <a:r>
              <a:rPr lang="en-US" sz="1400" b="1" dirty="0">
                <a:solidFill>
                  <a:srgbClr val="13213C"/>
                </a:solidFill>
                <a:latin typeface="Calibri" pitchFamily="34" charset="0"/>
                <a:ea typeface="Calibri" pitchFamily="34" charset="-122"/>
                <a:cs typeface="Calibri" pitchFamily="34" charset="-120"/>
              </a:rPr>
              <a:t>Run the tests</a:t>
            </a:r>
            <a:endParaRPr lang="en-US" sz="1400" dirty="0"/>
          </a:p>
        </p:txBody>
      </p:sp>
      <p:sp>
        <p:nvSpPr>
          <p:cNvPr id="28" name="Shape 21"/>
          <p:cNvSpPr/>
          <p:nvPr/>
        </p:nvSpPr>
        <p:spPr>
          <a:xfrm>
            <a:off x="9326651" y="1536192"/>
            <a:ext cx="934669" cy="219456"/>
          </a:xfrm>
          <a:prstGeom prst="rightArrow">
            <a:avLst/>
          </a:prstGeom>
          <a:solidFill>
            <a:srgbClr val="DDE3EC"/>
          </a:solidFill>
          <a:ln w="12700">
            <a:solidFill>
              <a:srgbClr val="DDE3EC"/>
            </a:solidFill>
            <a:prstDash val="solid"/>
          </a:ln>
        </p:spPr>
        <p:txBody>
          <a:bodyPr/>
          <a:lstStyle/>
          <a:p>
            <a:endParaRPr lang="en-US"/>
          </a:p>
        </p:txBody>
      </p:sp>
      <p:sp>
        <p:nvSpPr>
          <p:cNvPr id="29" name="Shape 22"/>
          <p:cNvSpPr/>
          <p:nvPr/>
        </p:nvSpPr>
        <p:spPr>
          <a:xfrm>
            <a:off x="10398481" y="1325880"/>
            <a:ext cx="640080" cy="640080"/>
          </a:xfrm>
          <a:prstGeom prst="ellipse">
            <a:avLst/>
          </a:prstGeom>
          <a:solidFill>
            <a:srgbClr val="4F46E5"/>
          </a:solidFill>
          <a:ln w="12700">
            <a:solidFill>
              <a:srgbClr val="4F46E5"/>
            </a:solidFill>
            <a:prstDash val="solid"/>
          </a:ln>
        </p:spPr>
        <p:txBody>
          <a:bodyPr/>
          <a:lstStyle/>
          <a:p>
            <a:endParaRPr lang="en-US"/>
          </a:p>
        </p:txBody>
      </p:sp>
      <p:pic>
        <p:nvPicPr>
          <p:cNvPr id="30" name="Image 5" descr="preencoded.png"/>
          <p:cNvPicPr>
            <a:picLocks noChangeAspect="1"/>
          </p:cNvPicPr>
          <p:nvPr/>
        </p:nvPicPr>
        <p:blipFill>
          <a:blip r:embed="rId8"/>
          <a:stretch>
            <a:fillRect/>
          </a:stretch>
        </p:blipFill>
        <p:spPr>
          <a:xfrm>
            <a:off x="10558501" y="1485900"/>
            <a:ext cx="320040" cy="320040"/>
          </a:xfrm>
          <a:prstGeom prst="rect">
            <a:avLst/>
          </a:prstGeom>
        </p:spPr>
      </p:pic>
      <p:sp>
        <p:nvSpPr>
          <p:cNvPr id="31" name="Text 23"/>
          <p:cNvSpPr txBox="1"/>
          <p:nvPr/>
        </p:nvSpPr>
        <p:spPr>
          <a:xfrm>
            <a:off x="9793986" y="2057400"/>
            <a:ext cx="1849069" cy="320040"/>
          </a:xfrm>
          <a:prstGeom prst="rect">
            <a:avLst/>
          </a:prstGeom>
          <a:noFill/>
          <a:ln/>
        </p:spPr>
        <p:txBody>
          <a:bodyPr wrap="square" lIns="0" tIns="0" rIns="0" bIns="0" rtlCol="0" anchor="t"/>
          <a:lstStyle/>
          <a:p>
            <a:pPr marL="0" indent="0" algn="ctr">
              <a:buNone/>
            </a:pPr>
            <a:r>
              <a:rPr lang="en-US" sz="1400" b="1" dirty="0">
                <a:solidFill>
                  <a:srgbClr val="13213C"/>
                </a:solidFill>
                <a:latin typeface="Calibri" pitchFamily="34" charset="0"/>
                <a:ea typeface="Calibri" pitchFamily="34" charset="-122"/>
                <a:cs typeface="Calibri" pitchFamily="34" charset="-120"/>
              </a:rPr>
              <a:t>Report bugs</a:t>
            </a:r>
            <a:endParaRPr lang="en-US" sz="1400" dirty="0"/>
          </a:p>
        </p:txBody>
      </p:sp>
      <p:sp>
        <p:nvSpPr>
          <p:cNvPr id="33" name="Shape 25"/>
          <p:cNvSpPr/>
          <p:nvPr/>
        </p:nvSpPr>
        <p:spPr>
          <a:xfrm>
            <a:off x="548640" y="2926080"/>
            <a:ext cx="5440680" cy="2926080"/>
          </a:xfrm>
          <a:prstGeom prst="roundRect">
            <a:avLst>
              <a:gd name="adj" fmla="val 3750"/>
            </a:avLst>
          </a:prstGeom>
          <a:solidFill>
            <a:srgbClr val="F2F5F9"/>
          </a:solidFill>
          <a:ln w="12700">
            <a:solidFill>
              <a:srgbClr val="F2F5F9"/>
            </a:solidFill>
            <a:prstDash val="solid"/>
          </a:ln>
        </p:spPr>
        <p:txBody>
          <a:bodyPr/>
          <a:lstStyle/>
          <a:p>
            <a:endParaRPr lang="en-US"/>
          </a:p>
        </p:txBody>
      </p:sp>
      <p:sp>
        <p:nvSpPr>
          <p:cNvPr id="34" name="Text 26"/>
          <p:cNvSpPr txBox="1"/>
          <p:nvPr/>
        </p:nvSpPr>
        <p:spPr>
          <a:xfrm>
            <a:off x="822960" y="3090672"/>
            <a:ext cx="4937760" cy="365760"/>
          </a:xfrm>
          <a:prstGeom prst="rect">
            <a:avLst/>
          </a:prstGeom>
          <a:noFill/>
          <a:ln/>
        </p:spPr>
        <p:txBody>
          <a:bodyPr wrap="square" lIns="0" tIns="0" rIns="0" bIns="0" rtlCol="0" anchor="t"/>
          <a:lstStyle/>
          <a:p>
            <a:pPr marL="0" indent="0">
              <a:buNone/>
            </a:pPr>
            <a:r>
              <a:rPr lang="en-US" sz="1700" b="1" dirty="0">
                <a:solidFill>
                  <a:srgbClr val="13213C"/>
                </a:solidFill>
                <a:latin typeface="Calibri" pitchFamily="34" charset="0"/>
                <a:ea typeface="Calibri" pitchFamily="34" charset="-122"/>
                <a:cs typeface="Calibri" pitchFamily="34" charset="-120"/>
              </a:rPr>
              <a:t>Trust: hand-written rules</a:t>
            </a:r>
            <a:endParaRPr lang="en-US" sz="1700" dirty="0"/>
          </a:p>
        </p:txBody>
      </p:sp>
      <p:sp>
        <p:nvSpPr>
          <p:cNvPr id="35" name="Text 27"/>
          <p:cNvSpPr txBox="1"/>
          <p:nvPr/>
        </p:nvSpPr>
        <p:spPr>
          <a:xfrm>
            <a:off x="822960" y="3547872"/>
            <a:ext cx="4937760" cy="219456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rgbClr val="1E2533"/>
                </a:solidFill>
                <a:latin typeface="Calibri" pitchFamily="34" charset="0"/>
                <a:ea typeface="Calibri" pitchFamily="34" charset="-122"/>
                <a:cs typeface="Calibri" pitchFamily="34" charset="-120"/>
              </a:rPr>
              <a:t>Evidence required</a:t>
            </a:r>
            <a:endParaRPr lang="en-US" sz="1500" dirty="0"/>
          </a:p>
          <a:p>
            <a:pPr marL="177800" indent="-177800">
              <a:spcAft>
                <a:spcPts val="600"/>
              </a:spcAft>
              <a:buSzPct val="100000"/>
              <a:buChar char="•"/>
            </a:pPr>
            <a:r>
              <a:rPr lang="en-US" sz="1500" dirty="0">
                <a:solidFill>
                  <a:srgbClr val="1E2533"/>
                </a:solidFill>
                <a:latin typeface="Calibri" pitchFamily="34" charset="0"/>
                <a:ea typeface="Calibri" pitchFamily="34" charset="-122"/>
                <a:cs typeface="Calibri" pitchFamily="34" charset="-120"/>
              </a:rPr>
              <a:t>Uncertainty is flagged</a:t>
            </a:r>
            <a:endParaRPr lang="en-US" sz="1500" dirty="0"/>
          </a:p>
          <a:p>
            <a:pPr marL="177800" indent="-177800">
              <a:spcAft>
                <a:spcPts val="600"/>
              </a:spcAft>
              <a:buSzPct val="100000"/>
              <a:buChar char="•"/>
            </a:pPr>
            <a:r>
              <a:rPr lang="en-US" sz="1500" dirty="0">
                <a:solidFill>
                  <a:srgbClr val="1E2533"/>
                </a:solidFill>
                <a:latin typeface="Calibri" pitchFamily="34" charset="0"/>
                <a:ea typeface="Calibri" pitchFamily="34" charset="-122"/>
                <a:cs typeface="Calibri" pitchFamily="34" charset="-120"/>
              </a:rPr>
              <a:t>Fault-injection gate: every passing test is re-run on broken builds</a:t>
            </a:r>
            <a:endParaRPr lang="en-US" sz="1500" dirty="0"/>
          </a:p>
        </p:txBody>
      </p:sp>
      <p:sp>
        <p:nvSpPr>
          <p:cNvPr id="36" name="Shape 28"/>
          <p:cNvSpPr/>
          <p:nvPr/>
        </p:nvSpPr>
        <p:spPr>
          <a:xfrm>
            <a:off x="6199632" y="2926080"/>
            <a:ext cx="5440680" cy="2926080"/>
          </a:xfrm>
          <a:prstGeom prst="roundRect">
            <a:avLst>
              <a:gd name="adj" fmla="val 3750"/>
            </a:avLst>
          </a:prstGeom>
          <a:solidFill>
            <a:srgbClr val="EEF0FE"/>
          </a:solidFill>
          <a:ln w="12700">
            <a:solidFill>
              <a:srgbClr val="EEF0FE"/>
            </a:solidFill>
            <a:prstDash val="solid"/>
          </a:ln>
        </p:spPr>
        <p:txBody>
          <a:bodyPr/>
          <a:lstStyle/>
          <a:p>
            <a:endParaRPr lang="en-US"/>
          </a:p>
        </p:txBody>
      </p:sp>
      <p:sp>
        <p:nvSpPr>
          <p:cNvPr id="37" name="Text 29"/>
          <p:cNvSpPr txBox="1"/>
          <p:nvPr/>
        </p:nvSpPr>
        <p:spPr>
          <a:xfrm>
            <a:off x="6473952" y="3090672"/>
            <a:ext cx="4937760" cy="365760"/>
          </a:xfrm>
          <a:prstGeom prst="rect">
            <a:avLst/>
          </a:prstGeom>
          <a:noFill/>
          <a:ln/>
        </p:spPr>
        <p:txBody>
          <a:bodyPr wrap="square" lIns="0" tIns="0" rIns="0" bIns="0" rtlCol="0" anchor="t"/>
          <a:lstStyle/>
          <a:p>
            <a:pPr marL="0" indent="0">
              <a:buNone/>
            </a:pPr>
            <a:r>
              <a:rPr lang="en-US" sz="1700" b="1" dirty="0">
                <a:solidFill>
                  <a:srgbClr val="4F46E5"/>
                </a:solidFill>
                <a:latin typeface="Calibri" pitchFamily="34" charset="0"/>
                <a:ea typeface="Calibri" pitchFamily="34" charset="-122"/>
                <a:cs typeface="Calibri" pitchFamily="34" charset="-120"/>
              </a:rPr>
              <a:t>Demo application: A shopping website</a:t>
            </a:r>
            <a:endParaRPr lang="en-US" sz="1700" dirty="0"/>
          </a:p>
        </p:txBody>
      </p:sp>
      <p:sp>
        <p:nvSpPr>
          <p:cNvPr id="38" name="Text 30"/>
          <p:cNvSpPr txBox="1"/>
          <p:nvPr/>
        </p:nvSpPr>
        <p:spPr>
          <a:xfrm>
            <a:off x="6473952" y="3547872"/>
            <a:ext cx="4937760" cy="219456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rgbClr val="1E2533"/>
                </a:solidFill>
                <a:latin typeface="Calibri" pitchFamily="34" charset="0"/>
                <a:ea typeface="Calibri" pitchFamily="34" charset="-122"/>
                <a:cs typeface="Calibri" pitchFamily="34" charset="-120"/>
              </a:rPr>
              <a:t>Inputs: Software Requirement Specifications (SRS)</a:t>
            </a:r>
            <a:endParaRPr lang="en-US" sz="1500" dirty="0"/>
          </a:p>
          <a:p>
            <a:pPr marL="177800" indent="-177800">
              <a:spcAft>
                <a:spcPts val="600"/>
              </a:spcAft>
              <a:buSzPct val="100000"/>
              <a:buChar char="•"/>
            </a:pPr>
            <a:r>
              <a:rPr lang="en-US" sz="1500" dirty="0">
                <a:solidFill>
                  <a:srgbClr val="1E2533"/>
                </a:solidFill>
                <a:latin typeface="Calibri" pitchFamily="34" charset="0"/>
                <a:ea typeface="Calibri" pitchFamily="34" charset="-122"/>
                <a:cs typeface="Calibri" pitchFamily="34" charset="-120"/>
              </a:rPr>
              <a:t>Web, API, Security Testing</a:t>
            </a:r>
            <a:endParaRPr lang="en-US" sz="1500" dirty="0"/>
          </a:p>
          <a:p>
            <a:pPr marL="177800" indent="-177800">
              <a:spcAft>
                <a:spcPts val="600"/>
              </a:spcAft>
              <a:buSzPct val="100000"/>
              <a:buChar char="•"/>
            </a:pPr>
            <a:r>
              <a:rPr lang="en-US" sz="1500" dirty="0">
                <a:solidFill>
                  <a:srgbClr val="1E2533"/>
                </a:solidFill>
                <a:latin typeface="Calibri" pitchFamily="34" charset="0"/>
                <a:ea typeface="Calibri" pitchFamily="34" charset="-122"/>
                <a:cs typeface="Calibri" pitchFamily="34" charset="-120"/>
              </a:rPr>
              <a:t>LLM: Chat GPT</a:t>
            </a:r>
            <a:endParaRPr lang="en-US" sz="1500" dirty="0"/>
          </a:p>
        </p:txBody>
      </p:sp>
      <p:sp>
        <p:nvSpPr>
          <p:cNvPr id="39"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578"/>
                </a:solidFill>
                <a:latin typeface="Calibri"/>
                <a:ea typeface="Calibri"/>
                <a:cs typeface="Calibri"/>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109728"/>
            <a:ext cx="7315200" cy="228600"/>
          </a:xfrm>
          <a:prstGeom prst="rect">
            <a:avLst/>
          </a:prstGeom>
          <a:noFill/>
          <a:ln/>
        </p:spPr>
        <p:txBody>
          <a:bodyPr wrap="square" lIns="0" tIns="0" rIns="0" bIns="0" rtlCol="0" anchor="t"/>
          <a:lstStyle/>
          <a:p>
            <a:pPr marL="0" indent="0">
              <a:buNone/>
            </a:pPr>
            <a:r>
              <a:rPr lang="en-US" sz="1100" b="1" kern="0" spc="100" dirty="0">
                <a:solidFill>
                  <a:srgbClr val="4F46E5"/>
                </a:solidFill>
                <a:latin typeface="Calibri" pitchFamily="34" charset="0"/>
                <a:ea typeface="Calibri" pitchFamily="34" charset="-122"/>
                <a:cs typeface="Calibri" pitchFamily="34" charset="-120"/>
              </a:rPr>
              <a:t>PART A · DEMO 1 RESULTS</a:t>
            </a:r>
            <a:endParaRPr lang="en-US" sz="1100" dirty="0"/>
          </a:p>
        </p:txBody>
      </p:sp>
      <p:sp>
        <p:nvSpPr>
          <p:cNvPr id="3"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buNone/>
            </a:pPr>
            <a:r>
              <a:rPr lang="en-US" sz="3000" b="1" dirty="0">
                <a:solidFill>
                  <a:srgbClr val="13213C"/>
                </a:solidFill>
                <a:latin typeface="Cambria" pitchFamily="34" charset="0"/>
                <a:ea typeface="Cambria" pitchFamily="34" charset="-122"/>
                <a:cs typeface="Cambria" pitchFamily="34" charset="-120"/>
              </a:rPr>
              <a:t>It finds real bugs — but 6 of its 18 FAILs are false alarms</a:t>
            </a:r>
            <a:endParaRPr lang="en-US" sz="3000" dirty="0"/>
          </a:p>
        </p:txBody>
      </p:sp>
      <p:sp>
        <p:nvSpPr>
          <p:cNvPr id="4" name="Shape 2"/>
          <p:cNvSpPr/>
          <p:nvPr/>
        </p:nvSpPr>
        <p:spPr>
          <a:xfrm>
            <a:off x="1810512" y="1307592"/>
            <a:ext cx="2633472" cy="1783080"/>
          </a:xfrm>
          <a:prstGeom prst="roundRect">
            <a:avLst>
              <a:gd name="adj" fmla="val 6154"/>
            </a:avLst>
          </a:prstGeom>
          <a:solidFill>
            <a:srgbClr val="F2F5F9"/>
          </a:solidFill>
          <a:ln w="12700">
            <a:solidFill>
              <a:srgbClr val="F2F5F9"/>
            </a:solidFill>
            <a:prstDash val="solid"/>
          </a:ln>
        </p:spPr>
        <p:txBody>
          <a:bodyPr/>
          <a:lstStyle/>
          <a:p>
            <a:endParaRPr lang="en-US"/>
          </a:p>
        </p:txBody>
      </p:sp>
      <p:sp>
        <p:nvSpPr>
          <p:cNvPr id="5" name="Text 3"/>
          <p:cNvSpPr txBox="1"/>
          <p:nvPr/>
        </p:nvSpPr>
        <p:spPr>
          <a:xfrm>
            <a:off x="2039112" y="1399032"/>
            <a:ext cx="2286000" cy="731520"/>
          </a:xfrm>
          <a:prstGeom prst="rect">
            <a:avLst/>
          </a:prstGeom>
          <a:noFill/>
          <a:ln/>
        </p:spPr>
        <p:txBody>
          <a:bodyPr wrap="square" lIns="0" tIns="0" rIns="0" bIns="0" rtlCol="0" anchor="ctr"/>
          <a:lstStyle/>
          <a:p>
            <a:pPr marL="0" indent="0">
              <a:buNone/>
            </a:pPr>
            <a:r>
              <a:rPr lang="en-US" sz="4000" b="1" dirty="0">
                <a:solidFill>
                  <a:srgbClr val="4F46E5"/>
                </a:solidFill>
                <a:latin typeface="Cambria" pitchFamily="34" charset="0"/>
                <a:ea typeface="Cambria" pitchFamily="34" charset="-122"/>
                <a:cs typeface="Cambria" pitchFamily="34" charset="-120"/>
              </a:rPr>
              <a:t>34</a:t>
            </a:r>
            <a:endParaRPr lang="en-US" sz="4000" dirty="0"/>
          </a:p>
        </p:txBody>
      </p:sp>
      <p:sp>
        <p:nvSpPr>
          <p:cNvPr id="6" name="Text 4"/>
          <p:cNvSpPr txBox="1"/>
          <p:nvPr/>
        </p:nvSpPr>
        <p:spPr>
          <a:xfrm>
            <a:off x="2039112" y="2157984"/>
            <a:ext cx="2286000" cy="320040"/>
          </a:xfrm>
          <a:prstGeom prst="rect">
            <a:avLst/>
          </a:prstGeom>
          <a:noFill/>
          <a:ln/>
        </p:spPr>
        <p:txBody>
          <a:bodyPr wrap="square" lIns="0" tIns="0" rIns="0" bIns="0" rtlCol="0" anchor="t"/>
          <a:lstStyle/>
          <a:p>
            <a:pPr marL="0" indent="0">
              <a:buNone/>
            </a:pPr>
            <a:r>
              <a:rPr lang="en-US" sz="1500" b="1" dirty="0">
                <a:solidFill>
                  <a:srgbClr val="13213C"/>
                </a:solidFill>
                <a:latin typeface="Calibri" pitchFamily="34" charset="0"/>
                <a:ea typeface="Calibri" pitchFamily="34" charset="-122"/>
                <a:cs typeface="Calibri" pitchFamily="34" charset="-120"/>
              </a:rPr>
              <a:t>requirements</a:t>
            </a:r>
            <a:endParaRPr lang="en-US" sz="1500" dirty="0"/>
          </a:p>
        </p:txBody>
      </p:sp>
      <p:sp>
        <p:nvSpPr>
          <p:cNvPr id="7" name="Text 5"/>
          <p:cNvSpPr txBox="1"/>
          <p:nvPr/>
        </p:nvSpPr>
        <p:spPr>
          <a:xfrm>
            <a:off x="2039112" y="2478024"/>
            <a:ext cx="2286000" cy="548640"/>
          </a:xfrm>
          <a:prstGeom prst="rect">
            <a:avLst/>
          </a:prstGeom>
          <a:noFill/>
          <a:ln/>
        </p:spPr>
        <p:txBody>
          <a:bodyPr wrap="square" lIns="0" tIns="0" rIns="0" bIns="0" rtlCol="0" anchor="t"/>
          <a:lstStyle/>
          <a:p>
            <a:pPr marL="0" indent="0">
              <a:buNone/>
            </a:pPr>
            <a:r>
              <a:rPr lang="en-US" sz="1100" dirty="0">
                <a:solidFill>
                  <a:srgbClr val="5B6578"/>
                </a:solidFill>
                <a:latin typeface="Calibri" pitchFamily="34" charset="0"/>
                <a:ea typeface="Calibri" pitchFamily="34" charset="-122"/>
                <a:cs typeface="Calibri" pitchFamily="34" charset="-120"/>
              </a:rPr>
              <a:t>from the document</a:t>
            </a:r>
            <a:endParaRPr lang="en-US" sz="1100" dirty="0"/>
          </a:p>
        </p:txBody>
      </p:sp>
      <p:sp>
        <p:nvSpPr>
          <p:cNvPr id="8" name="Shape 6"/>
          <p:cNvSpPr/>
          <p:nvPr/>
        </p:nvSpPr>
        <p:spPr>
          <a:xfrm>
            <a:off x="4626864" y="1307592"/>
            <a:ext cx="2633472" cy="1783080"/>
          </a:xfrm>
          <a:prstGeom prst="roundRect">
            <a:avLst>
              <a:gd name="adj" fmla="val 6154"/>
            </a:avLst>
          </a:prstGeom>
          <a:solidFill>
            <a:srgbClr val="F2F5F9"/>
          </a:solidFill>
          <a:ln w="12700">
            <a:solidFill>
              <a:srgbClr val="F2F5F9"/>
            </a:solidFill>
            <a:prstDash val="solid"/>
          </a:ln>
        </p:spPr>
        <p:txBody>
          <a:bodyPr/>
          <a:lstStyle/>
          <a:p>
            <a:endParaRPr lang="en-US"/>
          </a:p>
        </p:txBody>
      </p:sp>
      <p:sp>
        <p:nvSpPr>
          <p:cNvPr id="9" name="Text 7"/>
          <p:cNvSpPr txBox="1"/>
          <p:nvPr/>
        </p:nvSpPr>
        <p:spPr>
          <a:xfrm>
            <a:off x="4855464" y="1399032"/>
            <a:ext cx="2286000" cy="731520"/>
          </a:xfrm>
          <a:prstGeom prst="rect">
            <a:avLst/>
          </a:prstGeom>
          <a:noFill/>
          <a:ln/>
        </p:spPr>
        <p:txBody>
          <a:bodyPr wrap="square" lIns="0" tIns="0" rIns="0" bIns="0" rtlCol="0" anchor="ctr"/>
          <a:lstStyle/>
          <a:p>
            <a:pPr marL="0" indent="0">
              <a:buNone/>
            </a:pPr>
            <a:r>
              <a:rPr lang="en-US" sz="4000" b="1" dirty="0">
                <a:solidFill>
                  <a:srgbClr val="4F46E5"/>
                </a:solidFill>
                <a:latin typeface="Cambria" pitchFamily="34" charset="0"/>
                <a:ea typeface="Cambria" pitchFamily="34" charset="-122"/>
                <a:cs typeface="Cambria" pitchFamily="34" charset="-120"/>
              </a:rPr>
              <a:t>62</a:t>
            </a:r>
            <a:endParaRPr lang="en-US" sz="4000" dirty="0"/>
          </a:p>
        </p:txBody>
      </p:sp>
      <p:sp>
        <p:nvSpPr>
          <p:cNvPr id="10" name="Text 8"/>
          <p:cNvSpPr txBox="1"/>
          <p:nvPr/>
        </p:nvSpPr>
        <p:spPr>
          <a:xfrm>
            <a:off x="4855464" y="2157984"/>
            <a:ext cx="2286000" cy="320040"/>
          </a:xfrm>
          <a:prstGeom prst="rect">
            <a:avLst/>
          </a:prstGeom>
          <a:noFill/>
          <a:ln/>
        </p:spPr>
        <p:txBody>
          <a:bodyPr wrap="square" lIns="0" tIns="0" rIns="0" bIns="0" rtlCol="0" anchor="t"/>
          <a:lstStyle/>
          <a:p>
            <a:pPr marL="0" indent="0">
              <a:buNone/>
            </a:pPr>
            <a:r>
              <a:rPr lang="en-US" sz="1500" b="1" dirty="0">
                <a:solidFill>
                  <a:srgbClr val="13213C"/>
                </a:solidFill>
                <a:latin typeface="Calibri" pitchFamily="34" charset="0"/>
                <a:ea typeface="Calibri" pitchFamily="34" charset="-122"/>
                <a:cs typeface="Calibri" pitchFamily="34" charset="-120"/>
              </a:rPr>
              <a:t>tests</a:t>
            </a:r>
            <a:endParaRPr lang="en-US" sz="1500" dirty="0"/>
          </a:p>
        </p:txBody>
      </p:sp>
      <p:sp>
        <p:nvSpPr>
          <p:cNvPr id="11" name="Text 9"/>
          <p:cNvSpPr txBox="1"/>
          <p:nvPr/>
        </p:nvSpPr>
        <p:spPr>
          <a:xfrm>
            <a:off x="4855464" y="2478024"/>
            <a:ext cx="2286000" cy="548640"/>
          </a:xfrm>
          <a:prstGeom prst="rect">
            <a:avLst/>
          </a:prstGeom>
          <a:noFill/>
          <a:ln/>
        </p:spPr>
        <p:txBody>
          <a:bodyPr wrap="square" lIns="0" tIns="0" rIns="0" bIns="0" rtlCol="0" anchor="t"/>
          <a:lstStyle/>
          <a:p>
            <a:pPr marL="0" indent="0">
              <a:buNone/>
            </a:pPr>
            <a:r>
              <a:rPr lang="en-US" sz="1100" dirty="0">
                <a:solidFill>
                  <a:srgbClr val="5B6578"/>
                </a:solidFill>
                <a:latin typeface="Calibri" pitchFamily="34" charset="0"/>
                <a:ea typeface="Calibri" pitchFamily="34" charset="-122"/>
                <a:cs typeface="Calibri" pitchFamily="34" charset="-120"/>
              </a:rPr>
              <a:t>web 23 · API 26 · security 13</a:t>
            </a:r>
            <a:endParaRPr lang="en-US" sz="1100" dirty="0"/>
          </a:p>
        </p:txBody>
      </p:sp>
      <p:sp>
        <p:nvSpPr>
          <p:cNvPr id="12" name="Shape 10"/>
          <p:cNvSpPr/>
          <p:nvPr/>
        </p:nvSpPr>
        <p:spPr>
          <a:xfrm>
            <a:off x="7443216" y="1307592"/>
            <a:ext cx="2633472" cy="1783080"/>
          </a:xfrm>
          <a:prstGeom prst="roundRect">
            <a:avLst>
              <a:gd name="adj" fmla="val 6154"/>
            </a:avLst>
          </a:prstGeom>
          <a:solidFill>
            <a:srgbClr val="F2F5F9"/>
          </a:solidFill>
          <a:ln w="12700">
            <a:solidFill>
              <a:srgbClr val="F2F5F9"/>
            </a:solidFill>
            <a:prstDash val="solid"/>
          </a:ln>
        </p:spPr>
        <p:txBody>
          <a:bodyPr/>
          <a:lstStyle/>
          <a:p>
            <a:endParaRPr lang="en-US"/>
          </a:p>
        </p:txBody>
      </p:sp>
      <p:sp>
        <p:nvSpPr>
          <p:cNvPr id="13" name="Text 11"/>
          <p:cNvSpPr txBox="1"/>
          <p:nvPr/>
        </p:nvSpPr>
        <p:spPr>
          <a:xfrm>
            <a:off x="7671816" y="1399032"/>
            <a:ext cx="2286000" cy="731520"/>
          </a:xfrm>
          <a:prstGeom prst="rect">
            <a:avLst/>
          </a:prstGeom>
          <a:noFill/>
          <a:ln/>
        </p:spPr>
        <p:txBody>
          <a:bodyPr wrap="square" lIns="0" tIns="0" rIns="0" bIns="0" rtlCol="0" anchor="ctr"/>
          <a:lstStyle/>
          <a:p>
            <a:pPr marL="0" indent="0">
              <a:buNone/>
            </a:pPr>
            <a:r>
              <a:rPr lang="en-US" sz="3000" b="1" dirty="0">
                <a:solidFill>
                  <a:srgbClr val="4F46E5"/>
                </a:solidFill>
                <a:latin typeface="Cambria" pitchFamily="34" charset="0"/>
                <a:ea typeface="Cambria" pitchFamily="34" charset="-122"/>
                <a:cs typeface="Cambria" pitchFamily="34" charset="-120"/>
              </a:rPr>
              <a:t>31 / 18 / 13</a:t>
            </a:r>
            <a:endParaRPr lang="en-US" sz="3000" dirty="0"/>
          </a:p>
        </p:txBody>
      </p:sp>
      <p:sp>
        <p:nvSpPr>
          <p:cNvPr id="14" name="Text 12"/>
          <p:cNvSpPr txBox="1"/>
          <p:nvPr/>
        </p:nvSpPr>
        <p:spPr>
          <a:xfrm>
            <a:off x="7671816" y="2157984"/>
            <a:ext cx="2286000" cy="320040"/>
          </a:xfrm>
          <a:prstGeom prst="rect">
            <a:avLst/>
          </a:prstGeom>
          <a:noFill/>
          <a:ln/>
        </p:spPr>
        <p:txBody>
          <a:bodyPr wrap="square" lIns="0" tIns="0" rIns="0" bIns="0" rtlCol="0" anchor="t"/>
          <a:lstStyle/>
          <a:p>
            <a:pPr marL="0" indent="0">
              <a:buNone/>
            </a:pPr>
            <a:r>
              <a:rPr lang="en-US" sz="1500" b="1" dirty="0">
                <a:solidFill>
                  <a:srgbClr val="13213C"/>
                </a:solidFill>
                <a:latin typeface="Calibri" pitchFamily="34" charset="0"/>
                <a:ea typeface="Calibri" pitchFamily="34" charset="-122"/>
                <a:cs typeface="Calibri" pitchFamily="34" charset="-120"/>
              </a:rPr>
              <a:t>PASS / FAIL / REVIEW</a:t>
            </a:r>
            <a:endParaRPr lang="en-US" sz="1500" dirty="0"/>
          </a:p>
        </p:txBody>
      </p:sp>
      <p:sp>
        <p:nvSpPr>
          <p:cNvPr id="15" name="Text 13"/>
          <p:cNvSpPr txBox="1"/>
          <p:nvPr/>
        </p:nvSpPr>
        <p:spPr>
          <a:xfrm>
            <a:off x="7671816" y="2478024"/>
            <a:ext cx="2286000" cy="548640"/>
          </a:xfrm>
          <a:prstGeom prst="rect">
            <a:avLst/>
          </a:prstGeom>
          <a:noFill/>
          <a:ln/>
        </p:spPr>
        <p:txBody>
          <a:bodyPr wrap="square" lIns="0" tIns="0" rIns="0" bIns="0" rtlCol="0" anchor="t"/>
          <a:lstStyle/>
          <a:p>
            <a:pPr marL="0" indent="0">
              <a:buNone/>
            </a:pPr>
            <a:r>
              <a:rPr lang="en-US" sz="1100" dirty="0">
                <a:solidFill>
                  <a:srgbClr val="5B6578"/>
                </a:solidFill>
                <a:latin typeface="Calibri" pitchFamily="34" charset="0"/>
                <a:ea typeface="Calibri" pitchFamily="34" charset="-122"/>
                <a:cs typeface="Calibri" pitchFamily="34" charset="-120"/>
              </a:rPr>
              <a:t>decided by the tool</a:t>
            </a:r>
            <a:endParaRPr lang="en-US" sz="1100" dirty="0"/>
          </a:p>
        </p:txBody>
      </p:sp>
      <p:sp>
        <p:nvSpPr>
          <p:cNvPr id="23" name="Shape 21"/>
          <p:cNvSpPr/>
          <p:nvPr/>
        </p:nvSpPr>
        <p:spPr>
          <a:xfrm>
            <a:off x="3260489" y="3474720"/>
            <a:ext cx="5440680" cy="2606040"/>
          </a:xfrm>
          <a:prstGeom prst="roundRect">
            <a:avLst>
              <a:gd name="adj" fmla="val 4211"/>
            </a:avLst>
          </a:prstGeom>
          <a:solidFill>
            <a:srgbClr val="FDECEA"/>
          </a:solidFill>
          <a:ln w="12700">
            <a:solidFill>
              <a:srgbClr val="FDECEA"/>
            </a:solidFill>
            <a:prstDash val="solid"/>
          </a:ln>
        </p:spPr>
        <p:txBody>
          <a:bodyPr/>
          <a:lstStyle/>
          <a:p>
            <a:endParaRPr lang="en-US"/>
          </a:p>
        </p:txBody>
      </p:sp>
      <p:sp>
        <p:nvSpPr>
          <p:cNvPr id="24" name="Text 22"/>
          <p:cNvSpPr txBox="1"/>
          <p:nvPr/>
        </p:nvSpPr>
        <p:spPr>
          <a:xfrm>
            <a:off x="3534809" y="3611880"/>
            <a:ext cx="4937760" cy="365760"/>
          </a:xfrm>
          <a:prstGeom prst="rect">
            <a:avLst/>
          </a:prstGeom>
          <a:noFill/>
          <a:ln/>
        </p:spPr>
        <p:txBody>
          <a:bodyPr wrap="square" lIns="0" tIns="0" rIns="0" bIns="0" rtlCol="0" anchor="t"/>
          <a:lstStyle/>
          <a:p>
            <a:pPr marL="0" indent="0">
              <a:buNone/>
            </a:pPr>
            <a:r>
              <a:rPr lang="en-US" sz="1600" b="1" dirty="0">
                <a:solidFill>
                  <a:srgbClr val="C8463D"/>
                </a:solidFill>
                <a:latin typeface="Calibri" pitchFamily="34" charset="0"/>
                <a:ea typeface="Calibri" pitchFamily="34" charset="-122"/>
                <a:cs typeface="Calibri" pitchFamily="34" charset="-120"/>
              </a:rPr>
              <a:t>6 FAILs are mistakes in the AI's own tests</a:t>
            </a:r>
            <a:endParaRPr lang="en-US" sz="1600" dirty="0"/>
          </a:p>
        </p:txBody>
      </p:sp>
      <p:sp>
        <p:nvSpPr>
          <p:cNvPr id="25" name="Text 23"/>
          <p:cNvSpPr txBox="1"/>
          <p:nvPr/>
        </p:nvSpPr>
        <p:spPr>
          <a:xfrm>
            <a:off x="3534809" y="4023360"/>
            <a:ext cx="4937760" cy="201168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533"/>
                </a:solidFill>
                <a:latin typeface="Calibri" pitchFamily="34" charset="0"/>
                <a:ea typeface="Calibri" pitchFamily="34" charset="-122"/>
                <a:cs typeface="Calibri" pitchFamily="34" charset="-120"/>
              </a:rPr>
              <a:t>Discount test used an empty cart → the real discount bug was missed</a:t>
            </a:r>
            <a:endParaRPr lang="en-US" sz="1300" dirty="0"/>
          </a:p>
          <a:p>
            <a:pPr marL="177800" indent="-177800">
              <a:spcAft>
                <a:spcPts val="600"/>
              </a:spcAft>
              <a:buSzPct val="100000"/>
              <a:buChar char="•"/>
            </a:pPr>
            <a:r>
              <a:rPr lang="en-US" sz="1300" dirty="0">
                <a:solidFill>
                  <a:srgbClr val="1E2533"/>
                </a:solidFill>
                <a:latin typeface="Calibri" pitchFamily="34" charset="0"/>
                <a:ea typeface="Calibri" pitchFamily="34" charset="-122"/>
                <a:cs typeface="Calibri" pitchFamily="34" charset="-120"/>
              </a:rPr>
              <a:t>Privacy tests logged in the wrong way → the real data leak was missed</a:t>
            </a:r>
            <a:endParaRPr lang="en-US" sz="1300" dirty="0"/>
          </a:p>
          <a:p>
            <a:pPr marL="177800" indent="-177800">
              <a:spcAft>
                <a:spcPts val="600"/>
              </a:spcAft>
              <a:buSzPct val="100000"/>
              <a:buChar char="•"/>
            </a:pPr>
            <a:r>
              <a:rPr lang="en-US" sz="1300" dirty="0">
                <a:solidFill>
                  <a:srgbClr val="1E2533"/>
                </a:solidFill>
                <a:latin typeface="Calibri" pitchFamily="34" charset="0"/>
                <a:ea typeface="Calibri" pitchFamily="34" charset="-122"/>
                <a:cs typeface="Calibri" pitchFamily="34" charset="-120"/>
              </a:rPr>
              <a:t>They passed every trust rule</a:t>
            </a:r>
            <a:endParaRPr lang="en-US" sz="1300" dirty="0"/>
          </a:p>
          <a:p>
            <a:pPr marL="177800" indent="-177800">
              <a:spcAft>
                <a:spcPts val="600"/>
              </a:spcAft>
              <a:buSzPct val="100000"/>
              <a:buChar char="•"/>
            </a:pPr>
            <a:r>
              <a:rPr lang="en-US" sz="1300" dirty="0">
                <a:solidFill>
                  <a:srgbClr val="1E2533"/>
                </a:solidFill>
                <a:latin typeface="Calibri" pitchFamily="34" charset="0"/>
                <a:ea typeface="Calibri" pitchFamily="34" charset="-122"/>
                <a:cs typeface="Calibri" pitchFamily="34" charset="-120"/>
              </a:rPr>
              <a:t>The report shows them as real bugs</a:t>
            </a:r>
            <a:endParaRPr lang="en-US" sz="1300" dirty="0"/>
          </a:p>
        </p:txBody>
      </p:sp>
      <p:sp>
        <p:nvSpPr>
          <p:cNvPr id="27"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578"/>
                </a:solidFill>
                <a:latin typeface="Calibri"/>
                <a:ea typeface="Calibri"/>
                <a:cs typeface="Calibri"/>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buNone/>
            </a:pPr>
            <a:r>
              <a:rPr lang="en-US" sz="3000" b="1" dirty="0">
                <a:solidFill>
                  <a:srgbClr val="13213C"/>
                </a:solidFill>
                <a:latin typeface="Cambria" pitchFamily="34" charset="0"/>
                <a:ea typeface="Cambria" pitchFamily="34" charset="-122"/>
                <a:cs typeface="Cambria" pitchFamily="34" charset="-120"/>
              </a:rPr>
              <a:t>What PASS, FAIL, REVIEW and false alarm mean</a:t>
            </a:r>
            <a:endParaRPr lang="en-US" sz="3000" dirty="0"/>
          </a:p>
        </p:txBody>
      </p:sp>
      <p:sp>
        <p:nvSpPr>
          <p:cNvPr id="2" name="Text 0"/>
          <p:cNvSpPr txBox="1"/>
          <p:nvPr/>
        </p:nvSpPr>
        <p:spPr>
          <a:xfrm>
            <a:off x="548640" y="109728"/>
            <a:ext cx="7315200" cy="228600"/>
          </a:xfrm>
          <a:prstGeom prst="rect">
            <a:avLst/>
          </a:prstGeom>
          <a:noFill/>
          <a:ln/>
        </p:spPr>
        <p:txBody>
          <a:bodyPr wrap="square" lIns="0" tIns="0" rIns="0" bIns="0" rtlCol="0" anchor="t"/>
          <a:lstStyle/>
          <a:p>
            <a:pPr marL="0" indent="0">
              <a:buNone/>
            </a:pPr>
            <a:r>
              <a:rPr lang="en-US" sz="1100" b="1" kern="0" spc="100" dirty="0">
                <a:solidFill>
                  <a:srgbClr val="4F46E5"/>
                </a:solidFill>
                <a:latin typeface="Calibri" pitchFamily="34" charset="0"/>
                <a:ea typeface="Calibri" pitchFamily="34" charset="-122"/>
                <a:cs typeface="Calibri" pitchFamily="34" charset="-120"/>
              </a:rPr>
              <a:t>HOW TO READ THE REPORT</a:t>
            </a:r>
            <a:endParaRPr lang="en-US" sz="1100" dirty="0"/>
          </a:p>
        </p:txBody>
      </p:sp>
      <p:sp>
        <p:nvSpPr>
          <p:cNvPr id="4" name="Rounded Rectangle 3"/>
          <p:cNvSpPr/>
          <p:nvPr/>
        </p:nvSpPr>
        <p:spPr>
          <a:xfrm>
            <a:off x="548640" y="1371600"/>
            <a:ext cx="2670048" cy="3977639"/>
          </a:xfrm>
          <a:prstGeom prst="roundRect">
            <a:avLst>
              <a:gd name="adj" fmla="val 6000"/>
            </a:avLst>
          </a:prstGeom>
          <a:solidFill>
            <a:srgbClr val="E7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1536192"/>
            <a:ext cx="2240280" cy="502920"/>
          </a:xfrm>
          <a:prstGeom prst="rect">
            <a:avLst/>
          </a:prstGeom>
          <a:noFill/>
        </p:spPr>
        <p:txBody>
          <a:bodyPr wrap="square" lIns="0" tIns="0" rIns="0" bIns="0" anchor="t">
            <a:spAutoFit/>
          </a:bodyPr>
          <a:lstStyle/>
          <a:p>
            <a:pPr>
              <a:spcAft>
                <a:spcPts val="800"/>
              </a:spcAft>
            </a:pPr>
            <a:r>
              <a:rPr sz="2400" b="1" i="0">
                <a:solidFill>
                  <a:srgbClr val="2E8B57"/>
                </a:solidFill>
                <a:latin typeface="Calibri"/>
              </a:rPr>
              <a:t>PASS</a:t>
            </a:r>
          </a:p>
        </p:txBody>
      </p:sp>
      <p:sp>
        <p:nvSpPr>
          <p:cNvPr id="6" name="TextBox 5"/>
          <p:cNvSpPr txBox="1"/>
          <p:nvPr/>
        </p:nvSpPr>
        <p:spPr>
          <a:xfrm>
            <a:off x="777240" y="2148840"/>
            <a:ext cx="2240280" cy="795089"/>
          </a:xfrm>
          <a:prstGeom prst="rect">
            <a:avLst/>
          </a:prstGeom>
          <a:noFill/>
        </p:spPr>
        <p:txBody>
          <a:bodyPr wrap="square" lIns="0" tIns="0" rIns="0" bIns="0" anchor="t">
            <a:spAutoFit/>
          </a:bodyPr>
          <a:lstStyle/>
          <a:p>
            <a:pPr>
              <a:spcAft>
                <a:spcPts val="800"/>
              </a:spcAft>
            </a:pPr>
            <a:r>
              <a:rPr sz="1500" b="0" i="0" dirty="0">
                <a:solidFill>
                  <a:srgbClr val="1E2533"/>
                </a:solidFill>
                <a:latin typeface="Calibri"/>
              </a:rPr>
              <a:t>The check held, and the test fails on a broken shops</a:t>
            </a:r>
            <a:endParaRPr lang="vi-VN" sz="1500" b="0" i="0" dirty="0">
              <a:solidFill>
                <a:srgbClr val="1E2533"/>
              </a:solidFill>
              <a:latin typeface="Calibri"/>
            </a:endParaRPr>
          </a:p>
          <a:p>
            <a:pPr>
              <a:spcAft>
                <a:spcPts val="800"/>
              </a:spcAft>
            </a:pPr>
            <a:r>
              <a:rPr lang="vi-VN" sz="1500" dirty="0">
                <a:solidFill>
                  <a:srgbClr val="1E2533"/>
                </a:solidFill>
                <a:latin typeface="Calibri"/>
              </a:rPr>
              <a:t>I</a:t>
            </a:r>
            <a:r>
              <a:rPr sz="1500" b="0" i="0" dirty="0">
                <a:solidFill>
                  <a:srgbClr val="1E2533"/>
                </a:solidFill>
                <a:latin typeface="Calibri"/>
              </a:rPr>
              <a:t>t can catch bugs.</a:t>
            </a:r>
          </a:p>
        </p:txBody>
      </p:sp>
      <p:sp>
        <p:nvSpPr>
          <p:cNvPr id="7" name="TextBox 6"/>
          <p:cNvSpPr txBox="1"/>
          <p:nvPr/>
        </p:nvSpPr>
        <p:spPr>
          <a:xfrm>
            <a:off x="777240" y="3611880"/>
            <a:ext cx="2240280" cy="1005840"/>
          </a:xfrm>
          <a:prstGeom prst="rect">
            <a:avLst/>
          </a:prstGeom>
          <a:noFill/>
        </p:spPr>
        <p:txBody>
          <a:bodyPr wrap="square" lIns="0" tIns="0" rIns="0" bIns="0" anchor="t">
            <a:spAutoFit/>
          </a:bodyPr>
          <a:lstStyle/>
          <a:p>
            <a:pPr>
              <a:spcAft>
                <a:spcPts val="800"/>
              </a:spcAft>
            </a:pPr>
            <a:r>
              <a:rPr sz="1300" b="0" i="1" dirty="0">
                <a:solidFill>
                  <a:srgbClr val="5B6578"/>
                </a:solidFill>
                <a:latin typeface="Calibri"/>
              </a:rPr>
              <a:t>Example: Log in with the right password → the account page opens.</a:t>
            </a:r>
          </a:p>
        </p:txBody>
      </p:sp>
      <p:sp>
        <p:nvSpPr>
          <p:cNvPr id="8" name="TextBox 7"/>
          <p:cNvSpPr txBox="1"/>
          <p:nvPr/>
        </p:nvSpPr>
        <p:spPr>
          <a:xfrm>
            <a:off x="777240" y="4754880"/>
            <a:ext cx="2240280" cy="411480"/>
          </a:xfrm>
          <a:prstGeom prst="rect">
            <a:avLst/>
          </a:prstGeom>
          <a:noFill/>
        </p:spPr>
        <p:txBody>
          <a:bodyPr wrap="square" lIns="0" tIns="0" rIns="0" bIns="0" anchor="t">
            <a:spAutoFit/>
          </a:bodyPr>
          <a:lstStyle/>
          <a:p>
            <a:pPr>
              <a:spcAft>
                <a:spcPts val="800"/>
              </a:spcAft>
            </a:pPr>
            <a:r>
              <a:rPr sz="1600" b="1" i="0">
                <a:solidFill>
                  <a:srgbClr val="2E8B57"/>
                </a:solidFill>
                <a:latin typeface="Calibri"/>
              </a:rPr>
              <a:t>31 in Demo 1</a:t>
            </a:r>
          </a:p>
        </p:txBody>
      </p:sp>
      <p:sp>
        <p:nvSpPr>
          <p:cNvPr id="9" name="Rounded Rectangle 8"/>
          <p:cNvSpPr/>
          <p:nvPr/>
        </p:nvSpPr>
        <p:spPr>
          <a:xfrm>
            <a:off x="3364992" y="1371600"/>
            <a:ext cx="2670048" cy="3977639"/>
          </a:xfrm>
          <a:prstGeom prst="roundRect">
            <a:avLst>
              <a:gd name="adj" fmla="val 6000"/>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593592" y="1536192"/>
            <a:ext cx="2240280" cy="502920"/>
          </a:xfrm>
          <a:prstGeom prst="rect">
            <a:avLst/>
          </a:prstGeom>
          <a:noFill/>
        </p:spPr>
        <p:txBody>
          <a:bodyPr wrap="square" lIns="0" tIns="0" rIns="0" bIns="0" anchor="t">
            <a:spAutoFit/>
          </a:bodyPr>
          <a:lstStyle/>
          <a:p>
            <a:pPr>
              <a:spcAft>
                <a:spcPts val="800"/>
              </a:spcAft>
            </a:pPr>
            <a:r>
              <a:rPr sz="2400" b="1" i="0">
                <a:solidFill>
                  <a:srgbClr val="C8463D"/>
                </a:solidFill>
                <a:latin typeface="Calibri"/>
              </a:rPr>
              <a:t>FAIL</a:t>
            </a:r>
          </a:p>
        </p:txBody>
      </p:sp>
      <p:sp>
        <p:nvSpPr>
          <p:cNvPr id="11" name="TextBox 10"/>
          <p:cNvSpPr txBox="1"/>
          <p:nvPr/>
        </p:nvSpPr>
        <p:spPr>
          <a:xfrm>
            <a:off x="3593592" y="2148840"/>
            <a:ext cx="2240280" cy="795089"/>
          </a:xfrm>
          <a:prstGeom prst="rect">
            <a:avLst/>
          </a:prstGeom>
          <a:noFill/>
        </p:spPr>
        <p:txBody>
          <a:bodyPr wrap="square" lIns="0" tIns="0" rIns="0" bIns="0" anchor="t">
            <a:spAutoFit/>
          </a:bodyPr>
          <a:lstStyle/>
          <a:p>
            <a:pPr>
              <a:spcAft>
                <a:spcPts val="800"/>
              </a:spcAft>
            </a:pPr>
            <a:r>
              <a:rPr sz="1500" b="0" i="0" dirty="0">
                <a:solidFill>
                  <a:srgbClr val="1E2533"/>
                </a:solidFill>
                <a:latin typeface="Calibri"/>
              </a:rPr>
              <a:t>The check did not hold </a:t>
            </a:r>
            <a:endParaRPr lang="vi-VN" sz="1500" b="0" i="0" dirty="0">
              <a:solidFill>
                <a:srgbClr val="1E2533"/>
              </a:solidFill>
              <a:latin typeface="Calibri"/>
            </a:endParaRPr>
          </a:p>
          <a:p>
            <a:pPr>
              <a:spcAft>
                <a:spcPts val="800"/>
              </a:spcAft>
            </a:pPr>
            <a:r>
              <a:rPr lang="vi-VN" sz="1500" dirty="0">
                <a:solidFill>
                  <a:srgbClr val="1E2533"/>
                </a:solidFill>
                <a:latin typeface="Calibri"/>
              </a:rPr>
              <a:t>T</a:t>
            </a:r>
            <a:r>
              <a:rPr sz="1500" b="0" i="0" dirty="0">
                <a:solidFill>
                  <a:srgbClr val="1E2533"/>
                </a:solidFill>
                <a:latin typeface="Calibri"/>
              </a:rPr>
              <a:t>he tool reports a bug in the shop.</a:t>
            </a:r>
          </a:p>
        </p:txBody>
      </p:sp>
      <p:sp>
        <p:nvSpPr>
          <p:cNvPr id="12" name="TextBox 11"/>
          <p:cNvSpPr txBox="1"/>
          <p:nvPr/>
        </p:nvSpPr>
        <p:spPr>
          <a:xfrm>
            <a:off x="3593592" y="3611880"/>
            <a:ext cx="2240280" cy="1005840"/>
          </a:xfrm>
          <a:prstGeom prst="rect">
            <a:avLst/>
          </a:prstGeom>
          <a:noFill/>
        </p:spPr>
        <p:txBody>
          <a:bodyPr wrap="square" lIns="0" tIns="0" rIns="0" bIns="0" anchor="t">
            <a:spAutoFit/>
          </a:bodyPr>
          <a:lstStyle/>
          <a:p>
            <a:pPr>
              <a:spcAft>
                <a:spcPts val="800"/>
              </a:spcAft>
            </a:pPr>
            <a:r>
              <a:rPr sz="1300" b="0" i="1">
                <a:solidFill>
                  <a:srgbClr val="5B6578"/>
                </a:solidFill>
                <a:latin typeface="Calibri"/>
              </a:rPr>
              <a:t>Example: SAVE10 gives €79.00 instead of €80.10.</a:t>
            </a:r>
          </a:p>
        </p:txBody>
      </p:sp>
      <p:sp>
        <p:nvSpPr>
          <p:cNvPr id="13" name="TextBox 12"/>
          <p:cNvSpPr txBox="1"/>
          <p:nvPr/>
        </p:nvSpPr>
        <p:spPr>
          <a:xfrm>
            <a:off x="3593592" y="4754880"/>
            <a:ext cx="2240280" cy="411480"/>
          </a:xfrm>
          <a:prstGeom prst="rect">
            <a:avLst/>
          </a:prstGeom>
          <a:noFill/>
        </p:spPr>
        <p:txBody>
          <a:bodyPr wrap="square" lIns="0" tIns="0" rIns="0" bIns="0" anchor="t">
            <a:spAutoFit/>
          </a:bodyPr>
          <a:lstStyle/>
          <a:p>
            <a:pPr>
              <a:spcAft>
                <a:spcPts val="800"/>
              </a:spcAft>
            </a:pPr>
            <a:r>
              <a:rPr sz="1600" b="1" i="0">
                <a:solidFill>
                  <a:srgbClr val="C8463D"/>
                </a:solidFill>
                <a:latin typeface="Calibri"/>
              </a:rPr>
              <a:t>18 in Demo 1</a:t>
            </a:r>
          </a:p>
        </p:txBody>
      </p:sp>
      <p:sp>
        <p:nvSpPr>
          <p:cNvPr id="14" name="Rounded Rectangle 13"/>
          <p:cNvSpPr/>
          <p:nvPr/>
        </p:nvSpPr>
        <p:spPr>
          <a:xfrm>
            <a:off x="6181344" y="1371600"/>
            <a:ext cx="2670048" cy="3977639"/>
          </a:xfrm>
          <a:prstGeom prst="roundRect">
            <a:avLst>
              <a:gd name="adj" fmla="val 6000"/>
            </a:avLst>
          </a:prstGeom>
          <a:solidFill>
            <a:srgbClr val="FFF4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09944" y="1536192"/>
            <a:ext cx="2240280" cy="502920"/>
          </a:xfrm>
          <a:prstGeom prst="rect">
            <a:avLst/>
          </a:prstGeom>
          <a:noFill/>
        </p:spPr>
        <p:txBody>
          <a:bodyPr wrap="square" lIns="0" tIns="0" rIns="0" bIns="0" anchor="t">
            <a:spAutoFit/>
          </a:bodyPr>
          <a:lstStyle/>
          <a:p>
            <a:pPr>
              <a:spcAft>
                <a:spcPts val="800"/>
              </a:spcAft>
            </a:pPr>
            <a:r>
              <a:rPr sz="2400" b="1" i="0">
                <a:solidFill>
                  <a:srgbClr val="B45309"/>
                </a:solidFill>
                <a:latin typeface="Calibri"/>
              </a:rPr>
              <a:t>REVIEW</a:t>
            </a:r>
          </a:p>
        </p:txBody>
      </p:sp>
      <p:sp>
        <p:nvSpPr>
          <p:cNvPr id="16" name="TextBox 15"/>
          <p:cNvSpPr txBox="1"/>
          <p:nvPr/>
        </p:nvSpPr>
        <p:spPr>
          <a:xfrm>
            <a:off x="6409944" y="2148840"/>
            <a:ext cx="2240280" cy="795089"/>
          </a:xfrm>
          <a:prstGeom prst="rect">
            <a:avLst/>
          </a:prstGeom>
          <a:noFill/>
        </p:spPr>
        <p:txBody>
          <a:bodyPr wrap="square" lIns="0" tIns="0" rIns="0" bIns="0" anchor="t">
            <a:spAutoFit/>
          </a:bodyPr>
          <a:lstStyle/>
          <a:p>
            <a:pPr>
              <a:spcAft>
                <a:spcPts val="800"/>
              </a:spcAft>
            </a:pPr>
            <a:r>
              <a:rPr sz="1500" b="0" i="0" dirty="0">
                <a:solidFill>
                  <a:srgbClr val="1E2533"/>
                </a:solidFill>
                <a:latin typeface="Calibri"/>
              </a:rPr>
              <a:t>The tool does not trust the test</a:t>
            </a:r>
            <a:endParaRPr lang="vi-VN" sz="1500" b="0" i="0" dirty="0">
              <a:solidFill>
                <a:srgbClr val="1E2533"/>
              </a:solidFill>
              <a:latin typeface="Calibri"/>
            </a:endParaRPr>
          </a:p>
          <a:p>
            <a:pPr>
              <a:spcAft>
                <a:spcPts val="800"/>
              </a:spcAft>
            </a:pPr>
            <a:r>
              <a:rPr lang="vi-VN" sz="1500" dirty="0">
                <a:solidFill>
                  <a:srgbClr val="1E2533"/>
                </a:solidFill>
                <a:latin typeface="Calibri"/>
              </a:rPr>
              <a:t>A</a:t>
            </a:r>
            <a:r>
              <a:rPr sz="1500" b="0" i="0" dirty="0">
                <a:solidFill>
                  <a:srgbClr val="1E2533"/>
                </a:solidFill>
                <a:latin typeface="Calibri"/>
              </a:rPr>
              <a:t> person decides.</a:t>
            </a:r>
          </a:p>
        </p:txBody>
      </p:sp>
      <p:sp>
        <p:nvSpPr>
          <p:cNvPr id="17" name="TextBox 16"/>
          <p:cNvSpPr txBox="1"/>
          <p:nvPr/>
        </p:nvSpPr>
        <p:spPr>
          <a:xfrm>
            <a:off x="6409944" y="3611880"/>
            <a:ext cx="2240280" cy="1005840"/>
          </a:xfrm>
          <a:prstGeom prst="rect">
            <a:avLst/>
          </a:prstGeom>
          <a:noFill/>
        </p:spPr>
        <p:txBody>
          <a:bodyPr wrap="square" lIns="0" tIns="0" rIns="0" bIns="0" anchor="t">
            <a:spAutoFit/>
          </a:bodyPr>
          <a:lstStyle/>
          <a:p>
            <a:pPr>
              <a:spcAft>
                <a:spcPts val="800"/>
              </a:spcAft>
            </a:pPr>
            <a:r>
              <a:rPr sz="1300" b="0" i="1" dirty="0">
                <a:solidFill>
                  <a:srgbClr val="5B6578"/>
                </a:solidFill>
                <a:latin typeface="Calibri"/>
              </a:rPr>
              <a:t>Example: A test that passes even on a broken shop: it cannot catch anything.</a:t>
            </a:r>
          </a:p>
        </p:txBody>
      </p:sp>
      <p:sp>
        <p:nvSpPr>
          <p:cNvPr id="18" name="TextBox 17"/>
          <p:cNvSpPr txBox="1"/>
          <p:nvPr/>
        </p:nvSpPr>
        <p:spPr>
          <a:xfrm>
            <a:off x="6409944" y="4754880"/>
            <a:ext cx="2240280" cy="411480"/>
          </a:xfrm>
          <a:prstGeom prst="rect">
            <a:avLst/>
          </a:prstGeom>
          <a:noFill/>
        </p:spPr>
        <p:txBody>
          <a:bodyPr wrap="square" lIns="0" tIns="0" rIns="0" bIns="0" anchor="t">
            <a:spAutoFit/>
          </a:bodyPr>
          <a:lstStyle/>
          <a:p>
            <a:pPr>
              <a:spcAft>
                <a:spcPts val="800"/>
              </a:spcAft>
            </a:pPr>
            <a:r>
              <a:rPr sz="1600" b="1" i="0">
                <a:solidFill>
                  <a:srgbClr val="B45309"/>
                </a:solidFill>
                <a:latin typeface="Calibri"/>
              </a:rPr>
              <a:t>13 in Demo 1</a:t>
            </a:r>
          </a:p>
        </p:txBody>
      </p:sp>
      <p:sp>
        <p:nvSpPr>
          <p:cNvPr id="19" name="Rounded Rectangle 18"/>
          <p:cNvSpPr/>
          <p:nvPr/>
        </p:nvSpPr>
        <p:spPr>
          <a:xfrm>
            <a:off x="8997696" y="1371600"/>
            <a:ext cx="2670048" cy="3977639"/>
          </a:xfrm>
          <a:prstGeom prst="roundRect">
            <a:avLst>
              <a:gd name="adj" fmla="val 6000"/>
            </a:avLst>
          </a:prstGeom>
          <a:solidFill>
            <a:srgbClr val="EFEB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226296" y="1536192"/>
            <a:ext cx="2240280" cy="502920"/>
          </a:xfrm>
          <a:prstGeom prst="rect">
            <a:avLst/>
          </a:prstGeom>
          <a:noFill/>
        </p:spPr>
        <p:txBody>
          <a:bodyPr wrap="square" lIns="0" tIns="0" rIns="0" bIns="0" anchor="t">
            <a:spAutoFit/>
          </a:bodyPr>
          <a:lstStyle/>
          <a:p>
            <a:pPr>
              <a:spcAft>
                <a:spcPts val="800"/>
              </a:spcAft>
            </a:pPr>
            <a:r>
              <a:rPr sz="2400" b="1" i="0">
                <a:solidFill>
                  <a:srgbClr val="6E56CF"/>
                </a:solidFill>
                <a:latin typeface="Calibri"/>
              </a:rPr>
              <a:t>FALSE ALARM</a:t>
            </a:r>
          </a:p>
        </p:txBody>
      </p:sp>
      <p:sp>
        <p:nvSpPr>
          <p:cNvPr id="21" name="TextBox 20"/>
          <p:cNvSpPr txBox="1"/>
          <p:nvPr/>
        </p:nvSpPr>
        <p:spPr>
          <a:xfrm>
            <a:off x="9226296" y="2148840"/>
            <a:ext cx="2240280" cy="1371600"/>
          </a:xfrm>
          <a:prstGeom prst="rect">
            <a:avLst/>
          </a:prstGeom>
          <a:noFill/>
        </p:spPr>
        <p:txBody>
          <a:bodyPr wrap="square" lIns="0" tIns="0" rIns="0" bIns="0" anchor="t">
            <a:spAutoFit/>
          </a:bodyPr>
          <a:lstStyle/>
          <a:p>
            <a:pPr>
              <a:spcAft>
                <a:spcPts val="800"/>
              </a:spcAft>
            </a:pPr>
            <a:r>
              <a:rPr sz="1500" b="0" i="0">
                <a:solidFill>
                  <a:srgbClr val="1E2533"/>
                </a:solidFill>
                <a:latin typeface="Calibri"/>
              </a:rPr>
              <a:t>A FAIL where the mistake is in the AI's test, not in the shop. The tool cannot tell.</a:t>
            </a:r>
          </a:p>
        </p:txBody>
      </p:sp>
      <p:sp>
        <p:nvSpPr>
          <p:cNvPr id="22" name="TextBox 21"/>
          <p:cNvSpPr txBox="1"/>
          <p:nvPr/>
        </p:nvSpPr>
        <p:spPr>
          <a:xfrm>
            <a:off x="9226296" y="3611880"/>
            <a:ext cx="2240280" cy="1005840"/>
          </a:xfrm>
          <a:prstGeom prst="rect">
            <a:avLst/>
          </a:prstGeom>
          <a:noFill/>
        </p:spPr>
        <p:txBody>
          <a:bodyPr wrap="square" lIns="0" tIns="0" rIns="0" bIns="0" anchor="t">
            <a:spAutoFit/>
          </a:bodyPr>
          <a:lstStyle/>
          <a:p>
            <a:pPr>
              <a:spcAft>
                <a:spcPts val="800"/>
              </a:spcAft>
            </a:pPr>
            <a:r>
              <a:rPr sz="1300" b="0" i="1" dirty="0">
                <a:solidFill>
                  <a:srgbClr val="5B6578"/>
                </a:solidFill>
                <a:latin typeface="Calibri"/>
              </a:rPr>
              <a:t>Example: The SAVE10 test that used an empty cart.</a:t>
            </a:r>
          </a:p>
        </p:txBody>
      </p:sp>
      <p:sp>
        <p:nvSpPr>
          <p:cNvPr id="23" name="TextBox 22"/>
          <p:cNvSpPr txBox="1"/>
          <p:nvPr/>
        </p:nvSpPr>
        <p:spPr>
          <a:xfrm>
            <a:off x="9226296" y="4754880"/>
            <a:ext cx="2240280" cy="411480"/>
          </a:xfrm>
          <a:prstGeom prst="rect">
            <a:avLst/>
          </a:prstGeom>
          <a:noFill/>
        </p:spPr>
        <p:txBody>
          <a:bodyPr wrap="square" lIns="0" tIns="0" rIns="0" bIns="0" anchor="t">
            <a:spAutoFit/>
          </a:bodyPr>
          <a:lstStyle/>
          <a:p>
            <a:pPr>
              <a:spcAft>
                <a:spcPts val="800"/>
              </a:spcAft>
            </a:pPr>
            <a:r>
              <a:rPr sz="1600" b="1" i="0">
                <a:solidFill>
                  <a:srgbClr val="6E56CF"/>
                </a:solidFill>
                <a:latin typeface="Calibri"/>
              </a:rPr>
              <a:t>6 of the 18 FAILs</a:t>
            </a:r>
          </a:p>
        </p:txBody>
      </p:sp>
      <p:sp>
        <p:nvSpPr>
          <p:cNvPr id="24" name="TextBox 23"/>
          <p:cNvSpPr txBox="1"/>
          <p:nvPr/>
        </p:nvSpPr>
        <p:spPr>
          <a:xfrm>
            <a:off x="548640" y="5577840"/>
            <a:ext cx="11091672" cy="548640"/>
          </a:xfrm>
          <a:prstGeom prst="rect">
            <a:avLst/>
          </a:prstGeom>
          <a:noFill/>
        </p:spPr>
        <p:txBody>
          <a:bodyPr wrap="square" lIns="0" tIns="0" rIns="0" bIns="0" anchor="t">
            <a:spAutoFit/>
          </a:bodyPr>
          <a:lstStyle/>
          <a:p>
            <a:pPr>
              <a:spcAft>
                <a:spcPts val="800"/>
              </a:spcAft>
            </a:pPr>
            <a:r>
              <a:rPr sz="1400" b="1" i="0" dirty="0">
                <a:solidFill>
                  <a:srgbClr val="13213C"/>
                </a:solidFill>
                <a:latin typeface="Calibri"/>
              </a:rPr>
              <a:t>The tool decides PASS / FAIL / REVIEW by itself. False alarms were found only afterwards, by re-running every FAIL on a shop with the planted bugs removed.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109728"/>
            <a:ext cx="7315200" cy="228600"/>
          </a:xfrm>
          <a:prstGeom prst="rect">
            <a:avLst/>
          </a:prstGeom>
          <a:noFill/>
          <a:ln/>
        </p:spPr>
        <p:txBody>
          <a:bodyPr wrap="square" lIns="0" tIns="0" rIns="0" bIns="0" rtlCol="0" anchor="t"/>
          <a:lstStyle/>
          <a:p>
            <a:pPr marL="0" indent="0">
              <a:buNone/>
            </a:pPr>
            <a:r>
              <a:rPr lang="en-US" sz="1100" b="1" kern="0" spc="100" dirty="0">
                <a:solidFill>
                  <a:srgbClr val="4F46E5"/>
                </a:solidFill>
                <a:latin typeface="Calibri" pitchFamily="34" charset="0"/>
                <a:ea typeface="Calibri" pitchFamily="34" charset="-122"/>
                <a:cs typeface="Calibri" pitchFamily="34" charset="-120"/>
              </a:rPr>
              <a:t>PART A · A CLOSER LOOK</a:t>
            </a:r>
            <a:endParaRPr lang="en-US" sz="1100" dirty="0"/>
          </a:p>
        </p:txBody>
      </p:sp>
      <p:sp>
        <p:nvSpPr>
          <p:cNvPr id="3"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buNone/>
            </a:pPr>
            <a:r>
              <a:rPr lang="en-US" sz="3000" b="1" dirty="0">
                <a:solidFill>
                  <a:srgbClr val="13213C"/>
                </a:solidFill>
                <a:latin typeface="Cambria" pitchFamily="34" charset="0"/>
                <a:ea typeface="Cambria" pitchFamily="34" charset="-122"/>
                <a:cs typeface="Cambria" pitchFamily="34" charset="-120"/>
              </a:rPr>
              <a:t>Inside one wrong test: the SAVE10 discount code</a:t>
            </a:r>
            <a:endParaRPr lang="en-US" sz="3000" dirty="0"/>
          </a:p>
        </p:txBody>
      </p:sp>
      <p:sp>
        <p:nvSpPr>
          <p:cNvPr id="4" name="Text 2"/>
          <p:cNvSpPr txBox="1"/>
          <p:nvPr/>
        </p:nvSpPr>
        <p:spPr>
          <a:xfrm>
            <a:off x="548640" y="1188720"/>
            <a:ext cx="11094415" cy="411480"/>
          </a:xfrm>
          <a:prstGeom prst="rect">
            <a:avLst/>
          </a:prstGeom>
          <a:noFill/>
          <a:ln/>
        </p:spPr>
        <p:txBody>
          <a:bodyPr wrap="square" lIns="0" tIns="0" rIns="0" bIns="0" rtlCol="0" anchor="ctr"/>
          <a:lstStyle/>
          <a:p>
            <a:pPr marL="0" indent="0">
              <a:buNone/>
            </a:pPr>
            <a:r>
              <a:rPr lang="en-US" sz="1500" b="1" dirty="0">
                <a:solidFill>
                  <a:srgbClr val="1E2533"/>
                </a:solidFill>
                <a:latin typeface="Calibri" pitchFamily="34" charset="0"/>
                <a:ea typeface="Calibri" pitchFamily="34" charset="-122"/>
                <a:cs typeface="Calibri" pitchFamily="34" charset="-120"/>
              </a:rPr>
              <a:t>Requirement:  </a:t>
            </a:r>
            <a:r>
              <a:rPr lang="en-US" sz="1500" dirty="0">
                <a:solidFill>
                  <a:srgbClr val="1E2533"/>
                </a:solidFill>
                <a:latin typeface="Calibri" pitchFamily="34" charset="0"/>
                <a:ea typeface="Calibri" pitchFamily="34" charset="-122"/>
                <a:cs typeface="Calibri" pitchFamily="34" charset="-120"/>
              </a:rPr>
              <a:t>“SAVE10 gives 10% off.”</a:t>
            </a:r>
            <a:r>
              <a:rPr lang="en-US" sz="1500" dirty="0">
                <a:solidFill>
                  <a:srgbClr val="5B6578"/>
                </a:solidFill>
                <a:latin typeface="Calibri" pitchFamily="34" charset="0"/>
                <a:ea typeface="Calibri" pitchFamily="34" charset="-122"/>
                <a:cs typeface="Calibri" pitchFamily="34" charset="-120"/>
              </a:rPr>
              <a:t>   Planted bug in the shop: SAVE10 takes off €10 instead.</a:t>
            </a:r>
            <a:endParaRPr lang="en-US" sz="1500" dirty="0"/>
          </a:p>
        </p:txBody>
      </p:sp>
      <p:sp>
        <p:nvSpPr>
          <p:cNvPr id="5" name="Shape 3"/>
          <p:cNvSpPr/>
          <p:nvPr/>
        </p:nvSpPr>
        <p:spPr>
          <a:xfrm>
            <a:off x="548640" y="1783080"/>
            <a:ext cx="5440680" cy="3429000"/>
          </a:xfrm>
          <a:prstGeom prst="roundRect">
            <a:avLst>
              <a:gd name="adj" fmla="val 3200"/>
            </a:avLst>
          </a:prstGeom>
          <a:solidFill>
            <a:srgbClr val="E7F4EC"/>
          </a:solidFill>
          <a:ln w="12700">
            <a:solidFill>
              <a:srgbClr val="E7F4EC"/>
            </a:solidFill>
            <a:prstDash val="solid"/>
          </a:ln>
        </p:spPr>
        <p:txBody>
          <a:bodyPr/>
          <a:lstStyle/>
          <a:p>
            <a:endParaRPr lang="en-US"/>
          </a:p>
        </p:txBody>
      </p:sp>
      <p:sp>
        <p:nvSpPr>
          <p:cNvPr id="6" name="Text 4"/>
          <p:cNvSpPr txBox="1"/>
          <p:nvPr/>
        </p:nvSpPr>
        <p:spPr>
          <a:xfrm>
            <a:off x="822960" y="1892808"/>
            <a:ext cx="4892040" cy="365760"/>
          </a:xfrm>
          <a:prstGeom prst="rect">
            <a:avLst/>
          </a:prstGeom>
          <a:noFill/>
          <a:ln/>
        </p:spPr>
        <p:txBody>
          <a:bodyPr wrap="square" lIns="0" tIns="0" rIns="0" bIns="0" rtlCol="0" anchor="t"/>
          <a:lstStyle/>
          <a:p>
            <a:pPr marL="0" indent="0">
              <a:buNone/>
            </a:pPr>
            <a:r>
              <a:rPr lang="en-US" sz="1800" b="1" dirty="0">
                <a:solidFill>
                  <a:srgbClr val="2E8B57"/>
                </a:solidFill>
                <a:latin typeface="Calibri" pitchFamily="34" charset="0"/>
                <a:ea typeface="Calibri" pitchFamily="34" charset="-122"/>
                <a:cs typeface="Calibri" pitchFamily="34" charset="-120"/>
              </a:rPr>
              <a:t>What a correct test would do</a:t>
            </a:r>
            <a:endParaRPr lang="en-US" sz="1800" dirty="0"/>
          </a:p>
        </p:txBody>
      </p:sp>
      <p:sp>
        <p:nvSpPr>
          <p:cNvPr id="7" name="Shape 5"/>
          <p:cNvSpPr/>
          <p:nvPr/>
        </p:nvSpPr>
        <p:spPr>
          <a:xfrm>
            <a:off x="822960" y="2395728"/>
            <a:ext cx="502920" cy="502920"/>
          </a:xfrm>
          <a:prstGeom prst="ellipse">
            <a:avLst/>
          </a:prstGeom>
          <a:solidFill>
            <a:srgbClr val="2E8B57"/>
          </a:solidFill>
          <a:ln w="12700">
            <a:solidFill>
              <a:srgbClr val="2E8B57"/>
            </a:solidFill>
            <a:prstDash val="solid"/>
          </a:ln>
        </p:spPr>
        <p:txBody>
          <a:bodyPr/>
          <a:lstStyle/>
          <a:p>
            <a:endParaRPr lang="en-US"/>
          </a:p>
        </p:txBody>
      </p:sp>
      <p:pic>
        <p:nvPicPr>
          <p:cNvPr id="8" name="Image 0" descr="preencoded.png"/>
          <p:cNvPicPr>
            <a:picLocks noChangeAspect="1"/>
          </p:cNvPicPr>
          <p:nvPr/>
        </p:nvPicPr>
        <p:blipFill>
          <a:blip r:embed="rId3"/>
          <a:stretch>
            <a:fillRect/>
          </a:stretch>
        </p:blipFill>
        <p:spPr>
          <a:xfrm>
            <a:off x="948690" y="2521458"/>
            <a:ext cx="251460" cy="251460"/>
          </a:xfrm>
          <a:prstGeom prst="rect">
            <a:avLst/>
          </a:prstGeom>
        </p:spPr>
      </p:pic>
      <p:sp>
        <p:nvSpPr>
          <p:cNvPr id="9" name="Text 6"/>
          <p:cNvSpPr txBox="1"/>
          <p:nvPr/>
        </p:nvSpPr>
        <p:spPr>
          <a:xfrm>
            <a:off x="1508760" y="2395728"/>
            <a:ext cx="4251960" cy="502920"/>
          </a:xfrm>
          <a:prstGeom prst="rect">
            <a:avLst/>
          </a:prstGeom>
          <a:noFill/>
          <a:ln/>
        </p:spPr>
        <p:txBody>
          <a:bodyPr wrap="square" lIns="0" tIns="0" rIns="0" bIns="0" rtlCol="0" anchor="ctr"/>
          <a:lstStyle/>
          <a:p>
            <a:pPr marL="0" indent="0">
              <a:buNone/>
            </a:pPr>
            <a:r>
              <a:rPr lang="en-US" sz="1600" dirty="0">
                <a:solidFill>
                  <a:srgbClr val="1E2533"/>
                </a:solidFill>
                <a:latin typeface="Calibri" pitchFamily="34" charset="0"/>
                <a:ea typeface="Calibri" pitchFamily="34" charset="-122"/>
                <a:cs typeface="Calibri" pitchFamily="34" charset="-120"/>
              </a:rPr>
              <a:t>1. Put shoes (€89.00) in the cart</a:t>
            </a:r>
            <a:endParaRPr lang="en-US" sz="1600" dirty="0"/>
          </a:p>
        </p:txBody>
      </p:sp>
      <p:sp>
        <p:nvSpPr>
          <p:cNvPr id="10" name="Shape 7"/>
          <p:cNvSpPr/>
          <p:nvPr/>
        </p:nvSpPr>
        <p:spPr>
          <a:xfrm>
            <a:off x="822960" y="3081528"/>
            <a:ext cx="502920" cy="502920"/>
          </a:xfrm>
          <a:prstGeom prst="ellipse">
            <a:avLst/>
          </a:prstGeom>
          <a:solidFill>
            <a:srgbClr val="2E8B57"/>
          </a:solidFill>
          <a:ln w="12700">
            <a:solidFill>
              <a:srgbClr val="2E8B57"/>
            </a:solidFill>
            <a:prstDash val="solid"/>
          </a:ln>
        </p:spPr>
        <p:txBody>
          <a:bodyPr/>
          <a:lstStyle/>
          <a:p>
            <a:endParaRPr lang="en-US"/>
          </a:p>
        </p:txBody>
      </p:sp>
      <p:pic>
        <p:nvPicPr>
          <p:cNvPr id="11" name="Image 1" descr="preencoded.png"/>
          <p:cNvPicPr>
            <a:picLocks noChangeAspect="1"/>
          </p:cNvPicPr>
          <p:nvPr/>
        </p:nvPicPr>
        <p:blipFill>
          <a:blip r:embed="rId4"/>
          <a:stretch>
            <a:fillRect/>
          </a:stretch>
        </p:blipFill>
        <p:spPr>
          <a:xfrm>
            <a:off x="948690" y="3207258"/>
            <a:ext cx="251460" cy="251460"/>
          </a:xfrm>
          <a:prstGeom prst="rect">
            <a:avLst/>
          </a:prstGeom>
        </p:spPr>
      </p:pic>
      <p:sp>
        <p:nvSpPr>
          <p:cNvPr id="12" name="Text 8"/>
          <p:cNvSpPr txBox="1"/>
          <p:nvPr/>
        </p:nvSpPr>
        <p:spPr>
          <a:xfrm>
            <a:off x="1508760" y="3081528"/>
            <a:ext cx="4251960" cy="502920"/>
          </a:xfrm>
          <a:prstGeom prst="rect">
            <a:avLst/>
          </a:prstGeom>
          <a:noFill/>
          <a:ln/>
        </p:spPr>
        <p:txBody>
          <a:bodyPr wrap="square" lIns="0" tIns="0" rIns="0" bIns="0" rtlCol="0" anchor="ctr"/>
          <a:lstStyle/>
          <a:p>
            <a:pPr marL="0" indent="0">
              <a:buNone/>
            </a:pPr>
            <a:r>
              <a:rPr lang="en-US" sz="1600" dirty="0">
                <a:solidFill>
                  <a:srgbClr val="1E2533"/>
                </a:solidFill>
                <a:latin typeface="Calibri" pitchFamily="34" charset="0"/>
                <a:ea typeface="Calibri" pitchFamily="34" charset="-122"/>
                <a:cs typeface="Calibri" pitchFamily="34" charset="-120"/>
              </a:rPr>
              <a:t>2. Enter the code SAVE10</a:t>
            </a:r>
            <a:endParaRPr lang="en-US" sz="1600" dirty="0"/>
          </a:p>
        </p:txBody>
      </p:sp>
      <p:sp>
        <p:nvSpPr>
          <p:cNvPr id="13" name="Shape 9"/>
          <p:cNvSpPr/>
          <p:nvPr/>
        </p:nvSpPr>
        <p:spPr>
          <a:xfrm>
            <a:off x="822960" y="3767328"/>
            <a:ext cx="502920" cy="502920"/>
          </a:xfrm>
          <a:prstGeom prst="ellipse">
            <a:avLst/>
          </a:prstGeom>
          <a:solidFill>
            <a:srgbClr val="2E8B57"/>
          </a:solidFill>
          <a:ln w="12700">
            <a:solidFill>
              <a:srgbClr val="2E8B57"/>
            </a:solidFill>
            <a:prstDash val="solid"/>
          </a:ln>
        </p:spPr>
        <p:txBody>
          <a:bodyPr/>
          <a:lstStyle/>
          <a:p>
            <a:endParaRPr lang="en-US"/>
          </a:p>
        </p:txBody>
      </p:sp>
      <p:pic>
        <p:nvPicPr>
          <p:cNvPr id="14" name="Image 2" descr="preencoded.png"/>
          <p:cNvPicPr>
            <a:picLocks noChangeAspect="1"/>
          </p:cNvPicPr>
          <p:nvPr/>
        </p:nvPicPr>
        <p:blipFill>
          <a:blip r:embed="rId5"/>
          <a:stretch>
            <a:fillRect/>
          </a:stretch>
        </p:blipFill>
        <p:spPr>
          <a:xfrm>
            <a:off x="948690" y="3893058"/>
            <a:ext cx="251460" cy="251460"/>
          </a:xfrm>
          <a:prstGeom prst="rect">
            <a:avLst/>
          </a:prstGeom>
        </p:spPr>
      </p:pic>
      <p:sp>
        <p:nvSpPr>
          <p:cNvPr id="15" name="Text 10"/>
          <p:cNvSpPr txBox="1"/>
          <p:nvPr/>
        </p:nvSpPr>
        <p:spPr>
          <a:xfrm>
            <a:off x="1508760" y="3767328"/>
            <a:ext cx="4251960" cy="502920"/>
          </a:xfrm>
          <a:prstGeom prst="rect">
            <a:avLst/>
          </a:prstGeom>
          <a:noFill/>
          <a:ln/>
        </p:spPr>
        <p:txBody>
          <a:bodyPr wrap="square" lIns="0" tIns="0" rIns="0" bIns="0" rtlCol="0" anchor="ctr"/>
          <a:lstStyle/>
          <a:p>
            <a:pPr marL="0" indent="0">
              <a:buNone/>
            </a:pPr>
            <a:r>
              <a:rPr lang="en-US" sz="1600" dirty="0">
                <a:solidFill>
                  <a:srgbClr val="1E2533"/>
                </a:solidFill>
                <a:latin typeface="Calibri" pitchFamily="34" charset="0"/>
                <a:ea typeface="Calibri" pitchFamily="34" charset="-122"/>
                <a:cs typeface="Calibri" pitchFamily="34" charset="-120"/>
              </a:rPr>
              <a:t>3. Expect €80.10 → sees €79.00</a:t>
            </a:r>
            <a:endParaRPr lang="en-US" sz="1600" dirty="0"/>
          </a:p>
        </p:txBody>
      </p:sp>
      <p:sp>
        <p:nvSpPr>
          <p:cNvPr id="16" name="Shape 11"/>
          <p:cNvSpPr/>
          <p:nvPr/>
        </p:nvSpPr>
        <p:spPr>
          <a:xfrm>
            <a:off x="822960" y="4526280"/>
            <a:ext cx="4892040" cy="502920"/>
          </a:xfrm>
          <a:prstGeom prst="roundRect">
            <a:avLst>
              <a:gd name="adj" fmla="val 14545"/>
            </a:avLst>
          </a:prstGeom>
          <a:solidFill>
            <a:srgbClr val="FFFFFF"/>
          </a:solidFill>
          <a:ln w="19050">
            <a:solidFill>
              <a:srgbClr val="2E8B57"/>
            </a:solidFill>
            <a:prstDash val="solid"/>
          </a:ln>
        </p:spPr>
        <p:txBody>
          <a:bodyPr/>
          <a:lstStyle/>
          <a:p>
            <a:endParaRPr lang="en-US"/>
          </a:p>
        </p:txBody>
      </p:sp>
      <p:sp>
        <p:nvSpPr>
          <p:cNvPr id="17" name="Text 12"/>
          <p:cNvSpPr txBox="1"/>
          <p:nvPr/>
        </p:nvSpPr>
        <p:spPr>
          <a:xfrm>
            <a:off x="960120" y="4526280"/>
            <a:ext cx="4617720" cy="502920"/>
          </a:xfrm>
          <a:prstGeom prst="rect">
            <a:avLst/>
          </a:prstGeom>
          <a:noFill/>
          <a:ln/>
        </p:spPr>
        <p:txBody>
          <a:bodyPr wrap="square" lIns="0" tIns="0" rIns="0" bIns="0" rtlCol="0" anchor="ctr"/>
          <a:lstStyle/>
          <a:p>
            <a:pPr marL="0" indent="0">
              <a:buNone/>
            </a:pPr>
            <a:r>
              <a:rPr lang="en-US" sz="1500" b="1" dirty="0">
                <a:solidFill>
                  <a:srgbClr val="2E8B57"/>
                </a:solidFill>
                <a:latin typeface="Calibri" pitchFamily="34" charset="0"/>
                <a:ea typeface="Calibri" pitchFamily="34" charset="-122"/>
                <a:cs typeface="Calibri" pitchFamily="34" charset="-120"/>
              </a:rPr>
              <a:t>FAIL → the real discount bug is found</a:t>
            </a:r>
            <a:endParaRPr lang="en-US" sz="1500" dirty="0"/>
          </a:p>
        </p:txBody>
      </p:sp>
      <p:sp>
        <p:nvSpPr>
          <p:cNvPr id="18" name="Shape 13"/>
          <p:cNvSpPr/>
          <p:nvPr/>
        </p:nvSpPr>
        <p:spPr>
          <a:xfrm>
            <a:off x="6190488" y="1783080"/>
            <a:ext cx="5440680" cy="3429000"/>
          </a:xfrm>
          <a:prstGeom prst="roundRect">
            <a:avLst>
              <a:gd name="adj" fmla="val 3200"/>
            </a:avLst>
          </a:prstGeom>
          <a:solidFill>
            <a:srgbClr val="FDECEA"/>
          </a:solidFill>
          <a:ln w="12700">
            <a:solidFill>
              <a:srgbClr val="FDECEA"/>
            </a:solidFill>
            <a:prstDash val="solid"/>
          </a:ln>
        </p:spPr>
        <p:txBody>
          <a:bodyPr/>
          <a:lstStyle/>
          <a:p>
            <a:endParaRPr lang="en-US"/>
          </a:p>
        </p:txBody>
      </p:sp>
      <p:sp>
        <p:nvSpPr>
          <p:cNvPr id="19" name="Text 14"/>
          <p:cNvSpPr txBox="1"/>
          <p:nvPr/>
        </p:nvSpPr>
        <p:spPr>
          <a:xfrm>
            <a:off x="6464808" y="1892808"/>
            <a:ext cx="4892040" cy="365760"/>
          </a:xfrm>
          <a:prstGeom prst="rect">
            <a:avLst/>
          </a:prstGeom>
          <a:noFill/>
          <a:ln/>
        </p:spPr>
        <p:txBody>
          <a:bodyPr wrap="square" lIns="0" tIns="0" rIns="0" bIns="0" rtlCol="0" anchor="t"/>
          <a:lstStyle/>
          <a:p>
            <a:pPr marL="0" indent="0">
              <a:buNone/>
            </a:pPr>
            <a:r>
              <a:rPr lang="en-US" sz="1800" b="1" dirty="0">
                <a:solidFill>
                  <a:srgbClr val="C8463D"/>
                </a:solidFill>
                <a:latin typeface="Calibri" pitchFamily="34" charset="0"/>
                <a:ea typeface="Calibri" pitchFamily="34" charset="-122"/>
                <a:cs typeface="Calibri" pitchFamily="34" charset="-120"/>
              </a:rPr>
              <a:t>What the AI's test did</a:t>
            </a:r>
            <a:endParaRPr lang="en-US" sz="1800" dirty="0"/>
          </a:p>
        </p:txBody>
      </p:sp>
      <p:sp>
        <p:nvSpPr>
          <p:cNvPr id="20" name="Shape 15"/>
          <p:cNvSpPr/>
          <p:nvPr/>
        </p:nvSpPr>
        <p:spPr>
          <a:xfrm>
            <a:off x="6464808" y="2395728"/>
            <a:ext cx="502920" cy="502920"/>
          </a:xfrm>
          <a:prstGeom prst="ellipse">
            <a:avLst/>
          </a:prstGeom>
          <a:solidFill>
            <a:srgbClr val="C8463D"/>
          </a:solidFill>
          <a:ln w="12700">
            <a:solidFill>
              <a:srgbClr val="C8463D"/>
            </a:solidFill>
            <a:prstDash val="solid"/>
          </a:ln>
        </p:spPr>
        <p:txBody>
          <a:bodyPr/>
          <a:lstStyle/>
          <a:p>
            <a:endParaRPr lang="en-US"/>
          </a:p>
        </p:txBody>
      </p:sp>
      <p:pic>
        <p:nvPicPr>
          <p:cNvPr id="21" name="Image 3" descr="preencoded.png"/>
          <p:cNvPicPr>
            <a:picLocks noChangeAspect="1"/>
          </p:cNvPicPr>
          <p:nvPr/>
        </p:nvPicPr>
        <p:blipFill>
          <a:blip r:embed="rId6"/>
          <a:stretch>
            <a:fillRect/>
          </a:stretch>
        </p:blipFill>
        <p:spPr>
          <a:xfrm>
            <a:off x="6590538" y="2521458"/>
            <a:ext cx="251460" cy="251460"/>
          </a:xfrm>
          <a:prstGeom prst="rect">
            <a:avLst/>
          </a:prstGeom>
        </p:spPr>
      </p:pic>
      <p:sp>
        <p:nvSpPr>
          <p:cNvPr id="22" name="Text 16"/>
          <p:cNvSpPr txBox="1"/>
          <p:nvPr/>
        </p:nvSpPr>
        <p:spPr>
          <a:xfrm>
            <a:off x="7150608" y="2395728"/>
            <a:ext cx="4251960" cy="502920"/>
          </a:xfrm>
          <a:prstGeom prst="rect">
            <a:avLst/>
          </a:prstGeom>
          <a:noFill/>
          <a:ln/>
        </p:spPr>
        <p:txBody>
          <a:bodyPr wrap="square" lIns="0" tIns="0" rIns="0" bIns="0" rtlCol="0" anchor="ctr"/>
          <a:lstStyle/>
          <a:p>
            <a:pPr marL="0" indent="0">
              <a:buNone/>
            </a:pPr>
            <a:r>
              <a:rPr lang="en-US" sz="1600" dirty="0">
                <a:solidFill>
                  <a:srgbClr val="1E2533"/>
                </a:solidFill>
                <a:latin typeface="Calibri" pitchFamily="34" charset="0"/>
                <a:ea typeface="Calibri" pitchFamily="34" charset="-122"/>
                <a:cs typeface="Calibri" pitchFamily="34" charset="-120"/>
              </a:rPr>
              <a:t>1. Opened the cart directly — it was empty</a:t>
            </a:r>
            <a:endParaRPr lang="en-US" sz="1600" dirty="0"/>
          </a:p>
        </p:txBody>
      </p:sp>
      <p:sp>
        <p:nvSpPr>
          <p:cNvPr id="23" name="Shape 17"/>
          <p:cNvSpPr/>
          <p:nvPr/>
        </p:nvSpPr>
        <p:spPr>
          <a:xfrm>
            <a:off x="6464808" y="3081528"/>
            <a:ext cx="502920" cy="502920"/>
          </a:xfrm>
          <a:prstGeom prst="ellipse">
            <a:avLst/>
          </a:prstGeom>
          <a:solidFill>
            <a:srgbClr val="C8463D"/>
          </a:solidFill>
          <a:ln w="12700">
            <a:solidFill>
              <a:srgbClr val="C8463D"/>
            </a:solidFill>
            <a:prstDash val="solid"/>
          </a:ln>
        </p:spPr>
        <p:txBody>
          <a:bodyPr/>
          <a:lstStyle/>
          <a:p>
            <a:endParaRPr lang="en-US"/>
          </a:p>
        </p:txBody>
      </p:sp>
      <p:pic>
        <p:nvPicPr>
          <p:cNvPr id="24" name="Image 4" descr="preencoded.png"/>
          <p:cNvPicPr>
            <a:picLocks noChangeAspect="1"/>
          </p:cNvPicPr>
          <p:nvPr/>
        </p:nvPicPr>
        <p:blipFill>
          <a:blip r:embed="rId4"/>
          <a:stretch>
            <a:fillRect/>
          </a:stretch>
        </p:blipFill>
        <p:spPr>
          <a:xfrm>
            <a:off x="6590538" y="3207258"/>
            <a:ext cx="251460" cy="251460"/>
          </a:xfrm>
          <a:prstGeom prst="rect">
            <a:avLst/>
          </a:prstGeom>
        </p:spPr>
      </p:pic>
      <p:sp>
        <p:nvSpPr>
          <p:cNvPr id="25" name="Text 18"/>
          <p:cNvSpPr txBox="1"/>
          <p:nvPr/>
        </p:nvSpPr>
        <p:spPr>
          <a:xfrm>
            <a:off x="7150608" y="3081528"/>
            <a:ext cx="4251960" cy="502920"/>
          </a:xfrm>
          <a:prstGeom prst="rect">
            <a:avLst/>
          </a:prstGeom>
          <a:noFill/>
          <a:ln/>
        </p:spPr>
        <p:txBody>
          <a:bodyPr wrap="square" lIns="0" tIns="0" rIns="0" bIns="0" rtlCol="0" anchor="ctr"/>
          <a:lstStyle/>
          <a:p>
            <a:pPr marL="0" indent="0">
              <a:buNone/>
            </a:pPr>
            <a:r>
              <a:rPr lang="en-US" sz="1600" dirty="0">
                <a:solidFill>
                  <a:srgbClr val="1E2533"/>
                </a:solidFill>
                <a:latin typeface="Calibri" pitchFamily="34" charset="0"/>
                <a:ea typeface="Calibri" pitchFamily="34" charset="-122"/>
                <a:cs typeface="Calibri" pitchFamily="34" charset="-120"/>
              </a:rPr>
              <a:t>2. Never reached the discount</a:t>
            </a:r>
            <a:endParaRPr lang="en-US" sz="1600" dirty="0"/>
          </a:p>
        </p:txBody>
      </p:sp>
      <p:sp>
        <p:nvSpPr>
          <p:cNvPr id="26" name="Shape 19"/>
          <p:cNvSpPr/>
          <p:nvPr/>
        </p:nvSpPr>
        <p:spPr>
          <a:xfrm>
            <a:off x="6464808" y="3767328"/>
            <a:ext cx="502920" cy="502920"/>
          </a:xfrm>
          <a:prstGeom prst="ellipse">
            <a:avLst/>
          </a:prstGeom>
          <a:solidFill>
            <a:srgbClr val="C8463D"/>
          </a:solidFill>
          <a:ln w="12700">
            <a:solidFill>
              <a:srgbClr val="C8463D"/>
            </a:solidFill>
            <a:prstDash val="solid"/>
          </a:ln>
        </p:spPr>
        <p:txBody>
          <a:bodyPr/>
          <a:lstStyle/>
          <a:p>
            <a:endParaRPr lang="en-US"/>
          </a:p>
        </p:txBody>
      </p:sp>
      <p:pic>
        <p:nvPicPr>
          <p:cNvPr id="27" name="Image 5" descr="preencoded.png"/>
          <p:cNvPicPr>
            <a:picLocks noChangeAspect="1"/>
          </p:cNvPicPr>
          <p:nvPr/>
        </p:nvPicPr>
        <p:blipFill>
          <a:blip r:embed="rId5"/>
          <a:stretch>
            <a:fillRect/>
          </a:stretch>
        </p:blipFill>
        <p:spPr>
          <a:xfrm>
            <a:off x="6590538" y="3893058"/>
            <a:ext cx="251460" cy="251460"/>
          </a:xfrm>
          <a:prstGeom prst="rect">
            <a:avLst/>
          </a:prstGeom>
        </p:spPr>
      </p:pic>
      <p:sp>
        <p:nvSpPr>
          <p:cNvPr id="28" name="Text 20"/>
          <p:cNvSpPr txBox="1"/>
          <p:nvPr/>
        </p:nvSpPr>
        <p:spPr>
          <a:xfrm>
            <a:off x="7150608" y="3767328"/>
            <a:ext cx="4251960" cy="502920"/>
          </a:xfrm>
          <a:prstGeom prst="rect">
            <a:avLst/>
          </a:prstGeom>
          <a:noFill/>
          <a:ln/>
        </p:spPr>
        <p:txBody>
          <a:bodyPr wrap="square" lIns="0" tIns="0" rIns="0" bIns="0" rtlCol="0" anchor="ctr"/>
          <a:lstStyle/>
          <a:p>
            <a:pPr marL="0" indent="0">
              <a:buNone/>
            </a:pPr>
            <a:r>
              <a:rPr lang="en-US" sz="1600" dirty="0">
                <a:solidFill>
                  <a:srgbClr val="1E2533"/>
                </a:solidFill>
                <a:latin typeface="Calibri" pitchFamily="34" charset="0"/>
                <a:ea typeface="Calibri" pitchFamily="34" charset="-122"/>
                <a:cs typeface="Calibri" pitchFamily="34" charset="-120"/>
              </a:rPr>
              <a:t>3. Saw €0.00 → stopped</a:t>
            </a:r>
            <a:endParaRPr lang="en-US" sz="1600" dirty="0"/>
          </a:p>
        </p:txBody>
      </p:sp>
      <p:sp>
        <p:nvSpPr>
          <p:cNvPr id="29" name="Shape 21"/>
          <p:cNvSpPr/>
          <p:nvPr/>
        </p:nvSpPr>
        <p:spPr>
          <a:xfrm>
            <a:off x="6464808" y="4526280"/>
            <a:ext cx="4892040" cy="502920"/>
          </a:xfrm>
          <a:prstGeom prst="roundRect">
            <a:avLst>
              <a:gd name="adj" fmla="val 14545"/>
            </a:avLst>
          </a:prstGeom>
          <a:solidFill>
            <a:srgbClr val="FFFFFF"/>
          </a:solidFill>
          <a:ln w="19050">
            <a:solidFill>
              <a:srgbClr val="C8463D"/>
            </a:solidFill>
            <a:prstDash val="solid"/>
          </a:ln>
        </p:spPr>
        <p:txBody>
          <a:bodyPr/>
          <a:lstStyle/>
          <a:p>
            <a:endParaRPr lang="en-US"/>
          </a:p>
        </p:txBody>
      </p:sp>
      <p:sp>
        <p:nvSpPr>
          <p:cNvPr id="30" name="Text 22"/>
          <p:cNvSpPr txBox="1"/>
          <p:nvPr/>
        </p:nvSpPr>
        <p:spPr>
          <a:xfrm>
            <a:off x="6601968" y="4526280"/>
            <a:ext cx="4617720" cy="502920"/>
          </a:xfrm>
          <a:prstGeom prst="rect">
            <a:avLst/>
          </a:prstGeom>
          <a:noFill/>
          <a:ln/>
        </p:spPr>
        <p:txBody>
          <a:bodyPr wrap="square" lIns="0" tIns="0" rIns="0" bIns="0" rtlCol="0" anchor="ctr"/>
          <a:lstStyle/>
          <a:p>
            <a:pPr marL="0" indent="0">
              <a:buNone/>
            </a:pPr>
            <a:r>
              <a:rPr lang="en-US" sz="1500" b="1" dirty="0">
                <a:solidFill>
                  <a:srgbClr val="C8463D"/>
                </a:solidFill>
                <a:latin typeface="Calibri" pitchFamily="34" charset="0"/>
                <a:ea typeface="Calibri" pitchFamily="34" charset="-122"/>
                <a:cs typeface="Calibri" pitchFamily="34" charset="-120"/>
              </a:rPr>
              <a:t>FAIL → reported as a bug, but the bug is in the test</a:t>
            </a:r>
            <a:endParaRPr lang="en-US" sz="1500" dirty="0"/>
          </a:p>
        </p:txBody>
      </p:sp>
      <p:sp>
        <p:nvSpPr>
          <p:cNvPr id="31" name="Text 23"/>
          <p:cNvSpPr txBox="1"/>
          <p:nvPr/>
        </p:nvSpPr>
        <p:spPr>
          <a:xfrm>
            <a:off x="548640" y="5394960"/>
            <a:ext cx="11094415" cy="548640"/>
          </a:xfrm>
          <a:prstGeom prst="rect">
            <a:avLst/>
          </a:prstGeom>
          <a:noFill/>
          <a:ln/>
        </p:spPr>
        <p:txBody>
          <a:bodyPr wrap="square" lIns="0" tIns="0" rIns="0" bIns="0" rtlCol="0" anchor="t"/>
          <a:lstStyle/>
          <a:p>
            <a:pPr marL="0" indent="0">
              <a:buNone/>
            </a:pPr>
            <a:r>
              <a:rPr lang="en-US" sz="1400" b="1" dirty="0">
                <a:solidFill>
                  <a:srgbClr val="1E2533"/>
                </a:solidFill>
                <a:latin typeface="Calibri" pitchFamily="34" charset="0"/>
                <a:ea typeface="Calibri" pitchFamily="34" charset="-122"/>
                <a:cs typeface="Calibri" pitchFamily="34" charset="-120"/>
              </a:rPr>
              <a:t>Same for privacy: </a:t>
            </a:r>
            <a:r>
              <a:rPr lang="en-US" sz="1400" dirty="0">
                <a:solidFill>
                  <a:srgbClr val="1E2533"/>
                </a:solidFill>
                <a:latin typeface="Calibri" pitchFamily="34" charset="0"/>
                <a:ea typeface="Calibri" pitchFamily="34" charset="-122"/>
                <a:cs typeface="Calibri" pitchFamily="34" charset="-120"/>
              </a:rPr>
              <a:t>the test logged in the wrong way, so the real data leak was never checked.</a:t>
            </a:r>
            <a:endParaRPr lang="en-US" sz="1400" dirty="0"/>
          </a:p>
        </p:txBody>
      </p:sp>
      <p:sp>
        <p:nvSpPr>
          <p:cNvPr id="32"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578"/>
                </a:solidFill>
                <a:latin typeface="Calibri"/>
                <a:ea typeface="Calibri"/>
                <a:cs typeface="Calibri"/>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109728"/>
            <a:ext cx="7315200" cy="228600"/>
          </a:xfrm>
          <a:prstGeom prst="rect">
            <a:avLst/>
          </a:prstGeom>
          <a:noFill/>
          <a:ln/>
        </p:spPr>
        <p:txBody>
          <a:bodyPr wrap="square" lIns="0" tIns="0" rIns="0" bIns="0" rtlCol="0" anchor="t"/>
          <a:lstStyle/>
          <a:p>
            <a:pPr marL="0" indent="0">
              <a:buNone/>
            </a:pPr>
            <a:r>
              <a:rPr lang="en-US" sz="1100" b="1" kern="0" spc="100" dirty="0">
                <a:solidFill>
                  <a:srgbClr val="4F46E5"/>
                </a:solidFill>
                <a:latin typeface="Calibri" pitchFamily="34" charset="0"/>
                <a:ea typeface="Calibri" pitchFamily="34" charset="-122"/>
                <a:cs typeface="Calibri" pitchFamily="34" charset="-120"/>
              </a:rPr>
              <a:t>PART A · WHY THE RULES MISS IT</a:t>
            </a:r>
            <a:endParaRPr lang="en-US" sz="1100" dirty="0"/>
          </a:p>
        </p:txBody>
      </p:sp>
      <p:sp>
        <p:nvSpPr>
          <p:cNvPr id="3"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buNone/>
            </a:pPr>
            <a:r>
              <a:rPr lang="en-US" sz="3000" b="1" dirty="0">
                <a:solidFill>
                  <a:srgbClr val="13213C"/>
                </a:solidFill>
                <a:latin typeface="Cambria" pitchFamily="34" charset="0"/>
                <a:ea typeface="Cambria" pitchFamily="34" charset="-122"/>
                <a:cs typeface="Cambria" pitchFamily="34" charset="-120"/>
              </a:rPr>
              <a:t>The rules check the form of a test, not its meaning</a:t>
            </a:r>
            <a:endParaRPr lang="en-US" sz="3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6766560" cy="2962656"/>
        </p:xfrm>
        <a:graphic>
          <a:graphicData uri="http://schemas.openxmlformats.org/drawingml/2006/table">
            <a:tbl>
              <a:tblPr/>
              <a:tblGrid>
                <a:gridCol w="192024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tblGrid>
              <a:tr h="566928">
                <a:tc>
                  <a:txBody>
                    <a:bodyPr/>
                    <a:lstStyle/>
                    <a:p>
                      <a:pPr marL="0" indent="0">
                        <a:buNone/>
                      </a:pPr>
                      <a:r>
                        <a:rPr lang="en-US" sz="1400" b="1" dirty="0">
                          <a:solidFill>
                            <a:srgbClr val="FFFFFF"/>
                          </a:solidFill>
                        </a:rPr>
                        <a:t>Trust rule in QA-Flow</a:t>
                      </a:r>
                      <a:endParaRPr lang="en-US" sz="1400" dirty="0"/>
                    </a:p>
                  </a:txBody>
                  <a:tcPr marT="91440" marB="91440" anchor="ctr">
                    <a:lnL w="9525" cap="flat" cmpd="sng" algn="ctr">
                      <a:solidFill>
                        <a:srgbClr val="DDE3EC"/>
                      </a:solidFill>
                      <a:prstDash val="solid"/>
                      <a:round/>
                      <a:headEnd type="none" w="med" len="med"/>
                      <a:tailEnd type="none" w="med" len="med"/>
                    </a:lnL>
                    <a:lnR w="9525" cap="flat" cmpd="sng" algn="ctr">
                      <a:solidFill>
                        <a:srgbClr val="DDE3EC"/>
                      </a:solidFill>
                      <a:prstDash val="solid"/>
                      <a:round/>
                      <a:headEnd type="none" w="med" len="med"/>
                      <a:tailEnd type="none" w="med" len="med"/>
                    </a:lnR>
                    <a:lnT w="9525" cap="flat" cmpd="sng" algn="ctr">
                      <a:solidFill>
                        <a:srgbClr val="DDE3EC"/>
                      </a:solidFill>
                      <a:prstDash val="solid"/>
                      <a:round/>
                      <a:headEnd type="none" w="med" len="med"/>
                      <a:tailEnd type="none" w="med" len="med"/>
                    </a:lnT>
                    <a:lnB w="9525" cap="flat" cmpd="sng" algn="ctr">
                      <a:solidFill>
                        <a:srgbClr val="DDE3EC"/>
                      </a:solidFill>
                      <a:prstDash val="solid"/>
                      <a:round/>
                      <a:headEnd type="none" w="med" len="med"/>
                      <a:tailEnd type="none" w="med" len="med"/>
                    </a:lnB>
                    <a:solidFill>
                      <a:srgbClr val="13213C"/>
                    </a:solidFill>
                  </a:tcPr>
                </a:tc>
                <a:tc>
                  <a:txBody>
                    <a:bodyPr/>
                    <a:lstStyle/>
                    <a:p>
                      <a:pPr marL="0" indent="0">
                        <a:buNone/>
                      </a:pPr>
                      <a:r>
                        <a:rPr lang="en-US" sz="1400" b="1" dirty="0">
                          <a:solidFill>
                            <a:srgbClr val="FFFFFF"/>
                          </a:solidFill>
                        </a:rPr>
                        <a:t>What it checks</a:t>
                      </a:r>
                      <a:endParaRPr lang="en-US" sz="1400" dirty="0"/>
                    </a:p>
                  </a:txBody>
                  <a:tcPr marT="91440" marB="91440" anchor="ctr">
                    <a:lnL w="9525" cap="flat" cmpd="sng" algn="ctr">
                      <a:solidFill>
                        <a:srgbClr val="DDE3EC"/>
                      </a:solidFill>
                      <a:prstDash val="solid"/>
                      <a:round/>
                      <a:headEnd type="none" w="med" len="med"/>
                      <a:tailEnd type="none" w="med" len="med"/>
                    </a:lnL>
                    <a:lnR w="9525" cap="flat" cmpd="sng" algn="ctr">
                      <a:solidFill>
                        <a:srgbClr val="DDE3EC"/>
                      </a:solidFill>
                      <a:prstDash val="solid"/>
                      <a:round/>
                      <a:headEnd type="none" w="med" len="med"/>
                      <a:tailEnd type="none" w="med" len="med"/>
                    </a:lnR>
                    <a:lnT w="9525" cap="flat" cmpd="sng" algn="ctr">
                      <a:solidFill>
                        <a:srgbClr val="DDE3EC"/>
                      </a:solidFill>
                      <a:prstDash val="solid"/>
                      <a:round/>
                      <a:headEnd type="none" w="med" len="med"/>
                      <a:tailEnd type="none" w="med" len="med"/>
                    </a:lnT>
                    <a:lnB w="9525" cap="flat" cmpd="sng" algn="ctr">
                      <a:solidFill>
                        <a:srgbClr val="DDE3EC"/>
                      </a:solidFill>
                      <a:prstDash val="solid"/>
                      <a:round/>
                      <a:headEnd type="none" w="med" len="med"/>
                      <a:tailEnd type="none" w="med" len="med"/>
                    </a:lnB>
                    <a:solidFill>
                      <a:srgbClr val="13213C"/>
                    </a:solidFill>
                  </a:tcPr>
                </a:tc>
                <a:tc>
                  <a:txBody>
                    <a:bodyPr/>
                    <a:lstStyle/>
                    <a:p>
                      <a:pPr marL="0" indent="0">
                        <a:buNone/>
                      </a:pPr>
                      <a:r>
                        <a:rPr lang="en-US" sz="1400" b="1" dirty="0">
                          <a:solidFill>
                            <a:srgbClr val="FFFFFF"/>
                          </a:solidFill>
                        </a:rPr>
                        <a:t>The wrong SAVE10 test</a:t>
                      </a:r>
                      <a:endParaRPr lang="en-US" sz="1400" dirty="0"/>
                    </a:p>
                  </a:txBody>
                  <a:tcPr marT="91440" marB="91440" anchor="ctr">
                    <a:lnL w="9525" cap="flat" cmpd="sng" algn="ctr">
                      <a:solidFill>
                        <a:srgbClr val="DDE3EC"/>
                      </a:solidFill>
                      <a:prstDash val="solid"/>
                      <a:round/>
                      <a:headEnd type="none" w="med" len="med"/>
                      <a:tailEnd type="none" w="med" len="med"/>
                    </a:lnL>
                    <a:lnR w="9525" cap="flat" cmpd="sng" algn="ctr">
                      <a:solidFill>
                        <a:srgbClr val="DDE3EC"/>
                      </a:solidFill>
                      <a:prstDash val="solid"/>
                      <a:round/>
                      <a:headEnd type="none" w="med" len="med"/>
                      <a:tailEnd type="none" w="med" len="med"/>
                    </a:lnR>
                    <a:lnT w="9525" cap="flat" cmpd="sng" algn="ctr">
                      <a:solidFill>
                        <a:srgbClr val="DDE3EC"/>
                      </a:solidFill>
                      <a:prstDash val="solid"/>
                      <a:round/>
                      <a:headEnd type="none" w="med" len="med"/>
                      <a:tailEnd type="none" w="med" len="med"/>
                    </a:lnT>
                    <a:lnB w="9525" cap="flat" cmpd="sng" algn="ctr">
                      <a:solidFill>
                        <a:srgbClr val="DDE3EC"/>
                      </a:solidFill>
                      <a:prstDash val="solid"/>
                      <a:round/>
                      <a:headEnd type="none" w="med" len="med"/>
                      <a:tailEnd type="none" w="med" len="med"/>
                    </a:lnB>
                    <a:solidFill>
                      <a:srgbClr val="13213C"/>
                    </a:solidFill>
                  </a:tcPr>
                </a:tc>
                <a:extLst>
                  <a:ext uri="{0D108BD9-81ED-4DB2-BD59-A6C34878D82A}">
                    <a16:rowId xmlns:a16="http://schemas.microsoft.com/office/drawing/2014/main" val="10000"/>
                  </a:ext>
                </a:extLst>
              </a:tr>
              <a:tr h="566928">
                <a:tc>
                  <a:txBody>
                    <a:bodyPr/>
                    <a:lstStyle/>
                    <a:p>
                      <a:pPr marL="0" indent="0">
                        <a:buNone/>
                      </a:pPr>
                      <a:r>
                        <a:rPr lang="en-US" sz="1400" b="1" dirty="0">
                          <a:solidFill>
                            <a:srgbClr val="13213C"/>
                          </a:solidFill>
                        </a:rPr>
                        <a:t>Schema check</a:t>
                      </a:r>
                      <a:endParaRPr lang="en-US" sz="1400" dirty="0"/>
                    </a:p>
                  </a:txBody>
                  <a:tcPr marT="91440" marB="91440" anchor="ctr">
                    <a:lnL w="9525" cap="flat" cmpd="sng" algn="ctr">
                      <a:solidFill>
                        <a:srgbClr val="DDE3EC"/>
                      </a:solidFill>
                      <a:prstDash val="solid"/>
                      <a:round/>
                      <a:headEnd type="none" w="med" len="med"/>
                      <a:tailEnd type="none" w="med" len="med"/>
                    </a:lnL>
                    <a:lnR w="9525" cap="flat" cmpd="sng" algn="ctr">
                      <a:solidFill>
                        <a:srgbClr val="DDE3EC"/>
                      </a:solidFill>
                      <a:prstDash val="solid"/>
                      <a:round/>
                      <a:headEnd type="none" w="med" len="med"/>
                      <a:tailEnd type="none" w="med" len="med"/>
                    </a:lnR>
                    <a:lnT w="9525" cap="flat" cmpd="sng" algn="ctr">
                      <a:solidFill>
                        <a:srgbClr val="DDE3EC"/>
                      </a:solidFill>
                      <a:prstDash val="solid"/>
                      <a:round/>
                      <a:headEnd type="none" w="med" len="med"/>
                      <a:tailEnd type="none" w="med" len="med"/>
                    </a:lnT>
                    <a:lnB w="9525" cap="flat" cmpd="sng" algn="ctr">
                      <a:solidFill>
                        <a:srgbClr val="DDE3EC"/>
                      </a:solidFill>
                      <a:prstDash val="solid"/>
                      <a:round/>
                      <a:headEnd type="none" w="med" len="med"/>
                      <a:tailEnd type="none" w="med" len="med"/>
                    </a:lnB>
                    <a:solidFill>
                      <a:srgbClr val="F2F5F9"/>
                    </a:solidFill>
                  </a:tcPr>
                </a:tc>
                <a:tc>
                  <a:txBody>
                    <a:bodyPr/>
                    <a:lstStyle/>
                    <a:p>
                      <a:pPr marL="0" indent="0">
                        <a:buNone/>
                      </a:pPr>
                      <a:r>
                        <a:rPr lang="en-US" sz="1400" dirty="0">
                          <a:solidFill>
                            <a:srgbClr val="1E2533"/>
                          </a:solidFill>
                        </a:rPr>
                        <a:t>The AI's answer has the right format</a:t>
                      </a:r>
                      <a:endParaRPr lang="en-US" sz="1400" dirty="0"/>
                    </a:p>
                  </a:txBody>
                  <a:tcPr marT="91440" marB="91440" anchor="ctr">
                    <a:lnL w="9525" cap="flat" cmpd="sng" algn="ctr">
                      <a:solidFill>
                        <a:srgbClr val="DDE3EC"/>
                      </a:solidFill>
                      <a:prstDash val="solid"/>
                      <a:round/>
                      <a:headEnd type="none" w="med" len="med"/>
                      <a:tailEnd type="none" w="med" len="med"/>
                    </a:lnL>
                    <a:lnR w="9525" cap="flat" cmpd="sng" algn="ctr">
                      <a:solidFill>
                        <a:srgbClr val="DDE3EC"/>
                      </a:solidFill>
                      <a:prstDash val="solid"/>
                      <a:round/>
                      <a:headEnd type="none" w="med" len="med"/>
                      <a:tailEnd type="none" w="med" len="med"/>
                    </a:lnR>
                    <a:lnT w="9525" cap="flat" cmpd="sng" algn="ctr">
                      <a:solidFill>
                        <a:srgbClr val="DDE3EC"/>
                      </a:solidFill>
                      <a:prstDash val="solid"/>
                      <a:round/>
                      <a:headEnd type="none" w="med" len="med"/>
                      <a:tailEnd type="none" w="med" len="med"/>
                    </a:lnT>
                    <a:lnB w="9525" cap="flat" cmpd="sng" algn="ctr">
                      <a:solidFill>
                        <a:srgbClr val="DDE3EC"/>
                      </a:solidFill>
                      <a:prstDash val="solid"/>
                      <a:round/>
                      <a:headEnd type="none" w="med" len="med"/>
                      <a:tailEnd type="none" w="med" len="med"/>
                    </a:lnB>
                    <a:solidFill>
                      <a:srgbClr val="F2F5F9"/>
                    </a:solidFill>
                  </a:tcPr>
                </a:tc>
                <a:tc>
                  <a:txBody>
                    <a:bodyPr/>
                    <a:lstStyle/>
                    <a:p>
                      <a:pPr marL="0" indent="0">
                        <a:buNone/>
                      </a:pPr>
                      <a:r>
                        <a:rPr lang="en-US" sz="1400" b="1" dirty="0">
                          <a:solidFill>
                            <a:srgbClr val="2E8B57"/>
                          </a:solidFill>
                        </a:rPr>
                        <a:t>✓ passed</a:t>
                      </a:r>
                      <a:endParaRPr lang="en-US" sz="1400" dirty="0"/>
                    </a:p>
                  </a:txBody>
                  <a:tcPr marT="91440" marB="91440" anchor="ctr">
                    <a:lnL w="9525" cap="flat" cmpd="sng" algn="ctr">
                      <a:solidFill>
                        <a:srgbClr val="DDE3EC"/>
                      </a:solidFill>
                      <a:prstDash val="solid"/>
                      <a:round/>
                      <a:headEnd type="none" w="med" len="med"/>
                      <a:tailEnd type="none" w="med" len="med"/>
                    </a:lnL>
                    <a:lnR w="9525" cap="flat" cmpd="sng" algn="ctr">
                      <a:solidFill>
                        <a:srgbClr val="DDE3EC"/>
                      </a:solidFill>
                      <a:prstDash val="solid"/>
                      <a:round/>
                      <a:headEnd type="none" w="med" len="med"/>
                      <a:tailEnd type="none" w="med" len="med"/>
                    </a:lnR>
                    <a:lnT w="9525" cap="flat" cmpd="sng" algn="ctr">
                      <a:solidFill>
                        <a:srgbClr val="DDE3EC"/>
                      </a:solidFill>
                      <a:prstDash val="solid"/>
                      <a:round/>
                      <a:headEnd type="none" w="med" len="med"/>
                      <a:tailEnd type="none" w="med" len="med"/>
                    </a:lnT>
                    <a:lnB w="9525" cap="flat" cmpd="sng" algn="ctr">
                      <a:solidFill>
                        <a:srgbClr val="DDE3EC"/>
                      </a:solidFill>
                      <a:prstDash val="solid"/>
                      <a:round/>
                      <a:headEnd type="none" w="med" len="med"/>
                      <a:tailEnd type="none" w="med" len="med"/>
                    </a:lnB>
                    <a:solidFill>
                      <a:srgbClr val="F2F5F9"/>
                    </a:solidFill>
                  </a:tcPr>
                </a:tc>
                <a:extLst>
                  <a:ext uri="{0D108BD9-81ED-4DB2-BD59-A6C34878D82A}">
                    <a16:rowId xmlns:a16="http://schemas.microsoft.com/office/drawing/2014/main" val="10001"/>
                  </a:ext>
                </a:extLst>
              </a:tr>
              <a:tr h="566928">
                <a:tc>
                  <a:txBody>
                    <a:bodyPr/>
                    <a:lstStyle/>
                    <a:p>
                      <a:pPr marL="0" indent="0">
                        <a:buNone/>
                      </a:pPr>
                      <a:r>
                        <a:rPr lang="en-US" sz="1400" b="1" dirty="0">
                          <a:solidFill>
                            <a:srgbClr val="13213C"/>
                          </a:solidFill>
                        </a:rPr>
                        <a:t>Grounding check</a:t>
                      </a:r>
                      <a:endParaRPr lang="en-US" sz="1400" dirty="0"/>
                    </a:p>
                  </a:txBody>
                  <a:tcPr marT="91440" marB="91440" anchor="ctr">
                    <a:lnL w="9525" cap="flat" cmpd="sng" algn="ctr">
                      <a:solidFill>
                        <a:srgbClr val="DDE3EC"/>
                      </a:solidFill>
                      <a:prstDash val="solid"/>
                      <a:round/>
                      <a:headEnd type="none" w="med" len="med"/>
                      <a:tailEnd type="none" w="med" len="med"/>
                    </a:lnL>
                    <a:lnR w="9525" cap="flat" cmpd="sng" algn="ctr">
                      <a:solidFill>
                        <a:srgbClr val="DDE3EC"/>
                      </a:solidFill>
                      <a:prstDash val="solid"/>
                      <a:round/>
                      <a:headEnd type="none" w="med" len="med"/>
                      <a:tailEnd type="none" w="med" len="med"/>
                    </a:lnR>
                    <a:lnT w="9525" cap="flat" cmpd="sng" algn="ctr">
                      <a:solidFill>
                        <a:srgbClr val="DDE3EC"/>
                      </a:solidFill>
                      <a:prstDash val="solid"/>
                      <a:round/>
                      <a:headEnd type="none" w="med" len="med"/>
                      <a:tailEnd type="none" w="med" len="med"/>
                    </a:lnT>
                    <a:lnB w="9525" cap="flat" cmpd="sng" algn="ctr">
                      <a:solidFill>
                        <a:srgbClr val="DDE3EC"/>
                      </a:solidFill>
                      <a:prstDash val="solid"/>
                      <a:round/>
                      <a:headEnd type="none" w="med" len="med"/>
                      <a:tailEnd type="none" w="med" len="med"/>
                    </a:lnB>
                    <a:solidFill>
                      <a:srgbClr val="FFFFFF"/>
                    </a:solidFill>
                  </a:tcPr>
                </a:tc>
                <a:tc>
                  <a:txBody>
                    <a:bodyPr/>
                    <a:lstStyle/>
                    <a:p>
                      <a:pPr marL="0" indent="0">
                        <a:buNone/>
                      </a:pPr>
                      <a:r>
                        <a:rPr lang="en-US" sz="1400" dirty="0">
                          <a:solidFill>
                            <a:srgbClr val="1E2533"/>
                          </a:solidFill>
                        </a:rPr>
                        <a:t>Pages and fields exist; the quote matches the document</a:t>
                      </a:r>
                      <a:endParaRPr lang="en-US" sz="1400" dirty="0"/>
                    </a:p>
                  </a:txBody>
                  <a:tcPr marT="91440" marB="91440" anchor="ctr">
                    <a:lnL w="9525" cap="flat" cmpd="sng" algn="ctr">
                      <a:solidFill>
                        <a:srgbClr val="DDE3EC"/>
                      </a:solidFill>
                      <a:prstDash val="solid"/>
                      <a:round/>
                      <a:headEnd type="none" w="med" len="med"/>
                      <a:tailEnd type="none" w="med" len="med"/>
                    </a:lnL>
                    <a:lnR w="9525" cap="flat" cmpd="sng" algn="ctr">
                      <a:solidFill>
                        <a:srgbClr val="DDE3EC"/>
                      </a:solidFill>
                      <a:prstDash val="solid"/>
                      <a:round/>
                      <a:headEnd type="none" w="med" len="med"/>
                      <a:tailEnd type="none" w="med" len="med"/>
                    </a:lnR>
                    <a:lnT w="9525" cap="flat" cmpd="sng" algn="ctr">
                      <a:solidFill>
                        <a:srgbClr val="DDE3EC"/>
                      </a:solidFill>
                      <a:prstDash val="solid"/>
                      <a:round/>
                      <a:headEnd type="none" w="med" len="med"/>
                      <a:tailEnd type="none" w="med" len="med"/>
                    </a:lnT>
                    <a:lnB w="9525" cap="flat" cmpd="sng" algn="ctr">
                      <a:solidFill>
                        <a:srgbClr val="DDE3EC"/>
                      </a:solidFill>
                      <a:prstDash val="solid"/>
                      <a:round/>
                      <a:headEnd type="none" w="med" len="med"/>
                      <a:tailEnd type="none" w="med" len="med"/>
                    </a:lnB>
                    <a:solidFill>
                      <a:srgbClr val="FFFFFF"/>
                    </a:solidFill>
                  </a:tcPr>
                </a:tc>
                <a:tc>
                  <a:txBody>
                    <a:bodyPr/>
                    <a:lstStyle/>
                    <a:p>
                      <a:pPr marL="0" indent="0">
                        <a:buNone/>
                      </a:pPr>
                      <a:r>
                        <a:rPr lang="en-US" sz="1400" b="1" dirty="0">
                          <a:solidFill>
                            <a:srgbClr val="2E8B57"/>
                          </a:solidFill>
                        </a:rPr>
                        <a:t>✓ passed</a:t>
                      </a:r>
                      <a:endParaRPr lang="en-US" sz="1400" dirty="0"/>
                    </a:p>
                  </a:txBody>
                  <a:tcPr marT="91440" marB="91440" anchor="ctr">
                    <a:lnL w="9525" cap="flat" cmpd="sng" algn="ctr">
                      <a:solidFill>
                        <a:srgbClr val="DDE3EC"/>
                      </a:solidFill>
                      <a:prstDash val="solid"/>
                      <a:round/>
                      <a:headEnd type="none" w="med" len="med"/>
                      <a:tailEnd type="none" w="med" len="med"/>
                    </a:lnL>
                    <a:lnR w="9525" cap="flat" cmpd="sng" algn="ctr">
                      <a:solidFill>
                        <a:srgbClr val="DDE3EC"/>
                      </a:solidFill>
                      <a:prstDash val="solid"/>
                      <a:round/>
                      <a:headEnd type="none" w="med" len="med"/>
                      <a:tailEnd type="none" w="med" len="med"/>
                    </a:lnR>
                    <a:lnT w="9525" cap="flat" cmpd="sng" algn="ctr">
                      <a:solidFill>
                        <a:srgbClr val="DDE3EC"/>
                      </a:solidFill>
                      <a:prstDash val="solid"/>
                      <a:round/>
                      <a:headEnd type="none" w="med" len="med"/>
                      <a:tailEnd type="none" w="med" len="med"/>
                    </a:lnT>
                    <a:lnB w="9525" cap="flat" cmpd="sng" algn="ctr">
                      <a:solidFill>
                        <a:srgbClr val="DDE3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400" b="1" dirty="0">
                          <a:solidFill>
                            <a:srgbClr val="13213C"/>
                          </a:solidFill>
                        </a:rPr>
                        <a:t>NEEDS REVIEW flag</a:t>
                      </a:r>
                      <a:endParaRPr lang="en-US" sz="1400" dirty="0"/>
                    </a:p>
                  </a:txBody>
                  <a:tcPr marT="91440" marB="91440" anchor="ctr">
                    <a:lnL w="9525" cap="flat" cmpd="sng" algn="ctr">
                      <a:solidFill>
                        <a:srgbClr val="DDE3EC"/>
                      </a:solidFill>
                      <a:prstDash val="solid"/>
                      <a:round/>
                      <a:headEnd type="none" w="med" len="med"/>
                      <a:tailEnd type="none" w="med" len="med"/>
                    </a:lnL>
                    <a:lnR w="9525" cap="flat" cmpd="sng" algn="ctr">
                      <a:solidFill>
                        <a:srgbClr val="DDE3EC"/>
                      </a:solidFill>
                      <a:prstDash val="solid"/>
                      <a:round/>
                      <a:headEnd type="none" w="med" len="med"/>
                      <a:tailEnd type="none" w="med" len="med"/>
                    </a:lnR>
                    <a:lnT w="9525" cap="flat" cmpd="sng" algn="ctr">
                      <a:solidFill>
                        <a:srgbClr val="DDE3EC"/>
                      </a:solidFill>
                      <a:prstDash val="solid"/>
                      <a:round/>
                      <a:headEnd type="none" w="med" len="med"/>
                      <a:tailEnd type="none" w="med" len="med"/>
                    </a:lnT>
                    <a:lnB w="9525" cap="flat" cmpd="sng" algn="ctr">
                      <a:solidFill>
                        <a:srgbClr val="DDE3EC"/>
                      </a:solidFill>
                      <a:prstDash val="solid"/>
                      <a:round/>
                      <a:headEnd type="none" w="med" len="med"/>
                      <a:tailEnd type="none" w="med" len="med"/>
                    </a:lnB>
                    <a:solidFill>
                      <a:srgbClr val="F2F5F9"/>
                    </a:solidFill>
                  </a:tcPr>
                </a:tc>
                <a:tc>
                  <a:txBody>
                    <a:bodyPr/>
                    <a:lstStyle/>
                    <a:p>
                      <a:pPr marL="0" indent="0">
                        <a:buNone/>
                      </a:pPr>
                      <a:r>
                        <a:rPr lang="en-US" sz="1400" dirty="0">
                          <a:solidFill>
                            <a:srgbClr val="1E2533"/>
                          </a:solidFill>
                        </a:rPr>
                        <a:t>Tests with no source go to a person</a:t>
                      </a:r>
                      <a:endParaRPr lang="en-US" sz="1400" dirty="0"/>
                    </a:p>
                  </a:txBody>
                  <a:tcPr marT="91440" marB="91440" anchor="ctr">
                    <a:lnL w="9525" cap="flat" cmpd="sng" algn="ctr">
                      <a:solidFill>
                        <a:srgbClr val="DDE3EC"/>
                      </a:solidFill>
                      <a:prstDash val="solid"/>
                      <a:round/>
                      <a:headEnd type="none" w="med" len="med"/>
                      <a:tailEnd type="none" w="med" len="med"/>
                    </a:lnL>
                    <a:lnR w="9525" cap="flat" cmpd="sng" algn="ctr">
                      <a:solidFill>
                        <a:srgbClr val="DDE3EC"/>
                      </a:solidFill>
                      <a:prstDash val="solid"/>
                      <a:round/>
                      <a:headEnd type="none" w="med" len="med"/>
                      <a:tailEnd type="none" w="med" len="med"/>
                    </a:lnR>
                    <a:lnT w="9525" cap="flat" cmpd="sng" algn="ctr">
                      <a:solidFill>
                        <a:srgbClr val="DDE3EC"/>
                      </a:solidFill>
                      <a:prstDash val="solid"/>
                      <a:round/>
                      <a:headEnd type="none" w="med" len="med"/>
                      <a:tailEnd type="none" w="med" len="med"/>
                    </a:lnT>
                    <a:lnB w="9525" cap="flat" cmpd="sng" algn="ctr">
                      <a:solidFill>
                        <a:srgbClr val="DDE3EC"/>
                      </a:solidFill>
                      <a:prstDash val="solid"/>
                      <a:round/>
                      <a:headEnd type="none" w="med" len="med"/>
                      <a:tailEnd type="none" w="med" len="med"/>
                    </a:lnB>
                    <a:solidFill>
                      <a:srgbClr val="F2F5F9"/>
                    </a:solidFill>
                  </a:tcPr>
                </a:tc>
                <a:tc>
                  <a:txBody>
                    <a:bodyPr/>
                    <a:lstStyle/>
                    <a:p>
                      <a:pPr marL="0" indent="0">
                        <a:buNone/>
                      </a:pPr>
                      <a:r>
                        <a:rPr lang="en-US" sz="1400" b="1" dirty="0">
                          <a:solidFill>
                            <a:srgbClr val="2E8B57"/>
                          </a:solidFill>
                        </a:rPr>
                        <a:t>✓ not flagged</a:t>
                      </a:r>
                      <a:endParaRPr lang="en-US" sz="1400" dirty="0"/>
                    </a:p>
                  </a:txBody>
                  <a:tcPr marT="91440" marB="91440" anchor="ctr">
                    <a:lnL w="9525" cap="flat" cmpd="sng" algn="ctr">
                      <a:solidFill>
                        <a:srgbClr val="DDE3EC"/>
                      </a:solidFill>
                      <a:prstDash val="solid"/>
                      <a:round/>
                      <a:headEnd type="none" w="med" len="med"/>
                      <a:tailEnd type="none" w="med" len="med"/>
                    </a:lnL>
                    <a:lnR w="9525" cap="flat" cmpd="sng" algn="ctr">
                      <a:solidFill>
                        <a:srgbClr val="DDE3EC"/>
                      </a:solidFill>
                      <a:prstDash val="solid"/>
                      <a:round/>
                      <a:headEnd type="none" w="med" len="med"/>
                      <a:tailEnd type="none" w="med" len="med"/>
                    </a:lnR>
                    <a:lnT w="9525" cap="flat" cmpd="sng" algn="ctr">
                      <a:solidFill>
                        <a:srgbClr val="DDE3EC"/>
                      </a:solidFill>
                      <a:prstDash val="solid"/>
                      <a:round/>
                      <a:headEnd type="none" w="med" len="med"/>
                      <a:tailEnd type="none" w="med" len="med"/>
                    </a:lnT>
                    <a:lnB w="9525" cap="flat" cmpd="sng" algn="ctr">
                      <a:solidFill>
                        <a:srgbClr val="DDE3EC"/>
                      </a:solidFill>
                      <a:prstDash val="solid"/>
                      <a:round/>
                      <a:headEnd type="none" w="med" len="med"/>
                      <a:tailEnd type="none" w="med" len="med"/>
                    </a:lnB>
                    <a:solidFill>
                      <a:srgbClr val="F2F5F9"/>
                    </a:solidFill>
                  </a:tcPr>
                </a:tc>
                <a:extLst>
                  <a:ext uri="{0D108BD9-81ED-4DB2-BD59-A6C34878D82A}">
                    <a16:rowId xmlns:a16="http://schemas.microsoft.com/office/drawing/2014/main" val="10003"/>
                  </a:ext>
                </a:extLst>
              </a:tr>
              <a:tr h="566928">
                <a:tc>
                  <a:txBody>
                    <a:bodyPr/>
                    <a:lstStyle/>
                    <a:p>
                      <a:pPr marL="0" indent="0">
                        <a:buNone/>
                      </a:pPr>
                      <a:r>
                        <a:rPr lang="en-US" sz="1400" b="1" dirty="0">
                          <a:solidFill>
                            <a:srgbClr val="13213C"/>
                          </a:solidFill>
                        </a:rPr>
                        <a:t>Fault-injection gate</a:t>
                      </a:r>
                      <a:endParaRPr lang="en-US" sz="1400" dirty="0"/>
                    </a:p>
                  </a:txBody>
                  <a:tcPr marT="91440" marB="91440" anchor="ctr">
                    <a:lnL w="9525" cap="flat" cmpd="sng" algn="ctr">
                      <a:solidFill>
                        <a:srgbClr val="DDE3EC"/>
                      </a:solidFill>
                      <a:prstDash val="solid"/>
                      <a:round/>
                      <a:headEnd type="none" w="med" len="med"/>
                      <a:tailEnd type="none" w="med" len="med"/>
                    </a:lnL>
                    <a:lnR w="9525" cap="flat" cmpd="sng" algn="ctr">
                      <a:solidFill>
                        <a:srgbClr val="DDE3EC"/>
                      </a:solidFill>
                      <a:prstDash val="solid"/>
                      <a:round/>
                      <a:headEnd type="none" w="med" len="med"/>
                      <a:tailEnd type="none" w="med" len="med"/>
                    </a:lnR>
                    <a:lnT w="9525" cap="flat" cmpd="sng" algn="ctr">
                      <a:solidFill>
                        <a:srgbClr val="DDE3EC"/>
                      </a:solidFill>
                      <a:prstDash val="solid"/>
                      <a:round/>
                      <a:headEnd type="none" w="med" len="med"/>
                      <a:tailEnd type="none" w="med" len="med"/>
                    </a:lnT>
                    <a:lnB w="9525" cap="flat" cmpd="sng" algn="ctr">
                      <a:solidFill>
                        <a:srgbClr val="DDE3EC"/>
                      </a:solidFill>
                      <a:prstDash val="solid"/>
                      <a:round/>
                      <a:headEnd type="none" w="med" len="med"/>
                      <a:tailEnd type="none" w="med" len="med"/>
                    </a:lnB>
                    <a:solidFill>
                      <a:srgbClr val="FFFFFF"/>
                    </a:solidFill>
                  </a:tcPr>
                </a:tc>
                <a:tc>
                  <a:txBody>
                    <a:bodyPr/>
                    <a:lstStyle/>
                    <a:p>
                      <a:pPr marL="0" indent="0">
                        <a:buNone/>
                      </a:pPr>
                      <a:r>
                        <a:rPr lang="en-US" sz="1400" dirty="0">
                          <a:solidFill>
                            <a:srgbClr val="1E2533"/>
                          </a:solidFill>
                        </a:rPr>
                        <a:t>A passing test must fail on a broken shop</a:t>
                      </a:r>
                      <a:endParaRPr lang="en-US" sz="1400" dirty="0"/>
                    </a:p>
                  </a:txBody>
                  <a:tcPr marT="91440" marB="91440" anchor="ctr">
                    <a:lnL w="9525" cap="flat" cmpd="sng" algn="ctr">
                      <a:solidFill>
                        <a:srgbClr val="DDE3EC"/>
                      </a:solidFill>
                      <a:prstDash val="solid"/>
                      <a:round/>
                      <a:headEnd type="none" w="med" len="med"/>
                      <a:tailEnd type="none" w="med" len="med"/>
                    </a:lnL>
                    <a:lnR w="9525" cap="flat" cmpd="sng" algn="ctr">
                      <a:solidFill>
                        <a:srgbClr val="DDE3EC"/>
                      </a:solidFill>
                      <a:prstDash val="solid"/>
                      <a:round/>
                      <a:headEnd type="none" w="med" len="med"/>
                      <a:tailEnd type="none" w="med" len="med"/>
                    </a:lnR>
                    <a:lnT w="9525" cap="flat" cmpd="sng" algn="ctr">
                      <a:solidFill>
                        <a:srgbClr val="DDE3EC"/>
                      </a:solidFill>
                      <a:prstDash val="solid"/>
                      <a:round/>
                      <a:headEnd type="none" w="med" len="med"/>
                      <a:tailEnd type="none" w="med" len="med"/>
                    </a:lnT>
                    <a:lnB w="9525" cap="flat" cmpd="sng" algn="ctr">
                      <a:solidFill>
                        <a:srgbClr val="DDE3EC"/>
                      </a:solidFill>
                      <a:prstDash val="solid"/>
                      <a:round/>
                      <a:headEnd type="none" w="med" len="med"/>
                      <a:tailEnd type="none" w="med" len="med"/>
                    </a:lnB>
                    <a:solidFill>
                      <a:srgbClr val="FFFFFF"/>
                    </a:solidFill>
                  </a:tcPr>
                </a:tc>
                <a:tc>
                  <a:txBody>
                    <a:bodyPr/>
                    <a:lstStyle/>
                    <a:p>
                      <a:pPr marL="0" indent="0">
                        <a:buNone/>
                      </a:pPr>
                      <a:r>
                        <a:rPr lang="en-US" sz="1400" b="1" dirty="0">
                          <a:solidFill>
                            <a:srgbClr val="5B6578"/>
                          </a:solidFill>
                        </a:rPr>
                        <a:t>– skipped (the test failed)</a:t>
                      </a:r>
                      <a:endParaRPr lang="en-US" sz="1400" dirty="0"/>
                    </a:p>
                  </a:txBody>
                  <a:tcPr marT="91440" marB="91440" anchor="ctr">
                    <a:lnL w="9525" cap="flat" cmpd="sng" algn="ctr">
                      <a:solidFill>
                        <a:srgbClr val="DDE3EC"/>
                      </a:solidFill>
                      <a:prstDash val="solid"/>
                      <a:round/>
                      <a:headEnd type="none" w="med" len="med"/>
                      <a:tailEnd type="none" w="med" len="med"/>
                    </a:lnL>
                    <a:lnR w="9525" cap="flat" cmpd="sng" algn="ctr">
                      <a:solidFill>
                        <a:srgbClr val="DDE3EC"/>
                      </a:solidFill>
                      <a:prstDash val="solid"/>
                      <a:round/>
                      <a:headEnd type="none" w="med" len="med"/>
                      <a:tailEnd type="none" w="med" len="med"/>
                    </a:lnR>
                    <a:lnT w="9525" cap="flat" cmpd="sng" algn="ctr">
                      <a:solidFill>
                        <a:srgbClr val="DDE3EC"/>
                      </a:solidFill>
                      <a:prstDash val="solid"/>
                      <a:round/>
                      <a:headEnd type="none" w="med" len="med"/>
                      <a:tailEnd type="none" w="med" len="med"/>
                    </a:lnT>
                    <a:lnB w="9525" cap="flat" cmpd="sng" algn="ctr">
                      <a:solidFill>
                        <a:srgbClr val="DDE3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Text 2"/>
          <p:cNvSpPr txBox="1"/>
          <p:nvPr/>
        </p:nvSpPr>
        <p:spPr>
          <a:xfrm>
            <a:off x="548640" y="4553712"/>
            <a:ext cx="6766560" cy="411480"/>
          </a:xfrm>
          <a:prstGeom prst="rect">
            <a:avLst/>
          </a:prstGeom>
          <a:noFill/>
          <a:ln/>
        </p:spPr>
        <p:txBody>
          <a:bodyPr wrap="square" lIns="0" tIns="0" rIns="0" bIns="0" rtlCol="0" anchor="t"/>
          <a:lstStyle/>
          <a:p>
            <a:pPr marL="0" indent="0">
              <a:buNone/>
            </a:pPr>
            <a:r>
              <a:rPr lang="en-US" sz="1700" b="1" dirty="0">
                <a:solidFill>
                  <a:srgbClr val="C8463D"/>
                </a:solidFill>
                <a:latin typeface="Calibri" pitchFamily="34" charset="0"/>
                <a:ea typeface="Calibri" pitchFamily="34" charset="-122"/>
                <a:cs typeface="Calibri" pitchFamily="34" charset="-120"/>
              </a:rPr>
              <a:t>No rule asks: does this test really test the requirement?</a:t>
            </a:r>
            <a:endParaRPr lang="en-US" sz="1700" dirty="0"/>
          </a:p>
        </p:txBody>
      </p:sp>
      <p:sp>
        <p:nvSpPr>
          <p:cNvPr id="6" name="Text 3"/>
          <p:cNvSpPr txBox="1"/>
          <p:nvPr/>
        </p:nvSpPr>
        <p:spPr>
          <a:xfrm>
            <a:off x="548640" y="4983480"/>
            <a:ext cx="6766560" cy="320040"/>
          </a:xfrm>
          <a:prstGeom prst="rect">
            <a:avLst/>
          </a:prstGeom>
          <a:noFill/>
          <a:ln/>
        </p:spPr>
        <p:txBody>
          <a:bodyPr wrap="square" lIns="0" tIns="0" rIns="0" bIns="0" rtlCol="0" anchor="t"/>
          <a:lstStyle/>
          <a:p>
            <a:pPr marL="0" indent="0">
              <a:buNone/>
            </a:pPr>
            <a:r>
              <a:rPr lang="en-US" sz="1400" dirty="0">
                <a:solidFill>
                  <a:srgbClr val="1E2533"/>
                </a:solidFill>
                <a:latin typeface="Calibri" pitchFamily="34" charset="0"/>
                <a:ea typeface="Calibri" pitchFamily="34" charset="-122"/>
                <a:cs typeface="Calibri" pitchFamily="34" charset="-120"/>
              </a:rPr>
              <a:t>Three ways a test can be wrong:</a:t>
            </a:r>
            <a:endParaRPr lang="en-US" sz="1400" dirty="0"/>
          </a:p>
        </p:txBody>
      </p:sp>
      <p:sp>
        <p:nvSpPr>
          <p:cNvPr id="7" name="Shape 4"/>
          <p:cNvSpPr/>
          <p:nvPr/>
        </p:nvSpPr>
        <p:spPr>
          <a:xfrm>
            <a:off x="548640" y="5349240"/>
            <a:ext cx="2148840" cy="438912"/>
          </a:xfrm>
          <a:prstGeom prst="rect">
            <a:avLst/>
          </a:prstGeom>
          <a:solidFill>
            <a:srgbClr val="FDECEA"/>
          </a:solidFill>
          <a:ln w="12700">
            <a:solidFill>
              <a:srgbClr val="FDECEA"/>
            </a:solidFill>
            <a:prstDash val="solid"/>
          </a:ln>
        </p:spPr>
        <p:txBody>
          <a:bodyPr/>
          <a:lstStyle/>
          <a:p>
            <a:endParaRPr lang="en-US"/>
          </a:p>
        </p:txBody>
      </p:sp>
      <p:sp>
        <p:nvSpPr>
          <p:cNvPr id="4" name="Text 5"/>
          <p:cNvSpPr txBox="1"/>
          <p:nvPr/>
        </p:nvSpPr>
        <p:spPr>
          <a:xfrm>
            <a:off x="685800" y="5349240"/>
            <a:ext cx="1920240" cy="438912"/>
          </a:xfrm>
          <a:prstGeom prst="rect">
            <a:avLst/>
          </a:prstGeom>
          <a:noFill/>
          <a:ln/>
        </p:spPr>
        <p:txBody>
          <a:bodyPr wrap="square" lIns="0" tIns="0" rIns="0" bIns="0" rtlCol="0" anchor="ctr"/>
          <a:lstStyle/>
          <a:p>
            <a:pPr marL="0" indent="0">
              <a:buNone/>
            </a:pPr>
            <a:r>
              <a:rPr lang="en-US" sz="1500" b="1" dirty="0">
                <a:solidFill>
                  <a:srgbClr val="C8463D"/>
                </a:solidFill>
                <a:latin typeface="Calibri" pitchFamily="34" charset="0"/>
                <a:ea typeface="Calibri" pitchFamily="34" charset="-122"/>
                <a:cs typeface="Calibri" pitchFamily="34" charset="-120"/>
              </a:rPr>
              <a:t>Wrong scenario</a:t>
            </a:r>
            <a:endParaRPr lang="en-US" sz="1500" dirty="0"/>
          </a:p>
        </p:txBody>
      </p:sp>
      <p:sp>
        <p:nvSpPr>
          <p:cNvPr id="9" name="Shape 6"/>
          <p:cNvSpPr/>
          <p:nvPr/>
        </p:nvSpPr>
        <p:spPr>
          <a:xfrm>
            <a:off x="2834640" y="5349240"/>
            <a:ext cx="2148840" cy="438912"/>
          </a:xfrm>
          <a:prstGeom prst="rect">
            <a:avLst/>
          </a:prstGeom>
          <a:solidFill>
            <a:srgbClr val="FDECEA"/>
          </a:solidFill>
          <a:ln w="12700">
            <a:solidFill>
              <a:srgbClr val="FDECEA"/>
            </a:solidFill>
            <a:prstDash val="solid"/>
          </a:ln>
        </p:spPr>
        <p:txBody>
          <a:bodyPr/>
          <a:lstStyle/>
          <a:p>
            <a:endParaRPr lang="en-US"/>
          </a:p>
        </p:txBody>
      </p:sp>
      <p:sp>
        <p:nvSpPr>
          <p:cNvPr id="10" name="Text 7"/>
          <p:cNvSpPr txBox="1"/>
          <p:nvPr/>
        </p:nvSpPr>
        <p:spPr>
          <a:xfrm>
            <a:off x="2971800" y="5349240"/>
            <a:ext cx="1920240" cy="438912"/>
          </a:xfrm>
          <a:prstGeom prst="rect">
            <a:avLst/>
          </a:prstGeom>
          <a:noFill/>
          <a:ln/>
        </p:spPr>
        <p:txBody>
          <a:bodyPr wrap="square" lIns="0" tIns="0" rIns="0" bIns="0" rtlCol="0" anchor="ctr"/>
          <a:lstStyle/>
          <a:p>
            <a:pPr marL="0" indent="0">
              <a:buNone/>
            </a:pPr>
            <a:r>
              <a:rPr lang="en-US" sz="1500" b="1" dirty="0">
                <a:solidFill>
                  <a:srgbClr val="C8463D"/>
                </a:solidFill>
                <a:latin typeface="Calibri" pitchFamily="34" charset="0"/>
                <a:ea typeface="Calibri" pitchFamily="34" charset="-122"/>
                <a:cs typeface="Calibri" pitchFamily="34" charset="-120"/>
              </a:rPr>
              <a:t>Wrong check</a:t>
            </a:r>
            <a:endParaRPr lang="en-US" sz="1500" dirty="0"/>
          </a:p>
        </p:txBody>
      </p:sp>
      <p:sp>
        <p:nvSpPr>
          <p:cNvPr id="11" name="Shape 8"/>
          <p:cNvSpPr/>
          <p:nvPr/>
        </p:nvSpPr>
        <p:spPr>
          <a:xfrm>
            <a:off x="5120640" y="5349240"/>
            <a:ext cx="2148840" cy="438912"/>
          </a:xfrm>
          <a:prstGeom prst="rect">
            <a:avLst/>
          </a:prstGeom>
          <a:solidFill>
            <a:srgbClr val="FDECEA"/>
          </a:solidFill>
          <a:ln w="12700">
            <a:solidFill>
              <a:srgbClr val="FDECEA"/>
            </a:solidFill>
            <a:prstDash val="solid"/>
          </a:ln>
        </p:spPr>
        <p:txBody>
          <a:bodyPr/>
          <a:lstStyle/>
          <a:p>
            <a:endParaRPr lang="en-US"/>
          </a:p>
        </p:txBody>
      </p:sp>
      <p:sp>
        <p:nvSpPr>
          <p:cNvPr id="12" name="Text 9"/>
          <p:cNvSpPr txBox="1"/>
          <p:nvPr/>
        </p:nvSpPr>
        <p:spPr>
          <a:xfrm>
            <a:off x="5257800" y="5349240"/>
            <a:ext cx="1920240" cy="438912"/>
          </a:xfrm>
          <a:prstGeom prst="rect">
            <a:avLst/>
          </a:prstGeom>
          <a:noFill/>
          <a:ln/>
        </p:spPr>
        <p:txBody>
          <a:bodyPr wrap="square" lIns="0" tIns="0" rIns="0" bIns="0" rtlCol="0" anchor="ctr"/>
          <a:lstStyle/>
          <a:p>
            <a:pPr marL="0" indent="0">
              <a:buNone/>
            </a:pPr>
            <a:r>
              <a:rPr lang="en-US" sz="1500" b="1" dirty="0">
                <a:solidFill>
                  <a:srgbClr val="C8463D"/>
                </a:solidFill>
                <a:latin typeface="Calibri" pitchFamily="34" charset="0"/>
                <a:ea typeface="Calibri" pitchFamily="34" charset="-122"/>
                <a:cs typeface="Calibri" pitchFamily="34" charset="-120"/>
              </a:rPr>
              <a:t>Catches no bug</a:t>
            </a:r>
            <a:endParaRPr lang="en-US" sz="1500" dirty="0"/>
          </a:p>
        </p:txBody>
      </p:sp>
      <p:sp>
        <p:nvSpPr>
          <p:cNvPr id="13" name="Shape 10"/>
          <p:cNvSpPr/>
          <p:nvPr/>
        </p:nvSpPr>
        <p:spPr>
          <a:xfrm>
            <a:off x="7635240" y="1325880"/>
            <a:ext cx="4005072" cy="4462272"/>
          </a:xfrm>
          <a:prstGeom prst="roundRect">
            <a:avLst>
              <a:gd name="adj" fmla="val 2740"/>
            </a:avLst>
          </a:prstGeom>
          <a:solidFill>
            <a:srgbClr val="13213C"/>
          </a:solidFill>
          <a:ln w="12700">
            <a:solidFill>
              <a:srgbClr val="13213C"/>
            </a:solidFill>
            <a:prstDash val="solid"/>
          </a:ln>
        </p:spPr>
        <p:txBody>
          <a:bodyPr/>
          <a:lstStyle/>
          <a:p>
            <a:endParaRPr lang="en-US"/>
          </a:p>
        </p:txBody>
      </p:sp>
      <p:sp>
        <p:nvSpPr>
          <p:cNvPr id="14" name="Text 11"/>
          <p:cNvSpPr txBox="1"/>
          <p:nvPr/>
        </p:nvSpPr>
        <p:spPr>
          <a:xfrm>
            <a:off x="7863840" y="1508760"/>
            <a:ext cx="3611880" cy="685800"/>
          </a:xfrm>
          <a:prstGeom prst="rect">
            <a:avLst/>
          </a:prstGeom>
          <a:noFill/>
          <a:ln/>
        </p:spPr>
        <p:txBody>
          <a:bodyPr wrap="square" lIns="0" tIns="0" rIns="0" bIns="0" rtlCol="0" anchor="t"/>
          <a:lstStyle/>
          <a:p>
            <a:pPr marL="0" indent="0">
              <a:buNone/>
            </a:pPr>
            <a:r>
              <a:rPr lang="en-US" sz="1600" b="1" dirty="0">
                <a:solidFill>
                  <a:srgbClr val="E39B2D"/>
                </a:solidFill>
                <a:latin typeface="Calibri" pitchFamily="34" charset="0"/>
                <a:ea typeface="Calibri" pitchFamily="34" charset="-122"/>
                <a:cs typeface="Calibri" pitchFamily="34" charset="-120"/>
              </a:rPr>
              <a:t>Why it matters for self-driving cars</a:t>
            </a:r>
            <a:endParaRPr lang="en-US" sz="1600" dirty="0"/>
          </a:p>
        </p:txBody>
      </p:sp>
      <p:sp>
        <p:nvSpPr>
          <p:cNvPr id="15" name="Text 12"/>
          <p:cNvSpPr txBox="1"/>
          <p:nvPr/>
        </p:nvSpPr>
        <p:spPr>
          <a:xfrm>
            <a:off x="7863840" y="2240280"/>
            <a:ext cx="3611880" cy="3337560"/>
          </a:xfrm>
          <a:prstGeom prst="rect">
            <a:avLst/>
          </a:prstGeom>
          <a:noFill/>
          <a:ln/>
        </p:spPr>
        <p:txBody>
          <a:bodyPr wrap="square" lIns="0" tIns="0" rIns="0" bIns="0" rtlCol="0" anchor="t"/>
          <a:lstStyle/>
          <a:p>
            <a:pPr marL="177800" indent="-177800">
              <a:buSzPct val="100000"/>
              <a:buChar char="•"/>
            </a:pPr>
            <a:r>
              <a:rPr lang="en-US" sz="1400" b="1" dirty="0">
                <a:solidFill>
                  <a:srgbClr val="CFE3F1"/>
                </a:solidFill>
                <a:latin typeface="Calibri" pitchFamily="34" charset="0"/>
                <a:ea typeface="Calibri" pitchFamily="34" charset="-122"/>
                <a:cs typeface="Calibri" pitchFamily="34" charset="-120"/>
              </a:rPr>
              <a:t>AI already helps build them </a:t>
            </a:r>
            <a:r>
              <a:rPr lang="en-US" sz="1400" dirty="0">
                <a:solidFill>
                  <a:srgbClr val="CFE3F1"/>
                </a:solidFill>
                <a:latin typeface="Calibri" pitchFamily="34" charset="0"/>
                <a:ea typeface="Calibri" pitchFamily="34" charset="-122"/>
                <a:cs typeface="Calibri" pitchFamily="34" charset="-120"/>
              </a:rPr>
              <a:t>[8, 10]</a:t>
            </a:r>
            <a:endParaRPr lang="en-US" sz="1400" dirty="0"/>
          </a:p>
          <a:p>
            <a:pPr marL="177800" indent="-177800">
              <a:spcAft>
                <a:spcPts val="600"/>
              </a:spcAft>
              <a:buSzPct val="100000"/>
              <a:buChar char="•"/>
            </a:pPr>
            <a:r>
              <a:rPr lang="en-US" sz="1400" dirty="0">
                <a:solidFill>
                  <a:srgbClr val="CFE3F1"/>
                </a:solidFill>
                <a:latin typeface="Calibri" pitchFamily="34" charset="0"/>
                <a:ea typeface="Calibri" pitchFamily="34" charset="-122"/>
                <a:cs typeface="Calibri" pitchFamily="34" charset="-120"/>
              </a:rPr>
              <a:t>AI now writes their tests too [27]</a:t>
            </a:r>
            <a:endParaRPr lang="en-US" sz="1400" dirty="0"/>
          </a:p>
          <a:p>
            <a:pPr marL="177800" indent="-177800">
              <a:buSzPct val="100000"/>
              <a:buChar char="•"/>
            </a:pPr>
            <a:r>
              <a:rPr lang="en-US" sz="1400" b="1" dirty="0">
                <a:solidFill>
                  <a:srgbClr val="CFE3F1"/>
                </a:solidFill>
                <a:latin typeface="Calibri" pitchFamily="34" charset="0"/>
                <a:ea typeface="Calibri" pitchFamily="34" charset="-122"/>
                <a:cs typeface="Calibri" pitchFamily="34" charset="-120"/>
              </a:rPr>
              <a:t>A wrong test means </a:t>
            </a:r>
            <a:r>
              <a:rPr lang="en-US" sz="1400" dirty="0">
                <a:solidFill>
                  <a:srgbClr val="CFE3F1"/>
                </a:solidFill>
                <a:latin typeface="Calibri" pitchFamily="34" charset="0"/>
                <a:ea typeface="Calibri" pitchFamily="34" charset="-122"/>
                <a:cs typeface="Calibri" pitchFamily="34" charset="-120"/>
              </a:rPr>
              <a:t>false safety</a:t>
            </a:r>
            <a:endParaRPr lang="en-US" sz="1400" dirty="0"/>
          </a:p>
        </p:txBody>
      </p:sp>
      <p:sp>
        <p:nvSpPr>
          <p:cNvPr id="16" name="Text 13"/>
          <p:cNvSpPr txBox="1"/>
          <p:nvPr/>
        </p:nvSpPr>
        <p:spPr>
          <a:xfrm>
            <a:off x="548640" y="5870448"/>
            <a:ext cx="11094415" cy="557784"/>
          </a:xfrm>
          <a:prstGeom prst="rect">
            <a:avLst/>
          </a:prstGeom>
          <a:noFill/>
          <a:ln/>
        </p:spPr>
        <p:txBody>
          <a:bodyPr wrap="square" lIns="0" tIns="0" rIns="0" bIns="0" rtlCol="0" anchor="b"/>
          <a:lstStyle/>
          <a:p>
            <a:pPr marL="0" indent="0">
              <a:buNone/>
            </a:pPr>
            <a:r>
              <a:rPr lang="en-US" sz="900" dirty="0">
                <a:solidFill>
                  <a:srgbClr val="5B6578"/>
                </a:solidFill>
                <a:latin typeface="Calibri" pitchFamily="34" charset="0"/>
                <a:ea typeface="Calibri" pitchFamily="34" charset="-122"/>
                <a:cs typeface="Calibri" pitchFamily="34" charset="-120"/>
              </a:rPr>
              <a:t>[8] J. Wu et al., “Reality bites: Assessing the realism of driving scenarios with large language models,” Proc. IEEE/ACM FORGE, 2024.</a:t>
            </a:r>
            <a:endParaRPr lang="en-US" sz="900" dirty="0"/>
          </a:p>
          <a:p>
            <a:pPr marL="0" indent="0">
              <a:buNone/>
            </a:pPr>
            <a:r>
              <a:rPr lang="en-US" sz="900" dirty="0">
                <a:solidFill>
                  <a:srgbClr val="5B6578"/>
                </a:solidFill>
                <a:latin typeface="Calibri" pitchFamily="34" charset="0"/>
                <a:ea typeface="Calibri" pitchFamily="34" charset="-122"/>
                <a:cs typeface="Calibri" pitchFamily="34" charset="-120"/>
              </a:rPr>
              <a:t>[10] C. Lu et al., “Foundation models for software engineering of cyber-physical systems: The road ahead,” ACM TOSEM, 2026.</a:t>
            </a:r>
            <a:endParaRPr lang="en-US" sz="900" dirty="0"/>
          </a:p>
          <a:p>
            <a:pPr marL="0" indent="0">
              <a:buNone/>
            </a:pPr>
            <a:r>
              <a:rPr lang="en-US" sz="900" dirty="0">
                <a:solidFill>
                  <a:srgbClr val="5B6578"/>
                </a:solidFill>
                <a:latin typeface="Calibri" pitchFamily="34" charset="0"/>
                <a:ea typeface="Calibri" pitchFamily="34" charset="-122"/>
                <a:cs typeface="Calibri" pitchFamily="34" charset="-120"/>
              </a:rPr>
              <a:t>[27] J. Wang et al., “Software testing with large language models: Survey, landscape, and vision,” IEEE TSE, 2024.</a:t>
            </a:r>
            <a:endParaRPr lang="en-US" sz="9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578"/>
                </a:solidFill>
                <a:latin typeface="Calibri"/>
                <a:ea typeface="Calibri"/>
                <a:cs typeface="Calibri"/>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109728"/>
            <a:ext cx="7315200" cy="228600"/>
          </a:xfrm>
          <a:prstGeom prst="rect">
            <a:avLst/>
          </a:prstGeom>
          <a:noFill/>
          <a:ln/>
        </p:spPr>
        <p:txBody>
          <a:bodyPr wrap="square" lIns="0" tIns="0" rIns="0" bIns="0" rtlCol="0" anchor="t"/>
          <a:lstStyle/>
          <a:p>
            <a:pPr marL="0" indent="0">
              <a:buNone/>
            </a:pPr>
            <a:r>
              <a:rPr lang="en-US" sz="1100" b="1" kern="0" spc="100" dirty="0">
                <a:solidFill>
                  <a:srgbClr val="0F8B8D"/>
                </a:solidFill>
                <a:latin typeface="Calibri" pitchFamily="34" charset="0"/>
                <a:ea typeface="Calibri" pitchFamily="34" charset="-122"/>
                <a:cs typeface="Calibri" pitchFamily="34" charset="-120"/>
              </a:rPr>
              <a:t>PART B · THE PHD QUESTION</a:t>
            </a:r>
            <a:endParaRPr lang="en-US" sz="1100" dirty="0"/>
          </a:p>
        </p:txBody>
      </p:sp>
      <p:sp>
        <p:nvSpPr>
          <p:cNvPr id="3"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buNone/>
            </a:pPr>
            <a:r>
              <a:rPr lang="en-US" sz="3000" b="1" dirty="0">
                <a:solidFill>
                  <a:srgbClr val="13213C"/>
                </a:solidFill>
                <a:latin typeface="Cambria" pitchFamily="34" charset="0"/>
                <a:ea typeface="Cambria" pitchFamily="34" charset="-122"/>
                <a:cs typeface="Cambria" pitchFamily="34" charset="-120"/>
              </a:rPr>
              <a:t>When can we trust an AI-generated test?</a:t>
            </a:r>
            <a:endParaRPr lang="en-US" sz="3000" dirty="0"/>
          </a:p>
        </p:txBody>
      </p:sp>
      <p:sp>
        <p:nvSpPr>
          <p:cNvPr id="4" name="Shape 2"/>
          <p:cNvSpPr/>
          <p:nvPr/>
        </p:nvSpPr>
        <p:spPr>
          <a:xfrm>
            <a:off x="548640" y="1280160"/>
            <a:ext cx="11094415" cy="960120"/>
          </a:xfrm>
          <a:prstGeom prst="roundRect">
            <a:avLst>
              <a:gd name="adj" fmla="val 11429"/>
            </a:avLst>
          </a:prstGeom>
          <a:solidFill>
            <a:srgbClr val="E6F3F3"/>
          </a:solidFill>
          <a:ln w="12700">
            <a:solidFill>
              <a:srgbClr val="E6F3F3"/>
            </a:solidFill>
            <a:prstDash val="solid"/>
          </a:ln>
        </p:spPr>
        <p:txBody>
          <a:bodyPr/>
          <a:lstStyle/>
          <a:p>
            <a:endParaRPr lang="en-US"/>
          </a:p>
        </p:txBody>
      </p:sp>
      <p:sp>
        <p:nvSpPr>
          <p:cNvPr id="5" name="Text 3"/>
          <p:cNvSpPr txBox="1"/>
          <p:nvPr/>
        </p:nvSpPr>
        <p:spPr>
          <a:xfrm>
            <a:off x="822960" y="1325880"/>
            <a:ext cx="10545775" cy="868680"/>
          </a:xfrm>
          <a:prstGeom prst="rect">
            <a:avLst/>
          </a:prstGeom>
          <a:noFill/>
          <a:ln/>
        </p:spPr>
        <p:txBody>
          <a:bodyPr wrap="square" lIns="0" tIns="0" rIns="0" bIns="0" rtlCol="0" anchor="ctr"/>
          <a:lstStyle/>
          <a:p>
            <a:pPr marL="0" indent="0">
              <a:buNone/>
            </a:pPr>
            <a:r>
              <a:rPr lang="en-US" sz="1500" b="1" dirty="0">
                <a:solidFill>
                  <a:srgbClr val="0F8B8D"/>
                </a:solidFill>
                <a:latin typeface="Calibri" pitchFamily="34" charset="0"/>
                <a:ea typeface="Calibri" pitchFamily="34" charset="-122"/>
                <a:cs typeface="Calibri" pitchFamily="34" charset="-120"/>
              </a:rPr>
              <a:t>My idea   </a:t>
            </a:r>
            <a:r>
              <a:rPr lang="en-US" sz="1500" dirty="0">
                <a:solidFill>
                  <a:srgbClr val="1E2533"/>
                </a:solidFill>
                <a:latin typeface="Calibri" pitchFamily="34" charset="0"/>
                <a:ea typeface="Calibri" pitchFamily="34" charset="-122"/>
                <a:cs typeface="Calibri" pitchFamily="34" charset="-120"/>
              </a:rPr>
              <a:t>Ask the AI for the same test several times. Tests agree → trust more. Tests differ → a person checks. Known for chatbots [24], new for tests.</a:t>
            </a:r>
            <a:endParaRPr lang="en-US" sz="1500" dirty="0"/>
          </a:p>
        </p:txBody>
      </p:sp>
      <p:sp>
        <p:nvSpPr>
          <p:cNvPr id="6" name="Shape 4"/>
          <p:cNvSpPr/>
          <p:nvPr/>
        </p:nvSpPr>
        <p:spPr>
          <a:xfrm>
            <a:off x="548640" y="2377440"/>
            <a:ext cx="3593592" cy="1600200"/>
          </a:xfrm>
          <a:prstGeom prst="roundRect">
            <a:avLst>
              <a:gd name="adj" fmla="val 4706"/>
            </a:avLst>
          </a:prstGeom>
          <a:solidFill>
            <a:srgbClr val="F2F5F9"/>
          </a:solidFill>
          <a:ln w="12700">
            <a:solidFill>
              <a:srgbClr val="F2F5F9"/>
            </a:solidFill>
            <a:prstDash val="solid"/>
          </a:ln>
        </p:spPr>
        <p:txBody>
          <a:bodyPr/>
          <a:lstStyle/>
          <a:p>
            <a:endParaRPr lang="en-US"/>
          </a:p>
        </p:txBody>
      </p:sp>
      <p:sp>
        <p:nvSpPr>
          <p:cNvPr id="7" name="Shape 5"/>
          <p:cNvSpPr/>
          <p:nvPr/>
        </p:nvSpPr>
        <p:spPr>
          <a:xfrm>
            <a:off x="731520" y="2487168"/>
            <a:ext cx="457200" cy="457200"/>
          </a:xfrm>
          <a:prstGeom prst="ellipse">
            <a:avLst/>
          </a:prstGeom>
          <a:solidFill>
            <a:srgbClr val="0F8B8D"/>
          </a:solidFill>
          <a:ln w="12700">
            <a:solidFill>
              <a:srgbClr val="0F8B8D"/>
            </a:solidFill>
            <a:prstDash val="solid"/>
          </a:ln>
        </p:spPr>
        <p:txBody>
          <a:bodyPr/>
          <a:lstStyle/>
          <a:p>
            <a:endParaRPr lang="en-US"/>
          </a:p>
        </p:txBody>
      </p:sp>
      <p:pic>
        <p:nvPicPr>
          <p:cNvPr id="8" name="Image 0" descr="preencoded.png"/>
          <p:cNvPicPr>
            <a:picLocks noChangeAspect="1"/>
          </p:cNvPicPr>
          <p:nvPr/>
        </p:nvPicPr>
        <p:blipFill>
          <a:blip r:embed="rId3"/>
          <a:stretch>
            <a:fillRect/>
          </a:stretch>
        </p:blipFill>
        <p:spPr>
          <a:xfrm>
            <a:off x="845820" y="2601468"/>
            <a:ext cx="228600" cy="228600"/>
          </a:xfrm>
          <a:prstGeom prst="rect">
            <a:avLst/>
          </a:prstGeom>
        </p:spPr>
      </p:pic>
      <p:sp>
        <p:nvSpPr>
          <p:cNvPr id="9" name="Text 6"/>
          <p:cNvSpPr txBox="1"/>
          <p:nvPr/>
        </p:nvSpPr>
        <p:spPr>
          <a:xfrm>
            <a:off x="1280160" y="2487168"/>
            <a:ext cx="2770632" cy="457200"/>
          </a:xfrm>
          <a:prstGeom prst="rect">
            <a:avLst/>
          </a:prstGeom>
          <a:noFill/>
          <a:ln/>
        </p:spPr>
        <p:txBody>
          <a:bodyPr wrap="square" lIns="0" tIns="0" rIns="0" bIns="0" rtlCol="0" anchor="ctr"/>
          <a:lstStyle/>
          <a:p>
            <a:pPr marL="0" indent="0">
              <a:buNone/>
            </a:pPr>
            <a:r>
              <a:rPr lang="en-US" sz="1400" b="1" dirty="0">
                <a:solidFill>
                  <a:srgbClr val="13213C"/>
                </a:solidFill>
                <a:latin typeface="Calibri" pitchFamily="34" charset="0"/>
                <a:ea typeface="Calibri" pitchFamily="34" charset="-122"/>
                <a:cs typeface="Calibri" pitchFamily="34" charset="-120"/>
              </a:rPr>
              <a:t>Uncertainty in CPS testing</a:t>
            </a:r>
            <a:endParaRPr lang="en-US" sz="1400" dirty="0"/>
          </a:p>
        </p:txBody>
      </p:sp>
      <p:sp>
        <p:nvSpPr>
          <p:cNvPr id="10" name="Text 7"/>
          <p:cNvSpPr txBox="1"/>
          <p:nvPr/>
        </p:nvSpPr>
        <p:spPr>
          <a:xfrm>
            <a:off x="731520" y="3035808"/>
            <a:ext cx="3227832" cy="86868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rgbClr val="1E2533"/>
                </a:solidFill>
                <a:latin typeface="Calibri" pitchFamily="34" charset="0"/>
                <a:ea typeface="Calibri" pitchFamily="34" charset="-122"/>
                <a:cs typeface="Calibri" pitchFamily="34" charset="-120"/>
              </a:rPr>
              <a:t>Uncertainty-wise test generation for cyber-physical systems [1]</a:t>
            </a:r>
            <a:endParaRPr lang="en-US" sz="1200" dirty="0"/>
          </a:p>
        </p:txBody>
      </p:sp>
      <p:sp>
        <p:nvSpPr>
          <p:cNvPr id="11" name="Shape 8"/>
          <p:cNvSpPr/>
          <p:nvPr/>
        </p:nvSpPr>
        <p:spPr>
          <a:xfrm>
            <a:off x="4297680" y="2377440"/>
            <a:ext cx="3593592" cy="1600200"/>
          </a:xfrm>
          <a:prstGeom prst="roundRect">
            <a:avLst>
              <a:gd name="adj" fmla="val 4706"/>
            </a:avLst>
          </a:prstGeom>
          <a:solidFill>
            <a:srgbClr val="F2F5F9"/>
          </a:solidFill>
          <a:ln w="12700">
            <a:solidFill>
              <a:srgbClr val="F2F5F9"/>
            </a:solidFill>
            <a:prstDash val="solid"/>
          </a:ln>
        </p:spPr>
        <p:txBody>
          <a:bodyPr/>
          <a:lstStyle/>
          <a:p>
            <a:endParaRPr lang="en-US"/>
          </a:p>
        </p:txBody>
      </p:sp>
      <p:sp>
        <p:nvSpPr>
          <p:cNvPr id="12" name="Shape 9"/>
          <p:cNvSpPr/>
          <p:nvPr/>
        </p:nvSpPr>
        <p:spPr>
          <a:xfrm>
            <a:off x="4480560" y="2487168"/>
            <a:ext cx="457200" cy="457200"/>
          </a:xfrm>
          <a:prstGeom prst="ellipse">
            <a:avLst/>
          </a:prstGeom>
          <a:solidFill>
            <a:srgbClr val="3567C8"/>
          </a:solidFill>
          <a:ln w="12700">
            <a:solidFill>
              <a:srgbClr val="3567C8"/>
            </a:solidFill>
            <a:prstDash val="solid"/>
          </a:ln>
        </p:spPr>
        <p:txBody>
          <a:bodyPr/>
          <a:lstStyle/>
          <a:p>
            <a:endParaRPr lang="en-US"/>
          </a:p>
        </p:txBody>
      </p:sp>
      <p:pic>
        <p:nvPicPr>
          <p:cNvPr id="13" name="Image 1" descr="preencoded.png"/>
          <p:cNvPicPr>
            <a:picLocks noChangeAspect="1"/>
          </p:cNvPicPr>
          <p:nvPr/>
        </p:nvPicPr>
        <p:blipFill>
          <a:blip r:embed="rId4"/>
          <a:stretch>
            <a:fillRect/>
          </a:stretch>
        </p:blipFill>
        <p:spPr>
          <a:xfrm>
            <a:off x="4594860" y="2601468"/>
            <a:ext cx="228600" cy="228600"/>
          </a:xfrm>
          <a:prstGeom prst="rect">
            <a:avLst/>
          </a:prstGeom>
        </p:spPr>
      </p:pic>
      <p:sp>
        <p:nvSpPr>
          <p:cNvPr id="14" name="Text 10"/>
          <p:cNvSpPr txBox="1"/>
          <p:nvPr/>
        </p:nvSpPr>
        <p:spPr>
          <a:xfrm>
            <a:off x="5029200" y="2487168"/>
            <a:ext cx="2770632" cy="457200"/>
          </a:xfrm>
          <a:prstGeom prst="rect">
            <a:avLst/>
          </a:prstGeom>
          <a:noFill/>
          <a:ln/>
        </p:spPr>
        <p:txBody>
          <a:bodyPr wrap="square" lIns="0" tIns="0" rIns="0" bIns="0" rtlCol="0" anchor="ctr"/>
          <a:lstStyle/>
          <a:p>
            <a:pPr marL="0" indent="0">
              <a:buNone/>
            </a:pPr>
            <a:r>
              <a:rPr lang="en-US" sz="1400" b="1" dirty="0">
                <a:solidFill>
                  <a:srgbClr val="13213C"/>
                </a:solidFill>
                <a:latin typeface="Calibri" pitchFamily="34" charset="0"/>
                <a:ea typeface="Calibri" pitchFamily="34" charset="-122"/>
                <a:cs typeface="Calibri" pitchFamily="34" charset="-120"/>
              </a:rPr>
              <a:t>Testing AI-enabled systems</a:t>
            </a:r>
            <a:endParaRPr lang="en-US" sz="1400" dirty="0"/>
          </a:p>
        </p:txBody>
      </p:sp>
      <p:sp>
        <p:nvSpPr>
          <p:cNvPr id="15" name="Text 11"/>
          <p:cNvSpPr txBox="1"/>
          <p:nvPr/>
        </p:nvSpPr>
        <p:spPr>
          <a:xfrm>
            <a:off x="4480560" y="3035808"/>
            <a:ext cx="3227832" cy="86868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rgbClr val="1E2533"/>
                </a:solidFill>
                <a:latin typeface="Calibri" pitchFamily="34" charset="0"/>
                <a:ea typeface="Calibri" pitchFamily="34" charset="-122"/>
                <a:cs typeface="Calibri" pitchFamily="34" charset="-120"/>
              </a:rPr>
              <a:t>Falsification: searching for failures of AI-enabled control systems [14]</a:t>
            </a:r>
            <a:endParaRPr lang="en-US" sz="1200" dirty="0"/>
          </a:p>
        </p:txBody>
      </p:sp>
      <p:sp>
        <p:nvSpPr>
          <p:cNvPr id="16" name="Shape 12"/>
          <p:cNvSpPr/>
          <p:nvPr/>
        </p:nvSpPr>
        <p:spPr>
          <a:xfrm>
            <a:off x="8046720" y="2377440"/>
            <a:ext cx="3593592" cy="1600200"/>
          </a:xfrm>
          <a:prstGeom prst="roundRect">
            <a:avLst>
              <a:gd name="adj" fmla="val 4706"/>
            </a:avLst>
          </a:prstGeom>
          <a:solidFill>
            <a:srgbClr val="F2F5F9"/>
          </a:solidFill>
          <a:ln w="12700">
            <a:solidFill>
              <a:srgbClr val="F2F5F9"/>
            </a:solidFill>
            <a:prstDash val="solid"/>
          </a:ln>
        </p:spPr>
        <p:txBody>
          <a:bodyPr/>
          <a:lstStyle/>
          <a:p>
            <a:endParaRPr lang="en-US"/>
          </a:p>
        </p:txBody>
      </p:sp>
      <p:sp>
        <p:nvSpPr>
          <p:cNvPr id="17" name="Shape 13"/>
          <p:cNvSpPr/>
          <p:nvPr/>
        </p:nvSpPr>
        <p:spPr>
          <a:xfrm>
            <a:off x="8229600" y="2487168"/>
            <a:ext cx="457200" cy="457200"/>
          </a:xfrm>
          <a:prstGeom prst="ellipse">
            <a:avLst/>
          </a:prstGeom>
          <a:solidFill>
            <a:srgbClr val="E39B2D"/>
          </a:solidFill>
          <a:ln w="12700">
            <a:solidFill>
              <a:srgbClr val="E39B2D"/>
            </a:solidFill>
            <a:prstDash val="solid"/>
          </a:ln>
        </p:spPr>
        <p:txBody>
          <a:bodyPr/>
          <a:lstStyle/>
          <a:p>
            <a:endParaRPr lang="en-US"/>
          </a:p>
        </p:txBody>
      </p:sp>
      <p:pic>
        <p:nvPicPr>
          <p:cNvPr id="18" name="Image 2" descr="preencoded.png"/>
          <p:cNvPicPr>
            <a:picLocks noChangeAspect="1"/>
          </p:cNvPicPr>
          <p:nvPr/>
        </p:nvPicPr>
        <p:blipFill>
          <a:blip r:embed="rId5"/>
          <a:stretch>
            <a:fillRect/>
          </a:stretch>
        </p:blipFill>
        <p:spPr>
          <a:xfrm>
            <a:off x="8343900" y="2601468"/>
            <a:ext cx="228600" cy="228600"/>
          </a:xfrm>
          <a:prstGeom prst="rect">
            <a:avLst/>
          </a:prstGeom>
        </p:spPr>
      </p:pic>
      <p:sp>
        <p:nvSpPr>
          <p:cNvPr id="19" name="Text 14"/>
          <p:cNvSpPr txBox="1"/>
          <p:nvPr/>
        </p:nvSpPr>
        <p:spPr>
          <a:xfrm>
            <a:off x="8778240" y="2487168"/>
            <a:ext cx="2770632" cy="457200"/>
          </a:xfrm>
          <a:prstGeom prst="rect">
            <a:avLst/>
          </a:prstGeom>
          <a:noFill/>
          <a:ln/>
        </p:spPr>
        <p:txBody>
          <a:bodyPr wrap="square" lIns="0" tIns="0" rIns="0" bIns="0" rtlCol="0" anchor="ctr"/>
          <a:lstStyle/>
          <a:p>
            <a:pPr marL="0" indent="0">
              <a:buNone/>
            </a:pPr>
            <a:r>
              <a:rPr lang="en-US" sz="1400" b="1" dirty="0">
                <a:solidFill>
                  <a:srgbClr val="13213C"/>
                </a:solidFill>
                <a:latin typeface="Calibri" pitchFamily="34" charset="0"/>
                <a:ea typeface="Calibri" pitchFamily="34" charset="-122"/>
                <a:cs typeface="Calibri" pitchFamily="34" charset="-120"/>
              </a:rPr>
              <a:t>Industrial test oracles</a:t>
            </a:r>
            <a:endParaRPr lang="en-US" sz="1400" dirty="0"/>
          </a:p>
        </p:txBody>
      </p:sp>
      <p:sp>
        <p:nvSpPr>
          <p:cNvPr id="20" name="Text 15"/>
          <p:cNvSpPr txBox="1"/>
          <p:nvPr/>
        </p:nvSpPr>
        <p:spPr>
          <a:xfrm>
            <a:off x="8229600" y="3035808"/>
            <a:ext cx="3227832" cy="86868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rgbClr val="1E2533"/>
                </a:solidFill>
                <a:latin typeface="Calibri" pitchFamily="34" charset="0"/>
                <a:ea typeface="Calibri" pitchFamily="34" charset="-122"/>
                <a:cs typeface="Calibri" pitchFamily="34" charset="-120"/>
              </a:rPr>
              <a:t>Machine learning as a test oracle for elevator software [16]</a:t>
            </a:r>
            <a:endParaRPr lang="en-US" sz="1200" dirty="0"/>
          </a:p>
        </p:txBody>
      </p:sp>
      <p:sp>
        <p:nvSpPr>
          <p:cNvPr id="26" name="Shape 20"/>
          <p:cNvSpPr/>
          <p:nvPr/>
        </p:nvSpPr>
        <p:spPr>
          <a:xfrm>
            <a:off x="548640" y="4160520"/>
            <a:ext cx="11094415" cy="438912"/>
          </a:xfrm>
          <a:prstGeom prst="roundRect">
            <a:avLst>
              <a:gd name="adj" fmla="val 25000"/>
            </a:avLst>
          </a:prstGeom>
          <a:solidFill>
            <a:srgbClr val="FFF4E0"/>
          </a:solidFill>
          <a:ln w="12700">
            <a:solidFill>
              <a:srgbClr val="FFF4E0"/>
            </a:solidFill>
            <a:prstDash val="solid"/>
          </a:ln>
        </p:spPr>
        <p:txBody>
          <a:bodyPr/>
          <a:lstStyle/>
          <a:p>
            <a:endParaRPr lang="en-US"/>
          </a:p>
        </p:txBody>
      </p:sp>
      <p:sp>
        <p:nvSpPr>
          <p:cNvPr id="27" name="Text 21"/>
          <p:cNvSpPr txBox="1"/>
          <p:nvPr/>
        </p:nvSpPr>
        <p:spPr>
          <a:xfrm>
            <a:off x="777240" y="4160520"/>
            <a:ext cx="10637215" cy="438912"/>
          </a:xfrm>
          <a:prstGeom prst="rect">
            <a:avLst/>
          </a:prstGeom>
          <a:noFill/>
          <a:ln/>
        </p:spPr>
        <p:txBody>
          <a:bodyPr wrap="square" lIns="0" tIns="0" rIns="0" bIns="0" rtlCol="0" anchor="ctr"/>
          <a:lstStyle/>
          <a:p>
            <a:pPr marL="0" indent="0">
              <a:buNone/>
            </a:pPr>
            <a:r>
              <a:rPr lang="en-US" sz="1400" b="1" dirty="0">
                <a:solidFill>
                  <a:srgbClr val="E39B2D"/>
                </a:solidFill>
                <a:latin typeface="Calibri" pitchFamily="34" charset="0"/>
                <a:ea typeface="Calibri" pitchFamily="34" charset="-122"/>
                <a:cs typeface="Calibri" pitchFamily="34" charset="-120"/>
              </a:rPr>
              <a:t>Gap   </a:t>
            </a:r>
            <a:r>
              <a:rPr lang="en-US" sz="1400" dirty="0">
                <a:solidFill>
                  <a:srgbClr val="1E2533"/>
                </a:solidFill>
                <a:latin typeface="Calibri" pitchFamily="34" charset="0"/>
                <a:ea typeface="Calibri" pitchFamily="34" charset="-122"/>
                <a:cs typeface="Calibri" pitchFamily="34" charset="-120"/>
              </a:rPr>
              <a:t>Uncertainty is studied for systems, robots and chatbots — not yet for AI that writes tests.</a:t>
            </a:r>
            <a:endParaRPr lang="en-US" sz="1400" dirty="0"/>
          </a:p>
        </p:txBody>
      </p:sp>
      <p:sp>
        <p:nvSpPr>
          <p:cNvPr id="28" name="Text 22"/>
          <p:cNvSpPr txBox="1"/>
          <p:nvPr/>
        </p:nvSpPr>
        <p:spPr>
          <a:xfrm>
            <a:off x="548640" y="4892040"/>
            <a:ext cx="11094415" cy="1280160"/>
          </a:xfrm>
          <a:prstGeom prst="rect">
            <a:avLst/>
          </a:prstGeom>
          <a:noFill/>
          <a:ln/>
        </p:spPr>
        <p:txBody>
          <a:bodyPr wrap="square" lIns="0" tIns="0" rIns="0" bIns="0" rtlCol="0" anchor="b"/>
          <a:lstStyle/>
          <a:p>
            <a:r>
              <a:rPr sz="1100">
                <a:solidFill>
                  <a:srgbClr val="5B6578"/>
                </a:solidFill>
                <a:latin typeface="Calibri"/>
              </a:rPr>
              <a:t>[1] M. Zhang et al., “Uncertainty-wise test case generation and minimization for cyber-physical systems,” J. Syst. Softw., 2019.</a:t>
            </a:r>
          </a:p>
          <a:p>
            <a:r>
              <a:rPr sz="1100">
                <a:solidFill>
                  <a:srgbClr val="5B6578"/>
                </a:solidFill>
                <a:latin typeface="Calibri"/>
              </a:rPr>
              <a:t>[14] Z. Zhang et al., “FalsifAI: Falsification of AI-enabled hybrid control systems guided by time-aware coverage criteria,” IEEE TSE, 2023.</a:t>
            </a:r>
          </a:p>
          <a:p>
            <a:r>
              <a:rPr sz="1100">
                <a:solidFill>
                  <a:srgbClr val="5B6578"/>
                </a:solidFill>
                <a:latin typeface="Calibri"/>
              </a:rPr>
              <a:t>[16] A. Arrieta et al., “Using machine learning to build test oracles: An industrial case study on elevators dispatching algorithms,” Proc. IEEE/ACM AST, 2021.</a:t>
            </a:r>
          </a:p>
          <a:p>
            <a:r>
              <a:rPr sz="1100">
                <a:solidFill>
                  <a:srgbClr val="5B6578"/>
                </a:solidFill>
                <a:latin typeface="Calibri"/>
              </a:rPr>
              <a:t>[24] S. Farquhar et al., “Detecting hallucinations in large language models using semantic entropy,” Nature, 2024.</a:t>
            </a:r>
          </a:p>
        </p:txBody>
      </p:sp>
      <p:sp>
        <p:nvSpPr>
          <p:cNvPr id="29"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578"/>
                </a:solidFill>
                <a:latin typeface="Calibri"/>
                <a:ea typeface="Calibri"/>
                <a:cs typeface="Calibri"/>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109728"/>
            <a:ext cx="7315200" cy="228600"/>
          </a:xfrm>
          <a:prstGeom prst="rect">
            <a:avLst/>
          </a:prstGeom>
          <a:noFill/>
          <a:ln/>
        </p:spPr>
        <p:txBody>
          <a:bodyPr wrap="square" lIns="0" tIns="0" rIns="0" bIns="0" rtlCol="0" anchor="t"/>
          <a:lstStyle/>
          <a:p>
            <a:pPr marL="0" indent="0">
              <a:buNone/>
            </a:pPr>
            <a:r>
              <a:rPr lang="en-US" sz="1100" b="1" kern="0" spc="100" dirty="0">
                <a:solidFill>
                  <a:srgbClr val="E39B2D"/>
                </a:solidFill>
                <a:latin typeface="Calibri" pitchFamily="34" charset="0"/>
                <a:ea typeface="Calibri" pitchFamily="34" charset="-122"/>
                <a:cs typeface="Calibri" pitchFamily="34" charset="-120"/>
              </a:rPr>
              <a:t>PART B · OBJECTIVES</a:t>
            </a:r>
            <a:endParaRPr lang="en-US" sz="1100" dirty="0"/>
          </a:p>
        </p:txBody>
      </p:sp>
      <p:sp>
        <p:nvSpPr>
          <p:cNvPr id="3"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buNone/>
            </a:pPr>
            <a:r>
              <a:rPr lang="en-US" sz="3000" b="1" dirty="0">
                <a:solidFill>
                  <a:srgbClr val="13213C"/>
                </a:solidFill>
                <a:latin typeface="Cambria" pitchFamily="34" charset="0"/>
                <a:ea typeface="Cambria" pitchFamily="34" charset="-122"/>
                <a:cs typeface="Cambria" pitchFamily="34" charset="-120"/>
              </a:rPr>
              <a:t>The four PhD objectives</a:t>
            </a:r>
            <a:endParaRPr lang="en-US" sz="3000" dirty="0"/>
          </a:p>
        </p:txBody>
      </p:sp>
      <p:sp>
        <p:nvSpPr>
          <p:cNvPr id="4" name="Shape 2"/>
          <p:cNvSpPr/>
          <p:nvPr/>
        </p:nvSpPr>
        <p:spPr>
          <a:xfrm>
            <a:off x="548640" y="1371600"/>
            <a:ext cx="2633472" cy="3931920"/>
          </a:xfrm>
          <a:prstGeom prst="roundRect">
            <a:avLst>
              <a:gd name="adj" fmla="val 4167"/>
            </a:avLst>
          </a:prstGeom>
          <a:solidFill>
            <a:srgbClr val="F2F5F9"/>
          </a:solidFill>
          <a:ln w="12700">
            <a:solidFill>
              <a:srgbClr val="F2F5F9"/>
            </a:solidFill>
            <a:prstDash val="solid"/>
          </a:ln>
        </p:spPr>
        <p:txBody>
          <a:bodyPr/>
          <a:lstStyle/>
          <a:p>
            <a:endParaRPr lang="en-US"/>
          </a:p>
        </p:txBody>
      </p:sp>
      <p:sp>
        <p:nvSpPr>
          <p:cNvPr id="5" name="Shape 3"/>
          <p:cNvSpPr/>
          <p:nvPr/>
        </p:nvSpPr>
        <p:spPr>
          <a:xfrm>
            <a:off x="822960" y="1645920"/>
            <a:ext cx="685800" cy="685800"/>
          </a:xfrm>
          <a:prstGeom prst="ellipse">
            <a:avLst/>
          </a:prstGeom>
          <a:solidFill>
            <a:srgbClr val="0F8B8D"/>
          </a:solidFill>
          <a:ln w="12700">
            <a:solidFill>
              <a:srgbClr val="0F8B8D"/>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994410" y="1817370"/>
            <a:ext cx="342900" cy="342900"/>
          </a:xfrm>
          <a:prstGeom prst="rect">
            <a:avLst/>
          </a:prstGeom>
        </p:spPr>
      </p:pic>
      <p:sp>
        <p:nvSpPr>
          <p:cNvPr id="7" name="Text 4"/>
          <p:cNvSpPr txBox="1"/>
          <p:nvPr/>
        </p:nvSpPr>
        <p:spPr>
          <a:xfrm>
            <a:off x="1645920" y="1719072"/>
            <a:ext cx="1280160" cy="548640"/>
          </a:xfrm>
          <a:prstGeom prst="rect">
            <a:avLst/>
          </a:prstGeom>
          <a:noFill/>
          <a:ln/>
        </p:spPr>
        <p:txBody>
          <a:bodyPr wrap="square" lIns="0" tIns="0" rIns="0" bIns="0" rtlCol="0" anchor="t"/>
          <a:lstStyle/>
          <a:p>
            <a:pPr marL="0" indent="0">
              <a:buNone/>
            </a:pPr>
            <a:r>
              <a:rPr lang="en-US" sz="2800" b="1" dirty="0">
                <a:solidFill>
                  <a:srgbClr val="0F8B8D"/>
                </a:solidFill>
                <a:latin typeface="Calibri" pitchFamily="34" charset="0"/>
                <a:ea typeface="Calibri" pitchFamily="34" charset="-122"/>
                <a:cs typeface="Calibri" pitchFamily="34" charset="-120"/>
              </a:rPr>
              <a:t>O1</a:t>
            </a:r>
            <a:endParaRPr lang="en-US" sz="2800" dirty="0"/>
          </a:p>
        </p:txBody>
      </p:sp>
      <p:sp>
        <p:nvSpPr>
          <p:cNvPr id="8" name="Text 5"/>
          <p:cNvSpPr txBox="1"/>
          <p:nvPr/>
        </p:nvSpPr>
        <p:spPr>
          <a:xfrm>
            <a:off x="822960" y="2560320"/>
            <a:ext cx="2194560" cy="640080"/>
          </a:xfrm>
          <a:prstGeom prst="rect">
            <a:avLst/>
          </a:prstGeom>
          <a:noFill/>
          <a:ln/>
        </p:spPr>
        <p:txBody>
          <a:bodyPr wrap="square" lIns="0" tIns="0" rIns="0" bIns="0" rtlCol="0" anchor="t"/>
          <a:lstStyle/>
          <a:p>
            <a:pPr marL="0" indent="0">
              <a:buNone/>
            </a:pPr>
            <a:r>
              <a:rPr lang="en-US" sz="1800" b="1" dirty="0">
                <a:solidFill>
                  <a:srgbClr val="13213C"/>
                </a:solidFill>
                <a:latin typeface="Calibri" pitchFamily="34" charset="0"/>
                <a:ea typeface="Calibri" pitchFamily="34" charset="-122"/>
                <a:cs typeface="Calibri" pitchFamily="34" charset="-120"/>
              </a:rPr>
              <a:t>New UQ metrics</a:t>
            </a:r>
            <a:endParaRPr lang="en-US" sz="1800" dirty="0"/>
          </a:p>
        </p:txBody>
      </p:sp>
      <p:sp>
        <p:nvSpPr>
          <p:cNvPr id="9" name="Text 6"/>
          <p:cNvSpPr txBox="1"/>
          <p:nvPr/>
        </p:nvSpPr>
        <p:spPr>
          <a:xfrm>
            <a:off x="822960" y="3246120"/>
            <a:ext cx="2148840" cy="1920240"/>
          </a:xfrm>
          <a:prstGeom prst="rect">
            <a:avLst/>
          </a:prstGeom>
          <a:noFill/>
          <a:ln/>
        </p:spPr>
        <p:txBody>
          <a:bodyPr wrap="square" lIns="0" tIns="0" rIns="0" bIns="0" rtlCol="0" anchor="t"/>
          <a:lstStyle/>
          <a:p>
            <a:pPr marL="0" indent="0">
              <a:buNone/>
            </a:pPr>
            <a:r>
              <a:rPr lang="en-US" sz="1400" dirty="0">
                <a:solidFill>
                  <a:srgbClr val="1E2533"/>
                </a:solidFill>
                <a:latin typeface="Calibri" pitchFamily="34" charset="0"/>
                <a:ea typeface="Calibri" pitchFamily="34" charset="-122"/>
                <a:cs typeface="Calibri" pitchFamily="34" charset="-120"/>
              </a:rPr>
              <a:t>Which signals show that an AI-written test cannot be trusted?</a:t>
            </a:r>
            <a:endParaRPr lang="en-US" sz="1400" dirty="0"/>
          </a:p>
        </p:txBody>
      </p:sp>
      <p:sp>
        <p:nvSpPr>
          <p:cNvPr id="10" name="Shape 7"/>
          <p:cNvSpPr/>
          <p:nvPr/>
        </p:nvSpPr>
        <p:spPr>
          <a:xfrm>
            <a:off x="3364992" y="1371600"/>
            <a:ext cx="2633472" cy="3931920"/>
          </a:xfrm>
          <a:prstGeom prst="roundRect">
            <a:avLst>
              <a:gd name="adj" fmla="val 4167"/>
            </a:avLst>
          </a:prstGeom>
          <a:solidFill>
            <a:srgbClr val="F2F5F9"/>
          </a:solidFill>
          <a:ln w="12700">
            <a:solidFill>
              <a:srgbClr val="F2F5F9"/>
            </a:solidFill>
            <a:prstDash val="solid"/>
          </a:ln>
        </p:spPr>
        <p:txBody>
          <a:bodyPr/>
          <a:lstStyle/>
          <a:p>
            <a:endParaRPr lang="en-US"/>
          </a:p>
        </p:txBody>
      </p:sp>
      <p:sp>
        <p:nvSpPr>
          <p:cNvPr id="11" name="Shape 8"/>
          <p:cNvSpPr/>
          <p:nvPr/>
        </p:nvSpPr>
        <p:spPr>
          <a:xfrm>
            <a:off x="3639312" y="1645920"/>
            <a:ext cx="685800" cy="685800"/>
          </a:xfrm>
          <a:prstGeom prst="ellipse">
            <a:avLst/>
          </a:prstGeom>
          <a:solidFill>
            <a:srgbClr val="3567C8"/>
          </a:solidFill>
          <a:ln w="12700">
            <a:solidFill>
              <a:srgbClr val="3567C8"/>
            </a:solidFill>
            <a:prstDash val="solid"/>
          </a:ln>
        </p:spPr>
        <p:txBody>
          <a:bodyPr/>
          <a:lstStyle/>
          <a:p>
            <a:endParaRPr lang="en-US"/>
          </a:p>
        </p:txBody>
      </p:sp>
      <p:pic>
        <p:nvPicPr>
          <p:cNvPr id="12" name="Image 1" descr="preencoded.png"/>
          <p:cNvPicPr>
            <a:picLocks noChangeAspect="1"/>
          </p:cNvPicPr>
          <p:nvPr/>
        </p:nvPicPr>
        <p:blipFill>
          <a:blip r:embed="rId4"/>
          <a:stretch>
            <a:fillRect/>
          </a:stretch>
        </p:blipFill>
        <p:spPr>
          <a:xfrm>
            <a:off x="3810762" y="1817370"/>
            <a:ext cx="342900" cy="342900"/>
          </a:xfrm>
          <a:prstGeom prst="rect">
            <a:avLst/>
          </a:prstGeom>
        </p:spPr>
      </p:pic>
      <p:sp>
        <p:nvSpPr>
          <p:cNvPr id="13" name="Text 9"/>
          <p:cNvSpPr txBox="1"/>
          <p:nvPr/>
        </p:nvSpPr>
        <p:spPr>
          <a:xfrm>
            <a:off x="4462272" y="1719072"/>
            <a:ext cx="1280160" cy="548640"/>
          </a:xfrm>
          <a:prstGeom prst="rect">
            <a:avLst/>
          </a:prstGeom>
          <a:noFill/>
          <a:ln/>
        </p:spPr>
        <p:txBody>
          <a:bodyPr wrap="square" lIns="0" tIns="0" rIns="0" bIns="0" rtlCol="0" anchor="t"/>
          <a:lstStyle/>
          <a:p>
            <a:pPr marL="0" indent="0">
              <a:buNone/>
            </a:pPr>
            <a:r>
              <a:rPr lang="en-US" sz="2800" b="1" dirty="0">
                <a:solidFill>
                  <a:srgbClr val="3567C8"/>
                </a:solidFill>
                <a:latin typeface="Calibri" pitchFamily="34" charset="0"/>
                <a:ea typeface="Calibri" pitchFamily="34" charset="-122"/>
                <a:cs typeface="Calibri" pitchFamily="34" charset="-120"/>
              </a:rPr>
              <a:t>O2</a:t>
            </a:r>
            <a:endParaRPr lang="en-US" sz="2800" dirty="0"/>
          </a:p>
        </p:txBody>
      </p:sp>
      <p:sp>
        <p:nvSpPr>
          <p:cNvPr id="14" name="Text 10"/>
          <p:cNvSpPr txBox="1"/>
          <p:nvPr/>
        </p:nvSpPr>
        <p:spPr>
          <a:xfrm>
            <a:off x="3639312" y="2560320"/>
            <a:ext cx="2194560" cy="640080"/>
          </a:xfrm>
          <a:prstGeom prst="rect">
            <a:avLst/>
          </a:prstGeom>
          <a:noFill/>
          <a:ln/>
        </p:spPr>
        <p:txBody>
          <a:bodyPr wrap="square" lIns="0" tIns="0" rIns="0" bIns="0" rtlCol="0" anchor="t"/>
          <a:lstStyle/>
          <a:p>
            <a:pPr marL="0" indent="0">
              <a:buNone/>
            </a:pPr>
            <a:r>
              <a:rPr lang="en-US" sz="1800" b="1" dirty="0">
                <a:solidFill>
                  <a:srgbClr val="13213C"/>
                </a:solidFill>
                <a:latin typeface="Calibri" pitchFamily="34" charset="0"/>
                <a:ea typeface="Calibri" pitchFamily="34" charset="-122"/>
                <a:cs typeface="Calibri" pitchFamily="34" charset="-120"/>
              </a:rPr>
              <a:t>Risk &amp; trustworthiness</a:t>
            </a:r>
            <a:endParaRPr lang="en-US" sz="1800" dirty="0"/>
          </a:p>
        </p:txBody>
      </p:sp>
      <p:sp>
        <p:nvSpPr>
          <p:cNvPr id="15" name="Text 11"/>
          <p:cNvSpPr txBox="1"/>
          <p:nvPr/>
        </p:nvSpPr>
        <p:spPr>
          <a:xfrm>
            <a:off x="3639312" y="3246120"/>
            <a:ext cx="2148840" cy="1920240"/>
          </a:xfrm>
          <a:prstGeom prst="rect">
            <a:avLst/>
          </a:prstGeom>
          <a:noFill/>
          <a:ln/>
        </p:spPr>
        <p:txBody>
          <a:bodyPr wrap="square" lIns="0" tIns="0" rIns="0" bIns="0" rtlCol="0" anchor="t"/>
          <a:lstStyle/>
          <a:p>
            <a:pPr marL="0" indent="0">
              <a:buNone/>
            </a:pPr>
            <a:r>
              <a:rPr lang="en-US" sz="1400" dirty="0">
                <a:solidFill>
                  <a:srgbClr val="1E2533"/>
                </a:solidFill>
                <a:latin typeface="Calibri" pitchFamily="34" charset="0"/>
                <a:ea typeface="Calibri" pitchFamily="34" charset="-122"/>
                <a:cs typeface="Calibri" pitchFamily="34" charset="-120"/>
              </a:rPr>
              <a:t>How should these signals decide accept / review / reject, given the safety risk?</a:t>
            </a:r>
            <a:endParaRPr lang="en-US" sz="1400" dirty="0"/>
          </a:p>
        </p:txBody>
      </p:sp>
      <p:sp>
        <p:nvSpPr>
          <p:cNvPr id="16" name="Shape 12"/>
          <p:cNvSpPr/>
          <p:nvPr/>
        </p:nvSpPr>
        <p:spPr>
          <a:xfrm>
            <a:off x="6181344" y="1371600"/>
            <a:ext cx="2633472" cy="3931920"/>
          </a:xfrm>
          <a:prstGeom prst="roundRect">
            <a:avLst>
              <a:gd name="adj" fmla="val 4167"/>
            </a:avLst>
          </a:prstGeom>
          <a:solidFill>
            <a:srgbClr val="F2F5F9"/>
          </a:solidFill>
          <a:ln w="12700">
            <a:solidFill>
              <a:srgbClr val="F2F5F9"/>
            </a:solidFill>
            <a:prstDash val="solid"/>
          </a:ln>
        </p:spPr>
        <p:txBody>
          <a:bodyPr/>
          <a:lstStyle/>
          <a:p>
            <a:endParaRPr lang="en-US"/>
          </a:p>
        </p:txBody>
      </p:sp>
      <p:sp>
        <p:nvSpPr>
          <p:cNvPr id="17" name="Shape 13"/>
          <p:cNvSpPr/>
          <p:nvPr/>
        </p:nvSpPr>
        <p:spPr>
          <a:xfrm>
            <a:off x="6455664" y="1645920"/>
            <a:ext cx="685800" cy="685800"/>
          </a:xfrm>
          <a:prstGeom prst="ellipse">
            <a:avLst/>
          </a:prstGeom>
          <a:solidFill>
            <a:srgbClr val="E39B2D"/>
          </a:solidFill>
          <a:ln w="12700">
            <a:solidFill>
              <a:srgbClr val="E39B2D"/>
            </a:solidFill>
            <a:prstDash val="solid"/>
          </a:ln>
        </p:spPr>
        <p:txBody>
          <a:bodyPr/>
          <a:lstStyle/>
          <a:p>
            <a:endParaRPr lang="en-US"/>
          </a:p>
        </p:txBody>
      </p:sp>
      <p:pic>
        <p:nvPicPr>
          <p:cNvPr id="18" name="Image 2" descr="preencoded.png"/>
          <p:cNvPicPr>
            <a:picLocks noChangeAspect="1"/>
          </p:cNvPicPr>
          <p:nvPr/>
        </p:nvPicPr>
        <p:blipFill>
          <a:blip r:embed="rId5"/>
          <a:stretch>
            <a:fillRect/>
          </a:stretch>
        </p:blipFill>
        <p:spPr>
          <a:xfrm>
            <a:off x="6627114" y="1817370"/>
            <a:ext cx="342900" cy="342900"/>
          </a:xfrm>
          <a:prstGeom prst="rect">
            <a:avLst/>
          </a:prstGeom>
        </p:spPr>
      </p:pic>
      <p:sp>
        <p:nvSpPr>
          <p:cNvPr id="19" name="Text 14"/>
          <p:cNvSpPr txBox="1"/>
          <p:nvPr/>
        </p:nvSpPr>
        <p:spPr>
          <a:xfrm>
            <a:off x="7278624" y="1719072"/>
            <a:ext cx="1280160" cy="548640"/>
          </a:xfrm>
          <a:prstGeom prst="rect">
            <a:avLst/>
          </a:prstGeom>
          <a:noFill/>
          <a:ln/>
        </p:spPr>
        <p:txBody>
          <a:bodyPr wrap="square" lIns="0" tIns="0" rIns="0" bIns="0" rtlCol="0" anchor="t"/>
          <a:lstStyle/>
          <a:p>
            <a:pPr marL="0" indent="0">
              <a:buNone/>
            </a:pPr>
            <a:r>
              <a:rPr lang="en-US" sz="2800" b="1" dirty="0">
                <a:solidFill>
                  <a:srgbClr val="E39B2D"/>
                </a:solidFill>
                <a:latin typeface="Calibri" pitchFamily="34" charset="0"/>
                <a:ea typeface="Calibri" pitchFamily="34" charset="-122"/>
                <a:cs typeface="Calibri" pitchFamily="34" charset="-120"/>
              </a:rPr>
              <a:t>O3</a:t>
            </a:r>
            <a:endParaRPr lang="en-US" sz="2800" dirty="0"/>
          </a:p>
        </p:txBody>
      </p:sp>
      <p:sp>
        <p:nvSpPr>
          <p:cNvPr id="20" name="Text 15"/>
          <p:cNvSpPr txBox="1"/>
          <p:nvPr/>
        </p:nvSpPr>
        <p:spPr>
          <a:xfrm>
            <a:off x="6455664" y="2560320"/>
            <a:ext cx="2194560" cy="640080"/>
          </a:xfrm>
          <a:prstGeom prst="rect">
            <a:avLst/>
          </a:prstGeom>
          <a:noFill/>
          <a:ln/>
        </p:spPr>
        <p:txBody>
          <a:bodyPr wrap="square" lIns="0" tIns="0" rIns="0" bIns="0" rtlCol="0" anchor="t"/>
          <a:lstStyle/>
          <a:p>
            <a:pPr marL="0" indent="0">
              <a:buNone/>
            </a:pPr>
            <a:r>
              <a:rPr lang="en-US" sz="1800" b="1" dirty="0">
                <a:solidFill>
                  <a:srgbClr val="13213C"/>
                </a:solidFill>
                <a:latin typeface="Calibri" pitchFamily="34" charset="0"/>
                <a:ea typeface="Calibri" pitchFamily="34" charset="-122"/>
                <a:cs typeface="Calibri" pitchFamily="34" charset="-120"/>
              </a:rPr>
              <a:t>Uncertainty vs. quality</a:t>
            </a:r>
            <a:endParaRPr lang="en-US" sz="1800" dirty="0"/>
          </a:p>
        </p:txBody>
      </p:sp>
      <p:sp>
        <p:nvSpPr>
          <p:cNvPr id="21" name="Text 16"/>
          <p:cNvSpPr txBox="1"/>
          <p:nvPr/>
        </p:nvSpPr>
        <p:spPr>
          <a:xfrm>
            <a:off x="6455664" y="3246120"/>
            <a:ext cx="2148840" cy="1920240"/>
          </a:xfrm>
          <a:prstGeom prst="rect">
            <a:avLst/>
          </a:prstGeom>
          <a:noFill/>
          <a:ln/>
        </p:spPr>
        <p:txBody>
          <a:bodyPr wrap="square" lIns="0" tIns="0" rIns="0" bIns="0" rtlCol="0" anchor="t"/>
          <a:lstStyle/>
          <a:p>
            <a:pPr marL="0" indent="0">
              <a:buNone/>
            </a:pPr>
            <a:r>
              <a:rPr lang="en-US" sz="1400" dirty="0">
                <a:solidFill>
                  <a:srgbClr val="1E2533"/>
                </a:solidFill>
                <a:latin typeface="Calibri" pitchFamily="34" charset="0"/>
                <a:ea typeface="Calibri" pitchFamily="34" charset="-122"/>
                <a:cs typeface="Calibri" pitchFamily="34" charset="-120"/>
              </a:rPr>
              <a:t>How do they relate to correctness, bugs found and cost?</a:t>
            </a:r>
            <a:endParaRPr lang="en-US" sz="1400" dirty="0"/>
          </a:p>
        </p:txBody>
      </p:sp>
      <p:sp>
        <p:nvSpPr>
          <p:cNvPr id="22" name="Shape 17"/>
          <p:cNvSpPr/>
          <p:nvPr/>
        </p:nvSpPr>
        <p:spPr>
          <a:xfrm>
            <a:off x="8997696" y="1371600"/>
            <a:ext cx="2633472" cy="3931920"/>
          </a:xfrm>
          <a:prstGeom prst="roundRect">
            <a:avLst>
              <a:gd name="adj" fmla="val 4167"/>
            </a:avLst>
          </a:prstGeom>
          <a:solidFill>
            <a:srgbClr val="F2F5F9"/>
          </a:solidFill>
          <a:ln w="12700">
            <a:solidFill>
              <a:srgbClr val="F2F5F9"/>
            </a:solidFill>
            <a:prstDash val="solid"/>
          </a:ln>
        </p:spPr>
        <p:txBody>
          <a:bodyPr/>
          <a:lstStyle/>
          <a:p>
            <a:endParaRPr lang="en-US"/>
          </a:p>
        </p:txBody>
      </p:sp>
      <p:sp>
        <p:nvSpPr>
          <p:cNvPr id="23" name="Shape 18"/>
          <p:cNvSpPr/>
          <p:nvPr/>
        </p:nvSpPr>
        <p:spPr>
          <a:xfrm>
            <a:off x="9272016" y="1645920"/>
            <a:ext cx="685800" cy="685800"/>
          </a:xfrm>
          <a:prstGeom prst="ellipse">
            <a:avLst/>
          </a:prstGeom>
          <a:solidFill>
            <a:srgbClr val="6E56CF"/>
          </a:solidFill>
          <a:ln w="12700">
            <a:solidFill>
              <a:srgbClr val="6E56CF"/>
            </a:solidFill>
            <a:prstDash val="solid"/>
          </a:ln>
        </p:spPr>
        <p:txBody>
          <a:bodyPr/>
          <a:lstStyle/>
          <a:p>
            <a:endParaRPr lang="en-US"/>
          </a:p>
        </p:txBody>
      </p:sp>
      <p:pic>
        <p:nvPicPr>
          <p:cNvPr id="24" name="Image 3" descr="preencoded.png"/>
          <p:cNvPicPr>
            <a:picLocks noChangeAspect="1"/>
          </p:cNvPicPr>
          <p:nvPr/>
        </p:nvPicPr>
        <p:blipFill>
          <a:blip r:embed="rId6"/>
          <a:stretch>
            <a:fillRect/>
          </a:stretch>
        </p:blipFill>
        <p:spPr>
          <a:xfrm>
            <a:off x="9443466" y="1817370"/>
            <a:ext cx="342900" cy="342900"/>
          </a:xfrm>
          <a:prstGeom prst="rect">
            <a:avLst/>
          </a:prstGeom>
        </p:spPr>
      </p:pic>
      <p:sp>
        <p:nvSpPr>
          <p:cNvPr id="25" name="Text 19"/>
          <p:cNvSpPr txBox="1"/>
          <p:nvPr/>
        </p:nvSpPr>
        <p:spPr>
          <a:xfrm>
            <a:off x="10094976" y="1719072"/>
            <a:ext cx="1280160" cy="548640"/>
          </a:xfrm>
          <a:prstGeom prst="rect">
            <a:avLst/>
          </a:prstGeom>
          <a:noFill/>
          <a:ln/>
        </p:spPr>
        <p:txBody>
          <a:bodyPr wrap="square" lIns="0" tIns="0" rIns="0" bIns="0" rtlCol="0" anchor="t"/>
          <a:lstStyle/>
          <a:p>
            <a:pPr marL="0" indent="0">
              <a:buNone/>
            </a:pPr>
            <a:r>
              <a:rPr lang="en-US" sz="2800" b="1" dirty="0">
                <a:solidFill>
                  <a:srgbClr val="6E56CF"/>
                </a:solidFill>
                <a:latin typeface="Calibri" pitchFamily="34" charset="0"/>
                <a:ea typeface="Calibri" pitchFamily="34" charset="-122"/>
                <a:cs typeface="Calibri" pitchFamily="34" charset="-120"/>
              </a:rPr>
              <a:t>O4</a:t>
            </a:r>
            <a:endParaRPr lang="en-US" sz="2800" dirty="0"/>
          </a:p>
        </p:txBody>
      </p:sp>
      <p:sp>
        <p:nvSpPr>
          <p:cNvPr id="26" name="Text 20"/>
          <p:cNvSpPr txBox="1"/>
          <p:nvPr/>
        </p:nvSpPr>
        <p:spPr>
          <a:xfrm>
            <a:off x="9272016" y="2560320"/>
            <a:ext cx="2194560" cy="640080"/>
          </a:xfrm>
          <a:prstGeom prst="rect">
            <a:avLst/>
          </a:prstGeom>
          <a:noFill/>
          <a:ln/>
        </p:spPr>
        <p:txBody>
          <a:bodyPr wrap="square" lIns="0" tIns="0" rIns="0" bIns="0" rtlCol="0" anchor="t"/>
          <a:lstStyle/>
          <a:p>
            <a:pPr marL="0" indent="0">
              <a:buNone/>
            </a:pPr>
            <a:r>
              <a:rPr lang="en-US" sz="1800" b="1" dirty="0">
                <a:solidFill>
                  <a:srgbClr val="13213C"/>
                </a:solidFill>
                <a:latin typeface="Calibri" pitchFamily="34" charset="0"/>
                <a:ea typeface="Calibri" pitchFamily="34" charset="-122"/>
                <a:cs typeface="Calibri" pitchFamily="34" charset="-120"/>
              </a:rPr>
              <a:t>Future AI models</a:t>
            </a:r>
            <a:endParaRPr lang="en-US" sz="1800" dirty="0"/>
          </a:p>
        </p:txBody>
      </p:sp>
      <p:sp>
        <p:nvSpPr>
          <p:cNvPr id="27" name="Text 21"/>
          <p:cNvSpPr txBox="1"/>
          <p:nvPr/>
        </p:nvSpPr>
        <p:spPr>
          <a:xfrm>
            <a:off x="9272016" y="3246120"/>
            <a:ext cx="2148840" cy="1920240"/>
          </a:xfrm>
          <a:prstGeom prst="rect">
            <a:avLst/>
          </a:prstGeom>
          <a:noFill/>
          <a:ln/>
        </p:spPr>
        <p:txBody>
          <a:bodyPr wrap="square" lIns="0" tIns="0" rIns="0" bIns="0" rtlCol="0" anchor="t"/>
          <a:lstStyle/>
          <a:p>
            <a:pPr marL="0" indent="0">
              <a:buNone/>
            </a:pPr>
            <a:r>
              <a:rPr lang="en-US" sz="1400" dirty="0">
                <a:solidFill>
                  <a:srgbClr val="1E2533"/>
                </a:solidFill>
                <a:latin typeface="Calibri" pitchFamily="34" charset="0"/>
                <a:ea typeface="Calibri" pitchFamily="34" charset="-122"/>
                <a:cs typeface="Calibri" pitchFamily="34" charset="-120"/>
              </a:rPr>
              <a:t>Do they still work for newer AI and quantum ML models?</a:t>
            </a:r>
            <a:endParaRPr lang="en-US" sz="1400" dirty="0"/>
          </a:p>
        </p:txBody>
      </p:sp>
      <p:sp>
        <p:nvSpPr>
          <p:cNvPr id="28" name="Text 22"/>
          <p:cNvSpPr txBox="1"/>
          <p:nvPr/>
        </p:nvSpPr>
        <p:spPr>
          <a:xfrm>
            <a:off x="548640" y="5760720"/>
            <a:ext cx="11094415" cy="667512"/>
          </a:xfrm>
          <a:prstGeom prst="rect">
            <a:avLst/>
          </a:prstGeom>
          <a:noFill/>
          <a:ln/>
        </p:spPr>
        <p:txBody>
          <a:bodyPr wrap="square" lIns="0" tIns="0" rIns="0" bIns="0" rtlCol="0" anchor="b"/>
          <a:lstStyle/>
          <a:p>
            <a:pPr marL="0" indent="0">
              <a:buNone/>
            </a:pPr>
            <a:r>
              <a:rPr lang="en-US" sz="900" dirty="0">
                <a:solidFill>
                  <a:srgbClr val="5B6578"/>
                </a:solidFill>
                <a:latin typeface="Calibri" pitchFamily="34" charset="0"/>
                <a:ea typeface="Calibri" pitchFamily="34" charset="-122"/>
                <a:cs typeface="Calibri" pitchFamily="34" charset="-120"/>
              </a:rPr>
              <a:t>[30] InnoGuard: Hybrid and Generative Intelligence for Trustworthy Autonomous Cyber-Physical Systems, Horizon Europe MSCA Doctoral Network, GA No. 101169233, 2024–2028. https://cordis.europa.eu/project/id/101169233</a:t>
            </a:r>
            <a:endParaRPr lang="en-US" sz="900" dirty="0"/>
          </a:p>
        </p:txBody>
      </p:sp>
      <p:sp>
        <p:nvSpPr>
          <p:cNvPr id="29"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578"/>
                </a:solidFill>
                <a:latin typeface="Calibri"/>
                <a:ea typeface="Calibri"/>
                <a:cs typeface="Calibri"/>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109728"/>
            <a:ext cx="7315200" cy="228600"/>
          </a:xfrm>
          <a:prstGeom prst="rect">
            <a:avLst/>
          </a:prstGeom>
          <a:noFill/>
          <a:ln/>
        </p:spPr>
        <p:txBody>
          <a:bodyPr wrap="square" lIns="0" tIns="0" rIns="0" bIns="0" rtlCol="0" anchor="t"/>
          <a:lstStyle/>
          <a:p>
            <a:pPr marL="0" indent="0">
              <a:buNone/>
            </a:pPr>
            <a:r>
              <a:rPr lang="en-US" sz="1100" b="1" kern="0" spc="100" dirty="0">
                <a:solidFill>
                  <a:srgbClr val="E39B2D"/>
                </a:solidFill>
                <a:latin typeface="Calibri" pitchFamily="34" charset="0"/>
                <a:ea typeface="Calibri" pitchFamily="34" charset="-122"/>
                <a:cs typeface="Calibri" pitchFamily="34" charset="-120"/>
              </a:rPr>
              <a:t>PART B · GAPS → RESEARCH AGENDA</a:t>
            </a:r>
            <a:endParaRPr lang="en-US" sz="1100" dirty="0"/>
          </a:p>
        </p:txBody>
      </p:sp>
      <p:sp>
        <p:nvSpPr>
          <p:cNvPr id="3"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buNone/>
            </a:pPr>
            <a:r>
              <a:rPr lang="en-US" sz="3000" b="1" dirty="0">
                <a:solidFill>
                  <a:srgbClr val="13213C"/>
                </a:solidFill>
                <a:latin typeface="Cambria" pitchFamily="34" charset="0"/>
                <a:ea typeface="Cambria" pitchFamily="34" charset="-122"/>
                <a:cs typeface="Cambria" pitchFamily="34" charset="-120"/>
              </a:rPr>
              <a:t>From Demo 1's gaps to the PhD plan</a:t>
            </a:r>
            <a:endParaRPr lang="en-US" sz="3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4800600"/>
        </p:xfrm>
        <a:graphic>
          <a:graphicData uri="http://schemas.openxmlformats.org/drawingml/2006/table">
            <a:tbl>
              <a:tblPr/>
              <a:tblGrid>
                <a:gridCol w="96012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gridCol w="4645152">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tblGrid>
              <a:tr h="960120">
                <a:tc>
                  <a:txBody>
                    <a:bodyPr/>
                    <a:lstStyle/>
                    <a:p>
                      <a:pPr marL="0" indent="0">
                        <a:buNone/>
                      </a:pPr>
                      <a:r>
                        <a:rPr lang="en-US" sz="1400" b="1" dirty="0">
                          <a:solidFill>
                            <a:srgbClr val="FFFFFF"/>
                          </a:solidFill>
                        </a:rPr>
                        <a:t>From</a:t>
                      </a:r>
                      <a:endParaRPr lang="en-US" sz="1400" dirty="0"/>
                    </a:p>
                  </a:txBody>
                  <a:tcPr marT="91440" marB="91440" anchor="ctr">
                    <a:lnL w="9525" cap="flat" cmpd="sng" algn="ctr">
                      <a:solidFill>
                        <a:srgbClr val="DDE3EC"/>
                      </a:solidFill>
                      <a:prstDash val="solid"/>
                      <a:round/>
                      <a:headEnd type="none" w="med" len="med"/>
                      <a:tailEnd type="none" w="med" len="med"/>
                    </a:lnL>
                    <a:lnR w="9525" cap="flat" cmpd="sng" algn="ctr">
                      <a:solidFill>
                        <a:srgbClr val="DDE3EC"/>
                      </a:solidFill>
                      <a:prstDash val="solid"/>
                      <a:round/>
                      <a:headEnd type="none" w="med" len="med"/>
                      <a:tailEnd type="none" w="med" len="med"/>
                    </a:lnR>
                    <a:lnT w="9525" cap="flat" cmpd="sng" algn="ctr">
                      <a:solidFill>
                        <a:srgbClr val="DDE3EC"/>
                      </a:solidFill>
                      <a:prstDash val="solid"/>
                      <a:round/>
                      <a:headEnd type="none" w="med" len="med"/>
                      <a:tailEnd type="none" w="med" len="med"/>
                    </a:lnT>
                    <a:lnB w="9525" cap="flat" cmpd="sng" algn="ctr">
                      <a:solidFill>
                        <a:srgbClr val="DDE3EC"/>
                      </a:solidFill>
                      <a:prstDash val="solid"/>
                      <a:round/>
                      <a:headEnd type="none" w="med" len="med"/>
                      <a:tailEnd type="none" w="med" len="med"/>
                    </a:lnB>
                    <a:solidFill>
                      <a:srgbClr val="13213C"/>
                    </a:solidFill>
                  </a:tcPr>
                </a:tc>
                <a:tc>
                  <a:txBody>
                    <a:bodyPr/>
                    <a:lstStyle/>
                    <a:p>
                      <a:pPr marL="0" indent="0">
                        <a:buNone/>
                      </a:pPr>
                      <a:r>
                        <a:rPr lang="en-US" sz="1400" b="1" dirty="0">
                          <a:solidFill>
                            <a:srgbClr val="FFFFFF"/>
                          </a:solidFill>
                        </a:rPr>
                        <a:t>What Demo 1 cannot do</a:t>
                      </a:r>
                      <a:endParaRPr lang="en-US" sz="1400" dirty="0"/>
                    </a:p>
                  </a:txBody>
                  <a:tcPr marT="91440" marB="91440" anchor="ctr">
                    <a:lnL w="9525" cap="flat" cmpd="sng" algn="ctr">
                      <a:solidFill>
                        <a:srgbClr val="DDE3EC"/>
                      </a:solidFill>
                      <a:prstDash val="solid"/>
                      <a:round/>
                      <a:headEnd type="none" w="med" len="med"/>
                      <a:tailEnd type="none" w="med" len="med"/>
                    </a:lnL>
                    <a:lnR w="9525" cap="flat" cmpd="sng" algn="ctr">
                      <a:solidFill>
                        <a:srgbClr val="DDE3EC"/>
                      </a:solidFill>
                      <a:prstDash val="solid"/>
                      <a:round/>
                      <a:headEnd type="none" w="med" len="med"/>
                      <a:tailEnd type="none" w="med" len="med"/>
                    </a:lnR>
                    <a:lnT w="9525" cap="flat" cmpd="sng" algn="ctr">
                      <a:solidFill>
                        <a:srgbClr val="DDE3EC"/>
                      </a:solidFill>
                      <a:prstDash val="solid"/>
                      <a:round/>
                      <a:headEnd type="none" w="med" len="med"/>
                      <a:tailEnd type="none" w="med" len="med"/>
                    </a:lnT>
                    <a:lnB w="9525" cap="flat" cmpd="sng" algn="ctr">
                      <a:solidFill>
                        <a:srgbClr val="DDE3EC"/>
                      </a:solidFill>
                      <a:prstDash val="solid"/>
                      <a:round/>
                      <a:headEnd type="none" w="med" len="med"/>
                      <a:tailEnd type="none" w="med" len="med"/>
                    </a:lnB>
                    <a:solidFill>
                      <a:srgbClr val="13213C"/>
                    </a:solidFill>
                  </a:tcPr>
                </a:tc>
                <a:tc>
                  <a:txBody>
                    <a:bodyPr/>
                    <a:lstStyle/>
                    <a:p>
                      <a:pPr marL="0" indent="0">
                        <a:buNone/>
                      </a:pPr>
                      <a:r>
                        <a:rPr lang="en-US" sz="1400" b="1" dirty="0">
                          <a:solidFill>
                            <a:srgbClr val="FFFFFF"/>
                          </a:solidFill>
                        </a:rPr>
                        <a:t>What the PhD will do</a:t>
                      </a:r>
                      <a:endParaRPr lang="en-US" sz="1400" dirty="0"/>
                    </a:p>
                  </a:txBody>
                  <a:tcPr marT="91440" marB="91440" anchor="ctr">
                    <a:lnL w="9525" cap="flat" cmpd="sng" algn="ctr">
                      <a:solidFill>
                        <a:srgbClr val="DDE3EC"/>
                      </a:solidFill>
                      <a:prstDash val="solid"/>
                      <a:round/>
                      <a:headEnd type="none" w="med" len="med"/>
                      <a:tailEnd type="none" w="med" len="med"/>
                    </a:lnL>
                    <a:lnR w="9525" cap="flat" cmpd="sng" algn="ctr">
                      <a:solidFill>
                        <a:srgbClr val="DDE3EC"/>
                      </a:solidFill>
                      <a:prstDash val="solid"/>
                      <a:round/>
                      <a:headEnd type="none" w="med" len="med"/>
                      <a:tailEnd type="none" w="med" len="med"/>
                    </a:lnR>
                    <a:lnT w="9525" cap="flat" cmpd="sng" algn="ctr">
                      <a:solidFill>
                        <a:srgbClr val="DDE3EC"/>
                      </a:solidFill>
                      <a:prstDash val="solid"/>
                      <a:round/>
                      <a:headEnd type="none" w="med" len="med"/>
                      <a:tailEnd type="none" w="med" len="med"/>
                    </a:lnT>
                    <a:lnB w="9525" cap="flat" cmpd="sng" algn="ctr">
                      <a:solidFill>
                        <a:srgbClr val="DDE3EC"/>
                      </a:solidFill>
                      <a:prstDash val="solid"/>
                      <a:round/>
                      <a:headEnd type="none" w="med" len="med"/>
                      <a:tailEnd type="none" w="med" len="med"/>
                    </a:lnB>
                    <a:solidFill>
                      <a:srgbClr val="13213C"/>
                    </a:solidFill>
                  </a:tcPr>
                </a:tc>
                <a:tc>
                  <a:txBody>
                    <a:bodyPr/>
                    <a:lstStyle/>
                    <a:p>
                      <a:pPr marL="0" indent="0">
                        <a:buNone/>
                      </a:pPr>
                      <a:r>
                        <a:rPr lang="en-US" sz="1400" b="1" dirty="0">
                          <a:solidFill>
                            <a:srgbClr val="FFFFFF"/>
                          </a:solidFill>
                        </a:rPr>
                        <a:t>Obj.</a:t>
                      </a:r>
                      <a:endParaRPr lang="en-US" sz="1400" dirty="0"/>
                    </a:p>
                  </a:txBody>
                  <a:tcPr marT="91440" marB="91440" anchor="ctr">
                    <a:lnL w="9525" cap="flat" cmpd="sng" algn="ctr">
                      <a:solidFill>
                        <a:srgbClr val="DDE3EC"/>
                      </a:solidFill>
                      <a:prstDash val="solid"/>
                      <a:round/>
                      <a:headEnd type="none" w="med" len="med"/>
                      <a:tailEnd type="none" w="med" len="med"/>
                    </a:lnL>
                    <a:lnR w="9525" cap="flat" cmpd="sng" algn="ctr">
                      <a:solidFill>
                        <a:srgbClr val="DDE3EC"/>
                      </a:solidFill>
                      <a:prstDash val="solid"/>
                      <a:round/>
                      <a:headEnd type="none" w="med" len="med"/>
                      <a:tailEnd type="none" w="med" len="med"/>
                    </a:lnR>
                    <a:lnT w="9525" cap="flat" cmpd="sng" algn="ctr">
                      <a:solidFill>
                        <a:srgbClr val="DDE3EC"/>
                      </a:solidFill>
                      <a:prstDash val="solid"/>
                      <a:round/>
                      <a:headEnd type="none" w="med" len="med"/>
                      <a:tailEnd type="none" w="med" len="med"/>
                    </a:lnT>
                    <a:lnB w="9525" cap="flat" cmpd="sng" algn="ctr">
                      <a:solidFill>
                        <a:srgbClr val="DDE3EC"/>
                      </a:solidFill>
                      <a:prstDash val="solid"/>
                      <a:round/>
                      <a:headEnd type="none" w="med" len="med"/>
                      <a:tailEnd type="none" w="med" len="med"/>
                    </a:lnB>
                    <a:solidFill>
                      <a:srgbClr val="13213C"/>
                    </a:solidFill>
                  </a:tcPr>
                </a:tc>
                <a:extLst>
                  <a:ext uri="{0D108BD9-81ED-4DB2-BD59-A6C34878D82A}">
                    <a16:rowId xmlns:a16="http://schemas.microsoft.com/office/drawing/2014/main" val="10000"/>
                  </a:ext>
                </a:extLst>
              </a:tr>
              <a:tr h="960120">
                <a:tc>
                  <a:txBody>
                    <a:bodyPr/>
                    <a:lstStyle/>
                    <a:p>
                      <a:pPr marL="0" indent="0">
                        <a:buNone/>
                      </a:pPr>
                      <a:r>
                        <a:rPr lang="en-US" sz="1300" b="1" dirty="0">
                          <a:solidFill>
                            <a:srgbClr val="4F46E5"/>
                          </a:solidFill>
                        </a:rPr>
                        <a:t>Demo 1</a:t>
                      </a:r>
                      <a:endParaRPr lang="en-US" sz="1300" dirty="0"/>
                    </a:p>
                  </a:txBody>
                  <a:tcPr marT="91440" marB="91440" anchor="ctr">
                    <a:lnL w="9525" cap="flat" cmpd="sng" algn="ctr">
                      <a:solidFill>
                        <a:srgbClr val="DDE3EC"/>
                      </a:solidFill>
                      <a:prstDash val="solid"/>
                      <a:round/>
                      <a:headEnd type="none" w="med" len="med"/>
                      <a:tailEnd type="none" w="med" len="med"/>
                    </a:lnL>
                    <a:lnR w="9525" cap="flat" cmpd="sng" algn="ctr">
                      <a:solidFill>
                        <a:srgbClr val="DDE3EC"/>
                      </a:solidFill>
                      <a:prstDash val="solid"/>
                      <a:round/>
                      <a:headEnd type="none" w="med" len="med"/>
                      <a:tailEnd type="none" w="med" len="med"/>
                    </a:lnR>
                    <a:lnT w="9525" cap="flat" cmpd="sng" algn="ctr">
                      <a:solidFill>
                        <a:srgbClr val="DDE3EC"/>
                      </a:solidFill>
                      <a:prstDash val="solid"/>
                      <a:round/>
                      <a:headEnd type="none" w="med" len="med"/>
                      <a:tailEnd type="none" w="med" len="med"/>
                    </a:lnT>
                    <a:lnB w="9525" cap="flat" cmpd="sng" algn="ctr">
                      <a:solidFill>
                        <a:srgbClr val="DDE3EC"/>
                      </a:solidFill>
                      <a:prstDash val="solid"/>
                      <a:round/>
                      <a:headEnd type="none" w="med" len="med"/>
                      <a:tailEnd type="none" w="med" len="med"/>
                    </a:lnB>
                    <a:solidFill>
                      <a:srgbClr val="F2F5F9"/>
                    </a:solidFill>
                  </a:tcPr>
                </a:tc>
                <a:tc>
                  <a:txBody>
                    <a:bodyPr/>
                    <a:lstStyle/>
                    <a:p>
                      <a:pPr marL="0" indent="0">
                        <a:buNone/>
                      </a:pPr>
                      <a:r>
                        <a:rPr lang="en-US" sz="1400" dirty="0">
                          <a:solidFill>
                            <a:srgbClr val="000000"/>
                          </a:solidFill>
                        </a:rPr>
                        <a:t>Cannot tell a wrong test from a real bug (6 of 18)</a:t>
                      </a:r>
                      <a:endParaRPr lang="en-US" sz="1400" dirty="0"/>
                    </a:p>
                  </a:txBody>
                  <a:tcPr marT="91440" marB="91440" anchor="ctr">
                    <a:lnL w="9525" cap="flat" cmpd="sng" algn="ctr">
                      <a:solidFill>
                        <a:srgbClr val="DDE3EC"/>
                      </a:solidFill>
                      <a:prstDash val="solid"/>
                      <a:round/>
                      <a:headEnd type="none" w="med" len="med"/>
                      <a:tailEnd type="none" w="med" len="med"/>
                    </a:lnL>
                    <a:lnR w="9525" cap="flat" cmpd="sng" algn="ctr">
                      <a:solidFill>
                        <a:srgbClr val="DDE3EC"/>
                      </a:solidFill>
                      <a:prstDash val="solid"/>
                      <a:round/>
                      <a:headEnd type="none" w="med" len="med"/>
                      <a:tailEnd type="none" w="med" len="med"/>
                    </a:lnR>
                    <a:lnT w="9525" cap="flat" cmpd="sng" algn="ctr">
                      <a:solidFill>
                        <a:srgbClr val="DDE3EC"/>
                      </a:solidFill>
                      <a:prstDash val="solid"/>
                      <a:round/>
                      <a:headEnd type="none" w="med" len="med"/>
                      <a:tailEnd type="none" w="med" len="med"/>
                    </a:lnT>
                    <a:lnB w="9525" cap="flat" cmpd="sng" algn="ctr">
                      <a:solidFill>
                        <a:srgbClr val="DDE3EC"/>
                      </a:solidFill>
                      <a:prstDash val="solid"/>
                      <a:round/>
                      <a:headEnd type="none" w="med" len="med"/>
                      <a:tailEnd type="none" w="med" len="med"/>
                    </a:lnB>
                    <a:solidFill>
                      <a:srgbClr val="F2F5F9"/>
                    </a:solidFill>
                  </a:tcPr>
                </a:tc>
                <a:tc>
                  <a:txBody>
                    <a:bodyPr/>
                    <a:lstStyle/>
                    <a:p>
                      <a:pPr marL="0" indent="0">
                        <a:buNone/>
                      </a:pPr>
                      <a:r>
                        <a:rPr lang="en-US" sz="1400" dirty="0">
                          <a:solidFill>
                            <a:srgbClr val="000000"/>
                          </a:solidFill>
                        </a:rPr>
                        <a:t>Signals that show when a test is untrustworthy</a:t>
                      </a:r>
                      <a:endParaRPr lang="en-US" sz="1400" dirty="0"/>
                    </a:p>
                  </a:txBody>
                  <a:tcPr marT="91440" marB="91440" anchor="ctr">
                    <a:lnL w="9525" cap="flat" cmpd="sng" algn="ctr">
                      <a:solidFill>
                        <a:srgbClr val="DDE3EC"/>
                      </a:solidFill>
                      <a:prstDash val="solid"/>
                      <a:round/>
                      <a:headEnd type="none" w="med" len="med"/>
                      <a:tailEnd type="none" w="med" len="med"/>
                    </a:lnL>
                    <a:lnR w="9525" cap="flat" cmpd="sng" algn="ctr">
                      <a:solidFill>
                        <a:srgbClr val="DDE3EC"/>
                      </a:solidFill>
                      <a:prstDash val="solid"/>
                      <a:round/>
                      <a:headEnd type="none" w="med" len="med"/>
                      <a:tailEnd type="none" w="med" len="med"/>
                    </a:lnR>
                    <a:lnT w="9525" cap="flat" cmpd="sng" algn="ctr">
                      <a:solidFill>
                        <a:srgbClr val="DDE3EC"/>
                      </a:solidFill>
                      <a:prstDash val="solid"/>
                      <a:round/>
                      <a:headEnd type="none" w="med" len="med"/>
                      <a:tailEnd type="none" w="med" len="med"/>
                    </a:lnT>
                    <a:lnB w="9525" cap="flat" cmpd="sng" algn="ctr">
                      <a:solidFill>
                        <a:srgbClr val="DDE3EC"/>
                      </a:solidFill>
                      <a:prstDash val="solid"/>
                      <a:round/>
                      <a:headEnd type="none" w="med" len="med"/>
                      <a:tailEnd type="none" w="med" len="med"/>
                    </a:lnB>
                    <a:solidFill>
                      <a:srgbClr val="F2F5F9"/>
                    </a:solidFill>
                  </a:tcPr>
                </a:tc>
                <a:tc>
                  <a:txBody>
                    <a:bodyPr/>
                    <a:lstStyle/>
                    <a:p>
                      <a:pPr marL="0" indent="0" algn="ctr">
                        <a:buNone/>
                      </a:pPr>
                      <a:r>
                        <a:rPr lang="en-US" sz="1800" b="1" dirty="0">
                          <a:solidFill>
                            <a:srgbClr val="0F8B8D"/>
                          </a:solidFill>
                        </a:rPr>
                        <a:t>O1</a:t>
                      </a:r>
                      <a:endParaRPr lang="en-US" sz="1800" dirty="0"/>
                    </a:p>
                  </a:txBody>
                  <a:tcPr marT="91440" marB="91440" anchor="ctr">
                    <a:lnL w="9525" cap="flat" cmpd="sng" algn="ctr">
                      <a:solidFill>
                        <a:srgbClr val="DDE3EC"/>
                      </a:solidFill>
                      <a:prstDash val="solid"/>
                      <a:round/>
                      <a:headEnd type="none" w="med" len="med"/>
                      <a:tailEnd type="none" w="med" len="med"/>
                    </a:lnL>
                    <a:lnR w="9525" cap="flat" cmpd="sng" algn="ctr">
                      <a:solidFill>
                        <a:srgbClr val="DDE3EC"/>
                      </a:solidFill>
                      <a:prstDash val="solid"/>
                      <a:round/>
                      <a:headEnd type="none" w="med" len="med"/>
                      <a:tailEnd type="none" w="med" len="med"/>
                    </a:lnR>
                    <a:lnT w="9525" cap="flat" cmpd="sng" algn="ctr">
                      <a:solidFill>
                        <a:srgbClr val="DDE3EC"/>
                      </a:solidFill>
                      <a:prstDash val="solid"/>
                      <a:round/>
                      <a:headEnd type="none" w="med" len="med"/>
                      <a:tailEnd type="none" w="med" len="med"/>
                    </a:lnT>
                    <a:lnB w="9525" cap="flat" cmpd="sng" algn="ctr">
                      <a:solidFill>
                        <a:srgbClr val="DDE3EC"/>
                      </a:solidFill>
                      <a:prstDash val="solid"/>
                      <a:round/>
                      <a:headEnd type="none" w="med" len="med"/>
                      <a:tailEnd type="none" w="med" len="med"/>
                    </a:lnB>
                    <a:solidFill>
                      <a:srgbClr val="F2F5F9"/>
                    </a:solidFill>
                  </a:tcPr>
                </a:tc>
                <a:extLst>
                  <a:ext uri="{0D108BD9-81ED-4DB2-BD59-A6C34878D82A}">
                    <a16:rowId xmlns:a16="http://schemas.microsoft.com/office/drawing/2014/main" val="10001"/>
                  </a:ext>
                </a:extLst>
              </a:tr>
              <a:tr h="960120">
                <a:tc>
                  <a:txBody>
                    <a:bodyPr/>
                    <a:lstStyle/>
                    <a:p>
                      <a:pPr marL="0" indent="0">
                        <a:buNone/>
                      </a:pPr>
                      <a:r>
                        <a:rPr lang="en-US" sz="1300" b="1" dirty="0">
                          <a:solidFill>
                            <a:srgbClr val="4F46E5"/>
                          </a:solidFill>
                        </a:rPr>
                        <a:t>Demo 1</a:t>
                      </a:r>
                      <a:endParaRPr lang="en-US" sz="1300" dirty="0"/>
                    </a:p>
                  </a:txBody>
                  <a:tcPr marT="91440" marB="91440" anchor="ctr">
                    <a:lnL w="9525" cap="flat" cmpd="sng" algn="ctr">
                      <a:solidFill>
                        <a:srgbClr val="DDE3EC"/>
                      </a:solidFill>
                      <a:prstDash val="solid"/>
                      <a:round/>
                      <a:headEnd type="none" w="med" len="med"/>
                      <a:tailEnd type="none" w="med" len="med"/>
                    </a:lnL>
                    <a:lnR w="9525" cap="flat" cmpd="sng" algn="ctr">
                      <a:solidFill>
                        <a:srgbClr val="DDE3EC"/>
                      </a:solidFill>
                      <a:prstDash val="solid"/>
                      <a:round/>
                      <a:headEnd type="none" w="med" len="med"/>
                      <a:tailEnd type="none" w="med" len="med"/>
                    </a:lnR>
                    <a:lnT w="9525" cap="flat" cmpd="sng" algn="ctr">
                      <a:solidFill>
                        <a:srgbClr val="DDE3EC"/>
                      </a:solidFill>
                      <a:prstDash val="solid"/>
                      <a:round/>
                      <a:headEnd type="none" w="med" len="med"/>
                      <a:tailEnd type="none" w="med" len="med"/>
                    </a:lnT>
                    <a:lnB w="9525" cap="flat" cmpd="sng" algn="ctr">
                      <a:solidFill>
                        <a:srgbClr val="DDE3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Every FAIL looks the same → a person checks all 18</a:t>
                      </a:r>
                      <a:endParaRPr lang="en-US" sz="1400" dirty="0"/>
                    </a:p>
                  </a:txBody>
                  <a:tcPr marT="91440" marB="91440" anchor="ctr">
                    <a:lnL w="9525" cap="flat" cmpd="sng" algn="ctr">
                      <a:solidFill>
                        <a:srgbClr val="DDE3EC"/>
                      </a:solidFill>
                      <a:prstDash val="solid"/>
                      <a:round/>
                      <a:headEnd type="none" w="med" len="med"/>
                      <a:tailEnd type="none" w="med" len="med"/>
                    </a:lnL>
                    <a:lnR w="9525" cap="flat" cmpd="sng" algn="ctr">
                      <a:solidFill>
                        <a:srgbClr val="DDE3EC"/>
                      </a:solidFill>
                      <a:prstDash val="solid"/>
                      <a:round/>
                      <a:headEnd type="none" w="med" len="med"/>
                      <a:tailEnd type="none" w="med" len="med"/>
                    </a:lnR>
                    <a:lnT w="9525" cap="flat" cmpd="sng" algn="ctr">
                      <a:solidFill>
                        <a:srgbClr val="DDE3EC"/>
                      </a:solidFill>
                      <a:prstDash val="solid"/>
                      <a:round/>
                      <a:headEnd type="none" w="med" len="med"/>
                      <a:tailEnd type="none" w="med" len="med"/>
                    </a:lnT>
                    <a:lnB w="9525" cap="flat" cmpd="sng" algn="ctr">
                      <a:solidFill>
                        <a:srgbClr val="DDE3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Accept / review / reject based on risk</a:t>
                      </a:r>
                      <a:endParaRPr lang="en-US" sz="1400" dirty="0"/>
                    </a:p>
                  </a:txBody>
                  <a:tcPr marT="91440" marB="91440" anchor="ctr">
                    <a:lnL w="9525" cap="flat" cmpd="sng" algn="ctr">
                      <a:solidFill>
                        <a:srgbClr val="DDE3EC"/>
                      </a:solidFill>
                      <a:prstDash val="solid"/>
                      <a:round/>
                      <a:headEnd type="none" w="med" len="med"/>
                      <a:tailEnd type="none" w="med" len="med"/>
                    </a:lnL>
                    <a:lnR w="9525" cap="flat" cmpd="sng" algn="ctr">
                      <a:solidFill>
                        <a:srgbClr val="DDE3EC"/>
                      </a:solidFill>
                      <a:prstDash val="solid"/>
                      <a:round/>
                      <a:headEnd type="none" w="med" len="med"/>
                      <a:tailEnd type="none" w="med" len="med"/>
                    </a:lnR>
                    <a:lnT w="9525" cap="flat" cmpd="sng" algn="ctr">
                      <a:solidFill>
                        <a:srgbClr val="DDE3EC"/>
                      </a:solidFill>
                      <a:prstDash val="solid"/>
                      <a:round/>
                      <a:headEnd type="none" w="med" len="med"/>
                      <a:tailEnd type="none" w="med" len="med"/>
                    </a:lnT>
                    <a:lnB w="9525" cap="flat" cmpd="sng" algn="ctr">
                      <a:solidFill>
                        <a:srgbClr val="DDE3EC"/>
                      </a:solidFill>
                      <a:prstDash val="solid"/>
                      <a:round/>
                      <a:headEnd type="none" w="med" len="med"/>
                      <a:tailEnd type="none" w="med" len="med"/>
                    </a:lnB>
                    <a:solidFill>
                      <a:srgbClr val="FFFFFF"/>
                    </a:solidFill>
                  </a:tcPr>
                </a:tc>
                <a:tc>
                  <a:txBody>
                    <a:bodyPr/>
                    <a:lstStyle/>
                    <a:p>
                      <a:pPr marL="0" indent="0" algn="ctr">
                        <a:buNone/>
                      </a:pPr>
                      <a:r>
                        <a:rPr lang="en-US" sz="1800" b="1" dirty="0">
                          <a:solidFill>
                            <a:srgbClr val="3567C8"/>
                          </a:solidFill>
                        </a:rPr>
                        <a:t>O2</a:t>
                      </a:r>
                      <a:endParaRPr lang="en-US" sz="1800" dirty="0"/>
                    </a:p>
                  </a:txBody>
                  <a:tcPr marT="91440" marB="91440" anchor="ctr">
                    <a:lnL w="9525" cap="flat" cmpd="sng" algn="ctr">
                      <a:solidFill>
                        <a:srgbClr val="DDE3EC"/>
                      </a:solidFill>
                      <a:prstDash val="solid"/>
                      <a:round/>
                      <a:headEnd type="none" w="med" len="med"/>
                      <a:tailEnd type="none" w="med" len="med"/>
                    </a:lnL>
                    <a:lnR w="9525" cap="flat" cmpd="sng" algn="ctr">
                      <a:solidFill>
                        <a:srgbClr val="DDE3EC"/>
                      </a:solidFill>
                      <a:prstDash val="solid"/>
                      <a:round/>
                      <a:headEnd type="none" w="med" len="med"/>
                      <a:tailEnd type="none" w="med" len="med"/>
                    </a:lnR>
                    <a:lnT w="9525" cap="flat" cmpd="sng" algn="ctr">
                      <a:solidFill>
                        <a:srgbClr val="DDE3EC"/>
                      </a:solidFill>
                      <a:prstDash val="solid"/>
                      <a:round/>
                      <a:headEnd type="none" w="med" len="med"/>
                      <a:tailEnd type="none" w="med" len="med"/>
                    </a:lnT>
                    <a:lnB w="9525" cap="flat" cmpd="sng" algn="ctr">
                      <a:solidFill>
                        <a:srgbClr val="DDE3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960120">
                <a:tc>
                  <a:txBody>
                    <a:bodyPr/>
                    <a:lstStyle/>
                    <a:p>
                      <a:pPr marL="0" indent="0">
                        <a:buNone/>
                      </a:pPr>
                      <a:r>
                        <a:rPr lang="en-US" sz="1300" b="1" dirty="0">
                          <a:solidFill>
                            <a:srgbClr val="4F46E5"/>
                          </a:solidFill>
                        </a:rPr>
                        <a:t>Demo 1</a:t>
                      </a:r>
                      <a:endParaRPr lang="en-US" sz="1300" dirty="0"/>
                    </a:p>
                  </a:txBody>
                  <a:tcPr marT="91440" marB="91440" anchor="ctr">
                    <a:lnL w="9525" cap="flat" cmpd="sng" algn="ctr">
                      <a:solidFill>
                        <a:srgbClr val="DDE3EC"/>
                      </a:solidFill>
                      <a:prstDash val="solid"/>
                      <a:round/>
                      <a:headEnd type="none" w="med" len="med"/>
                      <a:tailEnd type="none" w="med" len="med"/>
                    </a:lnL>
                    <a:lnR w="9525" cap="flat" cmpd="sng" algn="ctr">
                      <a:solidFill>
                        <a:srgbClr val="DDE3EC"/>
                      </a:solidFill>
                      <a:prstDash val="solid"/>
                      <a:round/>
                      <a:headEnd type="none" w="med" len="med"/>
                      <a:tailEnd type="none" w="med" len="med"/>
                    </a:lnR>
                    <a:lnT w="9525" cap="flat" cmpd="sng" algn="ctr">
                      <a:solidFill>
                        <a:srgbClr val="DDE3EC"/>
                      </a:solidFill>
                      <a:prstDash val="solid"/>
                      <a:round/>
                      <a:headEnd type="none" w="med" len="med"/>
                      <a:tailEnd type="none" w="med" len="med"/>
                    </a:lnT>
                    <a:lnB w="9525" cap="flat" cmpd="sng" algn="ctr">
                      <a:solidFill>
                        <a:srgbClr val="DDE3EC"/>
                      </a:solidFill>
                      <a:prstDash val="solid"/>
                      <a:round/>
                      <a:headEnd type="none" w="med" len="med"/>
                      <a:tailEnd type="none" w="med" len="med"/>
                    </a:lnB>
                    <a:solidFill>
                      <a:srgbClr val="F2F5F9"/>
                    </a:solidFill>
                  </a:tcPr>
                </a:tc>
                <a:tc>
                  <a:txBody>
                    <a:bodyPr/>
                    <a:lstStyle/>
                    <a:p>
                      <a:pPr marL="0" indent="0">
                        <a:buNone/>
                      </a:pPr>
                      <a:r>
                        <a:rPr lang="en-US" sz="1400" dirty="0">
                          <a:solidFill>
                            <a:srgbClr val="000000"/>
                          </a:solidFill>
                        </a:rPr>
                        <a:t>Wrong tests hid 2 real bugs</a:t>
                      </a:r>
                      <a:endParaRPr lang="en-US" sz="1400" dirty="0"/>
                    </a:p>
                  </a:txBody>
                  <a:tcPr marT="91440" marB="91440" anchor="ctr">
                    <a:lnL w="9525" cap="flat" cmpd="sng" algn="ctr">
                      <a:solidFill>
                        <a:srgbClr val="DDE3EC"/>
                      </a:solidFill>
                      <a:prstDash val="solid"/>
                      <a:round/>
                      <a:headEnd type="none" w="med" len="med"/>
                      <a:tailEnd type="none" w="med" len="med"/>
                    </a:lnL>
                    <a:lnR w="9525" cap="flat" cmpd="sng" algn="ctr">
                      <a:solidFill>
                        <a:srgbClr val="DDE3EC"/>
                      </a:solidFill>
                      <a:prstDash val="solid"/>
                      <a:round/>
                      <a:headEnd type="none" w="med" len="med"/>
                      <a:tailEnd type="none" w="med" len="med"/>
                    </a:lnR>
                    <a:lnT w="9525" cap="flat" cmpd="sng" algn="ctr">
                      <a:solidFill>
                        <a:srgbClr val="DDE3EC"/>
                      </a:solidFill>
                      <a:prstDash val="solid"/>
                      <a:round/>
                      <a:headEnd type="none" w="med" len="med"/>
                      <a:tailEnd type="none" w="med" len="med"/>
                    </a:lnT>
                    <a:lnB w="9525" cap="flat" cmpd="sng" algn="ctr">
                      <a:solidFill>
                        <a:srgbClr val="DDE3EC"/>
                      </a:solidFill>
                      <a:prstDash val="solid"/>
                      <a:round/>
                      <a:headEnd type="none" w="med" len="med"/>
                      <a:tailEnd type="none" w="med" len="med"/>
                    </a:lnB>
                    <a:solidFill>
                      <a:srgbClr val="F2F5F9"/>
                    </a:solidFill>
                  </a:tcPr>
                </a:tc>
                <a:tc>
                  <a:txBody>
                    <a:bodyPr/>
                    <a:lstStyle/>
                    <a:p>
                      <a:pPr marL="0" indent="0">
                        <a:buNone/>
                      </a:pPr>
                      <a:r>
                        <a:rPr lang="en-US" sz="1400" dirty="0">
                          <a:solidFill>
                            <a:srgbClr val="000000"/>
                          </a:solidFill>
                        </a:rPr>
                        <a:t>Measure how trust relates to correctness and cost</a:t>
                      </a:r>
                      <a:endParaRPr lang="en-US" sz="1400" dirty="0"/>
                    </a:p>
                  </a:txBody>
                  <a:tcPr marT="91440" marB="91440" anchor="ctr">
                    <a:lnL w="9525" cap="flat" cmpd="sng" algn="ctr">
                      <a:solidFill>
                        <a:srgbClr val="DDE3EC"/>
                      </a:solidFill>
                      <a:prstDash val="solid"/>
                      <a:round/>
                      <a:headEnd type="none" w="med" len="med"/>
                      <a:tailEnd type="none" w="med" len="med"/>
                    </a:lnL>
                    <a:lnR w="9525" cap="flat" cmpd="sng" algn="ctr">
                      <a:solidFill>
                        <a:srgbClr val="DDE3EC"/>
                      </a:solidFill>
                      <a:prstDash val="solid"/>
                      <a:round/>
                      <a:headEnd type="none" w="med" len="med"/>
                      <a:tailEnd type="none" w="med" len="med"/>
                    </a:lnR>
                    <a:lnT w="9525" cap="flat" cmpd="sng" algn="ctr">
                      <a:solidFill>
                        <a:srgbClr val="DDE3EC"/>
                      </a:solidFill>
                      <a:prstDash val="solid"/>
                      <a:round/>
                      <a:headEnd type="none" w="med" len="med"/>
                      <a:tailEnd type="none" w="med" len="med"/>
                    </a:lnT>
                    <a:lnB w="9525" cap="flat" cmpd="sng" algn="ctr">
                      <a:solidFill>
                        <a:srgbClr val="DDE3EC"/>
                      </a:solidFill>
                      <a:prstDash val="solid"/>
                      <a:round/>
                      <a:headEnd type="none" w="med" len="med"/>
                      <a:tailEnd type="none" w="med" len="med"/>
                    </a:lnB>
                    <a:solidFill>
                      <a:srgbClr val="F2F5F9"/>
                    </a:solidFill>
                  </a:tcPr>
                </a:tc>
                <a:tc>
                  <a:txBody>
                    <a:bodyPr/>
                    <a:lstStyle/>
                    <a:p>
                      <a:pPr marL="0" indent="0" algn="ctr">
                        <a:buNone/>
                      </a:pPr>
                      <a:r>
                        <a:rPr lang="en-US" sz="1800" b="1" dirty="0">
                          <a:solidFill>
                            <a:srgbClr val="E39B2D"/>
                          </a:solidFill>
                        </a:rPr>
                        <a:t>O3</a:t>
                      </a:r>
                      <a:endParaRPr lang="en-US" sz="1800" dirty="0"/>
                    </a:p>
                  </a:txBody>
                  <a:tcPr marT="91440" marB="91440" anchor="ctr">
                    <a:lnL w="9525" cap="flat" cmpd="sng" algn="ctr">
                      <a:solidFill>
                        <a:srgbClr val="DDE3EC"/>
                      </a:solidFill>
                      <a:prstDash val="solid"/>
                      <a:round/>
                      <a:headEnd type="none" w="med" len="med"/>
                      <a:tailEnd type="none" w="med" len="med"/>
                    </a:lnL>
                    <a:lnR w="9525" cap="flat" cmpd="sng" algn="ctr">
                      <a:solidFill>
                        <a:srgbClr val="DDE3EC"/>
                      </a:solidFill>
                      <a:prstDash val="solid"/>
                      <a:round/>
                      <a:headEnd type="none" w="med" len="med"/>
                      <a:tailEnd type="none" w="med" len="med"/>
                    </a:lnR>
                    <a:lnT w="9525" cap="flat" cmpd="sng" algn="ctr">
                      <a:solidFill>
                        <a:srgbClr val="DDE3EC"/>
                      </a:solidFill>
                      <a:prstDash val="solid"/>
                      <a:round/>
                      <a:headEnd type="none" w="med" len="med"/>
                      <a:tailEnd type="none" w="med" len="med"/>
                    </a:lnT>
                    <a:lnB w="9525" cap="flat" cmpd="sng" algn="ctr">
                      <a:solidFill>
                        <a:srgbClr val="DDE3EC"/>
                      </a:solidFill>
                      <a:prstDash val="solid"/>
                      <a:round/>
                      <a:headEnd type="none" w="med" len="med"/>
                      <a:tailEnd type="none" w="med" len="med"/>
                    </a:lnB>
                    <a:solidFill>
                      <a:srgbClr val="F2F5F9"/>
                    </a:solidFill>
                  </a:tcPr>
                </a:tc>
                <a:extLst>
                  <a:ext uri="{0D108BD9-81ED-4DB2-BD59-A6C34878D82A}">
                    <a16:rowId xmlns:a16="http://schemas.microsoft.com/office/drawing/2014/main" val="10003"/>
                  </a:ext>
                </a:extLst>
              </a:tr>
              <a:tr h="960120">
                <a:tc>
                  <a:txBody>
                    <a:bodyPr/>
                    <a:lstStyle/>
                    <a:p>
                      <a:pPr marL="0" indent="0">
                        <a:buNone/>
                      </a:pPr>
                      <a:r>
                        <a:rPr lang="en-US" sz="1300" b="1" dirty="0">
                          <a:solidFill>
                            <a:srgbClr val="5B6578"/>
                          </a:solidFill>
                        </a:rPr>
                        <a:t>Next</a:t>
                      </a:r>
                      <a:endParaRPr lang="en-US" sz="1300" dirty="0"/>
                    </a:p>
                  </a:txBody>
                  <a:tcPr marT="91440" marB="91440" anchor="ctr">
                    <a:lnL w="9525" cap="flat" cmpd="sng" algn="ctr">
                      <a:solidFill>
                        <a:srgbClr val="DDE3EC"/>
                      </a:solidFill>
                      <a:prstDash val="solid"/>
                      <a:round/>
                      <a:headEnd type="none" w="med" len="med"/>
                      <a:tailEnd type="none" w="med" len="med"/>
                    </a:lnL>
                    <a:lnR w="9525" cap="flat" cmpd="sng" algn="ctr">
                      <a:solidFill>
                        <a:srgbClr val="DDE3EC"/>
                      </a:solidFill>
                      <a:prstDash val="solid"/>
                      <a:round/>
                      <a:headEnd type="none" w="med" len="med"/>
                      <a:tailEnd type="none" w="med" len="med"/>
                    </a:lnR>
                    <a:lnT w="9525" cap="flat" cmpd="sng" algn="ctr">
                      <a:solidFill>
                        <a:srgbClr val="DDE3EC"/>
                      </a:solidFill>
                      <a:prstDash val="solid"/>
                      <a:round/>
                      <a:headEnd type="none" w="med" len="med"/>
                      <a:tailEnd type="none" w="med" len="med"/>
                    </a:lnT>
                    <a:lnB w="9525" cap="flat" cmpd="sng" algn="ctr">
                      <a:solidFill>
                        <a:srgbClr val="DDE3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One web shop, one AI model</a:t>
                      </a:r>
                      <a:endParaRPr lang="en-US" sz="1400" dirty="0"/>
                    </a:p>
                  </a:txBody>
                  <a:tcPr marT="91440" marB="91440" anchor="ctr">
                    <a:lnL w="9525" cap="flat" cmpd="sng" algn="ctr">
                      <a:solidFill>
                        <a:srgbClr val="DDE3EC"/>
                      </a:solidFill>
                      <a:prstDash val="solid"/>
                      <a:round/>
                      <a:headEnd type="none" w="med" len="med"/>
                      <a:tailEnd type="none" w="med" len="med"/>
                    </a:lnL>
                    <a:lnR w="9525" cap="flat" cmpd="sng" algn="ctr">
                      <a:solidFill>
                        <a:srgbClr val="DDE3EC"/>
                      </a:solidFill>
                      <a:prstDash val="solid"/>
                      <a:round/>
                      <a:headEnd type="none" w="med" len="med"/>
                      <a:tailEnd type="none" w="med" len="med"/>
                    </a:lnR>
                    <a:lnT w="9525" cap="flat" cmpd="sng" algn="ctr">
                      <a:solidFill>
                        <a:srgbClr val="DDE3EC"/>
                      </a:solidFill>
                      <a:prstDash val="solid"/>
                      <a:round/>
                      <a:headEnd type="none" w="med" len="med"/>
                      <a:tailEnd type="none" w="med" len="med"/>
                    </a:lnT>
                    <a:lnB w="9525" cap="flat" cmpd="sng" algn="ctr">
                      <a:solidFill>
                        <a:srgbClr val="DDE3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Self-driving simulators, industrial cases, InnoGuard platform, new AI models</a:t>
                      </a:r>
                      <a:endParaRPr lang="en-US" sz="1400" dirty="0"/>
                    </a:p>
                  </a:txBody>
                  <a:tcPr marT="91440" marB="91440" anchor="ctr">
                    <a:lnL w="9525" cap="flat" cmpd="sng" algn="ctr">
                      <a:solidFill>
                        <a:srgbClr val="DDE3EC"/>
                      </a:solidFill>
                      <a:prstDash val="solid"/>
                      <a:round/>
                      <a:headEnd type="none" w="med" len="med"/>
                      <a:tailEnd type="none" w="med" len="med"/>
                    </a:lnL>
                    <a:lnR w="9525" cap="flat" cmpd="sng" algn="ctr">
                      <a:solidFill>
                        <a:srgbClr val="DDE3EC"/>
                      </a:solidFill>
                      <a:prstDash val="solid"/>
                      <a:round/>
                      <a:headEnd type="none" w="med" len="med"/>
                      <a:tailEnd type="none" w="med" len="med"/>
                    </a:lnR>
                    <a:lnT w="9525" cap="flat" cmpd="sng" algn="ctr">
                      <a:solidFill>
                        <a:srgbClr val="DDE3EC"/>
                      </a:solidFill>
                      <a:prstDash val="solid"/>
                      <a:round/>
                      <a:headEnd type="none" w="med" len="med"/>
                      <a:tailEnd type="none" w="med" len="med"/>
                    </a:lnT>
                    <a:lnB w="9525" cap="flat" cmpd="sng" algn="ctr">
                      <a:solidFill>
                        <a:srgbClr val="DDE3EC"/>
                      </a:solidFill>
                      <a:prstDash val="solid"/>
                      <a:round/>
                      <a:headEnd type="none" w="med" len="med"/>
                      <a:tailEnd type="none" w="med" len="med"/>
                    </a:lnB>
                    <a:solidFill>
                      <a:srgbClr val="FFFFFF"/>
                    </a:solidFill>
                  </a:tcPr>
                </a:tc>
                <a:tc>
                  <a:txBody>
                    <a:bodyPr/>
                    <a:lstStyle/>
                    <a:p>
                      <a:pPr marL="0" indent="0" algn="ctr">
                        <a:buNone/>
                      </a:pPr>
                      <a:r>
                        <a:rPr lang="en-US" sz="1800" b="1" dirty="0">
                          <a:solidFill>
                            <a:srgbClr val="6E56CF"/>
                          </a:solidFill>
                        </a:rPr>
                        <a:t>O4</a:t>
                      </a:r>
                      <a:endParaRPr lang="en-US" sz="1800" dirty="0"/>
                    </a:p>
                  </a:txBody>
                  <a:tcPr marT="91440" marB="91440" anchor="ctr">
                    <a:lnL w="9525" cap="flat" cmpd="sng" algn="ctr">
                      <a:solidFill>
                        <a:srgbClr val="DDE3EC"/>
                      </a:solidFill>
                      <a:prstDash val="solid"/>
                      <a:round/>
                      <a:headEnd type="none" w="med" len="med"/>
                      <a:tailEnd type="none" w="med" len="med"/>
                    </a:lnL>
                    <a:lnR w="9525" cap="flat" cmpd="sng" algn="ctr">
                      <a:solidFill>
                        <a:srgbClr val="DDE3EC"/>
                      </a:solidFill>
                      <a:prstDash val="solid"/>
                      <a:round/>
                      <a:headEnd type="none" w="med" len="med"/>
                      <a:tailEnd type="none" w="med" len="med"/>
                    </a:lnR>
                    <a:lnT w="9525" cap="flat" cmpd="sng" algn="ctr">
                      <a:solidFill>
                        <a:srgbClr val="DDE3EC"/>
                      </a:solidFill>
                      <a:prstDash val="solid"/>
                      <a:round/>
                      <a:headEnd type="none" w="med" len="med"/>
                      <a:tailEnd type="none" w="med" len="med"/>
                    </a:lnT>
                    <a:lnB w="9525" cap="flat" cmpd="sng" algn="ctr">
                      <a:solidFill>
                        <a:srgbClr val="DDE3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578"/>
                </a:solidFill>
                <a:latin typeface="Calibri"/>
                <a:ea typeface="Calibri"/>
                <a:cs typeface="Calibri"/>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109728"/>
            <a:ext cx="7315200" cy="228600"/>
          </a:xfrm>
          <a:prstGeom prst="rect">
            <a:avLst/>
          </a:prstGeom>
          <a:noFill/>
          <a:ln/>
        </p:spPr>
        <p:txBody>
          <a:bodyPr wrap="square" lIns="0" tIns="0" rIns="0" bIns="0" rtlCol="0" anchor="t"/>
          <a:lstStyle/>
          <a:p>
            <a:pPr marL="0" indent="0">
              <a:buNone/>
            </a:pPr>
            <a:r>
              <a:rPr lang="en-US" sz="1100" b="1" kern="0" spc="100" dirty="0">
                <a:solidFill>
                  <a:srgbClr val="E39B2D"/>
                </a:solidFill>
                <a:latin typeface="Calibri" pitchFamily="34" charset="0"/>
                <a:ea typeface="Calibri" pitchFamily="34" charset="-122"/>
                <a:cs typeface="Calibri" pitchFamily="34" charset="-120"/>
              </a:rPr>
              <a:t>PART B · RESEARCH QUESTIONS</a:t>
            </a:r>
            <a:endParaRPr lang="en-US" sz="1100" dirty="0"/>
          </a:p>
        </p:txBody>
      </p:sp>
      <p:sp>
        <p:nvSpPr>
          <p:cNvPr id="3"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buNone/>
            </a:pPr>
            <a:r>
              <a:rPr lang="en-US" sz="3000" b="1" dirty="0">
                <a:solidFill>
                  <a:srgbClr val="13213C"/>
                </a:solidFill>
                <a:latin typeface="Cambria" pitchFamily="34" charset="0"/>
                <a:ea typeface="Cambria" pitchFamily="34" charset="-122"/>
                <a:cs typeface="Cambria" pitchFamily="34" charset="-120"/>
              </a:rPr>
              <a:t>Research questions and how I will answer them</a:t>
            </a:r>
            <a:endParaRPr lang="en-US" sz="3000" dirty="0"/>
          </a:p>
        </p:txBody>
      </p:sp>
      <p:sp>
        <p:nvSpPr>
          <p:cNvPr id="4" name="Shape 2"/>
          <p:cNvSpPr/>
          <p:nvPr/>
        </p:nvSpPr>
        <p:spPr>
          <a:xfrm>
            <a:off x="548640" y="1280160"/>
            <a:ext cx="11094415" cy="969264"/>
          </a:xfrm>
          <a:prstGeom prst="roundRect">
            <a:avLst>
              <a:gd name="adj" fmla="val 11321"/>
            </a:avLst>
          </a:prstGeom>
          <a:solidFill>
            <a:srgbClr val="F2F5F9"/>
          </a:solidFill>
          <a:ln w="12700">
            <a:solidFill>
              <a:srgbClr val="F2F5F9"/>
            </a:solidFill>
            <a:prstDash val="solid"/>
          </a:ln>
        </p:spPr>
        <p:txBody>
          <a:bodyPr/>
          <a:lstStyle/>
          <a:p>
            <a:endParaRPr lang="en-US"/>
          </a:p>
        </p:txBody>
      </p:sp>
      <p:sp>
        <p:nvSpPr>
          <p:cNvPr id="5" name="Text 3"/>
          <p:cNvSpPr txBox="1"/>
          <p:nvPr/>
        </p:nvSpPr>
        <p:spPr>
          <a:xfrm>
            <a:off x="777240" y="1417320"/>
            <a:ext cx="914400" cy="685800"/>
          </a:xfrm>
          <a:prstGeom prst="rect">
            <a:avLst/>
          </a:prstGeom>
          <a:noFill/>
          <a:ln/>
        </p:spPr>
        <p:txBody>
          <a:bodyPr wrap="square" lIns="0" tIns="0" rIns="0" bIns="0" rtlCol="0" anchor="ctr"/>
          <a:lstStyle/>
          <a:p>
            <a:pPr marL="0" indent="0">
              <a:buNone/>
            </a:pPr>
            <a:r>
              <a:rPr lang="en-US" sz="2400" b="1" dirty="0">
                <a:solidFill>
                  <a:srgbClr val="0F8B8D"/>
                </a:solidFill>
                <a:latin typeface="Cambria" pitchFamily="34" charset="0"/>
                <a:ea typeface="Cambria" pitchFamily="34" charset="-122"/>
                <a:cs typeface="Cambria" pitchFamily="34" charset="-120"/>
              </a:rPr>
              <a:t>RQ1</a:t>
            </a:r>
            <a:endParaRPr lang="en-US" sz="2400" dirty="0"/>
          </a:p>
        </p:txBody>
      </p:sp>
      <p:sp>
        <p:nvSpPr>
          <p:cNvPr id="6" name="Text 4"/>
          <p:cNvSpPr txBox="1"/>
          <p:nvPr/>
        </p:nvSpPr>
        <p:spPr>
          <a:xfrm>
            <a:off x="1783080" y="1362456"/>
            <a:ext cx="4572000" cy="804672"/>
          </a:xfrm>
          <a:prstGeom prst="rect">
            <a:avLst/>
          </a:prstGeom>
          <a:noFill/>
          <a:ln/>
        </p:spPr>
        <p:txBody>
          <a:bodyPr wrap="square" lIns="0" tIns="0" rIns="0" bIns="0" rtlCol="0" anchor="ctr"/>
          <a:lstStyle/>
          <a:p>
            <a:pPr marL="0" indent="0">
              <a:buNone/>
            </a:pPr>
            <a:r>
              <a:rPr lang="en-US" sz="1500" b="1" dirty="0">
                <a:solidFill>
                  <a:srgbClr val="13213C"/>
                </a:solidFill>
                <a:latin typeface="Calibri" pitchFamily="34" charset="0"/>
                <a:ea typeface="Calibri" pitchFamily="34" charset="-122"/>
                <a:cs typeface="Calibri" pitchFamily="34" charset="-120"/>
              </a:rPr>
              <a:t>Which signals best predict a wrong AI-written test?</a:t>
            </a:r>
            <a:endParaRPr lang="en-US" sz="1500" dirty="0"/>
          </a:p>
        </p:txBody>
      </p:sp>
      <p:sp>
        <p:nvSpPr>
          <p:cNvPr id="7" name="Text 5"/>
          <p:cNvSpPr txBox="1"/>
          <p:nvPr/>
        </p:nvSpPr>
        <p:spPr>
          <a:xfrm>
            <a:off x="6537960" y="1362456"/>
            <a:ext cx="4892040" cy="804672"/>
          </a:xfrm>
          <a:prstGeom prst="rect">
            <a:avLst/>
          </a:prstGeom>
          <a:noFill/>
          <a:ln/>
        </p:spPr>
        <p:txBody>
          <a:bodyPr wrap="square" lIns="0" tIns="0" rIns="0" bIns="0" rtlCol="0" anchor="ctr"/>
          <a:lstStyle/>
          <a:p>
            <a:pPr marL="0" indent="0">
              <a:buNone/>
            </a:pPr>
            <a:r>
              <a:rPr lang="en-US" sz="1300" dirty="0">
                <a:solidFill>
                  <a:srgbClr val="1E2533"/>
                </a:solidFill>
                <a:latin typeface="Calibri" pitchFamily="34" charset="0"/>
                <a:ea typeface="Calibri" pitchFamily="34" charset="-122"/>
                <a:cs typeface="Calibri" pitchFamily="34" charset="-120"/>
              </a:rPr>
              <a:t>Compare signals (agreement, behaviour, model probabilities) on many generated tests</a:t>
            </a:r>
            <a:endParaRPr lang="en-US" sz="1300" dirty="0"/>
          </a:p>
        </p:txBody>
      </p:sp>
      <p:sp>
        <p:nvSpPr>
          <p:cNvPr id="8" name="Shape 6"/>
          <p:cNvSpPr/>
          <p:nvPr/>
        </p:nvSpPr>
        <p:spPr>
          <a:xfrm>
            <a:off x="548640" y="2377440"/>
            <a:ext cx="11094415" cy="969264"/>
          </a:xfrm>
          <a:prstGeom prst="roundRect">
            <a:avLst>
              <a:gd name="adj" fmla="val 11321"/>
            </a:avLst>
          </a:prstGeom>
          <a:solidFill>
            <a:srgbClr val="F2F5F9"/>
          </a:solidFill>
          <a:ln w="12700">
            <a:solidFill>
              <a:srgbClr val="F2F5F9"/>
            </a:solidFill>
            <a:prstDash val="solid"/>
          </a:ln>
        </p:spPr>
        <p:txBody>
          <a:bodyPr/>
          <a:lstStyle/>
          <a:p>
            <a:endParaRPr lang="en-US"/>
          </a:p>
        </p:txBody>
      </p:sp>
      <p:sp>
        <p:nvSpPr>
          <p:cNvPr id="9" name="Text 7"/>
          <p:cNvSpPr txBox="1"/>
          <p:nvPr/>
        </p:nvSpPr>
        <p:spPr>
          <a:xfrm>
            <a:off x="777240" y="2514600"/>
            <a:ext cx="914400" cy="685800"/>
          </a:xfrm>
          <a:prstGeom prst="rect">
            <a:avLst/>
          </a:prstGeom>
          <a:noFill/>
          <a:ln/>
        </p:spPr>
        <p:txBody>
          <a:bodyPr wrap="square" lIns="0" tIns="0" rIns="0" bIns="0" rtlCol="0" anchor="ctr"/>
          <a:lstStyle/>
          <a:p>
            <a:pPr marL="0" indent="0">
              <a:buNone/>
            </a:pPr>
            <a:r>
              <a:rPr lang="en-US" sz="2400" b="1" dirty="0">
                <a:solidFill>
                  <a:srgbClr val="3567C8"/>
                </a:solidFill>
                <a:latin typeface="Cambria" pitchFamily="34" charset="0"/>
                <a:ea typeface="Cambria" pitchFamily="34" charset="-122"/>
                <a:cs typeface="Cambria" pitchFamily="34" charset="-120"/>
              </a:rPr>
              <a:t>RQ2</a:t>
            </a:r>
            <a:endParaRPr lang="en-US" sz="2400" dirty="0"/>
          </a:p>
        </p:txBody>
      </p:sp>
      <p:sp>
        <p:nvSpPr>
          <p:cNvPr id="10" name="Text 8"/>
          <p:cNvSpPr txBox="1"/>
          <p:nvPr/>
        </p:nvSpPr>
        <p:spPr>
          <a:xfrm>
            <a:off x="1783080" y="2459736"/>
            <a:ext cx="4572000" cy="804672"/>
          </a:xfrm>
          <a:prstGeom prst="rect">
            <a:avLst/>
          </a:prstGeom>
          <a:noFill/>
          <a:ln/>
        </p:spPr>
        <p:txBody>
          <a:bodyPr wrap="square" lIns="0" tIns="0" rIns="0" bIns="0" rtlCol="0" anchor="ctr"/>
          <a:lstStyle/>
          <a:p>
            <a:pPr marL="0" indent="0">
              <a:buNone/>
            </a:pPr>
            <a:r>
              <a:rPr lang="en-US" sz="1500" b="1" dirty="0">
                <a:solidFill>
                  <a:srgbClr val="13213C"/>
                </a:solidFill>
                <a:latin typeface="Calibri" pitchFamily="34" charset="0"/>
                <a:ea typeface="Calibri" pitchFamily="34" charset="-122"/>
                <a:cs typeface="Calibri" pitchFamily="34" charset="-120"/>
              </a:rPr>
              <a:t>How can these signals support safe accept / review decisions?</a:t>
            </a:r>
            <a:endParaRPr lang="en-US" sz="1500" dirty="0"/>
          </a:p>
        </p:txBody>
      </p:sp>
      <p:sp>
        <p:nvSpPr>
          <p:cNvPr id="11" name="Text 9"/>
          <p:cNvSpPr txBox="1"/>
          <p:nvPr/>
        </p:nvSpPr>
        <p:spPr>
          <a:xfrm>
            <a:off x="6537960" y="2459736"/>
            <a:ext cx="4892040" cy="804672"/>
          </a:xfrm>
          <a:prstGeom prst="rect">
            <a:avLst/>
          </a:prstGeom>
          <a:noFill/>
          <a:ln/>
        </p:spPr>
        <p:txBody>
          <a:bodyPr wrap="square" lIns="0" tIns="0" rIns="0" bIns="0" rtlCol="0" anchor="ctr"/>
          <a:lstStyle/>
          <a:p>
            <a:pPr marL="0" indent="0">
              <a:buNone/>
            </a:pPr>
            <a:r>
              <a:rPr lang="en-US" sz="1300" dirty="0">
                <a:solidFill>
                  <a:srgbClr val="1E2533"/>
                </a:solidFill>
                <a:latin typeface="Calibri" pitchFamily="34" charset="0"/>
                <a:ea typeface="Calibri" pitchFamily="34" charset="-122"/>
                <a:cs typeface="Calibri" pitchFamily="34" charset="-120"/>
              </a:rPr>
              <a:t>Risk = signal × how severe a failure is; measure the review effort saved</a:t>
            </a:r>
            <a:endParaRPr lang="en-US" sz="1300" dirty="0"/>
          </a:p>
        </p:txBody>
      </p:sp>
      <p:sp>
        <p:nvSpPr>
          <p:cNvPr id="12" name="Shape 10"/>
          <p:cNvSpPr/>
          <p:nvPr/>
        </p:nvSpPr>
        <p:spPr>
          <a:xfrm>
            <a:off x="548640" y="3474720"/>
            <a:ext cx="11094415" cy="969264"/>
          </a:xfrm>
          <a:prstGeom prst="roundRect">
            <a:avLst>
              <a:gd name="adj" fmla="val 11321"/>
            </a:avLst>
          </a:prstGeom>
          <a:solidFill>
            <a:srgbClr val="F2F5F9"/>
          </a:solidFill>
          <a:ln w="12700">
            <a:solidFill>
              <a:srgbClr val="F2F5F9"/>
            </a:solidFill>
            <a:prstDash val="solid"/>
          </a:ln>
        </p:spPr>
        <p:txBody>
          <a:bodyPr/>
          <a:lstStyle/>
          <a:p>
            <a:endParaRPr lang="en-US"/>
          </a:p>
        </p:txBody>
      </p:sp>
      <p:sp>
        <p:nvSpPr>
          <p:cNvPr id="13" name="Text 11"/>
          <p:cNvSpPr txBox="1"/>
          <p:nvPr/>
        </p:nvSpPr>
        <p:spPr>
          <a:xfrm>
            <a:off x="777240" y="3611880"/>
            <a:ext cx="914400" cy="685800"/>
          </a:xfrm>
          <a:prstGeom prst="rect">
            <a:avLst/>
          </a:prstGeom>
          <a:noFill/>
          <a:ln/>
        </p:spPr>
        <p:txBody>
          <a:bodyPr wrap="square" lIns="0" tIns="0" rIns="0" bIns="0" rtlCol="0" anchor="ctr"/>
          <a:lstStyle/>
          <a:p>
            <a:pPr marL="0" indent="0">
              <a:buNone/>
            </a:pPr>
            <a:r>
              <a:rPr lang="en-US" sz="2400" b="1" dirty="0">
                <a:solidFill>
                  <a:srgbClr val="E39B2D"/>
                </a:solidFill>
                <a:latin typeface="Cambria" pitchFamily="34" charset="0"/>
                <a:ea typeface="Cambria" pitchFamily="34" charset="-122"/>
                <a:cs typeface="Cambria" pitchFamily="34" charset="-120"/>
              </a:rPr>
              <a:t>RQ3</a:t>
            </a:r>
            <a:endParaRPr lang="en-US" sz="2400" dirty="0"/>
          </a:p>
        </p:txBody>
      </p:sp>
      <p:sp>
        <p:nvSpPr>
          <p:cNvPr id="14" name="Text 12"/>
          <p:cNvSpPr txBox="1"/>
          <p:nvPr/>
        </p:nvSpPr>
        <p:spPr>
          <a:xfrm>
            <a:off x="1783080" y="3557016"/>
            <a:ext cx="4572000" cy="804672"/>
          </a:xfrm>
          <a:prstGeom prst="rect">
            <a:avLst/>
          </a:prstGeom>
          <a:noFill/>
          <a:ln/>
        </p:spPr>
        <p:txBody>
          <a:bodyPr wrap="square" lIns="0" tIns="0" rIns="0" bIns="0" rtlCol="0" anchor="ctr"/>
          <a:lstStyle/>
          <a:p>
            <a:pPr marL="0" indent="0">
              <a:buNone/>
            </a:pPr>
            <a:r>
              <a:rPr lang="en-US" sz="1500" b="1" dirty="0">
                <a:solidFill>
                  <a:srgbClr val="13213C"/>
                </a:solidFill>
                <a:latin typeface="Calibri" pitchFamily="34" charset="0"/>
                <a:ea typeface="Calibri" pitchFamily="34" charset="-122"/>
                <a:cs typeface="Calibri" pitchFamily="34" charset="-120"/>
              </a:rPr>
              <a:t>How do they relate to bugs found and cost?</a:t>
            </a:r>
            <a:endParaRPr lang="en-US" sz="1500" dirty="0"/>
          </a:p>
        </p:txBody>
      </p:sp>
      <p:sp>
        <p:nvSpPr>
          <p:cNvPr id="15" name="Text 13"/>
          <p:cNvSpPr txBox="1"/>
          <p:nvPr/>
        </p:nvSpPr>
        <p:spPr>
          <a:xfrm>
            <a:off x="6537960" y="3557016"/>
            <a:ext cx="4892040" cy="804672"/>
          </a:xfrm>
          <a:prstGeom prst="rect">
            <a:avLst/>
          </a:prstGeom>
          <a:noFill/>
          <a:ln/>
        </p:spPr>
        <p:txBody>
          <a:bodyPr wrap="square" lIns="0" tIns="0" rIns="0" bIns="0" rtlCol="0" anchor="ctr"/>
          <a:lstStyle/>
          <a:p>
            <a:pPr marL="0" indent="0">
              <a:buNone/>
            </a:pPr>
            <a:r>
              <a:rPr lang="en-US" sz="1300" dirty="0">
                <a:solidFill>
                  <a:srgbClr val="1E2533"/>
                </a:solidFill>
                <a:latin typeface="Calibri" pitchFamily="34" charset="0"/>
                <a:ea typeface="Calibri" pitchFamily="34" charset="-122"/>
                <a:cs typeface="Calibri" pitchFamily="34" charset="-120"/>
              </a:rPr>
              <a:t>Large study: correctness, bugs found, run time, AI cost</a:t>
            </a:r>
            <a:endParaRPr lang="en-US" sz="1300" dirty="0"/>
          </a:p>
        </p:txBody>
      </p:sp>
      <p:sp>
        <p:nvSpPr>
          <p:cNvPr id="16" name="Shape 14"/>
          <p:cNvSpPr/>
          <p:nvPr/>
        </p:nvSpPr>
        <p:spPr>
          <a:xfrm>
            <a:off x="548640" y="4572000"/>
            <a:ext cx="11094415" cy="969264"/>
          </a:xfrm>
          <a:prstGeom prst="roundRect">
            <a:avLst>
              <a:gd name="adj" fmla="val 11321"/>
            </a:avLst>
          </a:prstGeom>
          <a:solidFill>
            <a:srgbClr val="F2F5F9"/>
          </a:solidFill>
          <a:ln w="12700">
            <a:solidFill>
              <a:srgbClr val="F2F5F9"/>
            </a:solidFill>
            <a:prstDash val="solid"/>
          </a:ln>
        </p:spPr>
        <p:txBody>
          <a:bodyPr/>
          <a:lstStyle/>
          <a:p>
            <a:endParaRPr lang="en-US"/>
          </a:p>
        </p:txBody>
      </p:sp>
      <p:sp>
        <p:nvSpPr>
          <p:cNvPr id="17" name="Text 15"/>
          <p:cNvSpPr txBox="1"/>
          <p:nvPr/>
        </p:nvSpPr>
        <p:spPr>
          <a:xfrm>
            <a:off x="777240" y="4709160"/>
            <a:ext cx="914400" cy="685800"/>
          </a:xfrm>
          <a:prstGeom prst="rect">
            <a:avLst/>
          </a:prstGeom>
          <a:noFill/>
          <a:ln/>
        </p:spPr>
        <p:txBody>
          <a:bodyPr wrap="square" lIns="0" tIns="0" rIns="0" bIns="0" rtlCol="0" anchor="ctr"/>
          <a:lstStyle/>
          <a:p>
            <a:pPr marL="0" indent="0">
              <a:buNone/>
            </a:pPr>
            <a:r>
              <a:rPr lang="en-US" sz="2400" b="1" dirty="0">
                <a:solidFill>
                  <a:srgbClr val="6E56CF"/>
                </a:solidFill>
                <a:latin typeface="Cambria" pitchFamily="34" charset="0"/>
                <a:ea typeface="Cambria" pitchFamily="34" charset="-122"/>
                <a:cs typeface="Cambria" pitchFamily="34" charset="-120"/>
              </a:rPr>
              <a:t>RQ4</a:t>
            </a:r>
            <a:endParaRPr lang="en-US" sz="2400" dirty="0"/>
          </a:p>
        </p:txBody>
      </p:sp>
      <p:sp>
        <p:nvSpPr>
          <p:cNvPr id="18" name="Text 16"/>
          <p:cNvSpPr txBox="1"/>
          <p:nvPr/>
        </p:nvSpPr>
        <p:spPr>
          <a:xfrm>
            <a:off x="1783080" y="4654296"/>
            <a:ext cx="4572000" cy="804672"/>
          </a:xfrm>
          <a:prstGeom prst="rect">
            <a:avLst/>
          </a:prstGeom>
          <a:noFill/>
          <a:ln/>
        </p:spPr>
        <p:txBody>
          <a:bodyPr wrap="square" lIns="0" tIns="0" rIns="0" bIns="0" rtlCol="0" anchor="ctr"/>
          <a:lstStyle/>
          <a:p>
            <a:pPr marL="0" indent="0">
              <a:buNone/>
            </a:pPr>
            <a:r>
              <a:rPr lang="en-US" sz="1500" b="1" dirty="0">
                <a:solidFill>
                  <a:srgbClr val="13213C"/>
                </a:solidFill>
                <a:latin typeface="Calibri" pitchFamily="34" charset="0"/>
                <a:ea typeface="Calibri" pitchFamily="34" charset="-122"/>
                <a:cs typeface="Calibri" pitchFamily="34" charset="-120"/>
              </a:rPr>
              <a:t>Do they transfer to new and quantum AI models?</a:t>
            </a:r>
            <a:endParaRPr lang="en-US" sz="1500" dirty="0"/>
          </a:p>
        </p:txBody>
      </p:sp>
      <p:sp>
        <p:nvSpPr>
          <p:cNvPr id="19" name="Text 17"/>
          <p:cNvSpPr txBox="1"/>
          <p:nvPr/>
        </p:nvSpPr>
        <p:spPr>
          <a:xfrm>
            <a:off x="6537960" y="4654296"/>
            <a:ext cx="4892040" cy="804672"/>
          </a:xfrm>
          <a:prstGeom prst="rect">
            <a:avLst/>
          </a:prstGeom>
          <a:noFill/>
          <a:ln/>
        </p:spPr>
        <p:txBody>
          <a:bodyPr wrap="square" lIns="0" tIns="0" rIns="0" bIns="0" rtlCol="0" anchor="ctr"/>
          <a:lstStyle/>
          <a:p>
            <a:pPr marL="0" indent="0">
              <a:buNone/>
            </a:pPr>
            <a:r>
              <a:rPr lang="en-US" sz="1300" dirty="0">
                <a:solidFill>
                  <a:srgbClr val="1E2533"/>
                </a:solidFill>
                <a:latin typeface="Calibri" pitchFamily="34" charset="0"/>
                <a:ea typeface="Calibri" pitchFamily="34" charset="-122"/>
                <a:cs typeface="Calibri" pitchFamily="34" charset="-120"/>
              </a:rPr>
              <a:t>Re-apply them to newer models and to quantum ML [20, 21]</a:t>
            </a:r>
            <a:endParaRPr lang="en-US" sz="1300" dirty="0"/>
          </a:p>
        </p:txBody>
      </p:sp>
      <p:sp>
        <p:nvSpPr>
          <p:cNvPr id="20" name="Text 18"/>
          <p:cNvSpPr txBox="1"/>
          <p:nvPr/>
        </p:nvSpPr>
        <p:spPr>
          <a:xfrm>
            <a:off x="548640" y="5760720"/>
            <a:ext cx="11094415" cy="667512"/>
          </a:xfrm>
          <a:prstGeom prst="rect">
            <a:avLst/>
          </a:prstGeom>
          <a:noFill/>
          <a:ln/>
        </p:spPr>
        <p:txBody>
          <a:bodyPr wrap="square" lIns="0" tIns="0" rIns="0" bIns="0" rtlCol="0" anchor="b"/>
          <a:lstStyle/>
          <a:p>
            <a:pPr marL="0" indent="0">
              <a:buNone/>
            </a:pPr>
            <a:r>
              <a:rPr lang="en-US" sz="900" dirty="0">
                <a:solidFill>
                  <a:srgbClr val="5B6578"/>
                </a:solidFill>
                <a:latin typeface="Calibri" pitchFamily="34" charset="0"/>
                <a:ea typeface="Calibri" pitchFamily="34" charset="-122"/>
                <a:cs typeface="Calibri" pitchFamily="34" charset="-120"/>
              </a:rPr>
              <a:t>[20] X. Wang et al., “Quantum machine learning-based test oracle for autonomous mobile robots,” Proc. IEEE/ACM ASE, 2025.</a:t>
            </a:r>
            <a:endParaRPr lang="en-US" sz="900" dirty="0"/>
          </a:p>
          <a:p>
            <a:pPr marL="0" indent="0">
              <a:buNone/>
            </a:pPr>
            <a:r>
              <a:rPr lang="en-US" sz="900" dirty="0">
                <a:solidFill>
                  <a:srgbClr val="5B6578"/>
                </a:solidFill>
                <a:latin typeface="Calibri" pitchFamily="34" charset="0"/>
                <a:ea typeface="Calibri" pitchFamily="34" charset="-122"/>
                <a:cs typeface="Calibri" pitchFamily="34" charset="-120"/>
              </a:rPr>
              <a:t>[21] X. Wang et al., “Application of quantum extreme learning machines for QoS prediction of elevators' software in an industrial context,” Companion Proc. ACM FSE, 2024.</a:t>
            </a:r>
            <a:endParaRPr lang="en-US" sz="9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578"/>
                </a:solidFill>
                <a:latin typeface="Calibri"/>
                <a:ea typeface="Calibri"/>
                <a:cs typeface="Calibri"/>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109728"/>
            <a:ext cx="7315200" cy="228600"/>
          </a:xfrm>
          <a:prstGeom prst="rect">
            <a:avLst/>
          </a:prstGeom>
          <a:noFill/>
          <a:ln/>
        </p:spPr>
        <p:txBody>
          <a:bodyPr wrap="square" lIns="0" tIns="0" rIns="0" bIns="0" rtlCol="0" anchor="t"/>
          <a:lstStyle/>
          <a:p>
            <a:pPr marL="0" indent="0">
              <a:buNone/>
            </a:pPr>
            <a:r>
              <a:rPr lang="en-US" sz="1100" b="1" kern="0" spc="100" dirty="0">
                <a:solidFill>
                  <a:srgbClr val="E39B2D"/>
                </a:solidFill>
                <a:latin typeface="Calibri" pitchFamily="34" charset="0"/>
                <a:ea typeface="Calibri" pitchFamily="34" charset="-122"/>
                <a:cs typeface="Calibri" pitchFamily="34" charset="-120"/>
              </a:rPr>
              <a:t>PART B · WORK PLAN</a:t>
            </a:r>
            <a:endParaRPr lang="en-US" sz="1100" dirty="0"/>
          </a:p>
        </p:txBody>
      </p:sp>
      <p:sp>
        <p:nvSpPr>
          <p:cNvPr id="3"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buNone/>
            </a:pPr>
            <a:r>
              <a:rPr lang="en-US" sz="3000" b="1" dirty="0">
                <a:solidFill>
                  <a:srgbClr val="13213C"/>
                </a:solidFill>
                <a:latin typeface="Cambria" pitchFamily="34" charset="0"/>
                <a:ea typeface="Cambria" pitchFamily="34" charset="-122"/>
                <a:cs typeface="Cambria" pitchFamily="34" charset="-120"/>
              </a:rPr>
              <a:t>36-month plan with secondment and publications</a:t>
            </a:r>
            <a:endParaRPr lang="en-US" sz="3000" dirty="0"/>
          </a:p>
        </p:txBody>
      </p:sp>
      <p:sp>
        <p:nvSpPr>
          <p:cNvPr id="4" name="Shape 2"/>
          <p:cNvSpPr/>
          <p:nvPr/>
        </p:nvSpPr>
        <p:spPr>
          <a:xfrm>
            <a:off x="3493008" y="1325880"/>
            <a:ext cx="2686202" cy="365760"/>
          </a:xfrm>
          <a:prstGeom prst="roundRect">
            <a:avLst>
              <a:gd name="adj" fmla="val 30000"/>
            </a:avLst>
          </a:prstGeom>
          <a:solidFill>
            <a:srgbClr val="E9EEF5"/>
          </a:solidFill>
          <a:ln w="12700">
            <a:solidFill>
              <a:srgbClr val="E9EEF5"/>
            </a:solidFill>
            <a:prstDash val="solid"/>
          </a:ln>
        </p:spPr>
        <p:txBody>
          <a:bodyPr/>
          <a:lstStyle/>
          <a:p>
            <a:endParaRPr lang="en-US"/>
          </a:p>
        </p:txBody>
      </p:sp>
      <p:sp>
        <p:nvSpPr>
          <p:cNvPr id="5" name="Text 3"/>
          <p:cNvSpPr txBox="1"/>
          <p:nvPr/>
        </p:nvSpPr>
        <p:spPr>
          <a:xfrm>
            <a:off x="3474720" y="1371600"/>
            <a:ext cx="2722778" cy="274320"/>
          </a:xfrm>
          <a:prstGeom prst="rect">
            <a:avLst/>
          </a:prstGeom>
          <a:noFill/>
          <a:ln/>
        </p:spPr>
        <p:txBody>
          <a:bodyPr wrap="square" lIns="0" tIns="0" rIns="0" bIns="0" rtlCol="0" anchor="t"/>
          <a:lstStyle/>
          <a:p>
            <a:pPr marL="0" indent="0" algn="ctr">
              <a:buNone/>
            </a:pPr>
            <a:r>
              <a:rPr lang="en-US" sz="1300" b="1" dirty="0">
                <a:solidFill>
                  <a:srgbClr val="13213C"/>
                </a:solidFill>
                <a:latin typeface="Calibri" pitchFamily="34" charset="0"/>
                <a:ea typeface="Calibri" pitchFamily="34" charset="-122"/>
                <a:cs typeface="Calibri" pitchFamily="34" charset="-120"/>
              </a:rPr>
              <a:t>Year 1</a:t>
            </a:r>
            <a:endParaRPr lang="en-US" sz="1300" dirty="0"/>
          </a:p>
        </p:txBody>
      </p:sp>
      <p:sp>
        <p:nvSpPr>
          <p:cNvPr id="6" name="Shape 4"/>
          <p:cNvSpPr/>
          <p:nvPr/>
        </p:nvSpPr>
        <p:spPr>
          <a:xfrm>
            <a:off x="6215786" y="1325880"/>
            <a:ext cx="2686202" cy="365760"/>
          </a:xfrm>
          <a:prstGeom prst="roundRect">
            <a:avLst>
              <a:gd name="adj" fmla="val 30000"/>
            </a:avLst>
          </a:prstGeom>
          <a:solidFill>
            <a:srgbClr val="F2F5F9"/>
          </a:solidFill>
          <a:ln w="12700">
            <a:solidFill>
              <a:srgbClr val="F2F5F9"/>
            </a:solidFill>
            <a:prstDash val="solid"/>
          </a:ln>
        </p:spPr>
        <p:txBody>
          <a:bodyPr/>
          <a:lstStyle/>
          <a:p>
            <a:endParaRPr lang="en-US"/>
          </a:p>
        </p:txBody>
      </p:sp>
      <p:sp>
        <p:nvSpPr>
          <p:cNvPr id="7" name="Text 5"/>
          <p:cNvSpPr txBox="1"/>
          <p:nvPr/>
        </p:nvSpPr>
        <p:spPr>
          <a:xfrm>
            <a:off x="6197498" y="1371600"/>
            <a:ext cx="2722778" cy="274320"/>
          </a:xfrm>
          <a:prstGeom prst="rect">
            <a:avLst/>
          </a:prstGeom>
          <a:noFill/>
          <a:ln/>
        </p:spPr>
        <p:txBody>
          <a:bodyPr wrap="square" lIns="0" tIns="0" rIns="0" bIns="0" rtlCol="0" anchor="t"/>
          <a:lstStyle/>
          <a:p>
            <a:pPr marL="0" indent="0" algn="ctr">
              <a:buNone/>
            </a:pPr>
            <a:r>
              <a:rPr lang="en-US" sz="1300" b="1" dirty="0">
                <a:solidFill>
                  <a:srgbClr val="13213C"/>
                </a:solidFill>
                <a:latin typeface="Calibri" pitchFamily="34" charset="0"/>
                <a:ea typeface="Calibri" pitchFamily="34" charset="-122"/>
                <a:cs typeface="Calibri" pitchFamily="34" charset="-120"/>
              </a:rPr>
              <a:t>Year 2</a:t>
            </a:r>
            <a:endParaRPr lang="en-US" sz="1300" dirty="0"/>
          </a:p>
        </p:txBody>
      </p:sp>
      <p:sp>
        <p:nvSpPr>
          <p:cNvPr id="8" name="Shape 6"/>
          <p:cNvSpPr/>
          <p:nvPr/>
        </p:nvSpPr>
        <p:spPr>
          <a:xfrm>
            <a:off x="8938565" y="1325880"/>
            <a:ext cx="2686202" cy="365760"/>
          </a:xfrm>
          <a:prstGeom prst="roundRect">
            <a:avLst>
              <a:gd name="adj" fmla="val 30000"/>
            </a:avLst>
          </a:prstGeom>
          <a:solidFill>
            <a:srgbClr val="E9EEF5"/>
          </a:solidFill>
          <a:ln w="12700">
            <a:solidFill>
              <a:srgbClr val="E9EEF5"/>
            </a:solidFill>
            <a:prstDash val="solid"/>
          </a:ln>
        </p:spPr>
        <p:txBody>
          <a:bodyPr/>
          <a:lstStyle/>
          <a:p>
            <a:endParaRPr lang="en-US"/>
          </a:p>
        </p:txBody>
      </p:sp>
      <p:sp>
        <p:nvSpPr>
          <p:cNvPr id="9" name="Text 7"/>
          <p:cNvSpPr txBox="1"/>
          <p:nvPr/>
        </p:nvSpPr>
        <p:spPr>
          <a:xfrm>
            <a:off x="8920277" y="1371600"/>
            <a:ext cx="2722778" cy="274320"/>
          </a:xfrm>
          <a:prstGeom prst="rect">
            <a:avLst/>
          </a:prstGeom>
          <a:noFill/>
          <a:ln/>
        </p:spPr>
        <p:txBody>
          <a:bodyPr wrap="square" lIns="0" tIns="0" rIns="0" bIns="0" rtlCol="0" anchor="t"/>
          <a:lstStyle/>
          <a:p>
            <a:pPr marL="0" indent="0" algn="ctr">
              <a:buNone/>
            </a:pPr>
            <a:r>
              <a:rPr lang="en-US" sz="1300" b="1" dirty="0">
                <a:solidFill>
                  <a:srgbClr val="13213C"/>
                </a:solidFill>
                <a:latin typeface="Calibri" pitchFamily="34" charset="0"/>
                <a:ea typeface="Calibri" pitchFamily="34" charset="-122"/>
                <a:cs typeface="Calibri" pitchFamily="34" charset="-120"/>
              </a:rPr>
              <a:t>Year 3</a:t>
            </a:r>
            <a:endParaRPr lang="en-US" sz="1300" dirty="0"/>
          </a:p>
        </p:txBody>
      </p:sp>
      <p:sp>
        <p:nvSpPr>
          <p:cNvPr id="10" name="Text 8"/>
          <p:cNvSpPr txBox="1"/>
          <p:nvPr/>
        </p:nvSpPr>
        <p:spPr>
          <a:xfrm>
            <a:off x="548640" y="1828800"/>
            <a:ext cx="2834640" cy="347472"/>
          </a:xfrm>
          <a:prstGeom prst="rect">
            <a:avLst/>
          </a:prstGeom>
          <a:noFill/>
          <a:ln/>
        </p:spPr>
        <p:txBody>
          <a:bodyPr wrap="square" lIns="0" tIns="0" rIns="0" bIns="0" rtlCol="0" anchor="ctr"/>
          <a:lstStyle/>
          <a:p>
            <a:pPr marL="0" indent="0">
              <a:buNone/>
            </a:pPr>
            <a:r>
              <a:rPr lang="en-US" sz="1300" b="1" dirty="0">
                <a:solidFill>
                  <a:srgbClr val="13213C"/>
                </a:solidFill>
                <a:latin typeface="Calibri" pitchFamily="34" charset="0"/>
                <a:ea typeface="Calibri" pitchFamily="34" charset="-122"/>
                <a:cs typeface="Calibri" pitchFamily="34" charset="-120"/>
              </a:rPr>
              <a:t>WP1 Survey &amp; ACPS benchmark</a:t>
            </a:r>
            <a:endParaRPr lang="en-US" sz="1300" dirty="0"/>
          </a:p>
        </p:txBody>
      </p:sp>
      <p:sp>
        <p:nvSpPr>
          <p:cNvPr id="11" name="Shape 9"/>
          <p:cNvSpPr/>
          <p:nvPr/>
        </p:nvSpPr>
        <p:spPr>
          <a:xfrm>
            <a:off x="3474720" y="1883664"/>
            <a:ext cx="2042084" cy="237744"/>
          </a:xfrm>
          <a:prstGeom prst="roundRect">
            <a:avLst>
              <a:gd name="adj" fmla="val 30769"/>
            </a:avLst>
          </a:prstGeom>
          <a:solidFill>
            <a:srgbClr val="5B6578"/>
          </a:solidFill>
          <a:ln w="12700">
            <a:solidFill>
              <a:srgbClr val="5B6578"/>
            </a:solidFill>
            <a:prstDash val="solid"/>
          </a:ln>
        </p:spPr>
        <p:txBody>
          <a:bodyPr/>
          <a:lstStyle/>
          <a:p>
            <a:endParaRPr lang="en-US"/>
          </a:p>
        </p:txBody>
      </p:sp>
      <p:sp>
        <p:nvSpPr>
          <p:cNvPr id="12" name="Text 10"/>
          <p:cNvSpPr txBox="1"/>
          <p:nvPr/>
        </p:nvSpPr>
        <p:spPr>
          <a:xfrm>
            <a:off x="548640" y="2249424"/>
            <a:ext cx="2834640" cy="347472"/>
          </a:xfrm>
          <a:prstGeom prst="rect">
            <a:avLst/>
          </a:prstGeom>
          <a:noFill/>
          <a:ln/>
        </p:spPr>
        <p:txBody>
          <a:bodyPr wrap="square" lIns="0" tIns="0" rIns="0" bIns="0" rtlCol="0" anchor="ctr"/>
          <a:lstStyle/>
          <a:p>
            <a:pPr marL="0" indent="0">
              <a:buNone/>
            </a:pPr>
            <a:r>
              <a:rPr lang="en-US" sz="1300" b="1" dirty="0">
                <a:solidFill>
                  <a:srgbClr val="13213C"/>
                </a:solidFill>
                <a:latin typeface="Calibri" pitchFamily="34" charset="0"/>
                <a:ea typeface="Calibri" pitchFamily="34" charset="-122"/>
                <a:cs typeface="Calibri" pitchFamily="34" charset="-120"/>
              </a:rPr>
              <a:t>WP2 UQ metrics (O1)</a:t>
            </a:r>
            <a:endParaRPr lang="en-US" sz="1300" dirty="0"/>
          </a:p>
        </p:txBody>
      </p:sp>
      <p:sp>
        <p:nvSpPr>
          <p:cNvPr id="13" name="Shape 11"/>
          <p:cNvSpPr/>
          <p:nvPr/>
        </p:nvSpPr>
        <p:spPr>
          <a:xfrm>
            <a:off x="4155415" y="2304288"/>
            <a:ext cx="3403473" cy="237744"/>
          </a:xfrm>
          <a:prstGeom prst="roundRect">
            <a:avLst>
              <a:gd name="adj" fmla="val 30769"/>
            </a:avLst>
          </a:prstGeom>
          <a:solidFill>
            <a:srgbClr val="0F8B8D"/>
          </a:solidFill>
          <a:ln w="12700">
            <a:solidFill>
              <a:srgbClr val="0F8B8D"/>
            </a:solidFill>
            <a:prstDash val="solid"/>
          </a:ln>
        </p:spPr>
        <p:txBody>
          <a:bodyPr/>
          <a:lstStyle/>
          <a:p>
            <a:endParaRPr lang="en-US"/>
          </a:p>
        </p:txBody>
      </p:sp>
      <p:sp>
        <p:nvSpPr>
          <p:cNvPr id="14" name="Text 12"/>
          <p:cNvSpPr txBox="1"/>
          <p:nvPr/>
        </p:nvSpPr>
        <p:spPr>
          <a:xfrm>
            <a:off x="548640" y="2670048"/>
            <a:ext cx="2834640" cy="347472"/>
          </a:xfrm>
          <a:prstGeom prst="rect">
            <a:avLst/>
          </a:prstGeom>
          <a:noFill/>
          <a:ln/>
        </p:spPr>
        <p:txBody>
          <a:bodyPr wrap="square" lIns="0" tIns="0" rIns="0" bIns="0" rtlCol="0" anchor="ctr"/>
          <a:lstStyle/>
          <a:p>
            <a:pPr marL="0" indent="0">
              <a:buNone/>
            </a:pPr>
            <a:r>
              <a:rPr lang="en-US" sz="1300" b="1" dirty="0">
                <a:solidFill>
                  <a:srgbClr val="13213C"/>
                </a:solidFill>
                <a:latin typeface="Calibri" pitchFamily="34" charset="0"/>
                <a:ea typeface="Calibri" pitchFamily="34" charset="-122"/>
                <a:cs typeface="Calibri" pitchFamily="34" charset="-120"/>
              </a:rPr>
              <a:t>WP3 Uncertainty vs. quality study (O3)</a:t>
            </a:r>
            <a:endParaRPr lang="en-US" sz="1300" dirty="0"/>
          </a:p>
        </p:txBody>
      </p:sp>
      <p:sp>
        <p:nvSpPr>
          <p:cNvPr id="15" name="Shape 13"/>
          <p:cNvSpPr/>
          <p:nvPr/>
        </p:nvSpPr>
        <p:spPr>
          <a:xfrm>
            <a:off x="5516804" y="2724912"/>
            <a:ext cx="4311066" cy="237744"/>
          </a:xfrm>
          <a:prstGeom prst="roundRect">
            <a:avLst>
              <a:gd name="adj" fmla="val 30769"/>
            </a:avLst>
          </a:prstGeom>
          <a:solidFill>
            <a:srgbClr val="E39B2D"/>
          </a:solidFill>
          <a:ln w="12700">
            <a:solidFill>
              <a:srgbClr val="E39B2D"/>
            </a:solidFill>
            <a:prstDash val="solid"/>
          </a:ln>
        </p:spPr>
        <p:txBody>
          <a:bodyPr/>
          <a:lstStyle/>
          <a:p>
            <a:endParaRPr lang="en-US"/>
          </a:p>
        </p:txBody>
      </p:sp>
      <p:sp>
        <p:nvSpPr>
          <p:cNvPr id="16" name="Text 14"/>
          <p:cNvSpPr txBox="1"/>
          <p:nvPr/>
        </p:nvSpPr>
        <p:spPr>
          <a:xfrm>
            <a:off x="548640" y="3090672"/>
            <a:ext cx="2834640" cy="347472"/>
          </a:xfrm>
          <a:prstGeom prst="rect">
            <a:avLst/>
          </a:prstGeom>
          <a:noFill/>
          <a:ln/>
        </p:spPr>
        <p:txBody>
          <a:bodyPr wrap="square" lIns="0" tIns="0" rIns="0" bIns="0" rtlCol="0" anchor="ctr"/>
          <a:lstStyle/>
          <a:p>
            <a:pPr marL="0" indent="0">
              <a:buNone/>
            </a:pPr>
            <a:r>
              <a:rPr lang="en-US" sz="1300" b="1" dirty="0">
                <a:solidFill>
                  <a:srgbClr val="13213C"/>
                </a:solidFill>
                <a:latin typeface="Calibri" pitchFamily="34" charset="0"/>
                <a:ea typeface="Calibri" pitchFamily="34" charset="-122"/>
                <a:cs typeface="Calibri" pitchFamily="34" charset="-120"/>
              </a:rPr>
              <a:t>WP4 Risk &amp; trust methods (O2)</a:t>
            </a:r>
            <a:endParaRPr lang="en-US" sz="1300" dirty="0"/>
          </a:p>
        </p:txBody>
      </p:sp>
      <p:sp>
        <p:nvSpPr>
          <p:cNvPr id="17" name="Shape 15"/>
          <p:cNvSpPr/>
          <p:nvPr/>
        </p:nvSpPr>
        <p:spPr>
          <a:xfrm>
            <a:off x="6197498" y="3145536"/>
            <a:ext cx="3403473" cy="237744"/>
          </a:xfrm>
          <a:prstGeom prst="roundRect">
            <a:avLst>
              <a:gd name="adj" fmla="val 30769"/>
            </a:avLst>
          </a:prstGeom>
          <a:solidFill>
            <a:srgbClr val="3567C8"/>
          </a:solidFill>
          <a:ln w="12700">
            <a:solidFill>
              <a:srgbClr val="3567C8"/>
            </a:solidFill>
            <a:prstDash val="solid"/>
          </a:ln>
        </p:spPr>
        <p:txBody>
          <a:bodyPr/>
          <a:lstStyle/>
          <a:p>
            <a:endParaRPr lang="en-US"/>
          </a:p>
        </p:txBody>
      </p:sp>
      <p:sp>
        <p:nvSpPr>
          <p:cNvPr id="18" name="Text 16"/>
          <p:cNvSpPr txBox="1"/>
          <p:nvPr/>
        </p:nvSpPr>
        <p:spPr>
          <a:xfrm>
            <a:off x="548640" y="3511296"/>
            <a:ext cx="2834640" cy="347472"/>
          </a:xfrm>
          <a:prstGeom prst="rect">
            <a:avLst/>
          </a:prstGeom>
          <a:noFill/>
          <a:ln/>
        </p:spPr>
        <p:txBody>
          <a:bodyPr wrap="square" lIns="0" tIns="0" rIns="0" bIns="0" rtlCol="0" anchor="ctr"/>
          <a:lstStyle/>
          <a:p>
            <a:pPr marL="0" indent="0">
              <a:buNone/>
            </a:pPr>
            <a:r>
              <a:rPr lang="en-US" sz="1300" b="1" dirty="0">
                <a:solidFill>
                  <a:srgbClr val="13213C"/>
                </a:solidFill>
                <a:latin typeface="Calibri" pitchFamily="34" charset="0"/>
                <a:ea typeface="Calibri" pitchFamily="34" charset="-122"/>
                <a:cs typeface="Calibri" pitchFamily="34" charset="-120"/>
              </a:rPr>
              <a:t>Secondment · Mondragon</a:t>
            </a:r>
            <a:endParaRPr lang="en-US" sz="1300" dirty="0"/>
          </a:p>
        </p:txBody>
      </p:sp>
      <p:sp>
        <p:nvSpPr>
          <p:cNvPr id="19" name="Shape 17"/>
          <p:cNvSpPr/>
          <p:nvPr/>
        </p:nvSpPr>
        <p:spPr>
          <a:xfrm>
            <a:off x="7558888" y="3566160"/>
            <a:ext cx="1134491" cy="237744"/>
          </a:xfrm>
          <a:prstGeom prst="roundRect">
            <a:avLst>
              <a:gd name="adj" fmla="val 30769"/>
            </a:avLst>
          </a:prstGeom>
          <a:solidFill>
            <a:srgbClr val="13213C"/>
          </a:solidFill>
          <a:ln w="12700">
            <a:solidFill>
              <a:srgbClr val="13213C"/>
            </a:solidFill>
            <a:prstDash val="solid"/>
          </a:ln>
        </p:spPr>
        <p:txBody>
          <a:bodyPr/>
          <a:lstStyle/>
          <a:p>
            <a:endParaRPr lang="en-US"/>
          </a:p>
        </p:txBody>
      </p:sp>
      <p:sp>
        <p:nvSpPr>
          <p:cNvPr id="20" name="Text 18"/>
          <p:cNvSpPr txBox="1"/>
          <p:nvPr/>
        </p:nvSpPr>
        <p:spPr>
          <a:xfrm>
            <a:off x="548640" y="3931920"/>
            <a:ext cx="2834640" cy="347472"/>
          </a:xfrm>
          <a:prstGeom prst="rect">
            <a:avLst/>
          </a:prstGeom>
          <a:noFill/>
          <a:ln/>
        </p:spPr>
        <p:txBody>
          <a:bodyPr wrap="square" lIns="0" tIns="0" rIns="0" bIns="0" rtlCol="0" anchor="ctr"/>
          <a:lstStyle/>
          <a:p>
            <a:pPr marL="0" indent="0">
              <a:buNone/>
            </a:pPr>
            <a:r>
              <a:rPr lang="en-US" sz="1300" b="1" dirty="0">
                <a:solidFill>
                  <a:srgbClr val="13213C"/>
                </a:solidFill>
                <a:latin typeface="Calibri" pitchFamily="34" charset="0"/>
                <a:ea typeface="Calibri" pitchFamily="34" charset="-122"/>
                <a:cs typeface="Calibri" pitchFamily="34" charset="-120"/>
              </a:rPr>
              <a:t>WP5 Industrial &amp; InnoGuard eval.</a:t>
            </a:r>
            <a:endParaRPr lang="en-US" sz="1300" dirty="0"/>
          </a:p>
        </p:txBody>
      </p:sp>
      <p:sp>
        <p:nvSpPr>
          <p:cNvPr id="21" name="Shape 19"/>
          <p:cNvSpPr/>
          <p:nvPr/>
        </p:nvSpPr>
        <p:spPr>
          <a:xfrm>
            <a:off x="8239582" y="3986784"/>
            <a:ext cx="2495880" cy="237744"/>
          </a:xfrm>
          <a:prstGeom prst="roundRect">
            <a:avLst>
              <a:gd name="adj" fmla="val 30769"/>
            </a:avLst>
          </a:prstGeom>
          <a:solidFill>
            <a:srgbClr val="2E8B57"/>
          </a:solidFill>
          <a:ln w="12700">
            <a:solidFill>
              <a:srgbClr val="2E8B57"/>
            </a:solidFill>
            <a:prstDash val="solid"/>
          </a:ln>
        </p:spPr>
        <p:txBody>
          <a:bodyPr/>
          <a:lstStyle/>
          <a:p>
            <a:endParaRPr lang="en-US"/>
          </a:p>
        </p:txBody>
      </p:sp>
      <p:sp>
        <p:nvSpPr>
          <p:cNvPr id="22" name="Text 20"/>
          <p:cNvSpPr txBox="1"/>
          <p:nvPr/>
        </p:nvSpPr>
        <p:spPr>
          <a:xfrm>
            <a:off x="548640" y="4352544"/>
            <a:ext cx="2834640" cy="347472"/>
          </a:xfrm>
          <a:prstGeom prst="rect">
            <a:avLst/>
          </a:prstGeom>
          <a:noFill/>
          <a:ln/>
        </p:spPr>
        <p:txBody>
          <a:bodyPr wrap="square" lIns="0" tIns="0" rIns="0" bIns="0" rtlCol="0" anchor="ctr"/>
          <a:lstStyle/>
          <a:p>
            <a:pPr marL="0" indent="0">
              <a:buNone/>
            </a:pPr>
            <a:r>
              <a:rPr lang="en-US" sz="1300" b="1" dirty="0">
                <a:solidFill>
                  <a:srgbClr val="13213C"/>
                </a:solidFill>
                <a:latin typeface="Calibri" pitchFamily="34" charset="0"/>
                <a:ea typeface="Calibri" pitchFamily="34" charset="-122"/>
                <a:cs typeface="Calibri" pitchFamily="34" charset="-120"/>
              </a:rPr>
              <a:t>WP6 Advanced &amp; quantum ML (O4)</a:t>
            </a:r>
            <a:endParaRPr lang="en-US" sz="1300" dirty="0"/>
          </a:p>
        </p:txBody>
      </p:sp>
      <p:sp>
        <p:nvSpPr>
          <p:cNvPr id="23" name="Shape 21"/>
          <p:cNvSpPr/>
          <p:nvPr/>
        </p:nvSpPr>
        <p:spPr>
          <a:xfrm>
            <a:off x="9147175" y="4407408"/>
            <a:ext cx="2042084" cy="237744"/>
          </a:xfrm>
          <a:prstGeom prst="roundRect">
            <a:avLst>
              <a:gd name="adj" fmla="val 30769"/>
            </a:avLst>
          </a:prstGeom>
          <a:solidFill>
            <a:srgbClr val="6E56CF"/>
          </a:solidFill>
          <a:ln w="12700">
            <a:solidFill>
              <a:srgbClr val="6E56CF"/>
            </a:solidFill>
            <a:prstDash val="solid"/>
          </a:ln>
        </p:spPr>
        <p:txBody>
          <a:bodyPr/>
          <a:lstStyle/>
          <a:p>
            <a:endParaRPr lang="en-US"/>
          </a:p>
        </p:txBody>
      </p:sp>
      <p:sp>
        <p:nvSpPr>
          <p:cNvPr id="24" name="Text 22"/>
          <p:cNvSpPr txBox="1"/>
          <p:nvPr/>
        </p:nvSpPr>
        <p:spPr>
          <a:xfrm>
            <a:off x="548640" y="4773168"/>
            <a:ext cx="2834640" cy="347472"/>
          </a:xfrm>
          <a:prstGeom prst="rect">
            <a:avLst/>
          </a:prstGeom>
          <a:noFill/>
          <a:ln/>
        </p:spPr>
        <p:txBody>
          <a:bodyPr wrap="square" lIns="0" tIns="0" rIns="0" bIns="0" rtlCol="0" anchor="ctr"/>
          <a:lstStyle/>
          <a:p>
            <a:pPr marL="0" indent="0">
              <a:buNone/>
            </a:pPr>
            <a:r>
              <a:rPr lang="en-US" sz="1300" b="1" dirty="0">
                <a:solidFill>
                  <a:srgbClr val="13213C"/>
                </a:solidFill>
                <a:latin typeface="Calibri" pitchFamily="34" charset="0"/>
                <a:ea typeface="Calibri" pitchFamily="34" charset="-122"/>
                <a:cs typeface="Calibri" pitchFamily="34" charset="-120"/>
              </a:rPr>
              <a:t>Thesis</a:t>
            </a:r>
            <a:endParaRPr lang="en-US" sz="1300" dirty="0"/>
          </a:p>
        </p:txBody>
      </p:sp>
      <p:sp>
        <p:nvSpPr>
          <p:cNvPr id="25" name="Shape 23"/>
          <p:cNvSpPr/>
          <p:nvPr/>
        </p:nvSpPr>
        <p:spPr>
          <a:xfrm>
            <a:off x="10281666" y="4828032"/>
            <a:ext cx="1361389" cy="237744"/>
          </a:xfrm>
          <a:prstGeom prst="roundRect">
            <a:avLst>
              <a:gd name="adj" fmla="val 30769"/>
            </a:avLst>
          </a:prstGeom>
          <a:solidFill>
            <a:srgbClr val="C8463D"/>
          </a:solidFill>
          <a:ln w="12700">
            <a:solidFill>
              <a:srgbClr val="C8463D"/>
            </a:solidFill>
            <a:prstDash val="solid"/>
          </a:ln>
        </p:spPr>
        <p:txBody>
          <a:bodyPr/>
          <a:lstStyle/>
          <a:p>
            <a:endParaRPr lang="en-US"/>
          </a:p>
        </p:txBody>
      </p:sp>
      <p:sp>
        <p:nvSpPr>
          <p:cNvPr id="26" name="Shape 24"/>
          <p:cNvSpPr/>
          <p:nvPr/>
        </p:nvSpPr>
        <p:spPr>
          <a:xfrm>
            <a:off x="5293627" y="5303520"/>
            <a:ext cx="219456" cy="219456"/>
          </a:xfrm>
          <a:prstGeom prst="diamond">
            <a:avLst/>
          </a:prstGeom>
          <a:solidFill>
            <a:srgbClr val="E39B2D"/>
          </a:solidFill>
          <a:ln w="12700">
            <a:solidFill>
              <a:srgbClr val="E39B2D"/>
            </a:solidFill>
            <a:prstDash val="solid"/>
          </a:ln>
        </p:spPr>
        <p:txBody>
          <a:bodyPr/>
          <a:lstStyle/>
          <a:p>
            <a:endParaRPr lang="en-US"/>
          </a:p>
        </p:txBody>
      </p:sp>
      <p:sp>
        <p:nvSpPr>
          <p:cNvPr id="27" name="Text 25"/>
          <p:cNvSpPr txBox="1"/>
          <p:nvPr/>
        </p:nvSpPr>
        <p:spPr>
          <a:xfrm>
            <a:off x="4488955" y="5559552"/>
            <a:ext cx="1828800" cy="274320"/>
          </a:xfrm>
          <a:prstGeom prst="rect">
            <a:avLst/>
          </a:prstGeom>
          <a:noFill/>
          <a:ln/>
        </p:spPr>
        <p:txBody>
          <a:bodyPr wrap="square" lIns="0" tIns="0" rIns="0" bIns="0" rtlCol="0" anchor="t"/>
          <a:lstStyle/>
          <a:p>
            <a:pPr marL="0" indent="0" algn="ctr">
              <a:buNone/>
            </a:pPr>
            <a:r>
              <a:rPr lang="en-US" sz="1100" dirty="0">
                <a:solidFill>
                  <a:srgbClr val="1E2533"/>
                </a:solidFill>
                <a:latin typeface="Calibri" pitchFamily="34" charset="0"/>
                <a:ea typeface="Calibri" pitchFamily="34" charset="-122"/>
                <a:cs typeface="Calibri" pitchFamily="34" charset="-120"/>
              </a:rPr>
              <a:t>P1 mapping study</a:t>
            </a:r>
            <a:endParaRPr lang="en-US" sz="1100" dirty="0"/>
          </a:p>
        </p:txBody>
      </p:sp>
      <p:sp>
        <p:nvSpPr>
          <p:cNvPr id="28" name="Shape 26"/>
          <p:cNvSpPr/>
          <p:nvPr/>
        </p:nvSpPr>
        <p:spPr>
          <a:xfrm>
            <a:off x="6881914" y="5303520"/>
            <a:ext cx="219456" cy="219456"/>
          </a:xfrm>
          <a:prstGeom prst="diamond">
            <a:avLst/>
          </a:prstGeom>
          <a:solidFill>
            <a:srgbClr val="E39B2D"/>
          </a:solidFill>
          <a:ln w="12700">
            <a:solidFill>
              <a:srgbClr val="E39B2D"/>
            </a:solidFill>
            <a:prstDash val="solid"/>
          </a:ln>
        </p:spPr>
        <p:txBody>
          <a:bodyPr/>
          <a:lstStyle/>
          <a:p>
            <a:endParaRPr lang="en-US"/>
          </a:p>
        </p:txBody>
      </p:sp>
      <p:sp>
        <p:nvSpPr>
          <p:cNvPr id="29" name="Text 27"/>
          <p:cNvSpPr txBox="1"/>
          <p:nvPr/>
        </p:nvSpPr>
        <p:spPr>
          <a:xfrm>
            <a:off x="6077242" y="5852160"/>
            <a:ext cx="1828800" cy="274320"/>
          </a:xfrm>
          <a:prstGeom prst="rect">
            <a:avLst/>
          </a:prstGeom>
          <a:noFill/>
          <a:ln/>
        </p:spPr>
        <p:txBody>
          <a:bodyPr wrap="square" lIns="0" tIns="0" rIns="0" bIns="0" rtlCol="0" anchor="t"/>
          <a:lstStyle/>
          <a:p>
            <a:pPr marL="0" indent="0" algn="ctr">
              <a:buNone/>
            </a:pPr>
            <a:r>
              <a:rPr lang="en-US" sz="1100" dirty="0">
                <a:solidFill>
                  <a:srgbClr val="1E2533"/>
                </a:solidFill>
                <a:latin typeface="Calibri" pitchFamily="34" charset="0"/>
                <a:ea typeface="Calibri" pitchFamily="34" charset="-122"/>
                <a:cs typeface="Calibri" pitchFamily="34" charset="-120"/>
              </a:rPr>
              <a:t>P2 metrics · ICST/ISSTA</a:t>
            </a:r>
            <a:endParaRPr lang="en-US" sz="1100" dirty="0"/>
          </a:p>
        </p:txBody>
      </p:sp>
      <p:sp>
        <p:nvSpPr>
          <p:cNvPr id="30" name="Shape 28"/>
          <p:cNvSpPr/>
          <p:nvPr/>
        </p:nvSpPr>
        <p:spPr>
          <a:xfrm>
            <a:off x="8697100" y="5303520"/>
            <a:ext cx="219456" cy="219456"/>
          </a:xfrm>
          <a:prstGeom prst="diamond">
            <a:avLst/>
          </a:prstGeom>
          <a:solidFill>
            <a:srgbClr val="E39B2D"/>
          </a:solidFill>
          <a:ln w="12700">
            <a:solidFill>
              <a:srgbClr val="E39B2D"/>
            </a:solidFill>
            <a:prstDash val="solid"/>
          </a:ln>
        </p:spPr>
        <p:txBody>
          <a:bodyPr/>
          <a:lstStyle/>
          <a:p>
            <a:endParaRPr lang="en-US"/>
          </a:p>
        </p:txBody>
      </p:sp>
      <p:sp>
        <p:nvSpPr>
          <p:cNvPr id="31" name="Text 29"/>
          <p:cNvSpPr txBox="1"/>
          <p:nvPr/>
        </p:nvSpPr>
        <p:spPr>
          <a:xfrm>
            <a:off x="7892428" y="5559552"/>
            <a:ext cx="1828800" cy="274320"/>
          </a:xfrm>
          <a:prstGeom prst="rect">
            <a:avLst/>
          </a:prstGeom>
          <a:noFill/>
          <a:ln/>
        </p:spPr>
        <p:txBody>
          <a:bodyPr wrap="square" lIns="0" tIns="0" rIns="0" bIns="0" rtlCol="0" anchor="t"/>
          <a:lstStyle/>
          <a:p>
            <a:pPr marL="0" indent="0" algn="ctr">
              <a:buNone/>
            </a:pPr>
            <a:r>
              <a:rPr lang="en-US" sz="1100" dirty="0">
                <a:solidFill>
                  <a:srgbClr val="1E2533"/>
                </a:solidFill>
                <a:latin typeface="Calibri" pitchFamily="34" charset="0"/>
                <a:ea typeface="Calibri" pitchFamily="34" charset="-122"/>
                <a:cs typeface="Calibri" pitchFamily="34" charset="-120"/>
              </a:rPr>
              <a:t>P3 industrial study</a:t>
            </a:r>
            <a:endParaRPr lang="en-US" sz="1100" dirty="0"/>
          </a:p>
        </p:txBody>
      </p:sp>
      <p:sp>
        <p:nvSpPr>
          <p:cNvPr id="32" name="Shape 30"/>
          <p:cNvSpPr/>
          <p:nvPr/>
        </p:nvSpPr>
        <p:spPr>
          <a:xfrm>
            <a:off x="9831591" y="5303520"/>
            <a:ext cx="219456" cy="219456"/>
          </a:xfrm>
          <a:prstGeom prst="diamond">
            <a:avLst/>
          </a:prstGeom>
          <a:solidFill>
            <a:srgbClr val="E39B2D"/>
          </a:solidFill>
          <a:ln w="12700">
            <a:solidFill>
              <a:srgbClr val="E39B2D"/>
            </a:solidFill>
            <a:prstDash val="solid"/>
          </a:ln>
        </p:spPr>
        <p:txBody>
          <a:bodyPr/>
          <a:lstStyle/>
          <a:p>
            <a:endParaRPr lang="en-US"/>
          </a:p>
        </p:txBody>
      </p:sp>
      <p:sp>
        <p:nvSpPr>
          <p:cNvPr id="33" name="Text 31"/>
          <p:cNvSpPr txBox="1"/>
          <p:nvPr/>
        </p:nvSpPr>
        <p:spPr>
          <a:xfrm>
            <a:off x="9026919" y="5852160"/>
            <a:ext cx="1828800" cy="274320"/>
          </a:xfrm>
          <a:prstGeom prst="rect">
            <a:avLst/>
          </a:prstGeom>
          <a:noFill/>
          <a:ln/>
        </p:spPr>
        <p:txBody>
          <a:bodyPr wrap="square" lIns="0" tIns="0" rIns="0" bIns="0" rtlCol="0" anchor="t"/>
          <a:lstStyle/>
          <a:p>
            <a:pPr marL="0" indent="0" algn="ctr">
              <a:buNone/>
            </a:pPr>
            <a:r>
              <a:rPr lang="en-US" sz="1100" dirty="0">
                <a:solidFill>
                  <a:srgbClr val="1E2533"/>
                </a:solidFill>
                <a:latin typeface="Calibri" pitchFamily="34" charset="0"/>
                <a:ea typeface="Calibri" pitchFamily="34" charset="-122"/>
                <a:cs typeface="Calibri" pitchFamily="34" charset="-120"/>
              </a:rPr>
              <a:t>P4 journal · TOSEM/TSE</a:t>
            </a:r>
            <a:endParaRPr lang="en-US" sz="1100" dirty="0"/>
          </a:p>
        </p:txBody>
      </p:sp>
      <p:sp>
        <p:nvSpPr>
          <p:cNvPr id="34" name="Shape 32"/>
          <p:cNvSpPr/>
          <p:nvPr/>
        </p:nvSpPr>
        <p:spPr>
          <a:xfrm>
            <a:off x="10966082" y="5303520"/>
            <a:ext cx="219456" cy="219456"/>
          </a:xfrm>
          <a:prstGeom prst="diamond">
            <a:avLst/>
          </a:prstGeom>
          <a:solidFill>
            <a:srgbClr val="E39B2D"/>
          </a:solidFill>
          <a:ln w="12700">
            <a:solidFill>
              <a:srgbClr val="E39B2D"/>
            </a:solidFill>
            <a:prstDash val="solid"/>
          </a:ln>
        </p:spPr>
        <p:txBody>
          <a:bodyPr/>
          <a:lstStyle/>
          <a:p>
            <a:endParaRPr lang="en-US"/>
          </a:p>
        </p:txBody>
      </p:sp>
      <p:sp>
        <p:nvSpPr>
          <p:cNvPr id="35" name="Text 33"/>
          <p:cNvSpPr txBox="1"/>
          <p:nvPr/>
        </p:nvSpPr>
        <p:spPr>
          <a:xfrm>
            <a:off x="10161410" y="5559552"/>
            <a:ext cx="1828800" cy="274320"/>
          </a:xfrm>
          <a:prstGeom prst="rect">
            <a:avLst/>
          </a:prstGeom>
          <a:noFill/>
          <a:ln/>
        </p:spPr>
        <p:txBody>
          <a:bodyPr wrap="square" lIns="0" tIns="0" rIns="0" bIns="0" rtlCol="0" anchor="t"/>
          <a:lstStyle/>
          <a:p>
            <a:pPr marL="0" indent="0" algn="ctr">
              <a:buNone/>
            </a:pPr>
            <a:r>
              <a:rPr lang="en-US" sz="1100" dirty="0">
                <a:solidFill>
                  <a:srgbClr val="1E2533"/>
                </a:solidFill>
                <a:latin typeface="Calibri" pitchFamily="34" charset="0"/>
                <a:ea typeface="Calibri" pitchFamily="34" charset="-122"/>
                <a:cs typeface="Calibri" pitchFamily="34" charset="-120"/>
              </a:rPr>
              <a:t>P5 QML · ASE/ICSE</a:t>
            </a:r>
            <a:endParaRPr lang="en-US" sz="1100" dirty="0"/>
          </a:p>
        </p:txBody>
      </p:sp>
      <p:sp>
        <p:nvSpPr>
          <p:cNvPr id="36" name="Text 34"/>
          <p:cNvSpPr txBox="1"/>
          <p:nvPr/>
        </p:nvSpPr>
        <p:spPr>
          <a:xfrm>
            <a:off x="548640" y="5266944"/>
            <a:ext cx="2834640" cy="292608"/>
          </a:xfrm>
          <a:prstGeom prst="rect">
            <a:avLst/>
          </a:prstGeom>
          <a:noFill/>
          <a:ln/>
        </p:spPr>
        <p:txBody>
          <a:bodyPr wrap="square" lIns="0" tIns="0" rIns="0" bIns="0" rtlCol="0" anchor="t"/>
          <a:lstStyle/>
          <a:p>
            <a:pPr marL="0" indent="0">
              <a:buNone/>
            </a:pPr>
            <a:r>
              <a:rPr lang="en-US" sz="1300" b="1" dirty="0">
                <a:solidFill>
                  <a:srgbClr val="E39B2D"/>
                </a:solidFill>
                <a:latin typeface="Calibri" pitchFamily="34" charset="0"/>
                <a:ea typeface="Calibri" pitchFamily="34" charset="-122"/>
                <a:cs typeface="Calibri" pitchFamily="34" charset="-120"/>
              </a:rPr>
              <a:t>Publications</a:t>
            </a:r>
            <a:endParaRPr lang="en-US" sz="1300" dirty="0"/>
          </a:p>
        </p:txBody>
      </p:sp>
      <p:sp>
        <p:nvSpPr>
          <p:cNvPr id="37"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578"/>
                </a:solidFill>
                <a:latin typeface="Calibri"/>
                <a:ea typeface="Calibri"/>
                <a:cs typeface="Calibri"/>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109728"/>
            <a:ext cx="7315200" cy="228600"/>
          </a:xfrm>
          <a:prstGeom prst="rect">
            <a:avLst/>
          </a:prstGeom>
          <a:noFill/>
          <a:ln/>
        </p:spPr>
        <p:txBody>
          <a:bodyPr wrap="square" lIns="0" tIns="0" rIns="0" bIns="0" rtlCol="0" anchor="t"/>
          <a:lstStyle/>
          <a:p>
            <a:pPr marL="0" indent="0">
              <a:buNone/>
            </a:pPr>
            <a:r>
              <a:rPr lang="en-US" sz="1100" b="1" kern="0" spc="100" dirty="0">
                <a:solidFill>
                  <a:srgbClr val="E39B2D"/>
                </a:solidFill>
                <a:latin typeface="Calibri" pitchFamily="34" charset="0"/>
                <a:ea typeface="Calibri" pitchFamily="34" charset="-122"/>
                <a:cs typeface="Calibri" pitchFamily="34" charset="-120"/>
              </a:rPr>
              <a:t>PART B · CONTRIBUTIONS</a:t>
            </a:r>
            <a:endParaRPr lang="en-US" sz="1100" dirty="0"/>
          </a:p>
        </p:txBody>
      </p:sp>
      <p:sp>
        <p:nvSpPr>
          <p:cNvPr id="3"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buNone/>
            </a:pPr>
            <a:r>
              <a:rPr lang="en-US" sz="3000" b="1" dirty="0">
                <a:solidFill>
                  <a:srgbClr val="13213C"/>
                </a:solidFill>
                <a:latin typeface="Cambria" pitchFamily="34" charset="0"/>
                <a:ea typeface="Cambria" pitchFamily="34" charset="-122"/>
                <a:cs typeface="Cambria" pitchFamily="34" charset="-120"/>
              </a:rPr>
              <a:t>Expected contributions to InnoGuard</a:t>
            </a:r>
            <a:endParaRPr lang="en-US" sz="3000" dirty="0"/>
          </a:p>
        </p:txBody>
      </p:sp>
      <p:sp>
        <p:nvSpPr>
          <p:cNvPr id="4" name="Shape 2"/>
          <p:cNvSpPr/>
          <p:nvPr/>
        </p:nvSpPr>
        <p:spPr>
          <a:xfrm>
            <a:off x="548640" y="1435608"/>
            <a:ext cx="640080" cy="640080"/>
          </a:xfrm>
          <a:prstGeom prst="ellipse">
            <a:avLst/>
          </a:prstGeom>
          <a:solidFill>
            <a:srgbClr val="0F8B8D"/>
          </a:solidFill>
          <a:ln w="12700">
            <a:solidFill>
              <a:srgbClr val="0F8B8D"/>
            </a:solidFill>
            <a:prstDash val="solid"/>
          </a:ln>
        </p:spPr>
        <p:txBody>
          <a:bodyPr/>
          <a:lstStyle/>
          <a:p>
            <a:endParaRPr lang="en-US"/>
          </a:p>
        </p:txBody>
      </p:sp>
      <p:pic>
        <p:nvPicPr>
          <p:cNvPr id="5" name="Image 0" descr="preencoded.png"/>
          <p:cNvPicPr>
            <a:picLocks noChangeAspect="1"/>
          </p:cNvPicPr>
          <p:nvPr/>
        </p:nvPicPr>
        <p:blipFill>
          <a:blip r:embed="rId3"/>
          <a:stretch>
            <a:fillRect/>
          </a:stretch>
        </p:blipFill>
        <p:spPr>
          <a:xfrm>
            <a:off x="708660" y="1595628"/>
            <a:ext cx="320040" cy="320040"/>
          </a:xfrm>
          <a:prstGeom prst="rect">
            <a:avLst/>
          </a:prstGeom>
        </p:spPr>
      </p:pic>
      <p:sp>
        <p:nvSpPr>
          <p:cNvPr id="6" name="Text 3"/>
          <p:cNvSpPr txBox="1"/>
          <p:nvPr/>
        </p:nvSpPr>
        <p:spPr>
          <a:xfrm>
            <a:off x="1417320" y="1399032"/>
            <a:ext cx="1828800" cy="731520"/>
          </a:xfrm>
          <a:prstGeom prst="rect">
            <a:avLst/>
          </a:prstGeom>
          <a:noFill/>
          <a:ln/>
        </p:spPr>
        <p:txBody>
          <a:bodyPr wrap="square" lIns="0" tIns="0" rIns="0" bIns="0" rtlCol="0" anchor="ctr"/>
          <a:lstStyle/>
          <a:p>
            <a:pPr marL="0" indent="0">
              <a:buNone/>
            </a:pPr>
            <a:r>
              <a:rPr lang="en-US" sz="1800" b="1" dirty="0">
                <a:solidFill>
                  <a:srgbClr val="13213C"/>
                </a:solidFill>
                <a:latin typeface="Calibri" pitchFamily="34" charset="0"/>
                <a:ea typeface="Calibri" pitchFamily="34" charset="-122"/>
                <a:cs typeface="Calibri" pitchFamily="34" charset="-120"/>
              </a:rPr>
              <a:t>Metrics</a:t>
            </a:r>
            <a:endParaRPr lang="en-US" sz="1800" dirty="0"/>
          </a:p>
        </p:txBody>
      </p:sp>
      <p:sp>
        <p:nvSpPr>
          <p:cNvPr id="7" name="Text 4"/>
          <p:cNvSpPr txBox="1"/>
          <p:nvPr/>
        </p:nvSpPr>
        <p:spPr>
          <a:xfrm>
            <a:off x="3200400" y="1399032"/>
            <a:ext cx="4023360" cy="731520"/>
          </a:xfrm>
          <a:prstGeom prst="rect">
            <a:avLst/>
          </a:prstGeom>
          <a:noFill/>
          <a:ln/>
        </p:spPr>
        <p:txBody>
          <a:bodyPr wrap="square" lIns="0" tIns="0" rIns="0" bIns="0" rtlCol="0" anchor="ctr"/>
          <a:lstStyle/>
          <a:p>
            <a:pPr marL="0" indent="0">
              <a:buNone/>
            </a:pPr>
            <a:r>
              <a:rPr lang="en-US" sz="1400" dirty="0">
                <a:solidFill>
                  <a:srgbClr val="1E2533"/>
                </a:solidFill>
                <a:latin typeface="Calibri" pitchFamily="34" charset="0"/>
                <a:ea typeface="Calibri" pitchFamily="34" charset="-122"/>
                <a:cs typeface="Calibri" pitchFamily="34" charset="-120"/>
              </a:rPr>
              <a:t>Signals that tell when an AI-written test can be trusted</a:t>
            </a:r>
            <a:endParaRPr lang="en-US" sz="1400" dirty="0"/>
          </a:p>
        </p:txBody>
      </p:sp>
      <p:sp>
        <p:nvSpPr>
          <p:cNvPr id="8" name="Shape 5"/>
          <p:cNvSpPr/>
          <p:nvPr/>
        </p:nvSpPr>
        <p:spPr>
          <a:xfrm>
            <a:off x="548640" y="2423160"/>
            <a:ext cx="640080" cy="640080"/>
          </a:xfrm>
          <a:prstGeom prst="ellipse">
            <a:avLst/>
          </a:prstGeom>
          <a:solidFill>
            <a:srgbClr val="3567C8"/>
          </a:solidFill>
          <a:ln w="12700">
            <a:solidFill>
              <a:srgbClr val="3567C8"/>
            </a:solidFill>
            <a:prstDash val="solid"/>
          </a:ln>
        </p:spPr>
        <p:txBody>
          <a:bodyPr/>
          <a:lstStyle/>
          <a:p>
            <a:endParaRPr lang="en-US"/>
          </a:p>
        </p:txBody>
      </p:sp>
      <p:pic>
        <p:nvPicPr>
          <p:cNvPr id="9" name="Image 1" descr="preencoded.png"/>
          <p:cNvPicPr>
            <a:picLocks noChangeAspect="1"/>
          </p:cNvPicPr>
          <p:nvPr/>
        </p:nvPicPr>
        <p:blipFill>
          <a:blip r:embed="rId4"/>
          <a:stretch>
            <a:fillRect/>
          </a:stretch>
        </p:blipFill>
        <p:spPr>
          <a:xfrm>
            <a:off x="708660" y="2583180"/>
            <a:ext cx="320040" cy="320040"/>
          </a:xfrm>
          <a:prstGeom prst="rect">
            <a:avLst/>
          </a:prstGeom>
        </p:spPr>
      </p:pic>
      <p:sp>
        <p:nvSpPr>
          <p:cNvPr id="10" name="Text 6"/>
          <p:cNvSpPr txBox="1"/>
          <p:nvPr/>
        </p:nvSpPr>
        <p:spPr>
          <a:xfrm>
            <a:off x="1417320" y="2386584"/>
            <a:ext cx="1828800" cy="731520"/>
          </a:xfrm>
          <a:prstGeom prst="rect">
            <a:avLst/>
          </a:prstGeom>
          <a:noFill/>
          <a:ln/>
        </p:spPr>
        <p:txBody>
          <a:bodyPr wrap="square" lIns="0" tIns="0" rIns="0" bIns="0" rtlCol="0" anchor="ctr"/>
          <a:lstStyle/>
          <a:p>
            <a:pPr marL="0" indent="0">
              <a:buNone/>
            </a:pPr>
            <a:r>
              <a:rPr lang="en-US" sz="1800" b="1" dirty="0">
                <a:solidFill>
                  <a:srgbClr val="13213C"/>
                </a:solidFill>
                <a:latin typeface="Calibri" pitchFamily="34" charset="0"/>
                <a:ea typeface="Calibri" pitchFamily="34" charset="-122"/>
                <a:cs typeface="Calibri" pitchFamily="34" charset="-120"/>
              </a:rPr>
              <a:t>Methods</a:t>
            </a:r>
            <a:endParaRPr lang="en-US" sz="1800" dirty="0"/>
          </a:p>
        </p:txBody>
      </p:sp>
      <p:sp>
        <p:nvSpPr>
          <p:cNvPr id="11" name="Text 7"/>
          <p:cNvSpPr txBox="1"/>
          <p:nvPr/>
        </p:nvSpPr>
        <p:spPr>
          <a:xfrm>
            <a:off x="3200400" y="2386584"/>
            <a:ext cx="4023360" cy="731520"/>
          </a:xfrm>
          <a:prstGeom prst="rect">
            <a:avLst/>
          </a:prstGeom>
          <a:noFill/>
          <a:ln/>
        </p:spPr>
        <p:txBody>
          <a:bodyPr wrap="square" lIns="0" tIns="0" rIns="0" bIns="0" rtlCol="0" anchor="ctr"/>
          <a:lstStyle/>
          <a:p>
            <a:pPr marL="0" indent="0">
              <a:buNone/>
            </a:pPr>
            <a:r>
              <a:rPr lang="en-US" sz="1400" dirty="0">
                <a:solidFill>
                  <a:srgbClr val="1E2533"/>
                </a:solidFill>
                <a:latin typeface="Calibri" pitchFamily="34" charset="0"/>
                <a:ea typeface="Calibri" pitchFamily="34" charset="-122"/>
                <a:cs typeface="Calibri" pitchFamily="34" charset="-120"/>
              </a:rPr>
              <a:t>Accept / review / reject with safety-aware thresholds</a:t>
            </a:r>
            <a:endParaRPr lang="en-US" sz="1400" dirty="0"/>
          </a:p>
        </p:txBody>
      </p:sp>
      <p:sp>
        <p:nvSpPr>
          <p:cNvPr id="12" name="Shape 8"/>
          <p:cNvSpPr/>
          <p:nvPr/>
        </p:nvSpPr>
        <p:spPr>
          <a:xfrm>
            <a:off x="548640" y="3410712"/>
            <a:ext cx="640080" cy="640080"/>
          </a:xfrm>
          <a:prstGeom prst="ellipse">
            <a:avLst/>
          </a:prstGeom>
          <a:solidFill>
            <a:srgbClr val="E39B2D"/>
          </a:solidFill>
          <a:ln w="12700">
            <a:solidFill>
              <a:srgbClr val="E39B2D"/>
            </a:solidFill>
            <a:prstDash val="solid"/>
          </a:ln>
        </p:spPr>
        <p:txBody>
          <a:bodyPr/>
          <a:lstStyle/>
          <a:p>
            <a:endParaRPr lang="en-US"/>
          </a:p>
        </p:txBody>
      </p:sp>
      <p:pic>
        <p:nvPicPr>
          <p:cNvPr id="13" name="Image 2" descr="preencoded.png"/>
          <p:cNvPicPr>
            <a:picLocks noChangeAspect="1"/>
          </p:cNvPicPr>
          <p:nvPr/>
        </p:nvPicPr>
        <p:blipFill>
          <a:blip r:embed="rId5"/>
          <a:stretch>
            <a:fillRect/>
          </a:stretch>
        </p:blipFill>
        <p:spPr>
          <a:xfrm>
            <a:off x="708660" y="3570732"/>
            <a:ext cx="320040" cy="320040"/>
          </a:xfrm>
          <a:prstGeom prst="rect">
            <a:avLst/>
          </a:prstGeom>
        </p:spPr>
      </p:pic>
      <p:sp>
        <p:nvSpPr>
          <p:cNvPr id="14" name="Text 9"/>
          <p:cNvSpPr txBox="1"/>
          <p:nvPr/>
        </p:nvSpPr>
        <p:spPr>
          <a:xfrm>
            <a:off x="1417320" y="3374136"/>
            <a:ext cx="1828800" cy="731520"/>
          </a:xfrm>
          <a:prstGeom prst="rect">
            <a:avLst/>
          </a:prstGeom>
          <a:noFill/>
          <a:ln/>
        </p:spPr>
        <p:txBody>
          <a:bodyPr wrap="square" lIns="0" tIns="0" rIns="0" bIns="0" rtlCol="0" anchor="ctr"/>
          <a:lstStyle/>
          <a:p>
            <a:pPr marL="0" indent="0">
              <a:buNone/>
            </a:pPr>
            <a:r>
              <a:rPr lang="en-US" sz="1800" b="1" dirty="0">
                <a:solidFill>
                  <a:srgbClr val="13213C"/>
                </a:solidFill>
                <a:latin typeface="Calibri" pitchFamily="34" charset="0"/>
                <a:ea typeface="Calibri" pitchFamily="34" charset="-122"/>
                <a:cs typeface="Calibri" pitchFamily="34" charset="-120"/>
              </a:rPr>
              <a:t>Evidence</a:t>
            </a:r>
            <a:endParaRPr lang="en-US" sz="1800" dirty="0"/>
          </a:p>
        </p:txBody>
      </p:sp>
      <p:sp>
        <p:nvSpPr>
          <p:cNvPr id="15" name="Text 10"/>
          <p:cNvSpPr txBox="1"/>
          <p:nvPr/>
        </p:nvSpPr>
        <p:spPr>
          <a:xfrm>
            <a:off x="3200400" y="3374136"/>
            <a:ext cx="4023360" cy="731520"/>
          </a:xfrm>
          <a:prstGeom prst="rect">
            <a:avLst/>
          </a:prstGeom>
          <a:noFill/>
          <a:ln/>
        </p:spPr>
        <p:txBody>
          <a:bodyPr wrap="square" lIns="0" tIns="0" rIns="0" bIns="0" rtlCol="0" anchor="ctr"/>
          <a:lstStyle/>
          <a:p>
            <a:pPr marL="0" indent="0">
              <a:buNone/>
            </a:pPr>
            <a:r>
              <a:rPr lang="en-US" sz="1400" dirty="0">
                <a:solidFill>
                  <a:srgbClr val="1E2533"/>
                </a:solidFill>
                <a:latin typeface="Calibri" pitchFamily="34" charset="0"/>
                <a:ea typeface="Calibri" pitchFamily="34" charset="-122"/>
                <a:cs typeface="Calibri" pitchFamily="34" charset="-120"/>
              </a:rPr>
              <a:t>How trust relates to correctness, bugs found and cost</a:t>
            </a:r>
            <a:endParaRPr lang="en-US" sz="1400" dirty="0"/>
          </a:p>
        </p:txBody>
      </p:sp>
      <p:sp>
        <p:nvSpPr>
          <p:cNvPr id="16" name="Shape 11"/>
          <p:cNvSpPr/>
          <p:nvPr/>
        </p:nvSpPr>
        <p:spPr>
          <a:xfrm>
            <a:off x="548640" y="4398264"/>
            <a:ext cx="640080" cy="640080"/>
          </a:xfrm>
          <a:prstGeom prst="ellipse">
            <a:avLst/>
          </a:prstGeom>
          <a:solidFill>
            <a:srgbClr val="6E56CF"/>
          </a:solidFill>
          <a:ln w="12700">
            <a:solidFill>
              <a:srgbClr val="6E56CF"/>
            </a:solidFill>
            <a:prstDash val="solid"/>
          </a:ln>
        </p:spPr>
        <p:txBody>
          <a:bodyPr/>
          <a:lstStyle/>
          <a:p>
            <a:endParaRPr lang="en-US"/>
          </a:p>
        </p:txBody>
      </p:sp>
      <p:pic>
        <p:nvPicPr>
          <p:cNvPr id="17" name="Image 3" descr="preencoded.png"/>
          <p:cNvPicPr>
            <a:picLocks noChangeAspect="1"/>
          </p:cNvPicPr>
          <p:nvPr/>
        </p:nvPicPr>
        <p:blipFill>
          <a:blip r:embed="rId6"/>
          <a:stretch>
            <a:fillRect/>
          </a:stretch>
        </p:blipFill>
        <p:spPr>
          <a:xfrm>
            <a:off x="708660" y="4558284"/>
            <a:ext cx="320040" cy="320040"/>
          </a:xfrm>
          <a:prstGeom prst="rect">
            <a:avLst/>
          </a:prstGeom>
        </p:spPr>
      </p:pic>
      <p:sp>
        <p:nvSpPr>
          <p:cNvPr id="18" name="Text 12"/>
          <p:cNvSpPr txBox="1"/>
          <p:nvPr/>
        </p:nvSpPr>
        <p:spPr>
          <a:xfrm>
            <a:off x="1417320" y="4361688"/>
            <a:ext cx="1828800" cy="731520"/>
          </a:xfrm>
          <a:prstGeom prst="rect">
            <a:avLst/>
          </a:prstGeom>
          <a:noFill/>
          <a:ln/>
        </p:spPr>
        <p:txBody>
          <a:bodyPr wrap="square" lIns="0" tIns="0" rIns="0" bIns="0" rtlCol="0" anchor="ctr"/>
          <a:lstStyle/>
          <a:p>
            <a:pPr marL="0" indent="0">
              <a:buNone/>
            </a:pPr>
            <a:r>
              <a:rPr lang="en-US" sz="1800" b="1" dirty="0">
                <a:solidFill>
                  <a:srgbClr val="13213C"/>
                </a:solidFill>
                <a:latin typeface="Calibri" pitchFamily="34" charset="0"/>
                <a:ea typeface="Calibri" pitchFamily="34" charset="-122"/>
                <a:cs typeface="Calibri" pitchFamily="34" charset="-120"/>
              </a:rPr>
              <a:t>Open science</a:t>
            </a:r>
            <a:endParaRPr lang="en-US" sz="1800" dirty="0"/>
          </a:p>
        </p:txBody>
      </p:sp>
      <p:sp>
        <p:nvSpPr>
          <p:cNvPr id="19" name="Text 13"/>
          <p:cNvSpPr txBox="1"/>
          <p:nvPr/>
        </p:nvSpPr>
        <p:spPr>
          <a:xfrm>
            <a:off x="3200400" y="4361688"/>
            <a:ext cx="4023360" cy="731520"/>
          </a:xfrm>
          <a:prstGeom prst="rect">
            <a:avLst/>
          </a:prstGeom>
          <a:noFill/>
          <a:ln/>
        </p:spPr>
        <p:txBody>
          <a:bodyPr wrap="square" lIns="0" tIns="0" rIns="0" bIns="0" rtlCol="0" anchor="ctr"/>
          <a:lstStyle/>
          <a:p>
            <a:pPr marL="0" indent="0">
              <a:buNone/>
            </a:pPr>
            <a:r>
              <a:rPr lang="en-US" sz="1400" dirty="0">
                <a:solidFill>
                  <a:srgbClr val="1E2533"/>
                </a:solidFill>
                <a:latin typeface="Calibri" pitchFamily="34" charset="0"/>
                <a:ea typeface="Calibri" pitchFamily="34" charset="-122"/>
                <a:cs typeface="Calibri" pitchFamily="34" charset="-120"/>
              </a:rPr>
              <a:t>QA-Flow, an open benchmark and replication packages</a:t>
            </a:r>
            <a:endParaRPr lang="en-US" sz="1400" dirty="0"/>
          </a:p>
        </p:txBody>
      </p:sp>
      <p:sp>
        <p:nvSpPr>
          <p:cNvPr id="20" name="Shape 14"/>
          <p:cNvSpPr/>
          <p:nvPr/>
        </p:nvSpPr>
        <p:spPr>
          <a:xfrm>
            <a:off x="7406640" y="1325880"/>
            <a:ext cx="4233672" cy="3931920"/>
          </a:xfrm>
          <a:prstGeom prst="roundRect">
            <a:avLst>
              <a:gd name="adj" fmla="val 2791"/>
            </a:avLst>
          </a:prstGeom>
          <a:solidFill>
            <a:srgbClr val="F2F5F9"/>
          </a:solidFill>
          <a:ln w="12700">
            <a:solidFill>
              <a:srgbClr val="F2F5F9"/>
            </a:solidFill>
            <a:prstDash val="solid"/>
          </a:ln>
        </p:spPr>
        <p:txBody>
          <a:bodyPr/>
          <a:lstStyle/>
          <a:p>
            <a:endParaRPr lang="en-US"/>
          </a:p>
        </p:txBody>
      </p:sp>
      <p:sp>
        <p:nvSpPr>
          <p:cNvPr id="21" name="Text 15"/>
          <p:cNvSpPr txBox="1"/>
          <p:nvPr/>
        </p:nvSpPr>
        <p:spPr>
          <a:xfrm>
            <a:off x="7635240" y="1490472"/>
            <a:ext cx="3840480" cy="365760"/>
          </a:xfrm>
          <a:prstGeom prst="rect">
            <a:avLst/>
          </a:prstGeom>
          <a:noFill/>
          <a:ln/>
        </p:spPr>
        <p:txBody>
          <a:bodyPr wrap="square" lIns="0" tIns="0" rIns="0" bIns="0" rtlCol="0" anchor="t"/>
          <a:lstStyle/>
          <a:p>
            <a:pPr marL="0" indent="0">
              <a:buNone/>
            </a:pPr>
            <a:r>
              <a:rPr lang="en-US" sz="1600" b="1" dirty="0">
                <a:solidFill>
                  <a:srgbClr val="13213C"/>
                </a:solidFill>
                <a:latin typeface="Calibri" pitchFamily="34" charset="0"/>
                <a:ea typeface="Calibri" pitchFamily="34" charset="-122"/>
                <a:cs typeface="Calibri" pitchFamily="34" charset="-120"/>
              </a:rPr>
              <a:t>Dissemination &amp; network</a:t>
            </a:r>
            <a:endParaRPr lang="en-US" sz="1600" dirty="0"/>
          </a:p>
        </p:txBody>
      </p:sp>
      <p:sp>
        <p:nvSpPr>
          <p:cNvPr id="22" name="Text 16"/>
          <p:cNvSpPr txBox="1"/>
          <p:nvPr/>
        </p:nvSpPr>
        <p:spPr>
          <a:xfrm>
            <a:off x="7635240" y="1920240"/>
            <a:ext cx="3840480" cy="320040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rgbClr val="1E2533"/>
                </a:solidFill>
                <a:latin typeface="Calibri" pitchFamily="34" charset="0"/>
                <a:ea typeface="Calibri" pitchFamily="34" charset="-122"/>
                <a:cs typeface="Calibri" pitchFamily="34" charset="-120"/>
              </a:rPr>
              <a:t>Venues: ICSE, FSE, ASE, ISSTA, ICST; TOSEM, TSE, EMSE</a:t>
            </a:r>
            <a:endParaRPr lang="en-US" sz="1400" dirty="0"/>
          </a:p>
          <a:p>
            <a:pPr marL="177800" indent="-177800">
              <a:spcAft>
                <a:spcPts val="600"/>
              </a:spcAft>
              <a:buSzPct val="100000"/>
              <a:buChar char="•"/>
            </a:pPr>
            <a:r>
              <a:rPr lang="en-US" sz="1400" dirty="0">
                <a:solidFill>
                  <a:srgbClr val="1E2533"/>
                </a:solidFill>
                <a:latin typeface="Calibri" pitchFamily="34" charset="0"/>
                <a:ea typeface="Calibri" pitchFamily="34" charset="-122"/>
                <a:cs typeface="Calibri" pitchFamily="34" charset="-120"/>
              </a:rPr>
              <a:t>Joint papers across the network, building on the team's foundation-model road maps [10, 11]</a:t>
            </a:r>
            <a:endParaRPr lang="en-US" sz="1400" dirty="0"/>
          </a:p>
          <a:p>
            <a:pPr marL="177800" indent="-177800">
              <a:spcAft>
                <a:spcPts val="600"/>
              </a:spcAft>
              <a:buSzPct val="100000"/>
              <a:buChar char="•"/>
            </a:pPr>
            <a:r>
              <a:rPr lang="en-US" sz="1400" dirty="0">
                <a:solidFill>
                  <a:srgbClr val="1E2533"/>
                </a:solidFill>
                <a:latin typeface="Calibri" pitchFamily="34" charset="0"/>
                <a:ea typeface="Calibri" pitchFamily="34" charset="-122"/>
                <a:cs typeface="Calibri" pitchFamily="34" charset="-120"/>
              </a:rPr>
              <a:t>Secondment at Mondragon: industrial CPS case and oracle expertise</a:t>
            </a:r>
            <a:endParaRPr lang="en-US" sz="1400" dirty="0"/>
          </a:p>
          <a:p>
            <a:pPr marL="177800" indent="-177800">
              <a:spcAft>
                <a:spcPts val="600"/>
              </a:spcAft>
              <a:buSzPct val="100000"/>
              <a:buChar char="•"/>
            </a:pPr>
            <a:r>
              <a:rPr lang="en-US" sz="1400" dirty="0">
                <a:solidFill>
                  <a:srgbClr val="1E2533"/>
                </a:solidFill>
                <a:latin typeface="Calibri" pitchFamily="34" charset="0"/>
                <a:ea typeface="Calibri" pitchFamily="34" charset="-122"/>
                <a:cs typeface="Calibri" pitchFamily="34" charset="-120"/>
              </a:rPr>
              <a:t>Training, summer schools and outreach of the doctoral network</a:t>
            </a:r>
            <a:endParaRPr lang="en-US" sz="1400" dirty="0"/>
          </a:p>
        </p:txBody>
      </p:sp>
      <p:sp>
        <p:nvSpPr>
          <p:cNvPr id="23" name="Text 17"/>
          <p:cNvSpPr txBox="1"/>
          <p:nvPr/>
        </p:nvSpPr>
        <p:spPr>
          <a:xfrm>
            <a:off x="548640" y="5669280"/>
            <a:ext cx="11094415" cy="758952"/>
          </a:xfrm>
          <a:prstGeom prst="rect">
            <a:avLst/>
          </a:prstGeom>
          <a:noFill/>
          <a:ln/>
        </p:spPr>
        <p:txBody>
          <a:bodyPr wrap="square" lIns="0" tIns="0" rIns="0" bIns="0" rtlCol="0" anchor="b"/>
          <a:lstStyle/>
          <a:p>
            <a:pPr marL="0" indent="0">
              <a:buNone/>
            </a:pPr>
            <a:r>
              <a:rPr lang="en-US" sz="900" dirty="0">
                <a:solidFill>
                  <a:srgbClr val="5B6578"/>
                </a:solidFill>
                <a:latin typeface="Calibri" pitchFamily="34" charset="0"/>
                <a:ea typeface="Calibri" pitchFamily="34" charset="-122"/>
                <a:cs typeface="Calibri" pitchFamily="34" charset="-120"/>
              </a:rPr>
              <a:t>[10] C. Lu et al., “Foundation models for software engineering of cyber-physical systems: The road ahead,” ACM TOSEM, 2026.</a:t>
            </a:r>
            <a:endParaRPr lang="en-US" sz="900" dirty="0"/>
          </a:p>
          <a:p>
            <a:pPr marL="0" indent="0">
              <a:buNone/>
            </a:pPr>
            <a:r>
              <a:rPr lang="en-US" sz="900" dirty="0">
                <a:solidFill>
                  <a:srgbClr val="5B6578"/>
                </a:solidFill>
                <a:latin typeface="Calibri" pitchFamily="34" charset="0"/>
                <a:ea typeface="Calibri" pitchFamily="34" charset="-122"/>
                <a:cs typeface="Calibri" pitchFamily="34" charset="-120"/>
              </a:rPr>
              <a:t>[11] S. Ali et al., “Foundation models for the digital twins creation of cyber-physical systems,” Proc. ISoLA 2024, 2025.</a:t>
            </a:r>
            <a:endParaRPr lang="en-US" sz="9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578"/>
                </a:solidFill>
                <a:latin typeface="Calibri"/>
                <a:ea typeface="Calibri"/>
                <a:cs typeface="Calibri"/>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109728"/>
            <a:ext cx="7315200" cy="228600"/>
          </a:xfrm>
          <a:prstGeom prst="rect">
            <a:avLst/>
          </a:prstGeom>
          <a:noFill/>
          <a:ln/>
        </p:spPr>
        <p:txBody>
          <a:bodyPr wrap="square" lIns="0" tIns="0" rIns="0" bIns="0" rtlCol="0" anchor="t"/>
          <a:lstStyle/>
          <a:p>
            <a:pPr marL="0" indent="0">
              <a:buNone/>
            </a:pPr>
            <a:r>
              <a:rPr lang="en-US" sz="1100" b="1" kern="0" spc="100" dirty="0">
                <a:solidFill>
                  <a:srgbClr val="2E8B57"/>
                </a:solidFill>
                <a:latin typeface="Calibri" pitchFamily="34" charset="0"/>
                <a:ea typeface="Calibri" pitchFamily="34" charset="-122"/>
                <a:cs typeface="Calibri" pitchFamily="34" charset="-120"/>
              </a:rPr>
              <a:t>PART C · MY BACKGROUND</a:t>
            </a:r>
            <a:endParaRPr lang="en-US" sz="1100" dirty="0"/>
          </a:p>
        </p:txBody>
      </p:sp>
      <p:sp>
        <p:nvSpPr>
          <p:cNvPr id="3"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buNone/>
            </a:pPr>
            <a:r>
              <a:rPr lang="vi-VN" sz="3000" b="1" dirty="0" err="1">
                <a:solidFill>
                  <a:srgbClr val="13213C"/>
                </a:solidFill>
                <a:latin typeface="Cambria" pitchFamily="34" charset="0"/>
                <a:ea typeface="Cambria" pitchFamily="34" charset="-122"/>
                <a:cs typeface="Cambria" pitchFamily="34" charset="-120"/>
              </a:rPr>
              <a:t>My</a:t>
            </a:r>
            <a:r>
              <a:rPr lang="vi-VN" sz="3000" b="1" dirty="0">
                <a:solidFill>
                  <a:srgbClr val="13213C"/>
                </a:solidFill>
                <a:latin typeface="Cambria" pitchFamily="34" charset="0"/>
                <a:ea typeface="Cambria" pitchFamily="34" charset="-122"/>
                <a:cs typeface="Cambria" pitchFamily="34" charset="-120"/>
              </a:rPr>
              <a:t> </a:t>
            </a:r>
            <a:r>
              <a:rPr lang="vi-VN" sz="3000" b="1" dirty="0" err="1">
                <a:solidFill>
                  <a:srgbClr val="13213C"/>
                </a:solidFill>
                <a:latin typeface="Cambria" pitchFamily="34" charset="0"/>
                <a:ea typeface="Cambria" pitchFamily="34" charset="-122"/>
                <a:cs typeface="Cambria" pitchFamily="34" charset="-120"/>
              </a:rPr>
              <a:t>Background</a:t>
            </a:r>
            <a:endParaRPr lang="en-US" sz="3000" dirty="0"/>
          </a:p>
        </p:txBody>
      </p:sp>
      <p:sp>
        <p:nvSpPr>
          <p:cNvPr id="4" name="Shape 2"/>
          <p:cNvSpPr/>
          <p:nvPr/>
        </p:nvSpPr>
        <p:spPr>
          <a:xfrm>
            <a:off x="1658082" y="2121408"/>
            <a:ext cx="8875532" cy="0"/>
          </a:xfrm>
          <a:prstGeom prst="line">
            <a:avLst/>
          </a:prstGeom>
          <a:noFill/>
          <a:ln w="25400">
            <a:solidFill>
              <a:srgbClr val="DDE3EC"/>
            </a:solidFill>
            <a:prstDash val="solid"/>
          </a:ln>
        </p:spPr>
        <p:txBody>
          <a:bodyPr/>
          <a:lstStyle/>
          <a:p>
            <a:endParaRPr lang="en-US"/>
          </a:p>
        </p:txBody>
      </p:sp>
      <p:sp>
        <p:nvSpPr>
          <p:cNvPr id="5" name="Shape 3"/>
          <p:cNvSpPr/>
          <p:nvPr/>
        </p:nvSpPr>
        <p:spPr>
          <a:xfrm>
            <a:off x="1365474" y="1828800"/>
            <a:ext cx="585216" cy="585216"/>
          </a:xfrm>
          <a:prstGeom prst="ellipse">
            <a:avLst/>
          </a:prstGeom>
          <a:solidFill>
            <a:srgbClr val="5B6578"/>
          </a:solidFill>
          <a:ln w="12700">
            <a:solidFill>
              <a:srgbClr val="5B6578"/>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1511778" y="1975104"/>
            <a:ext cx="292608" cy="292608"/>
          </a:xfrm>
          <a:prstGeom prst="rect">
            <a:avLst/>
          </a:prstGeom>
        </p:spPr>
      </p:pic>
      <p:sp>
        <p:nvSpPr>
          <p:cNvPr id="7" name="Text 4"/>
          <p:cNvSpPr txBox="1"/>
          <p:nvPr/>
        </p:nvSpPr>
        <p:spPr>
          <a:xfrm>
            <a:off x="548640" y="2542032"/>
            <a:ext cx="2218883" cy="320040"/>
          </a:xfrm>
          <a:prstGeom prst="rect">
            <a:avLst/>
          </a:prstGeom>
          <a:noFill/>
          <a:ln/>
        </p:spPr>
        <p:txBody>
          <a:bodyPr wrap="square" lIns="0" tIns="0" rIns="0" bIns="0" rtlCol="0" anchor="t"/>
          <a:lstStyle/>
          <a:p>
            <a:pPr marL="0" indent="0" algn="ctr">
              <a:buNone/>
            </a:pPr>
            <a:r>
              <a:rPr lang="en-US" sz="1400" b="1" dirty="0">
                <a:solidFill>
                  <a:srgbClr val="5B6578"/>
                </a:solidFill>
                <a:latin typeface="Calibri" pitchFamily="34" charset="0"/>
                <a:ea typeface="Calibri" pitchFamily="34" charset="-122"/>
                <a:cs typeface="Calibri" pitchFamily="34" charset="-120"/>
              </a:rPr>
              <a:t>2019–23</a:t>
            </a:r>
            <a:endParaRPr lang="en-US" sz="1400" dirty="0"/>
          </a:p>
        </p:txBody>
      </p:sp>
      <p:sp>
        <p:nvSpPr>
          <p:cNvPr id="8" name="Text 5"/>
          <p:cNvSpPr txBox="1"/>
          <p:nvPr/>
        </p:nvSpPr>
        <p:spPr>
          <a:xfrm>
            <a:off x="621792" y="2852928"/>
            <a:ext cx="2072579" cy="566928"/>
          </a:xfrm>
          <a:prstGeom prst="rect">
            <a:avLst/>
          </a:prstGeom>
          <a:noFill/>
          <a:ln/>
        </p:spPr>
        <p:txBody>
          <a:bodyPr wrap="square" lIns="0" tIns="0" rIns="0" bIns="0" rtlCol="0" anchor="t"/>
          <a:lstStyle/>
          <a:p>
            <a:pPr marL="0" indent="0" algn="ctr">
              <a:buNone/>
            </a:pPr>
            <a:r>
              <a:rPr lang="en-US" sz="1400" b="1" dirty="0">
                <a:solidFill>
                  <a:srgbClr val="1E2533"/>
                </a:solidFill>
                <a:latin typeface="Calibri" pitchFamily="34" charset="0"/>
                <a:ea typeface="Calibri" pitchFamily="34" charset="-122"/>
                <a:cs typeface="Calibri" pitchFamily="34" charset="-120"/>
              </a:rPr>
              <a:t>B.S. Electrical &amp; Electronics Eng.</a:t>
            </a:r>
            <a:endParaRPr lang="en-US" sz="1400" dirty="0"/>
          </a:p>
        </p:txBody>
      </p:sp>
      <p:sp>
        <p:nvSpPr>
          <p:cNvPr id="9" name="Text 6"/>
          <p:cNvSpPr txBox="1"/>
          <p:nvPr/>
        </p:nvSpPr>
        <p:spPr>
          <a:xfrm>
            <a:off x="640080" y="3419856"/>
            <a:ext cx="2036003" cy="868680"/>
          </a:xfrm>
          <a:prstGeom prst="rect">
            <a:avLst/>
          </a:prstGeom>
          <a:noFill/>
          <a:ln/>
        </p:spPr>
        <p:txBody>
          <a:bodyPr wrap="square" lIns="0" tIns="0" rIns="0" bIns="0" rtlCol="0" anchor="t"/>
          <a:lstStyle/>
          <a:p>
            <a:pPr marL="0" indent="0" algn="ctr">
              <a:buNone/>
            </a:pPr>
            <a:r>
              <a:rPr lang="vi-VN" sz="1200" dirty="0" err="1">
                <a:solidFill>
                  <a:srgbClr val="5B6578"/>
                </a:solidFill>
                <a:latin typeface="Calibri" pitchFamily="34" charset="0"/>
                <a:ea typeface="Calibri" pitchFamily="34" charset="-122"/>
                <a:cs typeface="Calibri" pitchFamily="34" charset="-120"/>
              </a:rPr>
              <a:t>Research</a:t>
            </a:r>
            <a:r>
              <a:rPr lang="vi-VN" sz="1200" dirty="0">
                <a:solidFill>
                  <a:srgbClr val="5B6578"/>
                </a:solidFill>
                <a:latin typeface="Calibri" pitchFamily="34" charset="0"/>
                <a:ea typeface="Calibri" pitchFamily="34" charset="-122"/>
                <a:cs typeface="Calibri" pitchFamily="34" charset="-120"/>
              </a:rPr>
              <a:t>: </a:t>
            </a:r>
            <a:r>
              <a:rPr lang="vi-VN" sz="1200" dirty="0" err="1">
                <a:solidFill>
                  <a:srgbClr val="5B6578"/>
                </a:solidFill>
                <a:latin typeface="Calibri" pitchFamily="34" charset="0"/>
                <a:ea typeface="Calibri" pitchFamily="34" charset="-122"/>
                <a:cs typeface="Calibri" pitchFamily="34" charset="-120"/>
              </a:rPr>
              <a:t>Autonomous</a:t>
            </a:r>
            <a:r>
              <a:rPr lang="vi-VN" sz="1200" dirty="0">
                <a:solidFill>
                  <a:srgbClr val="5B6578"/>
                </a:solidFill>
                <a:latin typeface="Calibri" pitchFamily="34" charset="0"/>
                <a:ea typeface="Calibri" pitchFamily="34" charset="-122"/>
                <a:cs typeface="Calibri" pitchFamily="34" charset="-120"/>
              </a:rPr>
              <a:t> </a:t>
            </a:r>
            <a:r>
              <a:rPr lang="vi-VN" sz="1200" dirty="0" err="1">
                <a:solidFill>
                  <a:srgbClr val="5B6578"/>
                </a:solidFill>
                <a:latin typeface="Calibri" pitchFamily="34" charset="0"/>
                <a:ea typeface="Calibri" pitchFamily="34" charset="-122"/>
                <a:cs typeface="Calibri" pitchFamily="34" charset="-120"/>
              </a:rPr>
              <a:t>Driving</a:t>
            </a:r>
            <a:r>
              <a:rPr lang="vi-VN" sz="1200" dirty="0">
                <a:solidFill>
                  <a:srgbClr val="5B6578"/>
                </a:solidFill>
                <a:latin typeface="Calibri" pitchFamily="34" charset="0"/>
                <a:ea typeface="Calibri" pitchFamily="34" charset="-122"/>
                <a:cs typeface="Calibri" pitchFamily="34" charset="-120"/>
              </a:rPr>
              <a:t> </a:t>
            </a:r>
            <a:r>
              <a:rPr lang="vi-VN" sz="1200" dirty="0" err="1">
                <a:solidFill>
                  <a:srgbClr val="5B6578"/>
                </a:solidFill>
                <a:latin typeface="Calibri" pitchFamily="34" charset="0"/>
                <a:ea typeface="Calibri" pitchFamily="34" charset="-122"/>
                <a:cs typeface="Calibri" pitchFamily="34" charset="-120"/>
              </a:rPr>
              <a:t>Car</a:t>
            </a:r>
            <a:r>
              <a:rPr lang="vi-VN" sz="1200" dirty="0">
                <a:solidFill>
                  <a:srgbClr val="5B6578"/>
                </a:solidFill>
                <a:latin typeface="Calibri" pitchFamily="34" charset="0"/>
                <a:ea typeface="Calibri" pitchFamily="34" charset="-122"/>
                <a:cs typeface="Calibri" pitchFamily="34" charset="-120"/>
              </a:rPr>
              <a:t> </a:t>
            </a:r>
            <a:r>
              <a:rPr lang="vi-VN" sz="1200" dirty="0" err="1">
                <a:solidFill>
                  <a:srgbClr val="5B6578"/>
                </a:solidFill>
                <a:latin typeface="Calibri" pitchFamily="34" charset="0"/>
                <a:ea typeface="Calibri" pitchFamily="34" charset="-122"/>
                <a:cs typeface="Calibri" pitchFamily="34" charset="-120"/>
              </a:rPr>
              <a:t>Using</a:t>
            </a:r>
            <a:r>
              <a:rPr lang="vi-VN" sz="1200" dirty="0">
                <a:solidFill>
                  <a:srgbClr val="5B6578"/>
                </a:solidFill>
                <a:latin typeface="Calibri" pitchFamily="34" charset="0"/>
                <a:ea typeface="Calibri" pitchFamily="34" charset="-122"/>
                <a:cs typeface="Calibri" pitchFamily="34" charset="-120"/>
              </a:rPr>
              <a:t> </a:t>
            </a:r>
            <a:r>
              <a:rPr lang="vi-VN" sz="1200" dirty="0" err="1">
                <a:solidFill>
                  <a:srgbClr val="5B6578"/>
                </a:solidFill>
                <a:latin typeface="Calibri" pitchFamily="34" charset="0"/>
                <a:ea typeface="Calibri" pitchFamily="34" charset="-122"/>
                <a:cs typeface="Calibri" pitchFamily="34" charset="-120"/>
              </a:rPr>
              <a:t>Reinforcement</a:t>
            </a:r>
            <a:r>
              <a:rPr lang="vi-VN" sz="1200" dirty="0">
                <a:solidFill>
                  <a:srgbClr val="5B6578"/>
                </a:solidFill>
                <a:latin typeface="Calibri" pitchFamily="34" charset="0"/>
                <a:ea typeface="Calibri" pitchFamily="34" charset="-122"/>
                <a:cs typeface="Calibri" pitchFamily="34" charset="-120"/>
              </a:rPr>
              <a:t> </a:t>
            </a:r>
            <a:r>
              <a:rPr lang="vi-VN" sz="1200" dirty="0" err="1">
                <a:solidFill>
                  <a:srgbClr val="5B6578"/>
                </a:solidFill>
                <a:latin typeface="Calibri" pitchFamily="34" charset="0"/>
                <a:ea typeface="Calibri" pitchFamily="34" charset="-122"/>
                <a:cs typeface="Calibri" pitchFamily="34" charset="-120"/>
              </a:rPr>
              <a:t>Learning</a:t>
            </a:r>
            <a:endParaRPr lang="en-US" sz="1200" dirty="0"/>
          </a:p>
        </p:txBody>
      </p:sp>
      <p:pic>
        <p:nvPicPr>
          <p:cNvPr id="11" name="Image 1" descr="preencoded.png"/>
          <p:cNvPicPr>
            <a:picLocks noChangeAspect="1"/>
          </p:cNvPicPr>
          <p:nvPr/>
        </p:nvPicPr>
        <p:blipFill>
          <a:blip r:embed="rId4"/>
          <a:stretch>
            <a:fillRect/>
          </a:stretch>
        </p:blipFill>
        <p:spPr>
          <a:xfrm>
            <a:off x="3730661" y="1975104"/>
            <a:ext cx="292608" cy="292608"/>
          </a:xfrm>
          <a:prstGeom prst="rect">
            <a:avLst/>
          </a:prstGeom>
        </p:spPr>
      </p:pic>
      <p:sp>
        <p:nvSpPr>
          <p:cNvPr id="15" name="Shape 11"/>
          <p:cNvSpPr/>
          <p:nvPr/>
        </p:nvSpPr>
        <p:spPr>
          <a:xfrm>
            <a:off x="5803240" y="1828800"/>
            <a:ext cx="585216" cy="585216"/>
          </a:xfrm>
          <a:prstGeom prst="ellipse">
            <a:avLst/>
          </a:prstGeom>
          <a:solidFill>
            <a:srgbClr val="3567C8"/>
          </a:solidFill>
          <a:ln w="12700">
            <a:solidFill>
              <a:srgbClr val="3567C8"/>
            </a:solidFill>
            <a:prstDash val="solid"/>
          </a:ln>
        </p:spPr>
        <p:txBody>
          <a:bodyPr/>
          <a:lstStyle/>
          <a:p>
            <a:endParaRPr lang="en-US"/>
          </a:p>
        </p:txBody>
      </p:sp>
      <p:pic>
        <p:nvPicPr>
          <p:cNvPr id="16" name="Image 2" descr="preencoded.png"/>
          <p:cNvPicPr>
            <a:picLocks noChangeAspect="1"/>
          </p:cNvPicPr>
          <p:nvPr/>
        </p:nvPicPr>
        <p:blipFill>
          <a:blip r:embed="rId5"/>
          <a:stretch>
            <a:fillRect/>
          </a:stretch>
        </p:blipFill>
        <p:spPr>
          <a:xfrm>
            <a:off x="5949544" y="1975104"/>
            <a:ext cx="292608" cy="292608"/>
          </a:xfrm>
          <a:prstGeom prst="rect">
            <a:avLst/>
          </a:prstGeom>
        </p:spPr>
      </p:pic>
      <p:sp>
        <p:nvSpPr>
          <p:cNvPr id="17" name="Text 12"/>
          <p:cNvSpPr txBox="1"/>
          <p:nvPr/>
        </p:nvSpPr>
        <p:spPr>
          <a:xfrm>
            <a:off x="4986406" y="2542032"/>
            <a:ext cx="2218883" cy="320040"/>
          </a:xfrm>
          <a:prstGeom prst="rect">
            <a:avLst/>
          </a:prstGeom>
          <a:noFill/>
          <a:ln/>
        </p:spPr>
        <p:txBody>
          <a:bodyPr wrap="square" lIns="0" tIns="0" rIns="0" bIns="0" rtlCol="0" anchor="t"/>
          <a:lstStyle/>
          <a:p>
            <a:pPr marL="0" indent="0" algn="ctr">
              <a:buNone/>
            </a:pPr>
            <a:r>
              <a:rPr lang="en-US" sz="1400" b="1" dirty="0">
                <a:solidFill>
                  <a:srgbClr val="3567C8"/>
                </a:solidFill>
                <a:latin typeface="Calibri" pitchFamily="34" charset="0"/>
                <a:ea typeface="Calibri" pitchFamily="34" charset="-122"/>
                <a:cs typeface="Calibri" pitchFamily="34" charset="-120"/>
              </a:rPr>
              <a:t>2022–24</a:t>
            </a:r>
            <a:endParaRPr lang="en-US" sz="1400" dirty="0"/>
          </a:p>
        </p:txBody>
      </p:sp>
      <p:sp>
        <p:nvSpPr>
          <p:cNvPr id="18" name="Text 13"/>
          <p:cNvSpPr txBox="1"/>
          <p:nvPr/>
        </p:nvSpPr>
        <p:spPr>
          <a:xfrm>
            <a:off x="5059558" y="2852928"/>
            <a:ext cx="2072579" cy="566928"/>
          </a:xfrm>
          <a:prstGeom prst="rect">
            <a:avLst/>
          </a:prstGeom>
          <a:noFill/>
          <a:ln/>
        </p:spPr>
        <p:txBody>
          <a:bodyPr wrap="square" lIns="0" tIns="0" rIns="0" bIns="0" rtlCol="0" anchor="t"/>
          <a:lstStyle/>
          <a:p>
            <a:pPr marL="0" indent="0" algn="ctr">
              <a:buNone/>
            </a:pPr>
            <a:r>
              <a:rPr lang="vi-VN" sz="1400" b="1" dirty="0" err="1">
                <a:solidFill>
                  <a:srgbClr val="1E2533"/>
                </a:solidFill>
                <a:latin typeface="Calibri" pitchFamily="34" charset="0"/>
                <a:ea typeface="Calibri" pitchFamily="34" charset="-122"/>
                <a:cs typeface="Calibri" pitchFamily="34" charset="-120"/>
              </a:rPr>
              <a:t>Software</a:t>
            </a:r>
            <a:r>
              <a:rPr lang="vi-VN" sz="1400" b="1" dirty="0">
                <a:solidFill>
                  <a:srgbClr val="1E2533"/>
                </a:solidFill>
                <a:latin typeface="Calibri" pitchFamily="34" charset="0"/>
                <a:ea typeface="Calibri" pitchFamily="34" charset="-122"/>
                <a:cs typeface="Calibri" pitchFamily="34" charset="-120"/>
              </a:rPr>
              <a:t> </a:t>
            </a:r>
            <a:r>
              <a:rPr lang="vi-VN" sz="1400" b="1" dirty="0" err="1">
                <a:solidFill>
                  <a:srgbClr val="1E2533"/>
                </a:solidFill>
                <a:latin typeface="Calibri" pitchFamily="34" charset="0"/>
                <a:ea typeface="Calibri" pitchFamily="34" charset="-122"/>
                <a:cs typeface="Calibri" pitchFamily="34" charset="-120"/>
              </a:rPr>
              <a:t>Test</a:t>
            </a:r>
            <a:r>
              <a:rPr lang="vi-VN" sz="1400" b="1" dirty="0">
                <a:solidFill>
                  <a:srgbClr val="1E2533"/>
                </a:solidFill>
                <a:latin typeface="Calibri" pitchFamily="34" charset="0"/>
                <a:ea typeface="Calibri" pitchFamily="34" charset="-122"/>
                <a:cs typeface="Calibri" pitchFamily="34" charset="-120"/>
              </a:rPr>
              <a:t> </a:t>
            </a:r>
            <a:r>
              <a:rPr lang="vi-VN" sz="1400" b="1" dirty="0" err="1">
                <a:solidFill>
                  <a:srgbClr val="1E2533"/>
                </a:solidFill>
                <a:latin typeface="Calibri" pitchFamily="34" charset="0"/>
                <a:ea typeface="Calibri" pitchFamily="34" charset="-122"/>
                <a:cs typeface="Calibri" pitchFamily="34" charset="-120"/>
              </a:rPr>
              <a:t>Enginer</a:t>
            </a:r>
            <a:r>
              <a:rPr lang="vi-VN" sz="1400" b="1" dirty="0">
                <a:solidFill>
                  <a:srgbClr val="1E2533"/>
                </a:solidFill>
                <a:latin typeface="Calibri" pitchFamily="34" charset="0"/>
                <a:ea typeface="Calibri" pitchFamily="34" charset="-122"/>
                <a:cs typeface="Calibri" pitchFamily="34" charset="-120"/>
              </a:rPr>
              <a:t> </a:t>
            </a:r>
          </a:p>
          <a:p>
            <a:pPr marL="0" indent="0" algn="ctr">
              <a:buNone/>
            </a:pPr>
            <a:r>
              <a:rPr lang="vi-VN" sz="1400" b="1" dirty="0" err="1">
                <a:solidFill>
                  <a:srgbClr val="1E2533"/>
                </a:solidFill>
                <a:latin typeface="Calibri" pitchFamily="34" charset="0"/>
                <a:ea typeface="Calibri" pitchFamily="34" charset="-122"/>
                <a:cs typeface="Calibri" pitchFamily="34" charset="-120"/>
              </a:rPr>
              <a:t>Bosch</a:t>
            </a:r>
            <a:r>
              <a:rPr lang="vi-VN" sz="1400" b="1" dirty="0">
                <a:solidFill>
                  <a:srgbClr val="1E2533"/>
                </a:solidFill>
                <a:latin typeface="Calibri" pitchFamily="34" charset="0"/>
                <a:ea typeface="Calibri" pitchFamily="34" charset="-122"/>
                <a:cs typeface="Calibri" pitchFamily="34" charset="-120"/>
              </a:rPr>
              <a:t> @ </a:t>
            </a:r>
            <a:r>
              <a:rPr lang="vi-VN" sz="1400" b="1" dirty="0" err="1">
                <a:solidFill>
                  <a:srgbClr val="1E2533"/>
                </a:solidFill>
                <a:latin typeface="Calibri" pitchFamily="34" charset="0"/>
                <a:ea typeface="Calibri" pitchFamily="34" charset="-122"/>
                <a:cs typeface="Calibri" pitchFamily="34" charset="-120"/>
              </a:rPr>
              <a:t>Vietnam</a:t>
            </a:r>
            <a:endParaRPr lang="en-US" sz="1400" dirty="0"/>
          </a:p>
        </p:txBody>
      </p:sp>
      <p:sp>
        <p:nvSpPr>
          <p:cNvPr id="19" name="Text 14"/>
          <p:cNvSpPr txBox="1"/>
          <p:nvPr/>
        </p:nvSpPr>
        <p:spPr>
          <a:xfrm>
            <a:off x="5077846" y="3419856"/>
            <a:ext cx="2036003" cy="868680"/>
          </a:xfrm>
          <a:prstGeom prst="rect">
            <a:avLst/>
          </a:prstGeom>
          <a:noFill/>
          <a:ln/>
        </p:spPr>
        <p:txBody>
          <a:bodyPr wrap="square" lIns="0" tIns="0" rIns="0" bIns="0" rtlCol="0" anchor="t"/>
          <a:lstStyle/>
          <a:p>
            <a:pPr marL="0" indent="0" algn="ctr">
              <a:buNone/>
            </a:pPr>
            <a:r>
              <a:rPr lang="vi-VN" sz="1200" dirty="0" err="1">
                <a:solidFill>
                  <a:srgbClr val="5B6578"/>
                </a:solidFill>
                <a:latin typeface="Calibri" pitchFamily="34" charset="0"/>
                <a:ea typeface="Calibri" pitchFamily="34" charset="-122"/>
                <a:cs typeface="Calibri" pitchFamily="34" charset="-120"/>
              </a:rPr>
              <a:t>Automotive</a:t>
            </a:r>
            <a:r>
              <a:rPr lang="vi-VN" sz="1200" dirty="0">
                <a:solidFill>
                  <a:srgbClr val="5B6578"/>
                </a:solidFill>
                <a:latin typeface="Calibri" pitchFamily="34" charset="0"/>
                <a:ea typeface="Calibri" pitchFamily="34" charset="-122"/>
                <a:cs typeface="Calibri" pitchFamily="34" charset="-120"/>
              </a:rPr>
              <a:t> ECU </a:t>
            </a:r>
            <a:r>
              <a:rPr lang="vi-VN" sz="1200" dirty="0" err="1">
                <a:solidFill>
                  <a:srgbClr val="5B6578"/>
                </a:solidFill>
                <a:latin typeface="Calibri" pitchFamily="34" charset="0"/>
                <a:ea typeface="Calibri" pitchFamily="34" charset="-122"/>
                <a:cs typeface="Calibri" pitchFamily="34" charset="-120"/>
              </a:rPr>
              <a:t>Testing</a:t>
            </a:r>
            <a:r>
              <a:rPr lang="vi-VN" sz="1200" dirty="0">
                <a:solidFill>
                  <a:srgbClr val="5B6578"/>
                </a:solidFill>
                <a:latin typeface="Calibri" pitchFamily="34" charset="0"/>
                <a:ea typeface="Calibri" pitchFamily="34" charset="-122"/>
                <a:cs typeface="Calibri" pitchFamily="34" charset="-120"/>
              </a:rPr>
              <a:t> </a:t>
            </a:r>
            <a:r>
              <a:rPr lang="vi-VN" sz="1200" dirty="0" err="1">
                <a:solidFill>
                  <a:srgbClr val="5B6578"/>
                </a:solidFill>
                <a:latin typeface="Calibri" pitchFamily="34" charset="0"/>
                <a:ea typeface="Calibri" pitchFamily="34" charset="-122"/>
                <a:cs typeface="Calibri" pitchFamily="34" charset="-120"/>
              </a:rPr>
              <a:t>for</a:t>
            </a:r>
            <a:r>
              <a:rPr lang="vi-VN" sz="1200" dirty="0">
                <a:solidFill>
                  <a:srgbClr val="5B6578"/>
                </a:solidFill>
                <a:latin typeface="Calibri" pitchFamily="34" charset="0"/>
                <a:ea typeface="Calibri" pitchFamily="34" charset="-122"/>
                <a:cs typeface="Calibri" pitchFamily="34" charset="-120"/>
              </a:rPr>
              <a:t> ADAS </a:t>
            </a:r>
            <a:r>
              <a:rPr lang="vi-VN" sz="1200" dirty="0" err="1">
                <a:solidFill>
                  <a:srgbClr val="5B6578"/>
                </a:solidFill>
                <a:latin typeface="Calibri" pitchFamily="34" charset="0"/>
                <a:ea typeface="Calibri" pitchFamily="34" charset="-122"/>
                <a:cs typeface="Calibri" pitchFamily="34" charset="-120"/>
              </a:rPr>
              <a:t>system</a:t>
            </a:r>
            <a:endParaRPr lang="en-US" sz="1200" dirty="0"/>
          </a:p>
        </p:txBody>
      </p:sp>
      <p:sp>
        <p:nvSpPr>
          <p:cNvPr id="20" name="Shape 15"/>
          <p:cNvSpPr/>
          <p:nvPr/>
        </p:nvSpPr>
        <p:spPr>
          <a:xfrm>
            <a:off x="8022123" y="1828800"/>
            <a:ext cx="585216" cy="585216"/>
          </a:xfrm>
          <a:prstGeom prst="ellipse">
            <a:avLst/>
          </a:prstGeom>
          <a:solidFill>
            <a:srgbClr val="0F8B8D"/>
          </a:solidFill>
          <a:ln w="12700">
            <a:solidFill>
              <a:srgbClr val="0F8B8D"/>
            </a:solidFill>
            <a:prstDash val="solid"/>
          </a:ln>
        </p:spPr>
        <p:txBody>
          <a:bodyPr/>
          <a:lstStyle/>
          <a:p>
            <a:endParaRPr lang="en-US"/>
          </a:p>
        </p:txBody>
      </p:sp>
      <p:pic>
        <p:nvPicPr>
          <p:cNvPr id="21" name="Image 3" descr="preencoded.png"/>
          <p:cNvPicPr>
            <a:picLocks noChangeAspect="1"/>
          </p:cNvPicPr>
          <p:nvPr/>
        </p:nvPicPr>
        <p:blipFill>
          <a:blip r:embed="rId6"/>
          <a:stretch>
            <a:fillRect/>
          </a:stretch>
        </p:blipFill>
        <p:spPr>
          <a:xfrm>
            <a:off x="8168427" y="1975104"/>
            <a:ext cx="292608" cy="292608"/>
          </a:xfrm>
          <a:prstGeom prst="rect">
            <a:avLst/>
          </a:prstGeom>
        </p:spPr>
      </p:pic>
      <p:sp>
        <p:nvSpPr>
          <p:cNvPr id="22" name="Text 16"/>
          <p:cNvSpPr txBox="1"/>
          <p:nvPr/>
        </p:nvSpPr>
        <p:spPr>
          <a:xfrm>
            <a:off x="7205289" y="2542032"/>
            <a:ext cx="2218883" cy="320040"/>
          </a:xfrm>
          <a:prstGeom prst="rect">
            <a:avLst/>
          </a:prstGeom>
          <a:noFill/>
          <a:ln/>
        </p:spPr>
        <p:txBody>
          <a:bodyPr wrap="square" lIns="0" tIns="0" rIns="0" bIns="0" rtlCol="0" anchor="t"/>
          <a:lstStyle/>
          <a:p>
            <a:pPr marL="0" indent="0" algn="ctr">
              <a:buNone/>
            </a:pPr>
            <a:r>
              <a:rPr lang="en-US" sz="1400" b="1" dirty="0">
                <a:solidFill>
                  <a:srgbClr val="0F8B8D"/>
                </a:solidFill>
                <a:latin typeface="Calibri" pitchFamily="34" charset="0"/>
                <a:ea typeface="Calibri" pitchFamily="34" charset="-122"/>
                <a:cs typeface="Calibri" pitchFamily="34" charset="-120"/>
              </a:rPr>
              <a:t>2024–26</a:t>
            </a:r>
            <a:endParaRPr lang="en-US" sz="1400" dirty="0"/>
          </a:p>
        </p:txBody>
      </p:sp>
      <p:sp>
        <p:nvSpPr>
          <p:cNvPr id="23" name="Text 17"/>
          <p:cNvSpPr txBox="1"/>
          <p:nvPr/>
        </p:nvSpPr>
        <p:spPr>
          <a:xfrm>
            <a:off x="7278441" y="2852928"/>
            <a:ext cx="2072579" cy="566928"/>
          </a:xfrm>
          <a:prstGeom prst="rect">
            <a:avLst/>
          </a:prstGeom>
          <a:noFill/>
          <a:ln/>
        </p:spPr>
        <p:txBody>
          <a:bodyPr wrap="square" lIns="0" tIns="0" rIns="0" bIns="0" rtlCol="0" anchor="t"/>
          <a:lstStyle/>
          <a:p>
            <a:pPr marL="0" indent="0" algn="ctr">
              <a:buNone/>
            </a:pPr>
            <a:r>
              <a:rPr lang="en-US" sz="1400" b="1" dirty="0">
                <a:solidFill>
                  <a:srgbClr val="1E2533"/>
                </a:solidFill>
                <a:latin typeface="Calibri" pitchFamily="34" charset="0"/>
                <a:ea typeface="Calibri" pitchFamily="34" charset="-122"/>
                <a:cs typeface="Calibri" pitchFamily="34" charset="-120"/>
              </a:rPr>
              <a:t>M.S. Computer Science · KNU</a:t>
            </a:r>
            <a:endParaRPr lang="en-US" sz="1400" dirty="0"/>
          </a:p>
        </p:txBody>
      </p:sp>
      <p:sp>
        <p:nvSpPr>
          <p:cNvPr id="24" name="Text 18"/>
          <p:cNvSpPr txBox="1"/>
          <p:nvPr/>
        </p:nvSpPr>
        <p:spPr>
          <a:xfrm>
            <a:off x="7296729" y="3419856"/>
            <a:ext cx="2036003" cy="868680"/>
          </a:xfrm>
          <a:prstGeom prst="rect">
            <a:avLst/>
          </a:prstGeom>
          <a:noFill/>
          <a:ln/>
        </p:spPr>
        <p:txBody>
          <a:bodyPr wrap="square" lIns="0" tIns="0" rIns="0" bIns="0" rtlCol="0" anchor="t"/>
          <a:lstStyle/>
          <a:p>
            <a:pPr marL="0" indent="0" algn="ctr">
              <a:buNone/>
            </a:pPr>
            <a:r>
              <a:rPr lang="vi-VN" sz="1200" dirty="0" err="1">
                <a:solidFill>
                  <a:srgbClr val="5B6578"/>
                </a:solidFill>
                <a:latin typeface="Calibri" pitchFamily="34" charset="0"/>
                <a:ea typeface="Calibri" pitchFamily="34" charset="-122"/>
                <a:cs typeface="Calibri" pitchFamily="34" charset="-120"/>
              </a:rPr>
              <a:t>Research</a:t>
            </a:r>
            <a:r>
              <a:rPr lang="vi-VN" sz="1200" dirty="0">
                <a:solidFill>
                  <a:srgbClr val="5B6578"/>
                </a:solidFill>
                <a:latin typeface="Calibri" pitchFamily="34" charset="0"/>
                <a:ea typeface="Calibri" pitchFamily="34" charset="-122"/>
                <a:cs typeface="Calibri" pitchFamily="34" charset="-120"/>
              </a:rPr>
              <a:t>: </a:t>
            </a:r>
            <a:r>
              <a:rPr lang="vi-VN" sz="1200" dirty="0" err="1">
                <a:solidFill>
                  <a:srgbClr val="5B6578"/>
                </a:solidFill>
                <a:latin typeface="Calibri" pitchFamily="34" charset="0"/>
                <a:ea typeface="Calibri" pitchFamily="34" charset="-122"/>
                <a:cs typeface="Calibri" pitchFamily="34" charset="-120"/>
              </a:rPr>
              <a:t>Software</a:t>
            </a:r>
            <a:r>
              <a:rPr lang="vi-VN" sz="1200" dirty="0">
                <a:solidFill>
                  <a:srgbClr val="5B6578"/>
                </a:solidFill>
                <a:latin typeface="Calibri" pitchFamily="34" charset="0"/>
                <a:ea typeface="Calibri" pitchFamily="34" charset="-122"/>
                <a:cs typeface="Calibri" pitchFamily="34" charset="-120"/>
              </a:rPr>
              <a:t> </a:t>
            </a:r>
            <a:r>
              <a:rPr lang="vi-VN" sz="1200" dirty="0" err="1">
                <a:solidFill>
                  <a:srgbClr val="5B6578"/>
                </a:solidFill>
                <a:latin typeface="Calibri" pitchFamily="34" charset="0"/>
                <a:ea typeface="Calibri" pitchFamily="34" charset="-122"/>
                <a:cs typeface="Calibri" pitchFamily="34" charset="-120"/>
              </a:rPr>
              <a:t>Testing</a:t>
            </a:r>
            <a:r>
              <a:rPr lang="vi-VN" sz="1200" dirty="0">
                <a:solidFill>
                  <a:srgbClr val="5B6578"/>
                </a:solidFill>
                <a:latin typeface="Calibri" pitchFamily="34" charset="0"/>
                <a:ea typeface="Calibri" pitchFamily="34" charset="-122"/>
                <a:cs typeface="Calibri" pitchFamily="34" charset="-120"/>
              </a:rPr>
              <a:t> </a:t>
            </a:r>
            <a:r>
              <a:rPr lang="vi-VN" sz="1200" dirty="0" err="1">
                <a:solidFill>
                  <a:srgbClr val="5B6578"/>
                </a:solidFill>
                <a:latin typeface="Calibri" pitchFamily="34" charset="0"/>
                <a:ea typeface="Calibri" pitchFamily="34" charset="-122"/>
                <a:cs typeface="Calibri" pitchFamily="34" charset="-120"/>
              </a:rPr>
              <a:t>and</a:t>
            </a:r>
            <a:r>
              <a:rPr lang="vi-VN" sz="1200" dirty="0">
                <a:solidFill>
                  <a:srgbClr val="5B6578"/>
                </a:solidFill>
                <a:latin typeface="Calibri" pitchFamily="34" charset="0"/>
                <a:ea typeface="Calibri" pitchFamily="34" charset="-122"/>
                <a:cs typeface="Calibri" pitchFamily="34" charset="-120"/>
              </a:rPr>
              <a:t> </a:t>
            </a:r>
            <a:r>
              <a:rPr lang="vi-VN" sz="1200" dirty="0" err="1">
                <a:solidFill>
                  <a:srgbClr val="5B6578"/>
                </a:solidFill>
                <a:latin typeface="Calibri" pitchFamily="34" charset="0"/>
                <a:ea typeface="Calibri" pitchFamily="34" charset="-122"/>
                <a:cs typeface="Calibri" pitchFamily="34" charset="-120"/>
              </a:rPr>
              <a:t>Verification</a:t>
            </a:r>
            <a:endParaRPr lang="en-US" sz="1200" dirty="0"/>
          </a:p>
        </p:txBody>
      </p:sp>
      <p:sp>
        <p:nvSpPr>
          <p:cNvPr id="25" name="Shape 19"/>
          <p:cNvSpPr/>
          <p:nvPr/>
        </p:nvSpPr>
        <p:spPr>
          <a:xfrm>
            <a:off x="10241006" y="1828800"/>
            <a:ext cx="585216" cy="585216"/>
          </a:xfrm>
          <a:prstGeom prst="ellipse">
            <a:avLst/>
          </a:prstGeom>
          <a:solidFill>
            <a:srgbClr val="E39B2D"/>
          </a:solidFill>
          <a:ln w="12700">
            <a:solidFill>
              <a:srgbClr val="E39B2D"/>
            </a:solidFill>
            <a:prstDash val="solid"/>
          </a:ln>
        </p:spPr>
        <p:txBody>
          <a:bodyPr/>
          <a:lstStyle/>
          <a:p>
            <a:endParaRPr lang="en-US"/>
          </a:p>
        </p:txBody>
      </p:sp>
      <p:pic>
        <p:nvPicPr>
          <p:cNvPr id="26" name="Image 4" descr="preencoded.png"/>
          <p:cNvPicPr>
            <a:picLocks noChangeAspect="1"/>
          </p:cNvPicPr>
          <p:nvPr/>
        </p:nvPicPr>
        <p:blipFill>
          <a:blip r:embed="rId7"/>
          <a:stretch>
            <a:fillRect/>
          </a:stretch>
        </p:blipFill>
        <p:spPr>
          <a:xfrm>
            <a:off x="10387310" y="1975104"/>
            <a:ext cx="292608" cy="292608"/>
          </a:xfrm>
          <a:prstGeom prst="rect">
            <a:avLst/>
          </a:prstGeom>
        </p:spPr>
      </p:pic>
      <p:sp>
        <p:nvSpPr>
          <p:cNvPr id="27" name="Text 20"/>
          <p:cNvSpPr txBox="1"/>
          <p:nvPr/>
        </p:nvSpPr>
        <p:spPr>
          <a:xfrm>
            <a:off x="9424172" y="2542032"/>
            <a:ext cx="2218883" cy="320040"/>
          </a:xfrm>
          <a:prstGeom prst="rect">
            <a:avLst/>
          </a:prstGeom>
          <a:noFill/>
          <a:ln/>
        </p:spPr>
        <p:txBody>
          <a:bodyPr wrap="square" lIns="0" tIns="0" rIns="0" bIns="0" rtlCol="0" anchor="t"/>
          <a:lstStyle/>
          <a:p>
            <a:pPr marL="0" indent="0" algn="ctr">
              <a:buNone/>
            </a:pPr>
            <a:r>
              <a:rPr lang="en-US" sz="1400" b="1" dirty="0">
                <a:solidFill>
                  <a:srgbClr val="E39B2D"/>
                </a:solidFill>
                <a:latin typeface="Calibri" pitchFamily="34" charset="0"/>
                <a:ea typeface="Calibri" pitchFamily="34" charset="-122"/>
                <a:cs typeface="Calibri" pitchFamily="34" charset="-120"/>
              </a:rPr>
              <a:t>2026–</a:t>
            </a:r>
            <a:endParaRPr lang="en-US" sz="1400" dirty="0"/>
          </a:p>
        </p:txBody>
      </p:sp>
      <p:sp>
        <p:nvSpPr>
          <p:cNvPr id="28" name="Text 21"/>
          <p:cNvSpPr txBox="1"/>
          <p:nvPr/>
        </p:nvSpPr>
        <p:spPr>
          <a:xfrm>
            <a:off x="9497324" y="2852928"/>
            <a:ext cx="2072579" cy="566928"/>
          </a:xfrm>
          <a:prstGeom prst="rect">
            <a:avLst/>
          </a:prstGeom>
          <a:noFill/>
          <a:ln/>
        </p:spPr>
        <p:txBody>
          <a:bodyPr wrap="square" lIns="0" tIns="0" rIns="0" bIns="0" rtlCol="0" anchor="t"/>
          <a:lstStyle/>
          <a:p>
            <a:pPr marL="0" indent="0" algn="ctr">
              <a:buNone/>
            </a:pPr>
            <a:r>
              <a:rPr lang="en-US" sz="1400" b="1" dirty="0">
                <a:solidFill>
                  <a:srgbClr val="1E2533"/>
                </a:solidFill>
                <a:latin typeface="Calibri" pitchFamily="34" charset="0"/>
                <a:ea typeface="Calibri" pitchFamily="34" charset="-122"/>
                <a:cs typeface="Calibri" pitchFamily="34" charset="-120"/>
              </a:rPr>
              <a:t>Software </a:t>
            </a:r>
            <a:r>
              <a:rPr lang="vi-VN" sz="1400" b="1" dirty="0">
                <a:solidFill>
                  <a:srgbClr val="1E2533"/>
                </a:solidFill>
                <a:latin typeface="Calibri" pitchFamily="34" charset="0"/>
                <a:ea typeface="Calibri" pitchFamily="34" charset="-122"/>
                <a:cs typeface="Calibri" pitchFamily="34" charset="-120"/>
              </a:rPr>
              <a:t>T</a:t>
            </a:r>
            <a:r>
              <a:rPr lang="en-US" sz="1400" b="1" dirty="0">
                <a:solidFill>
                  <a:srgbClr val="1E2533"/>
                </a:solidFill>
                <a:latin typeface="Calibri" pitchFamily="34" charset="0"/>
                <a:ea typeface="Calibri" pitchFamily="34" charset="-122"/>
                <a:cs typeface="Calibri" pitchFamily="34" charset="-120"/>
              </a:rPr>
              <a:t>est </a:t>
            </a:r>
            <a:r>
              <a:rPr lang="vi-VN" sz="1400" b="1" dirty="0">
                <a:solidFill>
                  <a:srgbClr val="1E2533"/>
                </a:solidFill>
                <a:latin typeface="Calibri" pitchFamily="34" charset="0"/>
                <a:ea typeface="Calibri" pitchFamily="34" charset="-122"/>
                <a:cs typeface="Calibri" pitchFamily="34" charset="-120"/>
              </a:rPr>
              <a:t>E</a:t>
            </a:r>
            <a:r>
              <a:rPr lang="en-US" sz="1400" b="1" dirty="0" err="1">
                <a:solidFill>
                  <a:srgbClr val="1E2533"/>
                </a:solidFill>
                <a:latin typeface="Calibri" pitchFamily="34" charset="0"/>
                <a:ea typeface="Calibri" pitchFamily="34" charset="-122"/>
                <a:cs typeface="Calibri" pitchFamily="34" charset="-120"/>
              </a:rPr>
              <a:t>ngineer</a:t>
            </a:r>
            <a:endParaRPr lang="vi-VN" sz="1400" b="1" dirty="0">
              <a:solidFill>
                <a:srgbClr val="1E2533"/>
              </a:solidFill>
              <a:latin typeface="Calibri" pitchFamily="34" charset="0"/>
              <a:ea typeface="Calibri" pitchFamily="34" charset="-122"/>
              <a:cs typeface="Calibri" pitchFamily="34" charset="-120"/>
            </a:endParaRPr>
          </a:p>
          <a:p>
            <a:pPr marL="0" indent="0" algn="ctr">
              <a:buNone/>
            </a:pPr>
            <a:r>
              <a:rPr lang="vi-VN" sz="1400" b="1" dirty="0">
                <a:solidFill>
                  <a:srgbClr val="1E2533"/>
                </a:solidFill>
                <a:latin typeface="Calibri" pitchFamily="34" charset="0"/>
                <a:ea typeface="Calibri" pitchFamily="34" charset="-122"/>
                <a:cs typeface="Calibri" pitchFamily="34" charset="-120"/>
              </a:rPr>
              <a:t>BNF @ </a:t>
            </a:r>
            <a:r>
              <a:rPr lang="vi-VN" sz="1400" b="1" dirty="0" err="1">
                <a:solidFill>
                  <a:srgbClr val="1E2533"/>
                </a:solidFill>
                <a:latin typeface="Calibri" pitchFamily="34" charset="0"/>
                <a:ea typeface="Calibri" pitchFamily="34" charset="-122"/>
                <a:cs typeface="Calibri" pitchFamily="34" charset="-120"/>
              </a:rPr>
              <a:t>Korea</a:t>
            </a:r>
            <a:endParaRPr lang="en-US" sz="1400" dirty="0"/>
          </a:p>
        </p:txBody>
      </p:sp>
      <p:sp>
        <p:nvSpPr>
          <p:cNvPr id="29" name="Text 22"/>
          <p:cNvSpPr txBox="1"/>
          <p:nvPr/>
        </p:nvSpPr>
        <p:spPr>
          <a:xfrm>
            <a:off x="9515612" y="3419856"/>
            <a:ext cx="2036003" cy="868680"/>
          </a:xfrm>
          <a:prstGeom prst="rect">
            <a:avLst/>
          </a:prstGeom>
          <a:noFill/>
          <a:ln/>
        </p:spPr>
        <p:txBody>
          <a:bodyPr wrap="square" lIns="0" tIns="0" rIns="0" bIns="0" rtlCol="0" anchor="t"/>
          <a:lstStyle/>
          <a:p>
            <a:pPr marL="0" indent="0" algn="ctr">
              <a:buNone/>
            </a:pPr>
            <a:r>
              <a:rPr lang="en-US" sz="1200" dirty="0">
                <a:solidFill>
                  <a:srgbClr val="5B6578"/>
                </a:solidFill>
                <a:latin typeface="Calibri" pitchFamily="34" charset="0"/>
                <a:ea typeface="Calibri" pitchFamily="34" charset="-122"/>
                <a:cs typeface="Calibri" pitchFamily="34" charset="-120"/>
              </a:rPr>
              <a:t>Web/API/system testing</a:t>
            </a:r>
            <a:endParaRPr lang="vi-VN" sz="1200" dirty="0">
              <a:solidFill>
                <a:srgbClr val="5B6578"/>
              </a:solidFill>
              <a:latin typeface="Calibri" pitchFamily="34" charset="0"/>
              <a:ea typeface="Calibri" pitchFamily="34" charset="-122"/>
              <a:cs typeface="Calibri" pitchFamily="34" charset="-120"/>
            </a:endParaRPr>
          </a:p>
          <a:p>
            <a:pPr marL="0" indent="0" algn="ctr">
              <a:buNone/>
            </a:pPr>
            <a:r>
              <a:rPr lang="en-US" sz="1200" dirty="0">
                <a:solidFill>
                  <a:srgbClr val="5B6578"/>
                </a:solidFill>
                <a:latin typeface="Calibri" pitchFamily="34" charset="0"/>
                <a:ea typeface="Calibri" pitchFamily="34" charset="-122"/>
                <a:cs typeface="Calibri" pitchFamily="34" charset="-120"/>
              </a:rPr>
              <a:t>LLM, RAG &amp; MCP-based test generation</a:t>
            </a:r>
            <a:endParaRPr lang="en-US" sz="1200" dirty="0"/>
          </a:p>
        </p:txBody>
      </p:sp>
      <p:sp>
        <p:nvSpPr>
          <p:cNvPr id="30" name="Shape 23"/>
          <p:cNvSpPr/>
          <p:nvPr/>
        </p:nvSpPr>
        <p:spPr>
          <a:xfrm>
            <a:off x="548640" y="4617720"/>
            <a:ext cx="11094415" cy="1234440"/>
          </a:xfrm>
          <a:prstGeom prst="roundRect">
            <a:avLst>
              <a:gd name="adj" fmla="val 8889"/>
            </a:avLst>
          </a:prstGeom>
          <a:solidFill>
            <a:srgbClr val="F2F5F9"/>
          </a:solidFill>
          <a:ln w="12700">
            <a:solidFill>
              <a:srgbClr val="F2F5F9"/>
            </a:solidFill>
            <a:prstDash val="solid"/>
          </a:ln>
        </p:spPr>
        <p:txBody>
          <a:bodyPr/>
          <a:lstStyle/>
          <a:p>
            <a:endParaRPr lang="en-US"/>
          </a:p>
        </p:txBody>
      </p:sp>
      <p:sp>
        <p:nvSpPr>
          <p:cNvPr id="31" name="Text 24"/>
          <p:cNvSpPr txBox="1"/>
          <p:nvPr/>
        </p:nvSpPr>
        <p:spPr>
          <a:xfrm>
            <a:off x="822960" y="4782312"/>
            <a:ext cx="10545775" cy="914400"/>
          </a:xfrm>
          <a:prstGeom prst="rect">
            <a:avLst/>
          </a:prstGeom>
          <a:noFill/>
          <a:ln/>
        </p:spPr>
        <p:txBody>
          <a:bodyPr wrap="square" lIns="0" tIns="0" rIns="0" bIns="0" rtlCol="0" anchor="ctr"/>
          <a:lstStyle/>
          <a:p>
            <a:pPr marL="0" indent="0">
              <a:spcAft>
                <a:spcPts val="600"/>
              </a:spcAft>
              <a:buNone/>
            </a:pPr>
            <a:r>
              <a:rPr lang="en-US" sz="1400" b="1" dirty="0">
                <a:solidFill>
                  <a:srgbClr val="0F8B8D"/>
                </a:solidFill>
                <a:latin typeface="Calibri" pitchFamily="34" charset="0"/>
                <a:ea typeface="Calibri" pitchFamily="34" charset="-122"/>
                <a:cs typeface="Calibri" pitchFamily="34" charset="-120"/>
              </a:rPr>
              <a:t>Thesis  </a:t>
            </a:r>
            <a:r>
              <a:rPr lang="en-US" sz="1400" dirty="0">
                <a:solidFill>
                  <a:srgbClr val="1E2533"/>
                </a:solidFill>
                <a:latin typeface="Calibri" pitchFamily="34" charset="0"/>
                <a:ea typeface="Calibri" pitchFamily="34" charset="-122"/>
                <a:cs typeface="Calibri" pitchFamily="34" charset="-120"/>
              </a:rPr>
              <a:t>Towards Efficient Function Abstraction via Active Learning for Property Falsification (advisor: Prof. Yunja Choi)</a:t>
            </a:r>
            <a:endParaRPr lang="en-US" sz="1400" dirty="0"/>
          </a:p>
          <a:p>
            <a:pPr marL="0" indent="0">
              <a:spcAft>
                <a:spcPts val="600"/>
              </a:spcAft>
              <a:buNone/>
            </a:pPr>
            <a:r>
              <a:rPr lang="en-US" sz="1400" b="1" dirty="0">
                <a:solidFill>
                  <a:srgbClr val="0F8B8D"/>
                </a:solidFill>
                <a:latin typeface="Calibri" pitchFamily="34" charset="0"/>
                <a:ea typeface="Calibri" pitchFamily="34" charset="-122"/>
                <a:cs typeface="Calibri" pitchFamily="34" charset="-120"/>
              </a:rPr>
              <a:t>Papers  </a:t>
            </a:r>
            <a:r>
              <a:rPr lang="en-US" sz="1400" dirty="0">
                <a:solidFill>
                  <a:srgbClr val="1E2533"/>
                </a:solidFill>
                <a:latin typeface="Calibri" pitchFamily="34" charset="0"/>
                <a:ea typeface="Calibri" pitchFamily="34" charset="-122"/>
                <a:cs typeface="Calibri" pitchFamily="34" charset="-120"/>
              </a:rPr>
              <a:t>Test generation for property checking (KCC 2025); stateful system, stateless techniques: test generation for controller software (KCSE 2026), with S. Hong and Y. Choi</a:t>
            </a:r>
            <a:endParaRPr lang="en-US" sz="1400" dirty="0"/>
          </a:p>
        </p:txBody>
      </p:sp>
      <p:sp>
        <p:nvSpPr>
          <p:cNvPr id="32"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578"/>
                </a:solidFill>
                <a:latin typeface="Calibri"/>
                <a:ea typeface="Calibri"/>
                <a:cs typeface="Calibri"/>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109728"/>
            <a:ext cx="7315200" cy="228600"/>
          </a:xfrm>
          <a:prstGeom prst="rect">
            <a:avLst/>
          </a:prstGeom>
          <a:noFill/>
          <a:ln/>
        </p:spPr>
        <p:txBody>
          <a:bodyPr wrap="square" lIns="0" tIns="0" rIns="0" bIns="0" rtlCol="0" anchor="t"/>
          <a:lstStyle/>
          <a:p>
            <a:pPr marL="0" indent="0">
              <a:buNone/>
            </a:pPr>
            <a:r>
              <a:rPr lang="en-US" sz="1100" b="1" kern="0" spc="100" dirty="0">
                <a:solidFill>
                  <a:srgbClr val="2E8B57"/>
                </a:solidFill>
                <a:latin typeface="Calibri" pitchFamily="34" charset="0"/>
                <a:ea typeface="Calibri" pitchFamily="34" charset="-122"/>
                <a:cs typeface="Calibri" pitchFamily="34" charset="-120"/>
              </a:rPr>
              <a:t>PART C · WHAT I BRING</a:t>
            </a:r>
            <a:endParaRPr lang="en-US" sz="1100" dirty="0"/>
          </a:p>
        </p:txBody>
      </p:sp>
      <p:sp>
        <p:nvSpPr>
          <p:cNvPr id="3"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buNone/>
            </a:pPr>
            <a:r>
              <a:rPr lang="en-US" sz="3000" b="1" dirty="0">
                <a:solidFill>
                  <a:srgbClr val="13213C"/>
                </a:solidFill>
                <a:latin typeface="Cambria" pitchFamily="34" charset="0"/>
                <a:ea typeface="Cambria" pitchFamily="34" charset="-122"/>
                <a:cs typeface="Cambria" pitchFamily="34" charset="-120"/>
              </a:rPr>
              <a:t>What I bring, and why this team</a:t>
            </a:r>
            <a:endParaRPr lang="en-US" sz="3000" dirty="0"/>
          </a:p>
        </p:txBody>
      </p:sp>
      <p:sp>
        <p:nvSpPr>
          <p:cNvPr id="4" name="Shape 2"/>
          <p:cNvSpPr/>
          <p:nvPr/>
        </p:nvSpPr>
        <p:spPr>
          <a:xfrm>
            <a:off x="548640" y="1325880"/>
            <a:ext cx="3611880" cy="1920240"/>
          </a:xfrm>
          <a:prstGeom prst="roundRect">
            <a:avLst>
              <a:gd name="adj" fmla="val 5714"/>
            </a:avLst>
          </a:prstGeom>
          <a:solidFill>
            <a:srgbClr val="F2F5F9"/>
          </a:solidFill>
          <a:ln w="12700">
            <a:solidFill>
              <a:srgbClr val="F2F5F9"/>
            </a:solidFill>
            <a:prstDash val="solid"/>
          </a:ln>
        </p:spPr>
        <p:txBody>
          <a:bodyPr/>
          <a:lstStyle/>
          <a:p>
            <a:endParaRPr lang="en-US"/>
          </a:p>
        </p:txBody>
      </p:sp>
      <p:sp>
        <p:nvSpPr>
          <p:cNvPr id="5" name="Shape 3"/>
          <p:cNvSpPr/>
          <p:nvPr/>
        </p:nvSpPr>
        <p:spPr>
          <a:xfrm>
            <a:off x="777240" y="1554480"/>
            <a:ext cx="548640" cy="548640"/>
          </a:xfrm>
          <a:prstGeom prst="ellipse">
            <a:avLst/>
          </a:prstGeom>
          <a:solidFill>
            <a:srgbClr val="3567C8"/>
          </a:solidFill>
          <a:ln w="12700">
            <a:solidFill>
              <a:srgbClr val="3567C8"/>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914400" y="1691640"/>
            <a:ext cx="274320" cy="274320"/>
          </a:xfrm>
          <a:prstGeom prst="rect">
            <a:avLst/>
          </a:prstGeom>
        </p:spPr>
      </p:pic>
      <p:sp>
        <p:nvSpPr>
          <p:cNvPr id="7" name="Text 4"/>
          <p:cNvSpPr txBox="1"/>
          <p:nvPr/>
        </p:nvSpPr>
        <p:spPr>
          <a:xfrm>
            <a:off x="1463040" y="1527048"/>
            <a:ext cx="2560320" cy="594360"/>
          </a:xfrm>
          <a:prstGeom prst="rect">
            <a:avLst/>
          </a:prstGeom>
          <a:noFill/>
          <a:ln/>
        </p:spPr>
        <p:txBody>
          <a:bodyPr wrap="square" lIns="0" tIns="0" rIns="0" bIns="0" rtlCol="0" anchor="ctr"/>
          <a:lstStyle/>
          <a:p>
            <a:pPr marL="0" indent="0">
              <a:buNone/>
            </a:pPr>
            <a:r>
              <a:rPr lang="en-US" sz="1500" b="1" dirty="0">
                <a:solidFill>
                  <a:srgbClr val="13213C"/>
                </a:solidFill>
                <a:latin typeface="Calibri" pitchFamily="34" charset="0"/>
                <a:ea typeface="Calibri" pitchFamily="34" charset="-122"/>
                <a:cs typeface="Calibri" pitchFamily="34" charset="-120"/>
              </a:rPr>
              <a:t>Testing cyber-physical systems</a:t>
            </a:r>
            <a:endParaRPr lang="en-US" sz="1500" dirty="0"/>
          </a:p>
        </p:txBody>
      </p:sp>
      <p:sp>
        <p:nvSpPr>
          <p:cNvPr id="8" name="Text 5"/>
          <p:cNvSpPr txBox="1"/>
          <p:nvPr/>
        </p:nvSpPr>
        <p:spPr>
          <a:xfrm>
            <a:off x="777240" y="2221992"/>
            <a:ext cx="3200400" cy="960120"/>
          </a:xfrm>
          <a:prstGeom prst="rect">
            <a:avLst/>
          </a:prstGeom>
          <a:noFill/>
          <a:ln/>
        </p:spPr>
        <p:txBody>
          <a:bodyPr wrap="square" lIns="0" tIns="0" rIns="0" bIns="0" rtlCol="0" anchor="t"/>
          <a:lstStyle/>
          <a:p>
            <a:pPr marL="0" indent="0">
              <a:buNone/>
            </a:pPr>
            <a:r>
              <a:rPr lang="en-US" sz="1300" dirty="0">
                <a:solidFill>
                  <a:srgbClr val="1E2533"/>
                </a:solidFill>
                <a:latin typeface="Calibri" pitchFamily="34" charset="0"/>
                <a:ea typeface="Calibri" pitchFamily="34" charset="-122"/>
                <a:cs typeface="Calibri" pitchFamily="34" charset="-120"/>
              </a:rPr>
              <a:t>Automotive ECU testing (CAN, CAPL, ETAS INCA); robotics (ROS/ROS2) and embedded domains</a:t>
            </a:r>
            <a:endParaRPr lang="en-US" sz="1300" dirty="0"/>
          </a:p>
        </p:txBody>
      </p:sp>
      <p:sp>
        <p:nvSpPr>
          <p:cNvPr id="9" name="Shape 6"/>
          <p:cNvSpPr/>
          <p:nvPr/>
        </p:nvSpPr>
        <p:spPr>
          <a:xfrm>
            <a:off x="4297680" y="1325880"/>
            <a:ext cx="3611880" cy="1920240"/>
          </a:xfrm>
          <a:prstGeom prst="roundRect">
            <a:avLst>
              <a:gd name="adj" fmla="val 5714"/>
            </a:avLst>
          </a:prstGeom>
          <a:solidFill>
            <a:srgbClr val="F2F5F9"/>
          </a:solidFill>
          <a:ln w="12700">
            <a:solidFill>
              <a:srgbClr val="F2F5F9"/>
            </a:solidFill>
            <a:prstDash val="solid"/>
          </a:ln>
        </p:spPr>
        <p:txBody>
          <a:bodyPr/>
          <a:lstStyle/>
          <a:p>
            <a:endParaRPr lang="en-US"/>
          </a:p>
        </p:txBody>
      </p:sp>
      <p:sp>
        <p:nvSpPr>
          <p:cNvPr id="10" name="Shape 7"/>
          <p:cNvSpPr/>
          <p:nvPr/>
        </p:nvSpPr>
        <p:spPr>
          <a:xfrm>
            <a:off x="4526280" y="1554480"/>
            <a:ext cx="548640" cy="548640"/>
          </a:xfrm>
          <a:prstGeom prst="ellipse">
            <a:avLst/>
          </a:prstGeom>
          <a:solidFill>
            <a:srgbClr val="0F8B8D"/>
          </a:solidFill>
          <a:ln w="12700">
            <a:solidFill>
              <a:srgbClr val="0F8B8D"/>
            </a:solidFill>
            <a:prstDash val="solid"/>
          </a:ln>
        </p:spPr>
        <p:txBody>
          <a:bodyPr/>
          <a:lstStyle/>
          <a:p>
            <a:endParaRPr lang="en-US"/>
          </a:p>
        </p:txBody>
      </p:sp>
      <p:pic>
        <p:nvPicPr>
          <p:cNvPr id="11" name="Image 1" descr="preencoded.png"/>
          <p:cNvPicPr>
            <a:picLocks noChangeAspect="1"/>
          </p:cNvPicPr>
          <p:nvPr/>
        </p:nvPicPr>
        <p:blipFill>
          <a:blip r:embed="rId4"/>
          <a:stretch>
            <a:fillRect/>
          </a:stretch>
        </p:blipFill>
        <p:spPr>
          <a:xfrm>
            <a:off x="4663440" y="1691640"/>
            <a:ext cx="274320" cy="274320"/>
          </a:xfrm>
          <a:prstGeom prst="rect">
            <a:avLst/>
          </a:prstGeom>
        </p:spPr>
      </p:pic>
      <p:sp>
        <p:nvSpPr>
          <p:cNvPr id="12" name="Text 8"/>
          <p:cNvSpPr txBox="1"/>
          <p:nvPr/>
        </p:nvSpPr>
        <p:spPr>
          <a:xfrm>
            <a:off x="5212080" y="1527048"/>
            <a:ext cx="2560320" cy="594360"/>
          </a:xfrm>
          <a:prstGeom prst="rect">
            <a:avLst/>
          </a:prstGeom>
          <a:noFill/>
          <a:ln/>
        </p:spPr>
        <p:txBody>
          <a:bodyPr wrap="square" lIns="0" tIns="0" rIns="0" bIns="0" rtlCol="0" anchor="ctr"/>
          <a:lstStyle/>
          <a:p>
            <a:pPr marL="0" indent="0">
              <a:buNone/>
            </a:pPr>
            <a:r>
              <a:rPr lang="en-US" sz="1500" b="1" dirty="0">
                <a:solidFill>
                  <a:srgbClr val="13213C"/>
                </a:solidFill>
                <a:latin typeface="Calibri" pitchFamily="34" charset="0"/>
                <a:ea typeface="Calibri" pitchFamily="34" charset="-122"/>
                <a:cs typeface="Calibri" pitchFamily="34" charset="-120"/>
              </a:rPr>
              <a:t>Verification research</a:t>
            </a:r>
            <a:endParaRPr lang="en-US" sz="1500" dirty="0"/>
          </a:p>
        </p:txBody>
      </p:sp>
      <p:sp>
        <p:nvSpPr>
          <p:cNvPr id="13" name="Text 9"/>
          <p:cNvSpPr txBox="1"/>
          <p:nvPr/>
        </p:nvSpPr>
        <p:spPr>
          <a:xfrm>
            <a:off x="4526280" y="2221992"/>
            <a:ext cx="3200400" cy="960120"/>
          </a:xfrm>
          <a:prstGeom prst="rect">
            <a:avLst/>
          </a:prstGeom>
          <a:noFill/>
          <a:ln/>
        </p:spPr>
        <p:txBody>
          <a:bodyPr wrap="square" lIns="0" tIns="0" rIns="0" bIns="0" rtlCol="0" anchor="t"/>
          <a:lstStyle/>
          <a:p>
            <a:pPr marL="0" indent="0">
              <a:buNone/>
            </a:pPr>
            <a:r>
              <a:rPr lang="en-US" sz="1300" dirty="0">
                <a:solidFill>
                  <a:srgbClr val="1E2533"/>
                </a:solidFill>
                <a:latin typeface="Calibri" pitchFamily="34" charset="0"/>
                <a:ea typeface="Calibri" pitchFamily="34" charset="-122"/>
                <a:cs typeface="Calibri" pitchFamily="34" charset="-120"/>
              </a:rPr>
              <a:t>Falsification, function abstraction via active learning, property-based testing — close to robustness-guided falsification [14]</a:t>
            </a:r>
            <a:endParaRPr lang="en-US" sz="1300" dirty="0"/>
          </a:p>
        </p:txBody>
      </p:sp>
      <p:sp>
        <p:nvSpPr>
          <p:cNvPr id="14" name="Shape 10"/>
          <p:cNvSpPr/>
          <p:nvPr/>
        </p:nvSpPr>
        <p:spPr>
          <a:xfrm>
            <a:off x="548640" y="3383280"/>
            <a:ext cx="3611880" cy="1920240"/>
          </a:xfrm>
          <a:prstGeom prst="roundRect">
            <a:avLst>
              <a:gd name="adj" fmla="val 5714"/>
            </a:avLst>
          </a:prstGeom>
          <a:solidFill>
            <a:srgbClr val="F2F5F9"/>
          </a:solidFill>
          <a:ln w="12700">
            <a:solidFill>
              <a:srgbClr val="F2F5F9"/>
            </a:solidFill>
            <a:prstDash val="solid"/>
          </a:ln>
        </p:spPr>
        <p:txBody>
          <a:bodyPr/>
          <a:lstStyle/>
          <a:p>
            <a:endParaRPr lang="en-US"/>
          </a:p>
        </p:txBody>
      </p:sp>
      <p:sp>
        <p:nvSpPr>
          <p:cNvPr id="15" name="Shape 11"/>
          <p:cNvSpPr/>
          <p:nvPr/>
        </p:nvSpPr>
        <p:spPr>
          <a:xfrm>
            <a:off x="777240" y="3611880"/>
            <a:ext cx="548640" cy="548640"/>
          </a:xfrm>
          <a:prstGeom prst="ellipse">
            <a:avLst/>
          </a:prstGeom>
          <a:solidFill>
            <a:srgbClr val="E39B2D"/>
          </a:solidFill>
          <a:ln w="12700">
            <a:solidFill>
              <a:srgbClr val="E39B2D"/>
            </a:solidFill>
            <a:prstDash val="solid"/>
          </a:ln>
        </p:spPr>
        <p:txBody>
          <a:bodyPr/>
          <a:lstStyle/>
          <a:p>
            <a:endParaRPr lang="en-US"/>
          </a:p>
        </p:txBody>
      </p:sp>
      <p:pic>
        <p:nvPicPr>
          <p:cNvPr id="16" name="Image 2" descr="preencoded.png"/>
          <p:cNvPicPr>
            <a:picLocks noChangeAspect="1"/>
          </p:cNvPicPr>
          <p:nvPr/>
        </p:nvPicPr>
        <p:blipFill>
          <a:blip r:embed="rId5"/>
          <a:stretch>
            <a:fillRect/>
          </a:stretch>
        </p:blipFill>
        <p:spPr>
          <a:xfrm>
            <a:off x="914400" y="3749040"/>
            <a:ext cx="274320" cy="274320"/>
          </a:xfrm>
          <a:prstGeom prst="rect">
            <a:avLst/>
          </a:prstGeom>
        </p:spPr>
      </p:pic>
      <p:sp>
        <p:nvSpPr>
          <p:cNvPr id="17" name="Text 12"/>
          <p:cNvSpPr txBox="1"/>
          <p:nvPr/>
        </p:nvSpPr>
        <p:spPr>
          <a:xfrm>
            <a:off x="1463040" y="3584448"/>
            <a:ext cx="2560320" cy="594360"/>
          </a:xfrm>
          <a:prstGeom prst="rect">
            <a:avLst/>
          </a:prstGeom>
          <a:noFill/>
          <a:ln/>
        </p:spPr>
        <p:txBody>
          <a:bodyPr wrap="square" lIns="0" tIns="0" rIns="0" bIns="0" rtlCol="0" anchor="ctr"/>
          <a:lstStyle/>
          <a:p>
            <a:pPr marL="0" indent="0">
              <a:buNone/>
            </a:pPr>
            <a:r>
              <a:rPr lang="en-US" sz="1500" b="1" dirty="0">
                <a:solidFill>
                  <a:srgbClr val="13213C"/>
                </a:solidFill>
                <a:latin typeface="Calibri" pitchFamily="34" charset="0"/>
                <a:ea typeface="Calibri" pitchFamily="34" charset="-122"/>
                <a:cs typeface="Calibri" pitchFamily="34" charset="-120"/>
              </a:rPr>
              <a:t>LLMs for quality engineering</a:t>
            </a:r>
            <a:endParaRPr lang="en-US" sz="1500" dirty="0"/>
          </a:p>
        </p:txBody>
      </p:sp>
      <p:sp>
        <p:nvSpPr>
          <p:cNvPr id="18" name="Text 13"/>
          <p:cNvSpPr txBox="1"/>
          <p:nvPr/>
        </p:nvSpPr>
        <p:spPr>
          <a:xfrm>
            <a:off x="777240" y="4279392"/>
            <a:ext cx="3200400" cy="960120"/>
          </a:xfrm>
          <a:prstGeom prst="rect">
            <a:avLst/>
          </a:prstGeom>
          <a:noFill/>
          <a:ln/>
        </p:spPr>
        <p:txBody>
          <a:bodyPr wrap="square" lIns="0" tIns="0" rIns="0" bIns="0" rtlCol="0" anchor="t"/>
          <a:lstStyle/>
          <a:p>
            <a:pPr marL="0" indent="0">
              <a:buNone/>
            </a:pPr>
            <a:r>
              <a:rPr lang="en-US" sz="1300" dirty="0">
                <a:solidFill>
                  <a:srgbClr val="1E2533"/>
                </a:solidFill>
                <a:latin typeface="Calibri" pitchFamily="34" charset="0"/>
                <a:ea typeface="Calibri" pitchFamily="34" charset="-122"/>
                <a:cs typeface="Calibri" pitchFamily="34" charset="-120"/>
              </a:rPr>
              <a:t>Built QA-Flow end to end: RAG, LLM agents, MCP-based workflows, Playwright</a:t>
            </a:r>
            <a:endParaRPr lang="en-US" sz="1300" dirty="0"/>
          </a:p>
        </p:txBody>
      </p:sp>
      <p:sp>
        <p:nvSpPr>
          <p:cNvPr id="19" name="Shape 14"/>
          <p:cNvSpPr/>
          <p:nvPr/>
        </p:nvSpPr>
        <p:spPr>
          <a:xfrm>
            <a:off x="4297680" y="3383280"/>
            <a:ext cx="3611880" cy="1920240"/>
          </a:xfrm>
          <a:prstGeom prst="roundRect">
            <a:avLst>
              <a:gd name="adj" fmla="val 5714"/>
            </a:avLst>
          </a:prstGeom>
          <a:solidFill>
            <a:srgbClr val="F2F5F9"/>
          </a:solidFill>
          <a:ln w="12700">
            <a:solidFill>
              <a:srgbClr val="F2F5F9"/>
            </a:solidFill>
            <a:prstDash val="solid"/>
          </a:ln>
        </p:spPr>
        <p:txBody>
          <a:bodyPr/>
          <a:lstStyle/>
          <a:p>
            <a:endParaRPr lang="en-US"/>
          </a:p>
        </p:txBody>
      </p:sp>
      <p:sp>
        <p:nvSpPr>
          <p:cNvPr id="20" name="Shape 15"/>
          <p:cNvSpPr/>
          <p:nvPr/>
        </p:nvSpPr>
        <p:spPr>
          <a:xfrm>
            <a:off x="4526280" y="3611880"/>
            <a:ext cx="548640" cy="548640"/>
          </a:xfrm>
          <a:prstGeom prst="ellipse">
            <a:avLst/>
          </a:prstGeom>
          <a:solidFill>
            <a:srgbClr val="6E56CF"/>
          </a:solidFill>
          <a:ln w="12700">
            <a:solidFill>
              <a:srgbClr val="6E56CF"/>
            </a:solidFill>
            <a:prstDash val="solid"/>
          </a:ln>
        </p:spPr>
        <p:txBody>
          <a:bodyPr/>
          <a:lstStyle/>
          <a:p>
            <a:endParaRPr lang="en-US"/>
          </a:p>
        </p:txBody>
      </p:sp>
      <p:pic>
        <p:nvPicPr>
          <p:cNvPr id="21" name="Image 3" descr="preencoded.png"/>
          <p:cNvPicPr>
            <a:picLocks noChangeAspect="1"/>
          </p:cNvPicPr>
          <p:nvPr/>
        </p:nvPicPr>
        <p:blipFill>
          <a:blip r:embed="rId6"/>
          <a:stretch>
            <a:fillRect/>
          </a:stretch>
        </p:blipFill>
        <p:spPr>
          <a:xfrm>
            <a:off x="4663440" y="3749040"/>
            <a:ext cx="274320" cy="274320"/>
          </a:xfrm>
          <a:prstGeom prst="rect">
            <a:avLst/>
          </a:prstGeom>
        </p:spPr>
      </p:pic>
      <p:sp>
        <p:nvSpPr>
          <p:cNvPr id="22" name="Text 16"/>
          <p:cNvSpPr txBox="1"/>
          <p:nvPr/>
        </p:nvSpPr>
        <p:spPr>
          <a:xfrm>
            <a:off x="5212080" y="3584448"/>
            <a:ext cx="2560320" cy="594360"/>
          </a:xfrm>
          <a:prstGeom prst="rect">
            <a:avLst/>
          </a:prstGeom>
          <a:noFill/>
          <a:ln/>
        </p:spPr>
        <p:txBody>
          <a:bodyPr wrap="square" lIns="0" tIns="0" rIns="0" bIns="0" rtlCol="0" anchor="ctr"/>
          <a:lstStyle/>
          <a:p>
            <a:pPr marL="0" indent="0">
              <a:buNone/>
            </a:pPr>
            <a:r>
              <a:rPr lang="en-US" sz="1500" b="1" dirty="0">
                <a:solidFill>
                  <a:srgbClr val="13213C"/>
                </a:solidFill>
                <a:latin typeface="Calibri" pitchFamily="34" charset="0"/>
                <a:ea typeface="Calibri" pitchFamily="34" charset="-122"/>
                <a:cs typeface="Calibri" pitchFamily="34" charset="-120"/>
              </a:rPr>
              <a:t>Python &amp; empirical studies</a:t>
            </a:r>
            <a:endParaRPr lang="en-US" sz="1500" dirty="0"/>
          </a:p>
        </p:txBody>
      </p:sp>
      <p:sp>
        <p:nvSpPr>
          <p:cNvPr id="23" name="Text 17"/>
          <p:cNvSpPr txBox="1"/>
          <p:nvPr/>
        </p:nvSpPr>
        <p:spPr>
          <a:xfrm>
            <a:off x="4526280" y="4279392"/>
            <a:ext cx="3200400" cy="960120"/>
          </a:xfrm>
          <a:prstGeom prst="rect">
            <a:avLst/>
          </a:prstGeom>
          <a:noFill/>
          <a:ln/>
        </p:spPr>
        <p:txBody>
          <a:bodyPr wrap="square" lIns="0" tIns="0" rIns="0" bIns="0" rtlCol="0" anchor="t"/>
          <a:lstStyle/>
          <a:p>
            <a:pPr marL="0" indent="0">
              <a:buNone/>
            </a:pPr>
            <a:r>
              <a:rPr lang="en-US" sz="1300" dirty="0">
                <a:solidFill>
                  <a:srgbClr val="1E2533"/>
                </a:solidFill>
                <a:latin typeface="Calibri" pitchFamily="34" charset="0"/>
                <a:ea typeface="Calibri" pitchFamily="34" charset="-122"/>
                <a:cs typeface="Calibri" pitchFamily="34" charset="-120"/>
              </a:rPr>
              <a:t>Controlled experiments on test generators (KCC'25, KCSE'26); ground-truth check of QA-Flow in this talk</a:t>
            </a:r>
            <a:endParaRPr lang="en-US" sz="1300" dirty="0"/>
          </a:p>
        </p:txBody>
      </p:sp>
      <p:sp>
        <p:nvSpPr>
          <p:cNvPr id="24" name="Shape 18"/>
          <p:cNvSpPr/>
          <p:nvPr/>
        </p:nvSpPr>
        <p:spPr>
          <a:xfrm>
            <a:off x="8092440" y="1325880"/>
            <a:ext cx="3547872" cy="3977640"/>
          </a:xfrm>
          <a:prstGeom prst="roundRect">
            <a:avLst>
              <a:gd name="adj" fmla="val 3093"/>
            </a:avLst>
          </a:prstGeom>
          <a:solidFill>
            <a:srgbClr val="13213C"/>
          </a:solidFill>
          <a:ln w="12700">
            <a:solidFill>
              <a:srgbClr val="13213C"/>
            </a:solidFill>
            <a:prstDash val="solid"/>
          </a:ln>
        </p:spPr>
        <p:txBody>
          <a:bodyPr/>
          <a:lstStyle/>
          <a:p>
            <a:endParaRPr lang="en-US"/>
          </a:p>
        </p:txBody>
      </p:sp>
      <p:sp>
        <p:nvSpPr>
          <p:cNvPr id="25" name="Text 19"/>
          <p:cNvSpPr txBox="1"/>
          <p:nvPr/>
        </p:nvSpPr>
        <p:spPr>
          <a:xfrm>
            <a:off x="8321040" y="1508760"/>
            <a:ext cx="3108960" cy="365760"/>
          </a:xfrm>
          <a:prstGeom prst="rect">
            <a:avLst/>
          </a:prstGeom>
          <a:noFill/>
          <a:ln/>
        </p:spPr>
        <p:txBody>
          <a:bodyPr wrap="square" lIns="0" tIns="0" rIns="0" bIns="0" rtlCol="0" anchor="t"/>
          <a:lstStyle/>
          <a:p>
            <a:pPr marL="0" indent="0">
              <a:buNone/>
            </a:pPr>
            <a:r>
              <a:rPr lang="en-US" sz="1700" b="1" dirty="0">
                <a:solidFill>
                  <a:srgbClr val="FFFFFF"/>
                </a:solidFill>
                <a:latin typeface="Calibri" pitchFamily="34" charset="0"/>
                <a:ea typeface="Calibri" pitchFamily="34" charset="-122"/>
                <a:cs typeface="Calibri" pitchFamily="34" charset="-120"/>
              </a:rPr>
              <a:t>Why this team</a:t>
            </a:r>
            <a:endParaRPr lang="en-US" sz="1700" dirty="0"/>
          </a:p>
        </p:txBody>
      </p:sp>
      <p:sp>
        <p:nvSpPr>
          <p:cNvPr id="26" name="Text 20"/>
          <p:cNvSpPr txBox="1"/>
          <p:nvPr/>
        </p:nvSpPr>
        <p:spPr>
          <a:xfrm>
            <a:off x="8321040" y="1965960"/>
            <a:ext cx="3154680" cy="320040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rgbClr val="CFE3F1"/>
                </a:solidFill>
                <a:latin typeface="Calibri" pitchFamily="34" charset="0"/>
                <a:ea typeface="Calibri" pitchFamily="34" charset="-122"/>
                <a:cs typeface="Calibri" pitchFamily="34" charset="-120"/>
              </a:rPr>
              <a:t>Uncertainty-wise CPS testing (Simula)</a:t>
            </a:r>
            <a:endParaRPr lang="en-US" sz="1400" dirty="0"/>
          </a:p>
          <a:p>
            <a:pPr marL="177800" indent="-177800">
              <a:spcAft>
                <a:spcPts val="600"/>
              </a:spcAft>
              <a:buSzPct val="100000"/>
              <a:buChar char="•"/>
            </a:pPr>
            <a:r>
              <a:rPr lang="en-US" sz="1400" dirty="0">
                <a:solidFill>
                  <a:srgbClr val="CFE3F1"/>
                </a:solidFill>
                <a:latin typeface="Calibri" pitchFamily="34" charset="0"/>
                <a:ea typeface="Calibri" pitchFamily="34" charset="-122"/>
                <a:cs typeface="Calibri" pitchFamily="34" charset="-120"/>
              </a:rPr>
              <a:t>ADS testing &amp; falsification (NII)</a:t>
            </a:r>
            <a:endParaRPr lang="en-US" sz="1400" dirty="0"/>
          </a:p>
          <a:p>
            <a:pPr marL="177800" indent="-177800">
              <a:spcAft>
                <a:spcPts val="600"/>
              </a:spcAft>
              <a:buSzPct val="100000"/>
              <a:buChar char="•"/>
            </a:pPr>
            <a:r>
              <a:rPr lang="en-US" sz="1400" dirty="0">
                <a:solidFill>
                  <a:srgbClr val="CFE3F1"/>
                </a:solidFill>
                <a:latin typeface="Calibri" pitchFamily="34" charset="0"/>
                <a:ea typeface="Calibri" pitchFamily="34" charset="-122"/>
                <a:cs typeface="Calibri" pitchFamily="34" charset="-120"/>
              </a:rPr>
              <a:t>Industrial CPS oracles &amp; elevators (Mondragon)</a:t>
            </a:r>
            <a:endParaRPr lang="en-US" sz="1400" dirty="0"/>
          </a:p>
          <a:p>
            <a:pPr marL="177800" indent="-177800">
              <a:spcAft>
                <a:spcPts val="600"/>
              </a:spcAft>
              <a:buSzPct val="100000"/>
              <a:buChar char="•"/>
            </a:pPr>
            <a:r>
              <a:rPr lang="en-US" sz="1400" dirty="0">
                <a:solidFill>
                  <a:srgbClr val="CFE3F1"/>
                </a:solidFill>
                <a:latin typeface="Calibri" pitchFamily="34" charset="0"/>
                <a:ea typeface="Calibri" pitchFamily="34" charset="-122"/>
                <a:cs typeface="Calibri" pitchFamily="34" charset="-120"/>
              </a:rPr>
              <a:t>My work sits exactly where the three meet</a:t>
            </a:r>
            <a:endParaRPr lang="en-US" sz="1400" dirty="0"/>
          </a:p>
        </p:txBody>
      </p:sp>
      <p:sp>
        <p:nvSpPr>
          <p:cNvPr id="27" name="Text 21"/>
          <p:cNvSpPr txBox="1"/>
          <p:nvPr/>
        </p:nvSpPr>
        <p:spPr>
          <a:xfrm>
            <a:off x="548640" y="5760720"/>
            <a:ext cx="11094415" cy="667512"/>
          </a:xfrm>
          <a:prstGeom prst="rect">
            <a:avLst/>
          </a:prstGeom>
          <a:noFill/>
          <a:ln/>
        </p:spPr>
        <p:txBody>
          <a:bodyPr wrap="square" lIns="0" tIns="0" rIns="0" bIns="0" rtlCol="0" anchor="b"/>
          <a:lstStyle/>
          <a:p>
            <a:pPr marL="0" indent="0">
              <a:buNone/>
            </a:pPr>
            <a:r>
              <a:rPr lang="en-US" sz="900" dirty="0">
                <a:solidFill>
                  <a:srgbClr val="5B6578"/>
                </a:solidFill>
                <a:latin typeface="Calibri" pitchFamily="34" charset="0"/>
                <a:ea typeface="Calibri" pitchFamily="34" charset="-122"/>
                <a:cs typeface="Calibri" pitchFamily="34" charset="-120"/>
              </a:rPr>
              <a:t>[14] Z. Zhang et al., “FalsifAI: Falsification of AI-enabled hybrid control systems guided by time-aware coverage criteria,” IEEE TSE, 2023.</a:t>
            </a:r>
            <a:endParaRPr lang="en-US" sz="900" dirty="0"/>
          </a:p>
        </p:txBody>
      </p:sp>
      <p:sp>
        <p:nvSpPr>
          <p:cNvPr id="28"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578"/>
                </a:solidFill>
                <a:latin typeface="Calibri"/>
                <a:ea typeface="Calibri"/>
                <a:cs typeface="Calibri"/>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38047" y="2113571"/>
            <a:ext cx="10515600" cy="1097280"/>
          </a:xfrm>
          <a:prstGeom prst="rect">
            <a:avLst/>
          </a:prstGeom>
          <a:noFill/>
          <a:ln/>
        </p:spPr>
        <p:txBody>
          <a:bodyPr wrap="square" lIns="0" tIns="0" rIns="0" bIns="0" rtlCol="0" anchor="t"/>
          <a:lstStyle/>
          <a:p>
            <a:pPr marL="0" indent="0" algn="ctr">
              <a:buNone/>
            </a:pPr>
            <a:r>
              <a:rPr lang="en-US" sz="4000" b="1" dirty="0">
                <a:solidFill>
                  <a:srgbClr val="FFFFFF"/>
                </a:solidFill>
                <a:latin typeface="Calibri" pitchFamily="34" charset="0"/>
                <a:ea typeface="Calibri" pitchFamily="34" charset="-122"/>
                <a:cs typeface="Calibri" pitchFamily="34" charset="-120"/>
              </a:rPr>
              <a:t>Thank you</a:t>
            </a:r>
            <a:endParaRPr lang="en-US" sz="4000" dirty="0"/>
          </a:p>
        </p:txBody>
      </p:sp>
      <p:sp>
        <p:nvSpPr>
          <p:cNvPr id="3" name="Text 1"/>
          <p:cNvSpPr txBox="1"/>
          <p:nvPr/>
        </p:nvSpPr>
        <p:spPr>
          <a:xfrm>
            <a:off x="1752447" y="3076303"/>
            <a:ext cx="8686800" cy="1737360"/>
          </a:xfrm>
          <a:prstGeom prst="rect">
            <a:avLst/>
          </a:prstGeom>
          <a:noFill/>
          <a:ln/>
        </p:spPr>
        <p:txBody>
          <a:bodyPr wrap="square" lIns="0" tIns="0" rIns="0" bIns="0" rtlCol="0" anchor="t"/>
          <a:lstStyle/>
          <a:p>
            <a:pPr marL="177800" indent="-177800">
              <a:spcAft>
                <a:spcPts val="600"/>
              </a:spcAft>
              <a:buSzPct val="100000"/>
              <a:buChar char="•"/>
            </a:pPr>
            <a:endParaRPr lang="en-US" sz="1800" dirty="0"/>
          </a:p>
        </p:txBody>
      </p:sp>
      <p:pic>
        <p:nvPicPr>
          <p:cNvPr id="5" name="Image 0" descr="D:\git\phd\uq-testgen\deck\assets\strip.png"/>
          <p:cNvPicPr>
            <a:picLocks noChangeAspect="1"/>
          </p:cNvPicPr>
          <p:nvPr/>
        </p:nvPicPr>
        <p:blipFill>
          <a:blip r:embed="rId3"/>
          <a:stretch>
            <a:fillRect/>
          </a:stretch>
        </p:blipFill>
        <p:spPr>
          <a:xfrm>
            <a:off x="0" y="5641848"/>
            <a:ext cx="12191695" cy="121917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buNone/>
            </a:pPr>
            <a:r>
              <a:rPr lang="en-US" sz="3000" b="1" dirty="0">
                <a:solidFill>
                  <a:srgbClr val="13213C"/>
                </a:solidFill>
                <a:latin typeface="Cambria" pitchFamily="34" charset="0"/>
                <a:ea typeface="Cambria" pitchFamily="34" charset="-122"/>
                <a:cs typeface="Cambria" pitchFamily="34" charset="-120"/>
              </a:rPr>
              <a:t>Backup · QA-Flow demo: planted defects, faults and gates</a:t>
            </a:r>
            <a:endParaRPr lang="en-US" sz="3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6675120" cy="3200400"/>
        </p:xfrm>
        <a:graphic>
          <a:graphicData uri="http://schemas.openxmlformats.org/drawingml/2006/table">
            <a:tbl>
              <a:tblPr/>
              <a:tblGrid>
                <a:gridCol w="329184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384048">
                <a:tc>
                  <a:txBody>
                    <a:bodyPr/>
                    <a:lstStyle/>
                    <a:p>
                      <a:pPr marL="0" indent="0">
                        <a:buNone/>
                      </a:pPr>
                      <a:r>
                        <a:rPr lang="en-US" sz="1300" b="1" dirty="0">
                          <a:solidFill>
                            <a:srgbClr val="FFFFFF"/>
                          </a:solidFill>
                        </a:rPr>
                        <a:t>Planted defect (ShopLite)</a:t>
                      </a:r>
                      <a:endParaRPr lang="en-US" sz="1300" dirty="0"/>
                    </a:p>
                  </a:txBody>
                  <a:tcPr marL="73152" marR="73152" marT="73152" marB="73152" anchor="ctr">
                    <a:lnL w="9525" cap="flat" cmpd="sng" algn="ctr">
                      <a:solidFill>
                        <a:srgbClr val="DDE3EC"/>
                      </a:solidFill>
                      <a:prstDash val="solid"/>
                      <a:round/>
                      <a:headEnd type="none" w="med" len="med"/>
                      <a:tailEnd type="none" w="med" len="med"/>
                    </a:lnL>
                    <a:lnR w="9525" cap="flat" cmpd="sng" algn="ctr">
                      <a:solidFill>
                        <a:srgbClr val="DDE3EC"/>
                      </a:solidFill>
                      <a:prstDash val="solid"/>
                      <a:round/>
                      <a:headEnd type="none" w="med" len="med"/>
                      <a:tailEnd type="none" w="med" len="med"/>
                    </a:lnR>
                    <a:lnT w="9525" cap="flat" cmpd="sng" algn="ctr">
                      <a:solidFill>
                        <a:srgbClr val="DDE3EC"/>
                      </a:solidFill>
                      <a:prstDash val="solid"/>
                      <a:round/>
                      <a:headEnd type="none" w="med" len="med"/>
                      <a:tailEnd type="none" w="med" len="med"/>
                    </a:lnT>
                    <a:lnB w="9525" cap="flat" cmpd="sng" algn="ctr">
                      <a:solidFill>
                        <a:srgbClr val="DDE3EC"/>
                      </a:solidFill>
                      <a:prstDash val="solid"/>
                      <a:round/>
                      <a:headEnd type="none" w="med" len="med"/>
                      <a:tailEnd type="none" w="med" len="med"/>
                    </a:lnB>
                    <a:solidFill>
                      <a:srgbClr val="13213C"/>
                    </a:solidFill>
                  </a:tcPr>
                </a:tc>
                <a:tc>
                  <a:txBody>
                    <a:bodyPr/>
                    <a:lstStyle/>
                    <a:p>
                      <a:pPr marL="0" indent="0">
                        <a:buNone/>
                      </a:pPr>
                      <a:r>
                        <a:rPr lang="en-US" sz="1300" b="1" dirty="0">
                          <a:solidFill>
                            <a:srgbClr val="FFFFFF"/>
                          </a:solidFill>
                        </a:rPr>
                        <a:t>Type</a:t>
                      </a:r>
                      <a:endParaRPr lang="en-US" sz="1300" dirty="0"/>
                    </a:p>
                  </a:txBody>
                  <a:tcPr marL="73152" marR="73152" marT="73152" marB="73152" anchor="ctr">
                    <a:lnL w="9525" cap="flat" cmpd="sng" algn="ctr">
                      <a:solidFill>
                        <a:srgbClr val="DDE3EC"/>
                      </a:solidFill>
                      <a:prstDash val="solid"/>
                      <a:round/>
                      <a:headEnd type="none" w="med" len="med"/>
                      <a:tailEnd type="none" w="med" len="med"/>
                    </a:lnL>
                    <a:lnR w="9525" cap="flat" cmpd="sng" algn="ctr">
                      <a:solidFill>
                        <a:srgbClr val="DDE3EC"/>
                      </a:solidFill>
                      <a:prstDash val="solid"/>
                      <a:round/>
                      <a:headEnd type="none" w="med" len="med"/>
                      <a:tailEnd type="none" w="med" len="med"/>
                    </a:lnR>
                    <a:lnT w="9525" cap="flat" cmpd="sng" algn="ctr">
                      <a:solidFill>
                        <a:srgbClr val="DDE3EC"/>
                      </a:solidFill>
                      <a:prstDash val="solid"/>
                      <a:round/>
                      <a:headEnd type="none" w="med" len="med"/>
                      <a:tailEnd type="none" w="med" len="med"/>
                    </a:lnT>
                    <a:lnB w="9525" cap="flat" cmpd="sng" algn="ctr">
                      <a:solidFill>
                        <a:srgbClr val="DDE3EC"/>
                      </a:solidFill>
                      <a:prstDash val="solid"/>
                      <a:round/>
                      <a:headEnd type="none" w="med" len="med"/>
                      <a:tailEnd type="none" w="med" len="med"/>
                    </a:lnB>
                    <a:solidFill>
                      <a:srgbClr val="13213C"/>
                    </a:solidFill>
                  </a:tcPr>
                </a:tc>
                <a:tc>
                  <a:txBody>
                    <a:bodyPr/>
                    <a:lstStyle/>
                    <a:p>
                      <a:pPr marL="0" indent="0">
                        <a:buNone/>
                      </a:pPr>
                      <a:r>
                        <a:rPr lang="en-US" sz="1300" b="1" dirty="0">
                          <a:solidFill>
                            <a:srgbClr val="FFFFFF"/>
                          </a:solidFill>
                        </a:rPr>
                        <a:t>Found by test(s)</a:t>
                      </a:r>
                      <a:endParaRPr lang="en-US" sz="1300" dirty="0"/>
                    </a:p>
                  </a:txBody>
                  <a:tcPr marL="73152" marR="73152" marT="73152" marB="73152" anchor="ctr">
                    <a:lnL w="9525" cap="flat" cmpd="sng" algn="ctr">
                      <a:solidFill>
                        <a:srgbClr val="DDE3EC"/>
                      </a:solidFill>
                      <a:prstDash val="solid"/>
                      <a:round/>
                      <a:headEnd type="none" w="med" len="med"/>
                      <a:tailEnd type="none" w="med" len="med"/>
                    </a:lnL>
                    <a:lnR w="9525" cap="flat" cmpd="sng" algn="ctr">
                      <a:solidFill>
                        <a:srgbClr val="DDE3EC"/>
                      </a:solidFill>
                      <a:prstDash val="solid"/>
                      <a:round/>
                      <a:headEnd type="none" w="med" len="med"/>
                      <a:tailEnd type="none" w="med" len="med"/>
                    </a:lnR>
                    <a:lnT w="9525" cap="flat" cmpd="sng" algn="ctr">
                      <a:solidFill>
                        <a:srgbClr val="DDE3EC"/>
                      </a:solidFill>
                      <a:prstDash val="solid"/>
                      <a:round/>
                      <a:headEnd type="none" w="med" len="med"/>
                      <a:tailEnd type="none" w="med" len="med"/>
                    </a:lnT>
                    <a:lnB w="9525" cap="flat" cmpd="sng" algn="ctr">
                      <a:solidFill>
                        <a:srgbClr val="DDE3EC"/>
                      </a:solidFill>
                      <a:prstDash val="solid"/>
                      <a:round/>
                      <a:headEnd type="none" w="med" len="med"/>
                      <a:tailEnd type="none" w="med" len="med"/>
                    </a:lnB>
                    <a:solidFill>
                      <a:srgbClr val="13213C"/>
                    </a:solidFill>
                  </a:tcPr>
                </a:tc>
                <a:extLst>
                  <a:ext uri="{0D108BD9-81ED-4DB2-BD59-A6C34878D82A}">
                    <a16:rowId xmlns:a16="http://schemas.microsoft.com/office/drawing/2014/main" val="10000"/>
                  </a:ext>
                </a:extLst>
              </a:tr>
              <a:tr h="384048">
                <a:tc>
                  <a:txBody>
                    <a:bodyPr/>
                    <a:lstStyle/>
                    <a:p>
                      <a:pPr marL="0" indent="0">
                        <a:buNone/>
                      </a:pPr>
                      <a:r>
                        <a:rPr lang="en-US" sz="1200" dirty="0">
                          <a:solidFill>
                            <a:srgbClr val="1E2533"/>
                          </a:solidFill>
                        </a:rPr>
                        <a:t>SAVE10 subtracts €10 instead of 10 %</a:t>
                      </a:r>
                      <a:endParaRPr lang="en-US" sz="1200" dirty="0"/>
                    </a:p>
                  </a:txBody>
                  <a:tcPr marL="73152" marR="73152" marT="73152" marB="73152" anchor="ctr">
                    <a:lnL w="9525" cap="flat" cmpd="sng" algn="ctr">
                      <a:solidFill>
                        <a:srgbClr val="DDE3EC"/>
                      </a:solidFill>
                      <a:prstDash val="solid"/>
                      <a:round/>
                      <a:headEnd type="none" w="med" len="med"/>
                      <a:tailEnd type="none" w="med" len="med"/>
                    </a:lnL>
                    <a:lnR w="9525" cap="flat" cmpd="sng" algn="ctr">
                      <a:solidFill>
                        <a:srgbClr val="DDE3EC"/>
                      </a:solidFill>
                      <a:prstDash val="solid"/>
                      <a:round/>
                      <a:headEnd type="none" w="med" len="med"/>
                      <a:tailEnd type="none" w="med" len="med"/>
                    </a:lnR>
                    <a:lnT w="9525" cap="flat" cmpd="sng" algn="ctr">
                      <a:solidFill>
                        <a:srgbClr val="DDE3EC"/>
                      </a:solidFill>
                      <a:prstDash val="solid"/>
                      <a:round/>
                      <a:headEnd type="none" w="med" len="med"/>
                      <a:tailEnd type="none" w="med" len="med"/>
                    </a:lnT>
                    <a:lnB w="9525" cap="flat" cmpd="sng" algn="ctr">
                      <a:solidFill>
                        <a:srgbClr val="DDE3EC"/>
                      </a:solidFill>
                      <a:prstDash val="solid"/>
                      <a:round/>
                      <a:headEnd type="none" w="med" len="med"/>
                      <a:tailEnd type="none" w="med" len="med"/>
                    </a:lnB>
                    <a:solidFill>
                      <a:srgbClr val="F2F5F9"/>
                    </a:solidFill>
                  </a:tcPr>
                </a:tc>
                <a:tc>
                  <a:txBody>
                    <a:bodyPr/>
                    <a:lstStyle/>
                    <a:p>
                      <a:pPr marL="0" indent="0">
                        <a:buNone/>
                      </a:pPr>
                      <a:r>
                        <a:rPr lang="en-US" sz="1200" dirty="0">
                          <a:solidFill>
                            <a:srgbClr val="1E2533"/>
                          </a:solidFill>
                        </a:rPr>
                        <a:t>web</a:t>
                      </a:r>
                      <a:endParaRPr lang="en-US" sz="1200" dirty="0"/>
                    </a:p>
                  </a:txBody>
                  <a:tcPr marL="73152" marR="73152" marT="73152" marB="73152" anchor="ctr">
                    <a:lnL w="9525" cap="flat" cmpd="sng" algn="ctr">
                      <a:solidFill>
                        <a:srgbClr val="DDE3EC"/>
                      </a:solidFill>
                      <a:prstDash val="solid"/>
                      <a:round/>
                      <a:headEnd type="none" w="med" len="med"/>
                      <a:tailEnd type="none" w="med" len="med"/>
                    </a:lnL>
                    <a:lnR w="9525" cap="flat" cmpd="sng" algn="ctr">
                      <a:solidFill>
                        <a:srgbClr val="DDE3EC"/>
                      </a:solidFill>
                      <a:prstDash val="solid"/>
                      <a:round/>
                      <a:headEnd type="none" w="med" len="med"/>
                      <a:tailEnd type="none" w="med" len="med"/>
                    </a:lnR>
                    <a:lnT w="9525" cap="flat" cmpd="sng" algn="ctr">
                      <a:solidFill>
                        <a:srgbClr val="DDE3EC"/>
                      </a:solidFill>
                      <a:prstDash val="solid"/>
                      <a:round/>
                      <a:headEnd type="none" w="med" len="med"/>
                      <a:tailEnd type="none" w="med" len="med"/>
                    </a:lnT>
                    <a:lnB w="9525" cap="flat" cmpd="sng" algn="ctr">
                      <a:solidFill>
                        <a:srgbClr val="DDE3EC"/>
                      </a:solidFill>
                      <a:prstDash val="solid"/>
                      <a:round/>
                      <a:headEnd type="none" w="med" len="med"/>
                      <a:tailEnd type="none" w="med" len="med"/>
                    </a:lnB>
                    <a:solidFill>
                      <a:srgbClr val="F2F5F9"/>
                    </a:solidFill>
                  </a:tcPr>
                </a:tc>
                <a:tc>
                  <a:txBody>
                    <a:bodyPr/>
                    <a:lstStyle/>
                    <a:p>
                      <a:pPr marL="0" indent="0">
                        <a:buNone/>
                      </a:pPr>
                      <a:r>
                        <a:rPr lang="en-US" sz="1200" dirty="0">
                          <a:solidFill>
                            <a:srgbClr val="C8463D"/>
                          </a:solidFill>
                        </a:rPr>
                        <a:t>not found</a:t>
                      </a:r>
                      <a:endParaRPr lang="en-US" sz="1200" dirty="0"/>
                    </a:p>
                  </a:txBody>
                  <a:tcPr marL="73152" marR="73152" marT="73152" marB="73152" anchor="ctr">
                    <a:lnL w="9525" cap="flat" cmpd="sng" algn="ctr">
                      <a:solidFill>
                        <a:srgbClr val="DDE3EC"/>
                      </a:solidFill>
                      <a:prstDash val="solid"/>
                      <a:round/>
                      <a:headEnd type="none" w="med" len="med"/>
                      <a:tailEnd type="none" w="med" len="med"/>
                    </a:lnL>
                    <a:lnR w="9525" cap="flat" cmpd="sng" algn="ctr">
                      <a:solidFill>
                        <a:srgbClr val="DDE3EC"/>
                      </a:solidFill>
                      <a:prstDash val="solid"/>
                      <a:round/>
                      <a:headEnd type="none" w="med" len="med"/>
                      <a:tailEnd type="none" w="med" len="med"/>
                    </a:lnR>
                    <a:lnT w="9525" cap="flat" cmpd="sng" algn="ctr">
                      <a:solidFill>
                        <a:srgbClr val="DDE3EC"/>
                      </a:solidFill>
                      <a:prstDash val="solid"/>
                      <a:round/>
                      <a:headEnd type="none" w="med" len="med"/>
                      <a:tailEnd type="none" w="med" len="med"/>
                    </a:lnT>
                    <a:lnB w="9525" cap="flat" cmpd="sng" algn="ctr">
                      <a:solidFill>
                        <a:srgbClr val="DDE3EC"/>
                      </a:solidFill>
                      <a:prstDash val="solid"/>
                      <a:round/>
                      <a:headEnd type="none" w="med" len="med"/>
                      <a:tailEnd type="none" w="med" len="med"/>
                    </a:lnB>
                    <a:solidFill>
                      <a:srgbClr val="F2F5F9"/>
                    </a:solidFill>
                  </a:tcPr>
                </a:tc>
                <a:extLst>
                  <a:ext uri="{0D108BD9-81ED-4DB2-BD59-A6C34878D82A}">
                    <a16:rowId xmlns:a16="http://schemas.microsoft.com/office/drawing/2014/main" val="10001"/>
                  </a:ext>
                </a:extLst>
              </a:tr>
              <a:tr h="384048">
                <a:tc>
                  <a:txBody>
                    <a:bodyPr/>
                    <a:lstStyle/>
                    <a:p>
                      <a:pPr marL="0" indent="0">
                        <a:buNone/>
                      </a:pPr>
                      <a:r>
                        <a:rPr lang="en-US" sz="1200" dirty="0">
                          <a:solidFill>
                            <a:srgbClr val="1E2533"/>
                          </a:solidFill>
                        </a:rPr>
                        <a:t>Unknown product → 500 instead of 404</a:t>
                      </a:r>
                      <a:endParaRPr lang="en-US" sz="1200" dirty="0"/>
                    </a:p>
                  </a:txBody>
                  <a:tcPr marL="73152" marR="73152" marT="73152" marB="73152" anchor="ctr">
                    <a:lnL w="9525" cap="flat" cmpd="sng" algn="ctr">
                      <a:solidFill>
                        <a:srgbClr val="DDE3EC"/>
                      </a:solidFill>
                      <a:prstDash val="solid"/>
                      <a:round/>
                      <a:headEnd type="none" w="med" len="med"/>
                      <a:tailEnd type="none" w="med" len="med"/>
                    </a:lnL>
                    <a:lnR w="9525" cap="flat" cmpd="sng" algn="ctr">
                      <a:solidFill>
                        <a:srgbClr val="DDE3EC"/>
                      </a:solidFill>
                      <a:prstDash val="solid"/>
                      <a:round/>
                      <a:headEnd type="none" w="med" len="med"/>
                      <a:tailEnd type="none" w="med" len="med"/>
                    </a:lnR>
                    <a:lnT w="9525" cap="flat" cmpd="sng" algn="ctr">
                      <a:solidFill>
                        <a:srgbClr val="DDE3EC"/>
                      </a:solidFill>
                      <a:prstDash val="solid"/>
                      <a:round/>
                      <a:headEnd type="none" w="med" len="med"/>
                      <a:tailEnd type="none" w="med" len="med"/>
                    </a:lnT>
                    <a:lnB w="9525" cap="flat" cmpd="sng" algn="ctr">
                      <a:solidFill>
                        <a:srgbClr val="DDE3EC"/>
                      </a:solidFill>
                      <a:prstDash val="solid"/>
                      <a:round/>
                      <a:headEnd type="none" w="med" len="med"/>
                      <a:tailEnd type="none" w="med" len="med"/>
                    </a:lnB>
                    <a:solidFill>
                      <a:srgbClr val="FFFFFF"/>
                    </a:solidFill>
                  </a:tcPr>
                </a:tc>
                <a:tc>
                  <a:txBody>
                    <a:bodyPr/>
                    <a:lstStyle/>
                    <a:p>
                      <a:pPr marL="0" indent="0">
                        <a:buNone/>
                      </a:pPr>
                      <a:r>
                        <a:rPr lang="en-US" sz="1200" dirty="0">
                          <a:solidFill>
                            <a:srgbClr val="1E2533"/>
                          </a:solidFill>
                        </a:rPr>
                        <a:t>API</a:t>
                      </a:r>
                      <a:endParaRPr lang="en-US" sz="1200" dirty="0"/>
                    </a:p>
                  </a:txBody>
                  <a:tcPr marL="73152" marR="73152" marT="73152" marB="73152" anchor="ctr">
                    <a:lnL w="9525" cap="flat" cmpd="sng" algn="ctr">
                      <a:solidFill>
                        <a:srgbClr val="DDE3EC"/>
                      </a:solidFill>
                      <a:prstDash val="solid"/>
                      <a:round/>
                      <a:headEnd type="none" w="med" len="med"/>
                      <a:tailEnd type="none" w="med" len="med"/>
                    </a:lnL>
                    <a:lnR w="9525" cap="flat" cmpd="sng" algn="ctr">
                      <a:solidFill>
                        <a:srgbClr val="DDE3EC"/>
                      </a:solidFill>
                      <a:prstDash val="solid"/>
                      <a:round/>
                      <a:headEnd type="none" w="med" len="med"/>
                      <a:tailEnd type="none" w="med" len="med"/>
                    </a:lnR>
                    <a:lnT w="9525" cap="flat" cmpd="sng" algn="ctr">
                      <a:solidFill>
                        <a:srgbClr val="DDE3EC"/>
                      </a:solidFill>
                      <a:prstDash val="solid"/>
                      <a:round/>
                      <a:headEnd type="none" w="med" len="med"/>
                      <a:tailEnd type="none" w="med" len="med"/>
                    </a:lnT>
                    <a:lnB w="9525" cap="flat" cmpd="sng" algn="ctr">
                      <a:solidFill>
                        <a:srgbClr val="DDE3EC"/>
                      </a:solidFill>
                      <a:prstDash val="solid"/>
                      <a:round/>
                      <a:headEnd type="none" w="med" len="med"/>
                      <a:tailEnd type="none" w="med" len="med"/>
                    </a:lnB>
                    <a:solidFill>
                      <a:srgbClr val="FFFFFF"/>
                    </a:solidFill>
                  </a:tcPr>
                </a:tc>
                <a:tc>
                  <a:txBody>
                    <a:bodyPr/>
                    <a:lstStyle/>
                    <a:p>
                      <a:pPr marL="0" indent="0">
                        <a:buNone/>
                      </a:pPr>
                      <a:r>
                        <a:rPr lang="en-US" sz="1200" dirty="0">
                          <a:solidFill>
                            <a:srgbClr val="1E2533"/>
                          </a:solidFill>
                        </a:rPr>
                        <a:t>TC-19.1</a:t>
                      </a:r>
                      <a:endParaRPr lang="en-US" sz="1200" dirty="0"/>
                    </a:p>
                  </a:txBody>
                  <a:tcPr marL="73152" marR="73152" marT="73152" marB="73152" anchor="ctr">
                    <a:lnL w="9525" cap="flat" cmpd="sng" algn="ctr">
                      <a:solidFill>
                        <a:srgbClr val="DDE3EC"/>
                      </a:solidFill>
                      <a:prstDash val="solid"/>
                      <a:round/>
                      <a:headEnd type="none" w="med" len="med"/>
                      <a:tailEnd type="none" w="med" len="med"/>
                    </a:lnL>
                    <a:lnR w="9525" cap="flat" cmpd="sng" algn="ctr">
                      <a:solidFill>
                        <a:srgbClr val="DDE3EC"/>
                      </a:solidFill>
                      <a:prstDash val="solid"/>
                      <a:round/>
                      <a:headEnd type="none" w="med" len="med"/>
                      <a:tailEnd type="none" w="med" len="med"/>
                    </a:lnR>
                    <a:lnT w="9525" cap="flat" cmpd="sng" algn="ctr">
                      <a:solidFill>
                        <a:srgbClr val="DDE3EC"/>
                      </a:solidFill>
                      <a:prstDash val="solid"/>
                      <a:round/>
                      <a:headEnd type="none" w="med" len="med"/>
                      <a:tailEnd type="none" w="med" len="med"/>
                    </a:lnT>
                    <a:lnB w="9525" cap="flat" cmpd="sng" algn="ctr">
                      <a:solidFill>
                        <a:srgbClr val="DDE3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84048">
                <a:tc>
                  <a:txBody>
                    <a:bodyPr/>
                    <a:lstStyle/>
                    <a:p>
                      <a:pPr marL="0" indent="0">
                        <a:buNone/>
                      </a:pPr>
                      <a:r>
                        <a:rPr lang="en-US" sz="1200" dirty="0">
                          <a:solidFill>
                            <a:srgbClr val="1E2533"/>
                          </a:solidFill>
                        </a:rPr>
                        <a:t>Quantity 0 / negative accepted</a:t>
                      </a:r>
                      <a:endParaRPr lang="en-US" sz="1200" dirty="0"/>
                    </a:p>
                  </a:txBody>
                  <a:tcPr marL="73152" marR="73152" marT="73152" marB="73152" anchor="ctr">
                    <a:lnL w="9525" cap="flat" cmpd="sng" algn="ctr">
                      <a:solidFill>
                        <a:srgbClr val="DDE3EC"/>
                      </a:solidFill>
                      <a:prstDash val="solid"/>
                      <a:round/>
                      <a:headEnd type="none" w="med" len="med"/>
                      <a:tailEnd type="none" w="med" len="med"/>
                    </a:lnL>
                    <a:lnR w="9525" cap="flat" cmpd="sng" algn="ctr">
                      <a:solidFill>
                        <a:srgbClr val="DDE3EC"/>
                      </a:solidFill>
                      <a:prstDash val="solid"/>
                      <a:round/>
                      <a:headEnd type="none" w="med" len="med"/>
                      <a:tailEnd type="none" w="med" len="med"/>
                    </a:lnR>
                    <a:lnT w="9525" cap="flat" cmpd="sng" algn="ctr">
                      <a:solidFill>
                        <a:srgbClr val="DDE3EC"/>
                      </a:solidFill>
                      <a:prstDash val="solid"/>
                      <a:round/>
                      <a:headEnd type="none" w="med" len="med"/>
                      <a:tailEnd type="none" w="med" len="med"/>
                    </a:lnT>
                    <a:lnB w="9525" cap="flat" cmpd="sng" algn="ctr">
                      <a:solidFill>
                        <a:srgbClr val="DDE3EC"/>
                      </a:solidFill>
                      <a:prstDash val="solid"/>
                      <a:round/>
                      <a:headEnd type="none" w="med" len="med"/>
                      <a:tailEnd type="none" w="med" len="med"/>
                    </a:lnB>
                    <a:solidFill>
                      <a:srgbClr val="F2F5F9"/>
                    </a:solidFill>
                  </a:tcPr>
                </a:tc>
                <a:tc>
                  <a:txBody>
                    <a:bodyPr/>
                    <a:lstStyle/>
                    <a:p>
                      <a:pPr marL="0" indent="0">
                        <a:buNone/>
                      </a:pPr>
                      <a:r>
                        <a:rPr lang="en-US" sz="1200" dirty="0">
                          <a:solidFill>
                            <a:srgbClr val="1E2533"/>
                          </a:solidFill>
                        </a:rPr>
                        <a:t>API</a:t>
                      </a:r>
                      <a:endParaRPr lang="en-US" sz="1200" dirty="0"/>
                    </a:p>
                  </a:txBody>
                  <a:tcPr marL="73152" marR="73152" marT="73152" marB="73152" anchor="ctr">
                    <a:lnL w="9525" cap="flat" cmpd="sng" algn="ctr">
                      <a:solidFill>
                        <a:srgbClr val="DDE3EC"/>
                      </a:solidFill>
                      <a:prstDash val="solid"/>
                      <a:round/>
                      <a:headEnd type="none" w="med" len="med"/>
                      <a:tailEnd type="none" w="med" len="med"/>
                    </a:lnL>
                    <a:lnR w="9525" cap="flat" cmpd="sng" algn="ctr">
                      <a:solidFill>
                        <a:srgbClr val="DDE3EC"/>
                      </a:solidFill>
                      <a:prstDash val="solid"/>
                      <a:round/>
                      <a:headEnd type="none" w="med" len="med"/>
                      <a:tailEnd type="none" w="med" len="med"/>
                    </a:lnR>
                    <a:lnT w="9525" cap="flat" cmpd="sng" algn="ctr">
                      <a:solidFill>
                        <a:srgbClr val="DDE3EC"/>
                      </a:solidFill>
                      <a:prstDash val="solid"/>
                      <a:round/>
                      <a:headEnd type="none" w="med" len="med"/>
                      <a:tailEnd type="none" w="med" len="med"/>
                    </a:lnT>
                    <a:lnB w="9525" cap="flat" cmpd="sng" algn="ctr">
                      <a:solidFill>
                        <a:srgbClr val="DDE3EC"/>
                      </a:solidFill>
                      <a:prstDash val="solid"/>
                      <a:round/>
                      <a:headEnd type="none" w="med" len="med"/>
                      <a:tailEnd type="none" w="med" len="med"/>
                    </a:lnB>
                    <a:solidFill>
                      <a:srgbClr val="F2F5F9"/>
                    </a:solidFill>
                  </a:tcPr>
                </a:tc>
                <a:tc>
                  <a:txBody>
                    <a:bodyPr/>
                    <a:lstStyle/>
                    <a:p>
                      <a:pPr marL="0" indent="0">
                        <a:buNone/>
                      </a:pPr>
                      <a:r>
                        <a:rPr lang="en-US" sz="1200" dirty="0">
                          <a:solidFill>
                            <a:srgbClr val="1E2533"/>
                          </a:solidFill>
                        </a:rPr>
                        <a:t>TC-09.2, TC-22.2, TC-24.2, TC-24.3, TC-25.1</a:t>
                      </a:r>
                      <a:endParaRPr lang="en-US" sz="1200" dirty="0"/>
                    </a:p>
                  </a:txBody>
                  <a:tcPr marL="73152" marR="73152" marT="73152" marB="73152" anchor="ctr">
                    <a:lnL w="9525" cap="flat" cmpd="sng" algn="ctr">
                      <a:solidFill>
                        <a:srgbClr val="DDE3EC"/>
                      </a:solidFill>
                      <a:prstDash val="solid"/>
                      <a:round/>
                      <a:headEnd type="none" w="med" len="med"/>
                      <a:tailEnd type="none" w="med" len="med"/>
                    </a:lnL>
                    <a:lnR w="9525" cap="flat" cmpd="sng" algn="ctr">
                      <a:solidFill>
                        <a:srgbClr val="DDE3EC"/>
                      </a:solidFill>
                      <a:prstDash val="solid"/>
                      <a:round/>
                      <a:headEnd type="none" w="med" len="med"/>
                      <a:tailEnd type="none" w="med" len="med"/>
                    </a:lnR>
                    <a:lnT w="9525" cap="flat" cmpd="sng" algn="ctr">
                      <a:solidFill>
                        <a:srgbClr val="DDE3EC"/>
                      </a:solidFill>
                      <a:prstDash val="solid"/>
                      <a:round/>
                      <a:headEnd type="none" w="med" len="med"/>
                      <a:tailEnd type="none" w="med" len="med"/>
                    </a:lnT>
                    <a:lnB w="9525" cap="flat" cmpd="sng" algn="ctr">
                      <a:solidFill>
                        <a:srgbClr val="DDE3EC"/>
                      </a:solidFill>
                      <a:prstDash val="solid"/>
                      <a:round/>
                      <a:headEnd type="none" w="med" len="med"/>
                      <a:tailEnd type="none" w="med" len="med"/>
                    </a:lnB>
                    <a:solidFill>
                      <a:srgbClr val="F2F5F9"/>
                    </a:solidFill>
                  </a:tcPr>
                </a:tc>
                <a:extLst>
                  <a:ext uri="{0D108BD9-81ED-4DB2-BD59-A6C34878D82A}">
                    <a16:rowId xmlns:a16="http://schemas.microsoft.com/office/drawing/2014/main" val="10003"/>
                  </a:ext>
                </a:extLst>
              </a:tr>
              <a:tr h="384048">
                <a:tc>
                  <a:txBody>
                    <a:bodyPr/>
                    <a:lstStyle/>
                    <a:p>
                      <a:pPr marL="0" indent="0">
                        <a:buNone/>
                      </a:pPr>
                      <a:r>
                        <a:rPr lang="en-US" sz="1200" dirty="0">
                          <a:solidFill>
                            <a:srgbClr val="1E2533"/>
                          </a:solidFill>
                        </a:rPr>
                        <a:t>No Content-Security-Policy header</a:t>
                      </a:r>
                      <a:endParaRPr lang="en-US" sz="1200" dirty="0"/>
                    </a:p>
                  </a:txBody>
                  <a:tcPr marL="73152" marR="73152" marT="73152" marB="73152" anchor="ctr">
                    <a:lnL w="9525" cap="flat" cmpd="sng" algn="ctr">
                      <a:solidFill>
                        <a:srgbClr val="DDE3EC"/>
                      </a:solidFill>
                      <a:prstDash val="solid"/>
                      <a:round/>
                      <a:headEnd type="none" w="med" len="med"/>
                      <a:tailEnd type="none" w="med" len="med"/>
                    </a:lnL>
                    <a:lnR w="9525" cap="flat" cmpd="sng" algn="ctr">
                      <a:solidFill>
                        <a:srgbClr val="DDE3EC"/>
                      </a:solidFill>
                      <a:prstDash val="solid"/>
                      <a:round/>
                      <a:headEnd type="none" w="med" len="med"/>
                      <a:tailEnd type="none" w="med" len="med"/>
                    </a:lnR>
                    <a:lnT w="9525" cap="flat" cmpd="sng" algn="ctr">
                      <a:solidFill>
                        <a:srgbClr val="DDE3EC"/>
                      </a:solidFill>
                      <a:prstDash val="solid"/>
                      <a:round/>
                      <a:headEnd type="none" w="med" len="med"/>
                      <a:tailEnd type="none" w="med" len="med"/>
                    </a:lnT>
                    <a:lnB w="9525" cap="flat" cmpd="sng" algn="ctr">
                      <a:solidFill>
                        <a:srgbClr val="DDE3EC"/>
                      </a:solidFill>
                      <a:prstDash val="solid"/>
                      <a:round/>
                      <a:headEnd type="none" w="med" len="med"/>
                      <a:tailEnd type="none" w="med" len="med"/>
                    </a:lnB>
                    <a:solidFill>
                      <a:srgbClr val="FFFFFF"/>
                    </a:solidFill>
                  </a:tcPr>
                </a:tc>
                <a:tc>
                  <a:txBody>
                    <a:bodyPr/>
                    <a:lstStyle/>
                    <a:p>
                      <a:pPr marL="0" indent="0">
                        <a:buNone/>
                      </a:pPr>
                      <a:r>
                        <a:rPr lang="en-US" sz="1200" dirty="0">
                          <a:solidFill>
                            <a:srgbClr val="1E2533"/>
                          </a:solidFill>
                        </a:rPr>
                        <a:t>security</a:t>
                      </a:r>
                      <a:endParaRPr lang="en-US" sz="1200" dirty="0"/>
                    </a:p>
                  </a:txBody>
                  <a:tcPr marL="73152" marR="73152" marT="73152" marB="73152" anchor="ctr">
                    <a:lnL w="9525" cap="flat" cmpd="sng" algn="ctr">
                      <a:solidFill>
                        <a:srgbClr val="DDE3EC"/>
                      </a:solidFill>
                      <a:prstDash val="solid"/>
                      <a:round/>
                      <a:headEnd type="none" w="med" len="med"/>
                      <a:tailEnd type="none" w="med" len="med"/>
                    </a:lnL>
                    <a:lnR w="9525" cap="flat" cmpd="sng" algn="ctr">
                      <a:solidFill>
                        <a:srgbClr val="DDE3EC"/>
                      </a:solidFill>
                      <a:prstDash val="solid"/>
                      <a:round/>
                      <a:headEnd type="none" w="med" len="med"/>
                      <a:tailEnd type="none" w="med" len="med"/>
                    </a:lnR>
                    <a:lnT w="9525" cap="flat" cmpd="sng" algn="ctr">
                      <a:solidFill>
                        <a:srgbClr val="DDE3EC"/>
                      </a:solidFill>
                      <a:prstDash val="solid"/>
                      <a:round/>
                      <a:headEnd type="none" w="med" len="med"/>
                      <a:tailEnd type="none" w="med" len="med"/>
                    </a:lnT>
                    <a:lnB w="9525" cap="flat" cmpd="sng" algn="ctr">
                      <a:solidFill>
                        <a:srgbClr val="DDE3EC"/>
                      </a:solidFill>
                      <a:prstDash val="solid"/>
                      <a:round/>
                      <a:headEnd type="none" w="med" len="med"/>
                      <a:tailEnd type="none" w="med" len="med"/>
                    </a:lnB>
                    <a:solidFill>
                      <a:srgbClr val="FFFFFF"/>
                    </a:solidFill>
                  </a:tcPr>
                </a:tc>
                <a:tc>
                  <a:txBody>
                    <a:bodyPr/>
                    <a:lstStyle/>
                    <a:p>
                      <a:pPr marL="0" indent="0">
                        <a:buNone/>
                      </a:pPr>
                      <a:r>
                        <a:rPr lang="en-US" sz="1200" dirty="0">
                          <a:solidFill>
                            <a:srgbClr val="1E2533"/>
                          </a:solidFill>
                        </a:rPr>
                        <a:t>TC-06.3, TC-29.1, TC-29.2, TC-30.1</a:t>
                      </a:r>
                      <a:endParaRPr lang="en-US" sz="1200" dirty="0"/>
                    </a:p>
                  </a:txBody>
                  <a:tcPr marL="73152" marR="73152" marT="73152" marB="73152" anchor="ctr">
                    <a:lnL w="9525" cap="flat" cmpd="sng" algn="ctr">
                      <a:solidFill>
                        <a:srgbClr val="DDE3EC"/>
                      </a:solidFill>
                      <a:prstDash val="solid"/>
                      <a:round/>
                      <a:headEnd type="none" w="med" len="med"/>
                      <a:tailEnd type="none" w="med" len="med"/>
                    </a:lnL>
                    <a:lnR w="9525" cap="flat" cmpd="sng" algn="ctr">
                      <a:solidFill>
                        <a:srgbClr val="DDE3EC"/>
                      </a:solidFill>
                      <a:prstDash val="solid"/>
                      <a:round/>
                      <a:headEnd type="none" w="med" len="med"/>
                      <a:tailEnd type="none" w="med" len="med"/>
                    </a:lnR>
                    <a:lnT w="9525" cap="flat" cmpd="sng" algn="ctr">
                      <a:solidFill>
                        <a:srgbClr val="DDE3EC"/>
                      </a:solidFill>
                      <a:prstDash val="solid"/>
                      <a:round/>
                      <a:headEnd type="none" w="med" len="med"/>
                      <a:tailEnd type="none" w="med" len="med"/>
                    </a:lnT>
                    <a:lnB w="9525" cap="flat" cmpd="sng" algn="ctr">
                      <a:solidFill>
                        <a:srgbClr val="DDE3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84048">
                <a:tc>
                  <a:txBody>
                    <a:bodyPr/>
                    <a:lstStyle/>
                    <a:p>
                      <a:pPr marL="0" indent="0">
                        <a:buNone/>
                      </a:pPr>
                      <a:r>
                        <a:rPr lang="en-US" sz="1200" dirty="0">
                          <a:solidFill>
                            <a:srgbClr val="1E2533"/>
                          </a:solidFill>
                        </a:rPr>
                        <a:t>Reflected XSS in search</a:t>
                      </a:r>
                      <a:endParaRPr lang="en-US" sz="1200" dirty="0"/>
                    </a:p>
                  </a:txBody>
                  <a:tcPr marL="73152" marR="73152" marT="73152" marB="73152" anchor="ctr">
                    <a:lnL w="9525" cap="flat" cmpd="sng" algn="ctr">
                      <a:solidFill>
                        <a:srgbClr val="DDE3EC"/>
                      </a:solidFill>
                      <a:prstDash val="solid"/>
                      <a:round/>
                      <a:headEnd type="none" w="med" len="med"/>
                      <a:tailEnd type="none" w="med" len="med"/>
                    </a:lnL>
                    <a:lnR w="9525" cap="flat" cmpd="sng" algn="ctr">
                      <a:solidFill>
                        <a:srgbClr val="DDE3EC"/>
                      </a:solidFill>
                      <a:prstDash val="solid"/>
                      <a:round/>
                      <a:headEnd type="none" w="med" len="med"/>
                      <a:tailEnd type="none" w="med" len="med"/>
                    </a:lnR>
                    <a:lnT w="9525" cap="flat" cmpd="sng" algn="ctr">
                      <a:solidFill>
                        <a:srgbClr val="DDE3EC"/>
                      </a:solidFill>
                      <a:prstDash val="solid"/>
                      <a:round/>
                      <a:headEnd type="none" w="med" len="med"/>
                      <a:tailEnd type="none" w="med" len="med"/>
                    </a:lnT>
                    <a:lnB w="9525" cap="flat" cmpd="sng" algn="ctr">
                      <a:solidFill>
                        <a:srgbClr val="DDE3EC"/>
                      </a:solidFill>
                      <a:prstDash val="solid"/>
                      <a:round/>
                      <a:headEnd type="none" w="med" len="med"/>
                      <a:tailEnd type="none" w="med" len="med"/>
                    </a:lnB>
                    <a:solidFill>
                      <a:srgbClr val="F2F5F9"/>
                    </a:solidFill>
                  </a:tcPr>
                </a:tc>
                <a:tc>
                  <a:txBody>
                    <a:bodyPr/>
                    <a:lstStyle/>
                    <a:p>
                      <a:pPr marL="0" indent="0">
                        <a:buNone/>
                      </a:pPr>
                      <a:r>
                        <a:rPr lang="en-US" sz="1200" dirty="0">
                          <a:solidFill>
                            <a:srgbClr val="1E2533"/>
                          </a:solidFill>
                        </a:rPr>
                        <a:t>security</a:t>
                      </a:r>
                      <a:endParaRPr lang="en-US" sz="1200" dirty="0"/>
                    </a:p>
                  </a:txBody>
                  <a:tcPr marL="73152" marR="73152" marT="73152" marB="73152" anchor="ctr">
                    <a:lnL w="9525" cap="flat" cmpd="sng" algn="ctr">
                      <a:solidFill>
                        <a:srgbClr val="DDE3EC"/>
                      </a:solidFill>
                      <a:prstDash val="solid"/>
                      <a:round/>
                      <a:headEnd type="none" w="med" len="med"/>
                      <a:tailEnd type="none" w="med" len="med"/>
                    </a:lnL>
                    <a:lnR w="9525" cap="flat" cmpd="sng" algn="ctr">
                      <a:solidFill>
                        <a:srgbClr val="DDE3EC"/>
                      </a:solidFill>
                      <a:prstDash val="solid"/>
                      <a:round/>
                      <a:headEnd type="none" w="med" len="med"/>
                      <a:tailEnd type="none" w="med" len="med"/>
                    </a:lnR>
                    <a:lnT w="9525" cap="flat" cmpd="sng" algn="ctr">
                      <a:solidFill>
                        <a:srgbClr val="DDE3EC"/>
                      </a:solidFill>
                      <a:prstDash val="solid"/>
                      <a:round/>
                      <a:headEnd type="none" w="med" len="med"/>
                      <a:tailEnd type="none" w="med" len="med"/>
                    </a:lnT>
                    <a:lnB w="9525" cap="flat" cmpd="sng" algn="ctr">
                      <a:solidFill>
                        <a:srgbClr val="DDE3EC"/>
                      </a:solidFill>
                      <a:prstDash val="solid"/>
                      <a:round/>
                      <a:headEnd type="none" w="med" len="med"/>
                      <a:tailEnd type="none" w="med" len="med"/>
                    </a:lnB>
                    <a:solidFill>
                      <a:srgbClr val="F2F5F9"/>
                    </a:solidFill>
                  </a:tcPr>
                </a:tc>
                <a:tc>
                  <a:txBody>
                    <a:bodyPr/>
                    <a:lstStyle/>
                    <a:p>
                      <a:pPr marL="0" indent="0">
                        <a:buNone/>
                      </a:pPr>
                      <a:r>
                        <a:rPr lang="en-US" sz="1200" dirty="0">
                          <a:solidFill>
                            <a:srgbClr val="1E2533"/>
                          </a:solidFill>
                        </a:rPr>
                        <a:t>TC-06.3, TC-30.1</a:t>
                      </a:r>
                      <a:endParaRPr lang="en-US" sz="1200" dirty="0"/>
                    </a:p>
                  </a:txBody>
                  <a:tcPr marL="73152" marR="73152" marT="73152" marB="73152" anchor="ctr">
                    <a:lnL w="9525" cap="flat" cmpd="sng" algn="ctr">
                      <a:solidFill>
                        <a:srgbClr val="DDE3EC"/>
                      </a:solidFill>
                      <a:prstDash val="solid"/>
                      <a:round/>
                      <a:headEnd type="none" w="med" len="med"/>
                      <a:tailEnd type="none" w="med" len="med"/>
                    </a:lnL>
                    <a:lnR w="9525" cap="flat" cmpd="sng" algn="ctr">
                      <a:solidFill>
                        <a:srgbClr val="DDE3EC"/>
                      </a:solidFill>
                      <a:prstDash val="solid"/>
                      <a:round/>
                      <a:headEnd type="none" w="med" len="med"/>
                      <a:tailEnd type="none" w="med" len="med"/>
                    </a:lnR>
                    <a:lnT w="9525" cap="flat" cmpd="sng" algn="ctr">
                      <a:solidFill>
                        <a:srgbClr val="DDE3EC"/>
                      </a:solidFill>
                      <a:prstDash val="solid"/>
                      <a:round/>
                      <a:headEnd type="none" w="med" len="med"/>
                      <a:tailEnd type="none" w="med" len="med"/>
                    </a:lnT>
                    <a:lnB w="9525" cap="flat" cmpd="sng" algn="ctr">
                      <a:solidFill>
                        <a:srgbClr val="DDE3EC"/>
                      </a:solidFill>
                      <a:prstDash val="solid"/>
                      <a:round/>
                      <a:headEnd type="none" w="med" len="med"/>
                      <a:tailEnd type="none" w="med" len="med"/>
                    </a:lnB>
                    <a:solidFill>
                      <a:srgbClr val="F2F5F9"/>
                    </a:solidFill>
                  </a:tcPr>
                </a:tc>
                <a:extLst>
                  <a:ext uri="{0D108BD9-81ED-4DB2-BD59-A6C34878D82A}">
                    <a16:rowId xmlns:a16="http://schemas.microsoft.com/office/drawing/2014/main" val="10005"/>
                  </a:ext>
                </a:extLst>
              </a:tr>
              <a:tr h="384048">
                <a:tc>
                  <a:txBody>
                    <a:bodyPr/>
                    <a:lstStyle/>
                    <a:p>
                      <a:pPr marL="0" indent="0">
                        <a:buNone/>
                      </a:pPr>
                      <a:r>
                        <a:rPr lang="en-US" sz="1200" dirty="0">
                          <a:solidFill>
                            <a:srgbClr val="1E2533"/>
                          </a:solidFill>
                        </a:rPr>
                        <a:t>Login reveals registered emails</a:t>
                      </a:r>
                      <a:endParaRPr lang="en-US" sz="1200" dirty="0"/>
                    </a:p>
                  </a:txBody>
                  <a:tcPr marL="73152" marR="73152" marT="73152" marB="73152" anchor="ctr">
                    <a:lnL w="9525" cap="flat" cmpd="sng" algn="ctr">
                      <a:solidFill>
                        <a:srgbClr val="DDE3EC"/>
                      </a:solidFill>
                      <a:prstDash val="solid"/>
                      <a:round/>
                      <a:headEnd type="none" w="med" len="med"/>
                      <a:tailEnd type="none" w="med" len="med"/>
                    </a:lnL>
                    <a:lnR w="9525" cap="flat" cmpd="sng" algn="ctr">
                      <a:solidFill>
                        <a:srgbClr val="DDE3EC"/>
                      </a:solidFill>
                      <a:prstDash val="solid"/>
                      <a:round/>
                      <a:headEnd type="none" w="med" len="med"/>
                      <a:tailEnd type="none" w="med" len="med"/>
                    </a:lnR>
                    <a:lnT w="9525" cap="flat" cmpd="sng" algn="ctr">
                      <a:solidFill>
                        <a:srgbClr val="DDE3EC"/>
                      </a:solidFill>
                      <a:prstDash val="solid"/>
                      <a:round/>
                      <a:headEnd type="none" w="med" len="med"/>
                      <a:tailEnd type="none" w="med" len="med"/>
                    </a:lnT>
                    <a:lnB w="9525" cap="flat" cmpd="sng" algn="ctr">
                      <a:solidFill>
                        <a:srgbClr val="DDE3EC"/>
                      </a:solidFill>
                      <a:prstDash val="solid"/>
                      <a:round/>
                      <a:headEnd type="none" w="med" len="med"/>
                      <a:tailEnd type="none" w="med" len="med"/>
                    </a:lnB>
                    <a:solidFill>
                      <a:srgbClr val="FFFFFF"/>
                    </a:solidFill>
                  </a:tcPr>
                </a:tc>
                <a:tc>
                  <a:txBody>
                    <a:bodyPr/>
                    <a:lstStyle/>
                    <a:p>
                      <a:pPr marL="0" indent="0">
                        <a:buNone/>
                      </a:pPr>
                      <a:r>
                        <a:rPr lang="en-US" sz="1200" dirty="0">
                          <a:solidFill>
                            <a:srgbClr val="1E2533"/>
                          </a:solidFill>
                        </a:rPr>
                        <a:t>security</a:t>
                      </a:r>
                      <a:endParaRPr lang="en-US" sz="1200" dirty="0"/>
                    </a:p>
                  </a:txBody>
                  <a:tcPr marL="73152" marR="73152" marT="73152" marB="73152" anchor="ctr">
                    <a:lnL w="9525" cap="flat" cmpd="sng" algn="ctr">
                      <a:solidFill>
                        <a:srgbClr val="DDE3EC"/>
                      </a:solidFill>
                      <a:prstDash val="solid"/>
                      <a:round/>
                      <a:headEnd type="none" w="med" len="med"/>
                      <a:tailEnd type="none" w="med" len="med"/>
                    </a:lnL>
                    <a:lnR w="9525" cap="flat" cmpd="sng" algn="ctr">
                      <a:solidFill>
                        <a:srgbClr val="DDE3EC"/>
                      </a:solidFill>
                      <a:prstDash val="solid"/>
                      <a:round/>
                      <a:headEnd type="none" w="med" len="med"/>
                      <a:tailEnd type="none" w="med" len="med"/>
                    </a:lnR>
                    <a:lnT w="9525" cap="flat" cmpd="sng" algn="ctr">
                      <a:solidFill>
                        <a:srgbClr val="DDE3EC"/>
                      </a:solidFill>
                      <a:prstDash val="solid"/>
                      <a:round/>
                      <a:headEnd type="none" w="med" len="med"/>
                      <a:tailEnd type="none" w="med" len="med"/>
                    </a:lnT>
                    <a:lnB w="9525" cap="flat" cmpd="sng" algn="ctr">
                      <a:solidFill>
                        <a:srgbClr val="DDE3EC"/>
                      </a:solidFill>
                      <a:prstDash val="solid"/>
                      <a:round/>
                      <a:headEnd type="none" w="med" len="med"/>
                      <a:tailEnd type="none" w="med" len="med"/>
                    </a:lnB>
                    <a:solidFill>
                      <a:srgbClr val="FFFFFF"/>
                    </a:solidFill>
                  </a:tcPr>
                </a:tc>
                <a:tc>
                  <a:txBody>
                    <a:bodyPr/>
                    <a:lstStyle/>
                    <a:p>
                      <a:pPr marL="0" indent="0">
                        <a:buNone/>
                      </a:pPr>
                      <a:r>
                        <a:rPr lang="en-US" sz="1200" dirty="0">
                          <a:solidFill>
                            <a:srgbClr val="1E2533"/>
                          </a:solidFill>
                        </a:rPr>
                        <a:t>TC-31.1, TC-32.1</a:t>
                      </a:r>
                      <a:endParaRPr lang="en-US" sz="1200" dirty="0"/>
                    </a:p>
                  </a:txBody>
                  <a:tcPr marL="73152" marR="73152" marT="73152" marB="73152" anchor="ctr">
                    <a:lnL w="9525" cap="flat" cmpd="sng" algn="ctr">
                      <a:solidFill>
                        <a:srgbClr val="DDE3EC"/>
                      </a:solidFill>
                      <a:prstDash val="solid"/>
                      <a:round/>
                      <a:headEnd type="none" w="med" len="med"/>
                      <a:tailEnd type="none" w="med" len="med"/>
                    </a:lnL>
                    <a:lnR w="9525" cap="flat" cmpd="sng" algn="ctr">
                      <a:solidFill>
                        <a:srgbClr val="DDE3EC"/>
                      </a:solidFill>
                      <a:prstDash val="solid"/>
                      <a:round/>
                      <a:headEnd type="none" w="med" len="med"/>
                      <a:tailEnd type="none" w="med" len="med"/>
                    </a:lnR>
                    <a:lnT w="9525" cap="flat" cmpd="sng" algn="ctr">
                      <a:solidFill>
                        <a:srgbClr val="DDE3EC"/>
                      </a:solidFill>
                      <a:prstDash val="solid"/>
                      <a:round/>
                      <a:headEnd type="none" w="med" len="med"/>
                      <a:tailEnd type="none" w="med" len="med"/>
                    </a:lnT>
                    <a:lnB w="9525" cap="flat" cmpd="sng" algn="ctr">
                      <a:solidFill>
                        <a:srgbClr val="DDE3E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84048">
                <a:tc>
                  <a:txBody>
                    <a:bodyPr/>
                    <a:lstStyle/>
                    <a:p>
                      <a:pPr marL="0" indent="0">
                        <a:buNone/>
                      </a:pPr>
                      <a:r>
                        <a:rPr lang="en-US" sz="1200" dirty="0">
                          <a:solidFill>
                            <a:srgbClr val="1E2533"/>
                          </a:solidFill>
                        </a:rPr>
                        <a:t>IDOR: other users' orders readable</a:t>
                      </a:r>
                      <a:endParaRPr lang="en-US" sz="1200" dirty="0"/>
                    </a:p>
                  </a:txBody>
                  <a:tcPr marL="73152" marR="73152" marT="73152" marB="73152" anchor="ctr">
                    <a:lnL w="9525" cap="flat" cmpd="sng" algn="ctr">
                      <a:solidFill>
                        <a:srgbClr val="DDE3EC"/>
                      </a:solidFill>
                      <a:prstDash val="solid"/>
                      <a:round/>
                      <a:headEnd type="none" w="med" len="med"/>
                      <a:tailEnd type="none" w="med" len="med"/>
                    </a:lnL>
                    <a:lnR w="9525" cap="flat" cmpd="sng" algn="ctr">
                      <a:solidFill>
                        <a:srgbClr val="DDE3EC"/>
                      </a:solidFill>
                      <a:prstDash val="solid"/>
                      <a:round/>
                      <a:headEnd type="none" w="med" len="med"/>
                      <a:tailEnd type="none" w="med" len="med"/>
                    </a:lnR>
                    <a:lnT w="9525" cap="flat" cmpd="sng" algn="ctr">
                      <a:solidFill>
                        <a:srgbClr val="DDE3EC"/>
                      </a:solidFill>
                      <a:prstDash val="solid"/>
                      <a:round/>
                      <a:headEnd type="none" w="med" len="med"/>
                      <a:tailEnd type="none" w="med" len="med"/>
                    </a:lnT>
                    <a:lnB w="9525" cap="flat" cmpd="sng" algn="ctr">
                      <a:solidFill>
                        <a:srgbClr val="DDE3EC"/>
                      </a:solidFill>
                      <a:prstDash val="solid"/>
                      <a:round/>
                      <a:headEnd type="none" w="med" len="med"/>
                      <a:tailEnd type="none" w="med" len="med"/>
                    </a:lnB>
                    <a:solidFill>
                      <a:srgbClr val="F2F5F9"/>
                    </a:solidFill>
                  </a:tcPr>
                </a:tc>
                <a:tc>
                  <a:txBody>
                    <a:bodyPr/>
                    <a:lstStyle/>
                    <a:p>
                      <a:pPr marL="0" indent="0">
                        <a:buNone/>
                      </a:pPr>
                      <a:r>
                        <a:rPr lang="en-US" sz="1200" dirty="0">
                          <a:solidFill>
                            <a:srgbClr val="1E2533"/>
                          </a:solidFill>
                        </a:rPr>
                        <a:t>security</a:t>
                      </a:r>
                      <a:endParaRPr lang="en-US" sz="1200" dirty="0"/>
                    </a:p>
                  </a:txBody>
                  <a:tcPr marL="73152" marR="73152" marT="73152" marB="73152" anchor="ctr">
                    <a:lnL w="9525" cap="flat" cmpd="sng" algn="ctr">
                      <a:solidFill>
                        <a:srgbClr val="DDE3EC"/>
                      </a:solidFill>
                      <a:prstDash val="solid"/>
                      <a:round/>
                      <a:headEnd type="none" w="med" len="med"/>
                      <a:tailEnd type="none" w="med" len="med"/>
                    </a:lnL>
                    <a:lnR w="9525" cap="flat" cmpd="sng" algn="ctr">
                      <a:solidFill>
                        <a:srgbClr val="DDE3EC"/>
                      </a:solidFill>
                      <a:prstDash val="solid"/>
                      <a:round/>
                      <a:headEnd type="none" w="med" len="med"/>
                      <a:tailEnd type="none" w="med" len="med"/>
                    </a:lnR>
                    <a:lnT w="9525" cap="flat" cmpd="sng" algn="ctr">
                      <a:solidFill>
                        <a:srgbClr val="DDE3EC"/>
                      </a:solidFill>
                      <a:prstDash val="solid"/>
                      <a:round/>
                      <a:headEnd type="none" w="med" len="med"/>
                      <a:tailEnd type="none" w="med" len="med"/>
                    </a:lnT>
                    <a:lnB w="9525" cap="flat" cmpd="sng" algn="ctr">
                      <a:solidFill>
                        <a:srgbClr val="DDE3EC"/>
                      </a:solidFill>
                      <a:prstDash val="solid"/>
                      <a:round/>
                      <a:headEnd type="none" w="med" len="med"/>
                      <a:tailEnd type="none" w="med" len="med"/>
                    </a:lnB>
                    <a:solidFill>
                      <a:srgbClr val="F2F5F9"/>
                    </a:solidFill>
                  </a:tcPr>
                </a:tc>
                <a:tc>
                  <a:txBody>
                    <a:bodyPr/>
                    <a:lstStyle/>
                    <a:p>
                      <a:pPr marL="0" indent="0">
                        <a:buNone/>
                      </a:pPr>
                      <a:r>
                        <a:rPr lang="en-US" sz="1200" dirty="0">
                          <a:solidFill>
                            <a:srgbClr val="C8463D"/>
                          </a:solidFill>
                        </a:rPr>
                        <a:t>not found</a:t>
                      </a:r>
                      <a:endParaRPr lang="en-US" sz="1200" dirty="0"/>
                    </a:p>
                  </a:txBody>
                  <a:tcPr marL="73152" marR="73152" marT="73152" marB="73152" anchor="ctr">
                    <a:lnL w="9525" cap="flat" cmpd="sng" algn="ctr">
                      <a:solidFill>
                        <a:srgbClr val="DDE3EC"/>
                      </a:solidFill>
                      <a:prstDash val="solid"/>
                      <a:round/>
                      <a:headEnd type="none" w="med" len="med"/>
                      <a:tailEnd type="none" w="med" len="med"/>
                    </a:lnL>
                    <a:lnR w="9525" cap="flat" cmpd="sng" algn="ctr">
                      <a:solidFill>
                        <a:srgbClr val="DDE3EC"/>
                      </a:solidFill>
                      <a:prstDash val="solid"/>
                      <a:round/>
                      <a:headEnd type="none" w="med" len="med"/>
                      <a:tailEnd type="none" w="med" len="med"/>
                    </a:lnR>
                    <a:lnT w="9525" cap="flat" cmpd="sng" algn="ctr">
                      <a:solidFill>
                        <a:srgbClr val="DDE3EC"/>
                      </a:solidFill>
                      <a:prstDash val="solid"/>
                      <a:round/>
                      <a:headEnd type="none" w="med" len="med"/>
                      <a:tailEnd type="none" w="med" len="med"/>
                    </a:lnT>
                    <a:lnB w="9525" cap="flat" cmpd="sng" algn="ctr">
                      <a:solidFill>
                        <a:srgbClr val="DDE3EC"/>
                      </a:solidFill>
                      <a:prstDash val="solid"/>
                      <a:round/>
                      <a:headEnd type="none" w="med" len="med"/>
                      <a:tailEnd type="none" w="med" len="med"/>
                    </a:lnB>
                    <a:solidFill>
                      <a:srgbClr val="F2F5F9"/>
                    </a:solidFill>
                  </a:tcPr>
                </a:tc>
                <a:extLst>
                  <a:ext uri="{0D108BD9-81ED-4DB2-BD59-A6C34878D82A}">
                    <a16:rowId xmlns:a16="http://schemas.microsoft.com/office/drawing/2014/main" val="10007"/>
                  </a:ext>
                </a:extLst>
              </a:tr>
            </a:tbl>
          </a:graphicData>
        </a:graphic>
      </p:graphicFrame>
      <p:sp>
        <p:nvSpPr>
          <p:cNvPr id="4" name="Shape 1"/>
          <p:cNvSpPr/>
          <p:nvPr/>
        </p:nvSpPr>
        <p:spPr>
          <a:xfrm>
            <a:off x="7498080" y="1325880"/>
            <a:ext cx="4142232" cy="4480560"/>
          </a:xfrm>
          <a:prstGeom prst="roundRect">
            <a:avLst>
              <a:gd name="adj" fmla="val 2649"/>
            </a:avLst>
          </a:prstGeom>
          <a:solidFill>
            <a:srgbClr val="F2F5F9"/>
          </a:solidFill>
          <a:ln w="12700">
            <a:solidFill>
              <a:srgbClr val="F2F5F9"/>
            </a:solidFill>
            <a:prstDash val="solid"/>
          </a:ln>
        </p:spPr>
        <p:txBody>
          <a:bodyPr/>
          <a:lstStyle/>
          <a:p>
            <a:endParaRPr lang="en-US"/>
          </a:p>
        </p:txBody>
      </p:sp>
      <p:sp>
        <p:nvSpPr>
          <p:cNvPr id="5" name="Text 2"/>
          <p:cNvSpPr txBox="1"/>
          <p:nvPr/>
        </p:nvSpPr>
        <p:spPr>
          <a:xfrm>
            <a:off x="7726680" y="1463040"/>
            <a:ext cx="3749040" cy="365760"/>
          </a:xfrm>
          <a:prstGeom prst="rect">
            <a:avLst/>
          </a:prstGeom>
          <a:noFill/>
          <a:ln/>
        </p:spPr>
        <p:txBody>
          <a:bodyPr wrap="square" lIns="0" tIns="0" rIns="0" bIns="0" rtlCol="0" anchor="t"/>
          <a:lstStyle/>
          <a:p>
            <a:pPr marL="0" indent="0">
              <a:buNone/>
            </a:pPr>
            <a:r>
              <a:rPr lang="en-US" sz="1600" b="1" dirty="0">
                <a:solidFill>
                  <a:srgbClr val="13213C"/>
                </a:solidFill>
                <a:latin typeface="Calibri" pitchFamily="34" charset="0"/>
                <a:ea typeface="Calibri" pitchFamily="34" charset="-122"/>
                <a:cs typeface="Calibri" pitchFamily="34" charset="-120"/>
              </a:rPr>
              <a:t>Run details</a:t>
            </a:r>
            <a:endParaRPr lang="en-US" sz="1600" dirty="0"/>
          </a:p>
        </p:txBody>
      </p:sp>
      <p:sp>
        <p:nvSpPr>
          <p:cNvPr id="6" name="Text 3"/>
          <p:cNvSpPr txBox="1"/>
          <p:nvPr/>
        </p:nvSpPr>
        <p:spPr>
          <a:xfrm>
            <a:off x="7726680" y="1874520"/>
            <a:ext cx="3749040" cy="384048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533"/>
                </a:solidFill>
                <a:latin typeface="Calibri" pitchFamily="34" charset="0"/>
                <a:ea typeface="Calibri" pitchFamily="34" charset="-122"/>
                <a:cs typeface="Calibri" pitchFamily="34" charset="-120"/>
              </a:rPr>
              <a:t>34 requirements, 62 tests (51 LLM-designed, 11 rule-derived)</a:t>
            </a:r>
            <a:endParaRPr lang="en-US" sz="1300" dirty="0"/>
          </a:p>
          <a:p>
            <a:pPr marL="177800" indent="-177800">
              <a:spcAft>
                <a:spcPts val="600"/>
              </a:spcAft>
              <a:buSzPct val="100000"/>
              <a:buChar char="•"/>
            </a:pPr>
            <a:r>
              <a:rPr lang="en-US" sz="1300" dirty="0">
                <a:solidFill>
                  <a:srgbClr val="1E2533"/>
                </a:solidFill>
                <a:latin typeface="Calibri" pitchFamily="34" charset="0"/>
                <a:ea typeface="Calibri" pitchFamily="34" charset="-122"/>
                <a:cs typeface="Calibri" pitchFamily="34" charset="-120"/>
              </a:rPr>
              <a:t>Schema gate: 55 agent replies, 2 rejected, 0 repaired</a:t>
            </a:r>
            <a:endParaRPr lang="en-US" sz="1300" dirty="0"/>
          </a:p>
          <a:p>
            <a:pPr marL="177800" indent="-177800">
              <a:spcAft>
                <a:spcPts val="600"/>
              </a:spcAft>
              <a:buSzPct val="100000"/>
              <a:buChar char="•"/>
            </a:pPr>
            <a:r>
              <a:rPr lang="en-US" sz="1300" dirty="0">
                <a:solidFill>
                  <a:srgbClr val="1E2533"/>
                </a:solidFill>
                <a:latin typeface="Calibri" pitchFamily="34" charset="0"/>
                <a:ea typeface="Calibri" pitchFamily="34" charset="-122"/>
                <a:cs typeface="Calibri" pitchFamily="34" charset="-120"/>
              </a:rPr>
              <a:t>Grounding gate: 0 tests ungrounded → NEEDS REVIEW</a:t>
            </a:r>
            <a:endParaRPr lang="en-US" sz="1300" dirty="0"/>
          </a:p>
          <a:p>
            <a:pPr marL="177800" indent="-177800">
              <a:spcAft>
                <a:spcPts val="600"/>
              </a:spcAft>
              <a:buSzPct val="100000"/>
              <a:buChar char="•"/>
            </a:pPr>
            <a:r>
              <a:rPr lang="en-US" sz="1300" dirty="0">
                <a:solidFill>
                  <a:srgbClr val="1E2533"/>
                </a:solidFill>
                <a:latin typeface="Calibri" pitchFamily="34" charset="0"/>
                <a:ea typeface="Calibri" pitchFamily="34" charset="-122"/>
                <a:cs typeface="Calibri" pitchFamily="34" charset="-120"/>
              </a:rPr>
              <a:t>Fault gate: 13 broken builds; 13 passing tests never failed → NEEDS REVIEW</a:t>
            </a:r>
            <a:endParaRPr lang="en-US" sz="1300" dirty="0"/>
          </a:p>
          <a:p>
            <a:pPr marL="177800" indent="-177800">
              <a:spcAft>
                <a:spcPts val="600"/>
              </a:spcAft>
              <a:buSzPct val="100000"/>
              <a:buChar char="•"/>
            </a:pPr>
            <a:r>
              <a:rPr lang="en-US" sz="1300" dirty="0">
                <a:solidFill>
                  <a:srgbClr val="1E2533"/>
                </a:solidFill>
                <a:latin typeface="Calibri" pitchFamily="34" charset="0"/>
                <a:ea typeface="Calibri" pitchFamily="34" charset="-122"/>
                <a:cs typeface="Calibri" pitchFamily="34" charset="-120"/>
              </a:rPr>
              <a:t>Wrong tests among FAILs: TC-10.1, TC-11.1, TC-20.1, TC-27.1, TC-27.2, TC-28.1</a:t>
            </a:r>
            <a:endParaRPr lang="en-US" sz="1300" dirty="0"/>
          </a:p>
          <a:p>
            <a:pPr marL="177800" indent="-177800">
              <a:spcAft>
                <a:spcPts val="600"/>
              </a:spcAft>
              <a:buSzPct val="100000"/>
              <a:buChar char="•"/>
            </a:pPr>
            <a:r>
              <a:rPr lang="en-US" sz="1300" dirty="0">
                <a:solidFill>
                  <a:srgbClr val="1E2533"/>
                </a:solidFill>
                <a:latin typeface="Calibri" pitchFamily="34" charset="0"/>
                <a:ea typeface="Calibri" pitchFamily="34" charset="-122"/>
                <a:cs typeface="Calibri" pitchFamily="34" charset="-120"/>
              </a:rPr>
              <a:t>Total run time 23 min (gpt-5.6-luna)</a:t>
            </a:r>
            <a:endParaRPr lang="en-US" sz="13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578"/>
                </a:solidFill>
                <a:latin typeface="Calibri"/>
                <a:ea typeface="Calibri"/>
                <a:cs typeface="Calibri"/>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buNone/>
            </a:pPr>
            <a:r>
              <a:rPr lang="en-US" sz="3000" b="1" dirty="0">
                <a:solidFill>
                  <a:srgbClr val="13213C"/>
                </a:solidFill>
                <a:latin typeface="Cambria" pitchFamily="34" charset="0"/>
                <a:ea typeface="Cambria" pitchFamily="34" charset="-122"/>
                <a:cs typeface="Cambria" pitchFamily="34" charset="-120"/>
              </a:rPr>
              <a:t>Backup · Threats to validity and mitigations</a:t>
            </a:r>
            <a:endParaRPr lang="en-US" sz="3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572000"/>
        </p:xfrm>
        <a:graphic>
          <a:graphicData uri="http://schemas.openxmlformats.org/drawingml/2006/table">
            <a:tbl>
              <a:tblPr/>
              <a:tblGrid>
                <a:gridCol w="1645920">
                  <a:extLst>
                    <a:ext uri="{9D8B030D-6E8A-4147-A177-3AD203B41FA5}">
                      <a16:colId xmlns:a16="http://schemas.microsoft.com/office/drawing/2014/main" val="20000"/>
                    </a:ext>
                  </a:extLst>
                </a:gridCol>
                <a:gridCol w="4754880">
                  <a:extLst>
                    <a:ext uri="{9D8B030D-6E8A-4147-A177-3AD203B41FA5}">
                      <a16:colId xmlns:a16="http://schemas.microsoft.com/office/drawing/2014/main" val="20001"/>
                    </a:ext>
                  </a:extLst>
                </a:gridCol>
                <a:gridCol w="4690872">
                  <a:extLst>
                    <a:ext uri="{9D8B030D-6E8A-4147-A177-3AD203B41FA5}">
                      <a16:colId xmlns:a16="http://schemas.microsoft.com/office/drawing/2014/main" val="20002"/>
                    </a:ext>
                  </a:extLst>
                </a:gridCol>
              </a:tblGrid>
              <a:tr h="914400">
                <a:tc>
                  <a:txBody>
                    <a:bodyPr/>
                    <a:lstStyle/>
                    <a:p>
                      <a:pPr marL="0" indent="0">
                        <a:buNone/>
                      </a:pPr>
                      <a:r>
                        <a:rPr lang="en-US" sz="1400" b="1" dirty="0">
                          <a:solidFill>
                            <a:srgbClr val="FFFFFF"/>
                          </a:solidFill>
                        </a:rPr>
                        <a:t>Threat</a:t>
                      </a:r>
                      <a:endParaRPr lang="en-US" sz="1400" dirty="0"/>
                    </a:p>
                  </a:txBody>
                  <a:tcPr marL="109728" marR="109728" marT="109728" marB="109728" anchor="ctr">
                    <a:lnL w="9525" cap="flat" cmpd="sng" algn="ctr">
                      <a:solidFill>
                        <a:srgbClr val="DDE3EC"/>
                      </a:solidFill>
                      <a:prstDash val="solid"/>
                      <a:round/>
                      <a:headEnd type="none" w="med" len="med"/>
                      <a:tailEnd type="none" w="med" len="med"/>
                    </a:lnL>
                    <a:lnR w="9525" cap="flat" cmpd="sng" algn="ctr">
                      <a:solidFill>
                        <a:srgbClr val="DDE3EC"/>
                      </a:solidFill>
                      <a:prstDash val="solid"/>
                      <a:round/>
                      <a:headEnd type="none" w="med" len="med"/>
                      <a:tailEnd type="none" w="med" len="med"/>
                    </a:lnR>
                    <a:lnT w="9525" cap="flat" cmpd="sng" algn="ctr">
                      <a:solidFill>
                        <a:srgbClr val="DDE3EC"/>
                      </a:solidFill>
                      <a:prstDash val="solid"/>
                      <a:round/>
                      <a:headEnd type="none" w="med" len="med"/>
                      <a:tailEnd type="none" w="med" len="med"/>
                    </a:lnT>
                    <a:lnB w="9525" cap="flat" cmpd="sng" algn="ctr">
                      <a:solidFill>
                        <a:srgbClr val="DDE3EC"/>
                      </a:solidFill>
                      <a:prstDash val="solid"/>
                      <a:round/>
                      <a:headEnd type="none" w="med" len="med"/>
                      <a:tailEnd type="none" w="med" len="med"/>
                    </a:lnB>
                    <a:solidFill>
                      <a:srgbClr val="13213C"/>
                    </a:solidFill>
                  </a:tcPr>
                </a:tc>
                <a:tc>
                  <a:txBody>
                    <a:bodyPr/>
                    <a:lstStyle/>
                    <a:p>
                      <a:pPr marL="0" indent="0">
                        <a:buNone/>
                      </a:pPr>
                      <a:r>
                        <a:rPr lang="en-US" sz="1400" b="1" dirty="0">
                          <a:solidFill>
                            <a:srgbClr val="FFFFFF"/>
                          </a:solidFill>
                        </a:rPr>
                        <a:t>In the demos</a:t>
                      </a:r>
                      <a:endParaRPr lang="en-US" sz="1400" dirty="0"/>
                    </a:p>
                  </a:txBody>
                  <a:tcPr marL="109728" marR="109728" marT="109728" marB="109728" anchor="ctr">
                    <a:lnL w="9525" cap="flat" cmpd="sng" algn="ctr">
                      <a:solidFill>
                        <a:srgbClr val="DDE3EC"/>
                      </a:solidFill>
                      <a:prstDash val="solid"/>
                      <a:round/>
                      <a:headEnd type="none" w="med" len="med"/>
                      <a:tailEnd type="none" w="med" len="med"/>
                    </a:lnL>
                    <a:lnR w="9525" cap="flat" cmpd="sng" algn="ctr">
                      <a:solidFill>
                        <a:srgbClr val="DDE3EC"/>
                      </a:solidFill>
                      <a:prstDash val="solid"/>
                      <a:round/>
                      <a:headEnd type="none" w="med" len="med"/>
                      <a:tailEnd type="none" w="med" len="med"/>
                    </a:lnR>
                    <a:lnT w="9525" cap="flat" cmpd="sng" algn="ctr">
                      <a:solidFill>
                        <a:srgbClr val="DDE3EC"/>
                      </a:solidFill>
                      <a:prstDash val="solid"/>
                      <a:round/>
                      <a:headEnd type="none" w="med" len="med"/>
                      <a:tailEnd type="none" w="med" len="med"/>
                    </a:lnT>
                    <a:lnB w="9525" cap="flat" cmpd="sng" algn="ctr">
                      <a:solidFill>
                        <a:srgbClr val="DDE3EC"/>
                      </a:solidFill>
                      <a:prstDash val="solid"/>
                      <a:round/>
                      <a:headEnd type="none" w="med" len="med"/>
                      <a:tailEnd type="none" w="med" len="med"/>
                    </a:lnB>
                    <a:solidFill>
                      <a:srgbClr val="13213C"/>
                    </a:solidFill>
                  </a:tcPr>
                </a:tc>
                <a:tc>
                  <a:txBody>
                    <a:bodyPr/>
                    <a:lstStyle/>
                    <a:p>
                      <a:pPr marL="0" indent="0">
                        <a:buNone/>
                      </a:pPr>
                      <a:r>
                        <a:rPr lang="en-US" sz="1400" b="1" dirty="0">
                          <a:solidFill>
                            <a:srgbClr val="FFFFFF"/>
                          </a:solidFill>
                        </a:rPr>
                        <a:t>Mitigation in the PhD</a:t>
                      </a:r>
                      <a:endParaRPr lang="en-US" sz="1400" dirty="0"/>
                    </a:p>
                  </a:txBody>
                  <a:tcPr marL="109728" marR="109728" marT="109728" marB="109728" anchor="ctr">
                    <a:lnL w="9525" cap="flat" cmpd="sng" algn="ctr">
                      <a:solidFill>
                        <a:srgbClr val="DDE3EC"/>
                      </a:solidFill>
                      <a:prstDash val="solid"/>
                      <a:round/>
                      <a:headEnd type="none" w="med" len="med"/>
                      <a:tailEnd type="none" w="med" len="med"/>
                    </a:lnL>
                    <a:lnR w="9525" cap="flat" cmpd="sng" algn="ctr">
                      <a:solidFill>
                        <a:srgbClr val="DDE3EC"/>
                      </a:solidFill>
                      <a:prstDash val="solid"/>
                      <a:round/>
                      <a:headEnd type="none" w="med" len="med"/>
                      <a:tailEnd type="none" w="med" len="med"/>
                    </a:lnR>
                    <a:lnT w="9525" cap="flat" cmpd="sng" algn="ctr">
                      <a:solidFill>
                        <a:srgbClr val="DDE3EC"/>
                      </a:solidFill>
                      <a:prstDash val="solid"/>
                      <a:round/>
                      <a:headEnd type="none" w="med" len="med"/>
                      <a:tailEnd type="none" w="med" len="med"/>
                    </a:lnT>
                    <a:lnB w="9525" cap="flat" cmpd="sng" algn="ctr">
                      <a:solidFill>
                        <a:srgbClr val="DDE3EC"/>
                      </a:solidFill>
                      <a:prstDash val="solid"/>
                      <a:round/>
                      <a:headEnd type="none" w="med" len="med"/>
                      <a:tailEnd type="none" w="med" len="med"/>
                    </a:lnB>
                    <a:solidFill>
                      <a:srgbClr val="13213C"/>
                    </a:solidFill>
                  </a:tcPr>
                </a:tc>
                <a:extLst>
                  <a:ext uri="{0D108BD9-81ED-4DB2-BD59-A6C34878D82A}">
                    <a16:rowId xmlns:a16="http://schemas.microsoft.com/office/drawing/2014/main" val="10000"/>
                  </a:ext>
                </a:extLst>
              </a:tr>
              <a:tr h="914400">
                <a:tc>
                  <a:txBody>
                    <a:bodyPr/>
                    <a:lstStyle/>
                    <a:p>
                      <a:pPr marL="0" indent="0">
                        <a:buNone/>
                      </a:pPr>
                      <a:r>
                        <a:rPr lang="en-US" sz="1400" b="1" dirty="0">
                          <a:solidFill>
                            <a:srgbClr val="13213C"/>
                          </a:solidFill>
                        </a:rPr>
                        <a:t>Construct</a:t>
                      </a:r>
                      <a:endParaRPr lang="en-US" sz="1400" dirty="0"/>
                    </a:p>
                  </a:txBody>
                  <a:tcPr marL="109728" marR="109728" marT="109728" marB="109728" anchor="ctr">
                    <a:lnL w="9525" cap="flat" cmpd="sng" algn="ctr">
                      <a:solidFill>
                        <a:srgbClr val="DDE3EC"/>
                      </a:solidFill>
                      <a:prstDash val="solid"/>
                      <a:round/>
                      <a:headEnd type="none" w="med" len="med"/>
                      <a:tailEnd type="none" w="med" len="med"/>
                    </a:lnL>
                    <a:lnR w="9525" cap="flat" cmpd="sng" algn="ctr">
                      <a:solidFill>
                        <a:srgbClr val="DDE3EC"/>
                      </a:solidFill>
                      <a:prstDash val="solid"/>
                      <a:round/>
                      <a:headEnd type="none" w="med" len="med"/>
                      <a:tailEnd type="none" w="med" len="med"/>
                    </a:lnR>
                    <a:lnT w="9525" cap="flat" cmpd="sng" algn="ctr">
                      <a:solidFill>
                        <a:srgbClr val="DDE3EC"/>
                      </a:solidFill>
                      <a:prstDash val="solid"/>
                      <a:round/>
                      <a:headEnd type="none" w="med" len="med"/>
                      <a:tailEnd type="none" w="med" len="med"/>
                    </a:lnT>
                    <a:lnB w="9525" cap="flat" cmpd="sng" algn="ctr">
                      <a:solidFill>
                        <a:srgbClr val="DDE3EC"/>
                      </a:solidFill>
                      <a:prstDash val="solid"/>
                      <a:round/>
                      <a:headEnd type="none" w="med" len="med"/>
                      <a:tailEnd type="none" w="med" len="med"/>
                    </a:lnB>
                    <a:solidFill>
                      <a:srgbClr val="F2F5F9"/>
                    </a:solidFill>
                  </a:tcPr>
                </a:tc>
                <a:tc>
                  <a:txBody>
                    <a:bodyPr/>
                    <a:lstStyle/>
                    <a:p>
                      <a:pPr marL="0" indent="0">
                        <a:buNone/>
                      </a:pPr>
                      <a:r>
                        <a:rPr lang="en-US" sz="1400" dirty="0">
                          <a:solidFill>
                            <a:srgbClr val="1E2533"/>
                          </a:solidFill>
                        </a:rPr>
                        <a:t>Wrong test = still fails after the planted defects are fixed; planted defects approximate real faults</a:t>
                      </a:r>
                      <a:endParaRPr lang="en-US" sz="1400" dirty="0"/>
                    </a:p>
                  </a:txBody>
                  <a:tcPr marL="109728" marR="109728" marT="109728" marB="109728" anchor="ctr">
                    <a:lnL w="9525" cap="flat" cmpd="sng" algn="ctr">
                      <a:solidFill>
                        <a:srgbClr val="DDE3EC"/>
                      </a:solidFill>
                      <a:prstDash val="solid"/>
                      <a:round/>
                      <a:headEnd type="none" w="med" len="med"/>
                      <a:tailEnd type="none" w="med" len="med"/>
                    </a:lnL>
                    <a:lnR w="9525" cap="flat" cmpd="sng" algn="ctr">
                      <a:solidFill>
                        <a:srgbClr val="DDE3EC"/>
                      </a:solidFill>
                      <a:prstDash val="solid"/>
                      <a:round/>
                      <a:headEnd type="none" w="med" len="med"/>
                      <a:tailEnd type="none" w="med" len="med"/>
                    </a:lnR>
                    <a:lnT w="9525" cap="flat" cmpd="sng" algn="ctr">
                      <a:solidFill>
                        <a:srgbClr val="DDE3EC"/>
                      </a:solidFill>
                      <a:prstDash val="solid"/>
                      <a:round/>
                      <a:headEnd type="none" w="med" len="med"/>
                      <a:tailEnd type="none" w="med" len="med"/>
                    </a:lnT>
                    <a:lnB w="9525" cap="flat" cmpd="sng" algn="ctr">
                      <a:solidFill>
                        <a:srgbClr val="DDE3EC"/>
                      </a:solidFill>
                      <a:prstDash val="solid"/>
                      <a:round/>
                      <a:headEnd type="none" w="med" len="med"/>
                      <a:tailEnd type="none" w="med" len="med"/>
                    </a:lnB>
                    <a:solidFill>
                      <a:srgbClr val="F2F5F9"/>
                    </a:solidFill>
                  </a:tcPr>
                </a:tc>
                <a:tc>
                  <a:txBody>
                    <a:bodyPr/>
                    <a:lstStyle/>
                    <a:p>
                      <a:pPr marL="0" indent="0">
                        <a:buNone/>
                      </a:pPr>
                      <a:r>
                        <a:rPr lang="en-US" sz="1400" dirty="0">
                          <a:solidFill>
                            <a:srgbClr val="1E2533"/>
                          </a:solidFill>
                        </a:rPr>
                        <a:t>Expert-validated oracles; real fault data from industrial partners</a:t>
                      </a:r>
                      <a:endParaRPr lang="en-US" sz="1400" dirty="0"/>
                    </a:p>
                  </a:txBody>
                  <a:tcPr marL="109728" marR="109728" marT="109728" marB="109728" anchor="ctr">
                    <a:lnL w="9525" cap="flat" cmpd="sng" algn="ctr">
                      <a:solidFill>
                        <a:srgbClr val="DDE3EC"/>
                      </a:solidFill>
                      <a:prstDash val="solid"/>
                      <a:round/>
                      <a:headEnd type="none" w="med" len="med"/>
                      <a:tailEnd type="none" w="med" len="med"/>
                    </a:lnL>
                    <a:lnR w="9525" cap="flat" cmpd="sng" algn="ctr">
                      <a:solidFill>
                        <a:srgbClr val="DDE3EC"/>
                      </a:solidFill>
                      <a:prstDash val="solid"/>
                      <a:round/>
                      <a:headEnd type="none" w="med" len="med"/>
                      <a:tailEnd type="none" w="med" len="med"/>
                    </a:lnR>
                    <a:lnT w="9525" cap="flat" cmpd="sng" algn="ctr">
                      <a:solidFill>
                        <a:srgbClr val="DDE3EC"/>
                      </a:solidFill>
                      <a:prstDash val="solid"/>
                      <a:round/>
                      <a:headEnd type="none" w="med" len="med"/>
                      <a:tailEnd type="none" w="med" len="med"/>
                    </a:lnT>
                    <a:lnB w="9525" cap="flat" cmpd="sng" algn="ctr">
                      <a:solidFill>
                        <a:srgbClr val="DDE3EC"/>
                      </a:solidFill>
                      <a:prstDash val="solid"/>
                      <a:round/>
                      <a:headEnd type="none" w="med" len="med"/>
                      <a:tailEnd type="none" w="med" len="med"/>
                    </a:lnB>
                    <a:solidFill>
                      <a:srgbClr val="F2F5F9"/>
                    </a:solidFill>
                  </a:tcPr>
                </a:tc>
                <a:extLst>
                  <a:ext uri="{0D108BD9-81ED-4DB2-BD59-A6C34878D82A}">
                    <a16:rowId xmlns:a16="http://schemas.microsoft.com/office/drawing/2014/main" val="10001"/>
                  </a:ext>
                </a:extLst>
              </a:tr>
              <a:tr h="914400">
                <a:tc>
                  <a:txBody>
                    <a:bodyPr/>
                    <a:lstStyle/>
                    <a:p>
                      <a:pPr marL="0" indent="0">
                        <a:buNone/>
                      </a:pPr>
                      <a:r>
                        <a:rPr lang="en-US" sz="1400" b="1" dirty="0">
                          <a:solidFill>
                            <a:srgbClr val="13213C"/>
                          </a:solidFill>
                        </a:rPr>
                        <a:t>Internal</a:t>
                      </a:r>
                      <a:endParaRPr lang="en-US" sz="1400" dirty="0"/>
                    </a:p>
                  </a:txBody>
                  <a:tcPr marL="109728" marR="109728" marT="109728" marB="109728" anchor="ctr">
                    <a:lnL w="9525" cap="flat" cmpd="sng" algn="ctr">
                      <a:solidFill>
                        <a:srgbClr val="DDE3EC"/>
                      </a:solidFill>
                      <a:prstDash val="solid"/>
                      <a:round/>
                      <a:headEnd type="none" w="med" len="med"/>
                      <a:tailEnd type="none" w="med" len="med"/>
                    </a:lnL>
                    <a:lnR w="9525" cap="flat" cmpd="sng" algn="ctr">
                      <a:solidFill>
                        <a:srgbClr val="DDE3EC"/>
                      </a:solidFill>
                      <a:prstDash val="solid"/>
                      <a:round/>
                      <a:headEnd type="none" w="med" len="med"/>
                      <a:tailEnd type="none" w="med" len="med"/>
                    </a:lnR>
                    <a:lnT w="9525" cap="flat" cmpd="sng" algn="ctr">
                      <a:solidFill>
                        <a:srgbClr val="DDE3EC"/>
                      </a:solidFill>
                      <a:prstDash val="solid"/>
                      <a:round/>
                      <a:headEnd type="none" w="med" len="med"/>
                      <a:tailEnd type="none" w="med" len="med"/>
                    </a:lnT>
                    <a:lnB w="9525" cap="flat" cmpd="sng" algn="ctr">
                      <a:solidFill>
                        <a:srgbClr val="DDE3EC"/>
                      </a:solidFill>
                      <a:prstDash val="solid"/>
                      <a:round/>
                      <a:headEnd type="none" w="med" len="med"/>
                      <a:tailEnd type="none" w="med" len="med"/>
                    </a:lnB>
                    <a:solidFill>
                      <a:srgbClr val="FFFFFF"/>
                    </a:solidFill>
                  </a:tcPr>
                </a:tc>
                <a:tc>
                  <a:txBody>
                    <a:bodyPr/>
                    <a:lstStyle/>
                    <a:p>
                      <a:pPr marL="0" indent="0">
                        <a:buNone/>
                      </a:pPr>
                      <a:r>
                        <a:rPr lang="en-US" sz="1400" dirty="0">
                          <a:solidFill>
                            <a:srgbClr val="1E2533"/>
                          </a:solidFill>
                        </a:rPr>
                        <a:t>Ground truth and prompts designed by me</a:t>
                      </a:r>
                      <a:endParaRPr lang="en-US" sz="1400" dirty="0"/>
                    </a:p>
                  </a:txBody>
                  <a:tcPr marL="109728" marR="109728" marT="109728" marB="109728" anchor="ctr">
                    <a:lnL w="9525" cap="flat" cmpd="sng" algn="ctr">
                      <a:solidFill>
                        <a:srgbClr val="DDE3EC"/>
                      </a:solidFill>
                      <a:prstDash val="solid"/>
                      <a:round/>
                      <a:headEnd type="none" w="med" len="med"/>
                      <a:tailEnd type="none" w="med" len="med"/>
                    </a:lnL>
                    <a:lnR w="9525" cap="flat" cmpd="sng" algn="ctr">
                      <a:solidFill>
                        <a:srgbClr val="DDE3EC"/>
                      </a:solidFill>
                      <a:prstDash val="solid"/>
                      <a:round/>
                      <a:headEnd type="none" w="med" len="med"/>
                      <a:tailEnd type="none" w="med" len="med"/>
                    </a:lnR>
                    <a:lnT w="9525" cap="flat" cmpd="sng" algn="ctr">
                      <a:solidFill>
                        <a:srgbClr val="DDE3EC"/>
                      </a:solidFill>
                      <a:prstDash val="solid"/>
                      <a:round/>
                      <a:headEnd type="none" w="med" len="med"/>
                      <a:tailEnd type="none" w="med" len="med"/>
                    </a:lnT>
                    <a:lnB w="9525" cap="flat" cmpd="sng" algn="ctr">
                      <a:solidFill>
                        <a:srgbClr val="DDE3EC"/>
                      </a:solidFill>
                      <a:prstDash val="solid"/>
                      <a:round/>
                      <a:headEnd type="none" w="med" len="med"/>
                      <a:tailEnd type="none" w="med" len="med"/>
                    </a:lnB>
                    <a:solidFill>
                      <a:srgbClr val="FFFFFF"/>
                    </a:solidFill>
                  </a:tcPr>
                </a:tc>
                <a:tc>
                  <a:txBody>
                    <a:bodyPr/>
                    <a:lstStyle/>
                    <a:p>
                      <a:pPr marL="0" indent="0">
                        <a:buNone/>
                      </a:pPr>
                      <a:r>
                        <a:rPr lang="en-US" sz="1400" dirty="0">
                          <a:solidFill>
                            <a:srgbClr val="1E2533"/>
                          </a:solidFill>
                        </a:rPr>
                        <a:t>Independent labelling; several prompt variants; pre-registered designs</a:t>
                      </a:r>
                      <a:endParaRPr lang="en-US" sz="1400" dirty="0"/>
                    </a:p>
                  </a:txBody>
                  <a:tcPr marL="109728" marR="109728" marT="109728" marB="109728" anchor="ctr">
                    <a:lnL w="9525" cap="flat" cmpd="sng" algn="ctr">
                      <a:solidFill>
                        <a:srgbClr val="DDE3EC"/>
                      </a:solidFill>
                      <a:prstDash val="solid"/>
                      <a:round/>
                      <a:headEnd type="none" w="med" len="med"/>
                      <a:tailEnd type="none" w="med" len="med"/>
                    </a:lnL>
                    <a:lnR w="9525" cap="flat" cmpd="sng" algn="ctr">
                      <a:solidFill>
                        <a:srgbClr val="DDE3EC"/>
                      </a:solidFill>
                      <a:prstDash val="solid"/>
                      <a:round/>
                      <a:headEnd type="none" w="med" len="med"/>
                      <a:tailEnd type="none" w="med" len="med"/>
                    </a:lnR>
                    <a:lnT w="9525" cap="flat" cmpd="sng" algn="ctr">
                      <a:solidFill>
                        <a:srgbClr val="DDE3EC"/>
                      </a:solidFill>
                      <a:prstDash val="solid"/>
                      <a:round/>
                      <a:headEnd type="none" w="med" len="med"/>
                      <a:tailEnd type="none" w="med" len="med"/>
                    </a:lnT>
                    <a:lnB w="9525" cap="flat" cmpd="sng" algn="ctr">
                      <a:solidFill>
                        <a:srgbClr val="DDE3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914400">
                <a:tc>
                  <a:txBody>
                    <a:bodyPr/>
                    <a:lstStyle/>
                    <a:p>
                      <a:pPr marL="0" indent="0">
                        <a:buNone/>
                      </a:pPr>
                      <a:r>
                        <a:rPr lang="en-US" sz="1400" b="1" dirty="0">
                          <a:solidFill>
                            <a:srgbClr val="13213C"/>
                          </a:solidFill>
                        </a:rPr>
                        <a:t>External</a:t>
                      </a:r>
                      <a:endParaRPr lang="en-US" sz="1400" dirty="0"/>
                    </a:p>
                  </a:txBody>
                  <a:tcPr marL="109728" marR="109728" marT="109728" marB="109728" anchor="ctr">
                    <a:lnL w="9525" cap="flat" cmpd="sng" algn="ctr">
                      <a:solidFill>
                        <a:srgbClr val="DDE3EC"/>
                      </a:solidFill>
                      <a:prstDash val="solid"/>
                      <a:round/>
                      <a:headEnd type="none" w="med" len="med"/>
                      <a:tailEnd type="none" w="med" len="med"/>
                    </a:lnL>
                    <a:lnR w="9525" cap="flat" cmpd="sng" algn="ctr">
                      <a:solidFill>
                        <a:srgbClr val="DDE3EC"/>
                      </a:solidFill>
                      <a:prstDash val="solid"/>
                      <a:round/>
                      <a:headEnd type="none" w="med" len="med"/>
                      <a:tailEnd type="none" w="med" len="med"/>
                    </a:lnR>
                    <a:lnT w="9525" cap="flat" cmpd="sng" algn="ctr">
                      <a:solidFill>
                        <a:srgbClr val="DDE3EC"/>
                      </a:solidFill>
                      <a:prstDash val="solid"/>
                      <a:round/>
                      <a:headEnd type="none" w="med" len="med"/>
                      <a:tailEnd type="none" w="med" len="med"/>
                    </a:lnT>
                    <a:lnB w="9525" cap="flat" cmpd="sng" algn="ctr">
                      <a:solidFill>
                        <a:srgbClr val="DDE3EC"/>
                      </a:solidFill>
                      <a:prstDash val="solid"/>
                      <a:round/>
                      <a:headEnd type="none" w="med" len="med"/>
                      <a:tailEnd type="none" w="med" len="med"/>
                    </a:lnB>
                    <a:solidFill>
                      <a:srgbClr val="F2F5F9"/>
                    </a:solidFill>
                  </a:tcPr>
                </a:tc>
                <a:tc>
                  <a:txBody>
                    <a:bodyPr/>
                    <a:lstStyle/>
                    <a:p>
                      <a:pPr marL="0" indent="0">
                        <a:buNone/>
                      </a:pPr>
                      <a:r>
                        <a:rPr lang="en-US" sz="1400" dirty="0">
                          <a:solidFill>
                            <a:srgbClr val="1E2533"/>
                          </a:solidFill>
                        </a:rPr>
                        <a:t>One web shop, one AI model, 62 tests in one run</a:t>
                      </a:r>
                      <a:endParaRPr lang="en-US" sz="1400" dirty="0"/>
                    </a:p>
                  </a:txBody>
                  <a:tcPr marL="109728" marR="109728" marT="109728" marB="109728" anchor="ctr">
                    <a:lnL w="9525" cap="flat" cmpd="sng" algn="ctr">
                      <a:solidFill>
                        <a:srgbClr val="DDE3EC"/>
                      </a:solidFill>
                      <a:prstDash val="solid"/>
                      <a:round/>
                      <a:headEnd type="none" w="med" len="med"/>
                      <a:tailEnd type="none" w="med" len="med"/>
                    </a:lnL>
                    <a:lnR w="9525" cap="flat" cmpd="sng" algn="ctr">
                      <a:solidFill>
                        <a:srgbClr val="DDE3EC"/>
                      </a:solidFill>
                      <a:prstDash val="solid"/>
                      <a:round/>
                      <a:headEnd type="none" w="med" len="med"/>
                      <a:tailEnd type="none" w="med" len="med"/>
                    </a:lnR>
                    <a:lnT w="9525" cap="flat" cmpd="sng" algn="ctr">
                      <a:solidFill>
                        <a:srgbClr val="DDE3EC"/>
                      </a:solidFill>
                      <a:prstDash val="solid"/>
                      <a:round/>
                      <a:headEnd type="none" w="med" len="med"/>
                      <a:tailEnd type="none" w="med" len="med"/>
                    </a:lnT>
                    <a:lnB w="9525" cap="flat" cmpd="sng" algn="ctr">
                      <a:solidFill>
                        <a:srgbClr val="DDE3EC"/>
                      </a:solidFill>
                      <a:prstDash val="solid"/>
                      <a:round/>
                      <a:headEnd type="none" w="med" len="med"/>
                      <a:tailEnd type="none" w="med" len="med"/>
                    </a:lnB>
                    <a:solidFill>
                      <a:srgbClr val="F2F5F9"/>
                    </a:solidFill>
                  </a:tcPr>
                </a:tc>
                <a:tc>
                  <a:txBody>
                    <a:bodyPr/>
                    <a:lstStyle/>
                    <a:p>
                      <a:pPr marL="0" indent="0">
                        <a:buNone/>
                      </a:pPr>
                      <a:r>
                        <a:rPr lang="en-US" sz="1400" dirty="0">
                          <a:solidFill>
                            <a:srgbClr val="1E2533"/>
                          </a:solidFill>
                        </a:rPr>
                        <a:t>Open-source ACPS, industrial cases, InnoGuard platform, open-weight models</a:t>
                      </a:r>
                      <a:endParaRPr lang="en-US" sz="1400" dirty="0"/>
                    </a:p>
                  </a:txBody>
                  <a:tcPr marL="109728" marR="109728" marT="109728" marB="109728" anchor="ctr">
                    <a:lnL w="9525" cap="flat" cmpd="sng" algn="ctr">
                      <a:solidFill>
                        <a:srgbClr val="DDE3EC"/>
                      </a:solidFill>
                      <a:prstDash val="solid"/>
                      <a:round/>
                      <a:headEnd type="none" w="med" len="med"/>
                      <a:tailEnd type="none" w="med" len="med"/>
                    </a:lnL>
                    <a:lnR w="9525" cap="flat" cmpd="sng" algn="ctr">
                      <a:solidFill>
                        <a:srgbClr val="DDE3EC"/>
                      </a:solidFill>
                      <a:prstDash val="solid"/>
                      <a:round/>
                      <a:headEnd type="none" w="med" len="med"/>
                      <a:tailEnd type="none" w="med" len="med"/>
                    </a:lnR>
                    <a:lnT w="9525" cap="flat" cmpd="sng" algn="ctr">
                      <a:solidFill>
                        <a:srgbClr val="DDE3EC"/>
                      </a:solidFill>
                      <a:prstDash val="solid"/>
                      <a:round/>
                      <a:headEnd type="none" w="med" len="med"/>
                      <a:tailEnd type="none" w="med" len="med"/>
                    </a:lnT>
                    <a:lnB w="9525" cap="flat" cmpd="sng" algn="ctr">
                      <a:solidFill>
                        <a:srgbClr val="DDE3EC"/>
                      </a:solidFill>
                      <a:prstDash val="solid"/>
                      <a:round/>
                      <a:headEnd type="none" w="med" len="med"/>
                      <a:tailEnd type="none" w="med" len="med"/>
                    </a:lnB>
                    <a:solidFill>
                      <a:srgbClr val="F2F5F9"/>
                    </a:solidFill>
                  </a:tcPr>
                </a:tc>
                <a:extLst>
                  <a:ext uri="{0D108BD9-81ED-4DB2-BD59-A6C34878D82A}">
                    <a16:rowId xmlns:a16="http://schemas.microsoft.com/office/drawing/2014/main" val="10003"/>
                  </a:ext>
                </a:extLst>
              </a:tr>
              <a:tr h="914400">
                <a:tc>
                  <a:txBody>
                    <a:bodyPr/>
                    <a:lstStyle/>
                    <a:p>
                      <a:pPr marL="0" indent="0">
                        <a:buNone/>
                      </a:pPr>
                      <a:r>
                        <a:rPr lang="en-US" sz="1400" b="1" dirty="0">
                          <a:solidFill>
                            <a:srgbClr val="13213C"/>
                          </a:solidFill>
                        </a:rPr>
                        <a:t>Conclusion</a:t>
                      </a:r>
                      <a:endParaRPr lang="en-US" sz="1400" dirty="0"/>
                    </a:p>
                  </a:txBody>
                  <a:tcPr marL="109728" marR="109728" marT="109728" marB="109728" anchor="ctr">
                    <a:lnL w="9525" cap="flat" cmpd="sng" algn="ctr">
                      <a:solidFill>
                        <a:srgbClr val="DDE3EC"/>
                      </a:solidFill>
                      <a:prstDash val="solid"/>
                      <a:round/>
                      <a:headEnd type="none" w="med" len="med"/>
                      <a:tailEnd type="none" w="med" len="med"/>
                    </a:lnL>
                    <a:lnR w="9525" cap="flat" cmpd="sng" algn="ctr">
                      <a:solidFill>
                        <a:srgbClr val="DDE3EC"/>
                      </a:solidFill>
                      <a:prstDash val="solid"/>
                      <a:round/>
                      <a:headEnd type="none" w="med" len="med"/>
                      <a:tailEnd type="none" w="med" len="med"/>
                    </a:lnR>
                    <a:lnT w="9525" cap="flat" cmpd="sng" algn="ctr">
                      <a:solidFill>
                        <a:srgbClr val="DDE3EC"/>
                      </a:solidFill>
                      <a:prstDash val="solid"/>
                      <a:round/>
                      <a:headEnd type="none" w="med" len="med"/>
                      <a:tailEnd type="none" w="med" len="med"/>
                    </a:lnT>
                    <a:lnB w="9525" cap="flat" cmpd="sng" algn="ctr">
                      <a:solidFill>
                        <a:srgbClr val="DDE3EC"/>
                      </a:solidFill>
                      <a:prstDash val="solid"/>
                      <a:round/>
                      <a:headEnd type="none" w="med" len="med"/>
                      <a:tailEnd type="none" w="med" len="med"/>
                    </a:lnB>
                    <a:solidFill>
                      <a:srgbClr val="FFFFFF"/>
                    </a:solidFill>
                  </a:tcPr>
                </a:tc>
                <a:tc>
                  <a:txBody>
                    <a:bodyPr/>
                    <a:lstStyle/>
                    <a:p>
                      <a:pPr marL="0" indent="0">
                        <a:buNone/>
                      </a:pPr>
                      <a:r>
                        <a:rPr lang="en-US" sz="1400" dirty="0">
                          <a:solidFill>
                            <a:srgbClr val="1E2533"/>
                          </a:solidFill>
                        </a:rPr>
                        <a:t>6 wrong tests out of 18 FAILs: small numbers</a:t>
                      </a:r>
                      <a:endParaRPr lang="en-US" sz="1400" dirty="0"/>
                    </a:p>
                  </a:txBody>
                  <a:tcPr marL="109728" marR="109728" marT="109728" marB="109728" anchor="ctr">
                    <a:lnL w="9525" cap="flat" cmpd="sng" algn="ctr">
                      <a:solidFill>
                        <a:srgbClr val="DDE3EC"/>
                      </a:solidFill>
                      <a:prstDash val="solid"/>
                      <a:round/>
                      <a:headEnd type="none" w="med" len="med"/>
                      <a:tailEnd type="none" w="med" len="med"/>
                    </a:lnL>
                    <a:lnR w="9525" cap="flat" cmpd="sng" algn="ctr">
                      <a:solidFill>
                        <a:srgbClr val="DDE3EC"/>
                      </a:solidFill>
                      <a:prstDash val="solid"/>
                      <a:round/>
                      <a:headEnd type="none" w="med" len="med"/>
                      <a:tailEnd type="none" w="med" len="med"/>
                    </a:lnR>
                    <a:lnT w="9525" cap="flat" cmpd="sng" algn="ctr">
                      <a:solidFill>
                        <a:srgbClr val="DDE3EC"/>
                      </a:solidFill>
                      <a:prstDash val="solid"/>
                      <a:round/>
                      <a:headEnd type="none" w="med" len="med"/>
                      <a:tailEnd type="none" w="med" len="med"/>
                    </a:lnT>
                    <a:lnB w="9525" cap="flat" cmpd="sng" algn="ctr">
                      <a:solidFill>
                        <a:srgbClr val="DDE3EC"/>
                      </a:solidFill>
                      <a:prstDash val="solid"/>
                      <a:round/>
                      <a:headEnd type="none" w="med" len="med"/>
                      <a:tailEnd type="none" w="med" len="med"/>
                    </a:lnB>
                    <a:solidFill>
                      <a:srgbClr val="FFFFFF"/>
                    </a:solidFill>
                  </a:tcPr>
                </a:tc>
                <a:tc>
                  <a:txBody>
                    <a:bodyPr/>
                    <a:lstStyle/>
                    <a:p>
                      <a:pPr marL="0" indent="0">
                        <a:buNone/>
                      </a:pPr>
                      <a:r>
                        <a:rPr lang="en-US" sz="1400" dirty="0">
                          <a:solidFill>
                            <a:srgbClr val="1E2533"/>
                          </a:solidFill>
                        </a:rPr>
                        <a:t>Repeated runs, larger benchmarks, effect sizes and confidence intervals</a:t>
                      </a:r>
                      <a:endParaRPr lang="en-US" sz="1400" dirty="0"/>
                    </a:p>
                  </a:txBody>
                  <a:tcPr marL="109728" marR="109728" marT="109728" marB="109728" anchor="ctr">
                    <a:lnL w="9525" cap="flat" cmpd="sng" algn="ctr">
                      <a:solidFill>
                        <a:srgbClr val="DDE3EC"/>
                      </a:solidFill>
                      <a:prstDash val="solid"/>
                      <a:round/>
                      <a:headEnd type="none" w="med" len="med"/>
                      <a:tailEnd type="none" w="med" len="med"/>
                    </a:lnL>
                    <a:lnR w="9525" cap="flat" cmpd="sng" algn="ctr">
                      <a:solidFill>
                        <a:srgbClr val="DDE3EC"/>
                      </a:solidFill>
                      <a:prstDash val="solid"/>
                      <a:round/>
                      <a:headEnd type="none" w="med" len="med"/>
                      <a:tailEnd type="none" w="med" len="med"/>
                    </a:lnR>
                    <a:lnT w="9525" cap="flat" cmpd="sng" algn="ctr">
                      <a:solidFill>
                        <a:srgbClr val="DDE3EC"/>
                      </a:solidFill>
                      <a:prstDash val="solid"/>
                      <a:round/>
                      <a:headEnd type="none" w="med" len="med"/>
                      <a:tailEnd type="none" w="med" len="med"/>
                    </a:lnT>
                    <a:lnB w="9525" cap="flat" cmpd="sng" algn="ctr">
                      <a:solidFill>
                        <a:srgbClr val="DDE3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578"/>
                </a:solidFill>
                <a:latin typeface="Calibri"/>
                <a:ea typeface="Calibri"/>
                <a:cs typeface="Calibri"/>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buNone/>
            </a:pPr>
            <a:r>
              <a:rPr lang="en-US" sz="3000" b="1" dirty="0">
                <a:solidFill>
                  <a:srgbClr val="13213C"/>
                </a:solidFill>
                <a:latin typeface="Cambria" pitchFamily="34" charset="0"/>
                <a:ea typeface="Cambria" pitchFamily="34" charset="-122"/>
                <a:cs typeface="Cambria" pitchFamily="34" charset="-120"/>
              </a:rPr>
              <a:t>Backup · Towards uncertainty of quantum ML models (O4)</a:t>
            </a:r>
            <a:endParaRPr lang="en-US" sz="3000" dirty="0"/>
          </a:p>
        </p:txBody>
      </p:sp>
      <p:sp>
        <p:nvSpPr>
          <p:cNvPr id="3" name="Text 1"/>
          <p:cNvSpPr txBox="1"/>
          <p:nvPr/>
        </p:nvSpPr>
        <p:spPr>
          <a:xfrm>
            <a:off x="548640" y="1371600"/>
            <a:ext cx="6766560" cy="4023360"/>
          </a:xfrm>
          <a:prstGeom prst="rect">
            <a:avLst/>
          </a:prstGeom>
          <a:noFill/>
          <a:ln/>
        </p:spPr>
        <p:txBody>
          <a:bodyPr wrap="square" lIns="0" tIns="0" rIns="0" bIns="0" rtlCol="0" anchor="t"/>
          <a:lstStyle/>
          <a:p>
            <a:pPr marL="177800" indent="-177800">
              <a:buSzPct val="100000"/>
              <a:buChar char="•"/>
            </a:pPr>
            <a:r>
              <a:rPr lang="en-US" sz="1600" b="1" dirty="0">
                <a:solidFill>
                  <a:srgbClr val="1E2533"/>
                </a:solidFill>
                <a:latin typeface="Calibri" pitchFamily="34" charset="0"/>
                <a:ea typeface="Calibri" pitchFamily="34" charset="-122"/>
                <a:cs typeface="Calibri" pitchFamily="34" charset="-120"/>
              </a:rPr>
              <a:t>Starting point: </a:t>
            </a:r>
            <a:r>
              <a:rPr lang="en-US" sz="1600" dirty="0">
                <a:solidFill>
                  <a:srgbClr val="1E2533"/>
                </a:solidFill>
                <a:latin typeface="Calibri" pitchFamily="34" charset="0"/>
                <a:ea typeface="Calibri" pitchFamily="34" charset="-122"/>
                <a:cs typeface="Calibri" pitchFamily="34" charset="-120"/>
              </a:rPr>
              <a:t>QML is already used for test oracles of autonomous mobile robots and QoS prediction of elevator software [20, 21]</a:t>
            </a:r>
            <a:endParaRPr lang="en-US" sz="1600" dirty="0"/>
          </a:p>
          <a:p>
            <a:pPr marL="177800" indent="-177800">
              <a:buSzPct val="100000"/>
              <a:buChar char="•"/>
            </a:pPr>
            <a:r>
              <a:rPr lang="en-US" sz="1600" b="1" dirty="0">
                <a:solidFill>
                  <a:srgbClr val="1E2533"/>
                </a:solidFill>
                <a:latin typeface="Calibri" pitchFamily="34" charset="0"/>
                <a:ea typeface="Calibri" pitchFamily="34" charset="-122"/>
                <a:cs typeface="Calibri" pitchFamily="34" charset="-120"/>
              </a:rPr>
              <a:t>Sources of uncertainty: </a:t>
            </a:r>
            <a:r>
              <a:rPr lang="en-US" sz="1600" dirty="0">
                <a:solidFill>
                  <a:srgbClr val="1E2533"/>
                </a:solidFill>
                <a:latin typeface="Calibri" pitchFamily="34" charset="0"/>
                <a:ea typeface="Calibri" pitchFamily="34" charset="-122"/>
                <a:cs typeface="Calibri" pitchFamily="34" charset="-120"/>
              </a:rPr>
              <a:t>shot noise, hardware noise and model (epistemic) uncertainty add to data uncertainty</a:t>
            </a:r>
            <a:endParaRPr lang="en-US" sz="1600" dirty="0"/>
          </a:p>
          <a:p>
            <a:pPr marL="177800" indent="-177800">
              <a:buSzPct val="100000"/>
              <a:buChar char="•"/>
            </a:pPr>
            <a:r>
              <a:rPr lang="en-US" sz="1600" b="1" dirty="0">
                <a:solidFill>
                  <a:srgbClr val="1E2533"/>
                </a:solidFill>
                <a:latin typeface="Calibri" pitchFamily="34" charset="0"/>
                <a:ea typeface="Calibri" pitchFamily="34" charset="-122"/>
                <a:cs typeface="Calibri" pitchFamily="34" charset="-120"/>
              </a:rPr>
              <a:t>Transfer test: </a:t>
            </a:r>
            <a:r>
              <a:rPr lang="en-US" sz="1600" dirty="0">
                <a:solidFill>
                  <a:srgbClr val="1E2533"/>
                </a:solidFill>
                <a:latin typeface="Calibri" pitchFamily="34" charset="0"/>
                <a:ea typeface="Calibri" pitchFamily="34" charset="-122"/>
                <a:cs typeface="Calibri" pitchFamily="34" charset="-120"/>
              </a:rPr>
              <a:t>do sampling-based metrics still predict wrong oracle verdicts when the model is quantum? Repeated shots are natural samples</a:t>
            </a:r>
            <a:endParaRPr lang="en-US" sz="1600" dirty="0"/>
          </a:p>
          <a:p>
            <a:pPr marL="177800" indent="-177800">
              <a:buSzPct val="100000"/>
              <a:buChar char="•"/>
            </a:pPr>
            <a:r>
              <a:rPr lang="en-US" sz="1600" b="1" dirty="0">
                <a:solidFill>
                  <a:srgbClr val="1E2533"/>
                </a:solidFill>
                <a:latin typeface="Calibri" pitchFamily="34" charset="0"/>
                <a:ea typeface="Calibri" pitchFamily="34" charset="-122"/>
                <a:cs typeface="Calibri" pitchFamily="34" charset="-120"/>
              </a:rPr>
              <a:t>Coverage &amp; mutation for quantum programs </a:t>
            </a:r>
            <a:r>
              <a:rPr lang="en-US" sz="1600" dirty="0">
                <a:solidFill>
                  <a:srgbClr val="1E2533"/>
                </a:solidFill>
                <a:latin typeface="Calibri" pitchFamily="34" charset="0"/>
                <a:ea typeface="Calibri" pitchFamily="34" charset="-122"/>
                <a:cs typeface="Calibri" pitchFamily="34" charset="-120"/>
              </a:rPr>
              <a:t>as ground-truth tools [19]</a:t>
            </a:r>
            <a:endParaRPr lang="en-US" sz="1600" dirty="0"/>
          </a:p>
          <a:p>
            <a:pPr marL="177800" indent="-177800">
              <a:buSzPct val="100000"/>
              <a:buChar char="•"/>
            </a:pPr>
            <a:r>
              <a:rPr lang="en-US" sz="1600" b="1" dirty="0">
                <a:solidFill>
                  <a:srgbClr val="1E2533"/>
                </a:solidFill>
                <a:latin typeface="Calibri" pitchFamily="34" charset="0"/>
                <a:ea typeface="Calibri" pitchFamily="34" charset="-122"/>
                <a:cs typeface="Calibri" pitchFamily="34" charset="-120"/>
              </a:rPr>
              <a:t>Road map: </a:t>
            </a:r>
            <a:r>
              <a:rPr lang="en-US" sz="1600" dirty="0">
                <a:solidFill>
                  <a:srgbClr val="1E2533"/>
                </a:solidFill>
                <a:latin typeface="Calibri" pitchFamily="34" charset="0"/>
                <a:ea typeface="Calibri" pitchFamily="34" charset="-122"/>
                <a:cs typeface="Calibri" pitchFamily="34" charset="-120"/>
              </a:rPr>
              <a:t>quantum AI for software engineering [22]</a:t>
            </a:r>
            <a:endParaRPr lang="en-US" sz="1600" dirty="0"/>
          </a:p>
        </p:txBody>
      </p:sp>
      <p:sp>
        <p:nvSpPr>
          <p:cNvPr id="4" name="Shape 2"/>
          <p:cNvSpPr/>
          <p:nvPr/>
        </p:nvSpPr>
        <p:spPr>
          <a:xfrm>
            <a:off x="8595360" y="1920240"/>
            <a:ext cx="2194560" cy="2194560"/>
          </a:xfrm>
          <a:prstGeom prst="ellipse">
            <a:avLst/>
          </a:prstGeom>
          <a:solidFill>
            <a:srgbClr val="6E56CF"/>
          </a:solidFill>
          <a:ln w="12700">
            <a:solidFill>
              <a:srgbClr val="6E56CF"/>
            </a:solidFill>
            <a:prstDash val="solid"/>
          </a:ln>
        </p:spPr>
        <p:txBody>
          <a:bodyPr/>
          <a:lstStyle/>
          <a:p>
            <a:endParaRPr lang="en-US"/>
          </a:p>
        </p:txBody>
      </p:sp>
      <p:pic>
        <p:nvPicPr>
          <p:cNvPr id="5" name="Image 0" descr="preencoded.png"/>
          <p:cNvPicPr>
            <a:picLocks noChangeAspect="1"/>
          </p:cNvPicPr>
          <p:nvPr/>
        </p:nvPicPr>
        <p:blipFill>
          <a:blip r:embed="rId3"/>
          <a:stretch>
            <a:fillRect/>
          </a:stretch>
        </p:blipFill>
        <p:spPr>
          <a:xfrm>
            <a:off x="9144000" y="2468880"/>
            <a:ext cx="1097280" cy="1097280"/>
          </a:xfrm>
          <a:prstGeom prst="rect">
            <a:avLst/>
          </a:prstGeom>
        </p:spPr>
      </p:pic>
      <p:sp>
        <p:nvSpPr>
          <p:cNvPr id="6" name="Text 3"/>
          <p:cNvSpPr txBox="1"/>
          <p:nvPr/>
        </p:nvSpPr>
        <p:spPr>
          <a:xfrm>
            <a:off x="548640" y="5577840"/>
            <a:ext cx="11094415" cy="850392"/>
          </a:xfrm>
          <a:prstGeom prst="rect">
            <a:avLst/>
          </a:prstGeom>
          <a:noFill/>
          <a:ln/>
        </p:spPr>
        <p:txBody>
          <a:bodyPr wrap="square" lIns="0" tIns="0" rIns="0" bIns="0" rtlCol="0" anchor="b"/>
          <a:lstStyle/>
          <a:p>
            <a:pPr marL="0" indent="0">
              <a:buNone/>
            </a:pPr>
            <a:r>
              <a:rPr lang="en-US" sz="900" dirty="0">
                <a:solidFill>
                  <a:srgbClr val="5B6578"/>
                </a:solidFill>
                <a:latin typeface="Calibri" pitchFamily="34" charset="0"/>
                <a:ea typeface="Calibri" pitchFamily="34" charset="-122"/>
                <a:cs typeface="Calibri" pitchFamily="34" charset="-120"/>
              </a:rPr>
              <a:t>[19] S. Ali et al., “Assessing the effectiveness of input and output coverage criteria for testing quantum programs,” Proc. IEEE ICST, 2021.</a:t>
            </a:r>
            <a:endParaRPr lang="en-US" sz="900" dirty="0"/>
          </a:p>
          <a:p>
            <a:pPr marL="0" indent="0">
              <a:buNone/>
            </a:pPr>
            <a:r>
              <a:rPr lang="en-US" sz="900" dirty="0">
                <a:solidFill>
                  <a:srgbClr val="5B6578"/>
                </a:solidFill>
                <a:latin typeface="Calibri" pitchFamily="34" charset="0"/>
                <a:ea typeface="Calibri" pitchFamily="34" charset="-122"/>
                <a:cs typeface="Calibri" pitchFamily="34" charset="-120"/>
              </a:rPr>
              <a:t>[20] X. Wang et al., “Quantum machine learning-based test oracle for autonomous mobile robots,” Proc. IEEE/ACM ASE, 2025.</a:t>
            </a:r>
            <a:endParaRPr lang="en-US" sz="900" dirty="0"/>
          </a:p>
          <a:p>
            <a:pPr marL="0" indent="0">
              <a:buNone/>
            </a:pPr>
            <a:r>
              <a:rPr lang="en-US" sz="900" dirty="0">
                <a:solidFill>
                  <a:srgbClr val="5B6578"/>
                </a:solidFill>
                <a:latin typeface="Calibri" pitchFamily="34" charset="0"/>
                <a:ea typeface="Calibri" pitchFamily="34" charset="-122"/>
                <a:cs typeface="Calibri" pitchFamily="34" charset="-120"/>
              </a:rPr>
              <a:t>[21] X. Wang et al., “Application of quantum extreme learning machines for QoS prediction of elevators' software in an industrial context,” Companion Proc. ACM FSE, 2024.</a:t>
            </a:r>
            <a:endParaRPr lang="en-US" sz="900" dirty="0"/>
          </a:p>
          <a:p>
            <a:pPr marL="0" indent="0">
              <a:buNone/>
            </a:pPr>
            <a:r>
              <a:rPr lang="en-US" sz="900" dirty="0">
                <a:solidFill>
                  <a:srgbClr val="5B6578"/>
                </a:solidFill>
                <a:latin typeface="Calibri" pitchFamily="34" charset="0"/>
                <a:ea typeface="Calibri" pitchFamily="34" charset="-122"/>
                <a:cs typeface="Calibri" pitchFamily="34" charset="-120"/>
              </a:rPr>
              <a:t>[22] X. Wang et al., “Quantum artificial intelligence for software engineering: The road ahead,” ACM TOSEM, 2026.</a:t>
            </a:r>
            <a:endParaRPr lang="en-US" sz="9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578"/>
                </a:solidFill>
                <a:latin typeface="Calibri"/>
                <a:ea typeface="Calibri"/>
                <a:cs typeface="Calibri"/>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buNone/>
            </a:pPr>
            <a:r>
              <a:rPr lang="en-US" sz="3000" b="1" dirty="0">
                <a:solidFill>
                  <a:srgbClr val="13213C"/>
                </a:solidFill>
                <a:latin typeface="Cambria" pitchFamily="34" charset="0"/>
                <a:ea typeface="Cambria" pitchFamily="34" charset="-122"/>
                <a:cs typeface="Cambria" pitchFamily="34" charset="-120"/>
              </a:rPr>
              <a:t>References (1/2)</a:t>
            </a:r>
            <a:endParaRPr lang="en-US" sz="3000" dirty="0"/>
          </a:p>
        </p:txBody>
      </p:sp>
      <p:sp>
        <p:nvSpPr>
          <p:cNvPr id="3" name="Text 1"/>
          <p:cNvSpPr txBox="1"/>
          <p:nvPr/>
        </p:nvSpPr>
        <p:spPr>
          <a:xfrm>
            <a:off x="548640" y="1234440"/>
            <a:ext cx="11094415" cy="5074920"/>
          </a:xfrm>
          <a:prstGeom prst="rect">
            <a:avLst/>
          </a:prstGeom>
          <a:noFill/>
          <a:ln/>
        </p:spPr>
        <p:txBody>
          <a:bodyPr wrap="square" lIns="0" tIns="0" rIns="0" bIns="0" rtlCol="0" anchor="t"/>
          <a:lstStyle/>
          <a:p>
            <a:pPr marL="0" indent="0">
              <a:spcAft>
                <a:spcPts val="300"/>
              </a:spcAft>
              <a:buNone/>
            </a:pPr>
            <a:r>
              <a:rPr lang="en-US" sz="1000" dirty="0">
                <a:solidFill>
                  <a:srgbClr val="1E2533"/>
                </a:solidFill>
                <a:latin typeface="Calibri" pitchFamily="34" charset="0"/>
                <a:ea typeface="Calibri" pitchFamily="34" charset="-122"/>
                <a:cs typeface="Calibri" pitchFamily="34" charset="-120"/>
              </a:rPr>
              <a:t>[1] M. Zhang, S. Ali, and T. Yue, "Uncertainty-wise test case generation and minimization for cyber-physical systems," J. Syst. Softw., vol. 153, pp. 1–21, 2019, doi: 10.1016/j.jss.2019.03.011.</a:t>
            </a:r>
            <a:endParaRPr lang="en-US" sz="1000" dirty="0"/>
          </a:p>
          <a:p>
            <a:pPr marL="0" indent="0">
              <a:spcAft>
                <a:spcPts val="300"/>
              </a:spcAft>
              <a:buNone/>
            </a:pPr>
            <a:r>
              <a:rPr lang="en-US" sz="1000" dirty="0">
                <a:solidFill>
                  <a:srgbClr val="1E2533"/>
                </a:solidFill>
                <a:latin typeface="Calibri" pitchFamily="34" charset="0"/>
                <a:ea typeface="Calibri" pitchFamily="34" charset="-122"/>
                <a:cs typeface="Calibri" pitchFamily="34" charset="-120"/>
              </a:rPr>
              <a:t>[2] M. Zhang, S. Ali, T. Yue, R. Norgren, and O. Okariz, "Uncertainty-wise cyber-physical system test modeling," Softw. Syst. Model., vol. 18, no. 2, pp. 1379–1418, 2019, doi: 10.1007/s10270-017-0609-6.</a:t>
            </a:r>
            <a:endParaRPr lang="en-US" sz="1000" dirty="0"/>
          </a:p>
          <a:p>
            <a:pPr marL="0" indent="0">
              <a:spcAft>
                <a:spcPts val="300"/>
              </a:spcAft>
              <a:buNone/>
            </a:pPr>
            <a:r>
              <a:rPr lang="en-US" sz="1000" dirty="0">
                <a:solidFill>
                  <a:srgbClr val="1E2533"/>
                </a:solidFill>
                <a:latin typeface="Calibri" pitchFamily="34" charset="0"/>
                <a:ea typeface="Calibri" pitchFamily="34" charset="-122"/>
                <a:cs typeface="Calibri" pitchFamily="34" charset="-120"/>
              </a:rPr>
              <a:t>[3] M. Zhang, B. Selic, S. Ali, T. Yue, O. Okariz, and R. Norgren, "Understanding uncertainty in cyber-physical systems: A conceptual model," in Proc. ECMFA, LNCS 9764, 2016, pp. 247–264, doi: 10.1007/978-3-319-42061-5_16.</a:t>
            </a:r>
            <a:endParaRPr lang="en-US" sz="1000" dirty="0"/>
          </a:p>
          <a:p>
            <a:pPr marL="0" indent="0">
              <a:spcAft>
                <a:spcPts val="300"/>
              </a:spcAft>
              <a:buNone/>
            </a:pPr>
            <a:r>
              <a:rPr lang="en-US" sz="1000" dirty="0">
                <a:solidFill>
                  <a:srgbClr val="1E2533"/>
                </a:solidFill>
                <a:latin typeface="Calibri" pitchFamily="34" charset="0"/>
                <a:ea typeface="Calibri" pitchFamily="34" charset="-122"/>
                <a:cs typeface="Calibri" pitchFamily="34" charset="-120"/>
              </a:rPr>
              <a:t>[4] F. O. Catak, T. Yue, and S. Ali, "Uncertainty-aware prediction validator in deep learning models for cyber-physical system data," ACM TOSEM, vol. 31, no. 4, pp. 1–31, 2022, doi: 10.1145/3527451.</a:t>
            </a:r>
            <a:endParaRPr lang="en-US" sz="1000" dirty="0"/>
          </a:p>
          <a:p>
            <a:pPr marL="0" indent="0">
              <a:spcAft>
                <a:spcPts val="300"/>
              </a:spcAft>
              <a:buNone/>
            </a:pPr>
            <a:r>
              <a:rPr lang="en-US" sz="1000" dirty="0">
                <a:solidFill>
                  <a:srgbClr val="1E2533"/>
                </a:solidFill>
                <a:latin typeface="Calibri" pitchFamily="34" charset="0"/>
                <a:ea typeface="Calibri" pitchFamily="34" charset="-122"/>
                <a:cs typeface="Calibri" pitchFamily="34" charset="-120"/>
              </a:rPr>
              <a:t>[5] L. Han, S. Ali, T. Yue, A. Arrieta, and M. Arratibel, "Uncertainty-aware robustness assessment of industrial elevator systems," ACM TOSEM, vol. 32, no. 4, pp. 1–51, 2023, doi: 10.1145/3576041.</a:t>
            </a:r>
            <a:endParaRPr lang="en-US" sz="1000" dirty="0"/>
          </a:p>
          <a:p>
            <a:pPr marL="0" indent="0">
              <a:spcAft>
                <a:spcPts val="300"/>
              </a:spcAft>
              <a:buNone/>
            </a:pPr>
            <a:r>
              <a:rPr lang="en-US" sz="1000" dirty="0">
                <a:solidFill>
                  <a:srgbClr val="1E2533"/>
                </a:solidFill>
                <a:latin typeface="Calibri" pitchFamily="34" charset="0"/>
                <a:ea typeface="Calibri" pitchFamily="34" charset="-122"/>
                <a:cs typeface="Calibri" pitchFamily="34" charset="-120"/>
              </a:rPr>
              <a:t>[6] P. Valle, A. Arrieta, L. Han, S. Ali, and T. Yue, "Defining and generating multi-level and uncertainty-wise test oracles for cyber-physical systems," Softw. Syst. Model., vol. 24, no. 3, pp. 679–704, 2025, doi: 10.1007/s10270-025-01271-8.</a:t>
            </a:r>
            <a:endParaRPr lang="en-US" sz="1000" dirty="0"/>
          </a:p>
          <a:p>
            <a:pPr marL="0" indent="0">
              <a:spcAft>
                <a:spcPts val="300"/>
              </a:spcAft>
              <a:buNone/>
            </a:pPr>
            <a:r>
              <a:rPr lang="en-US" sz="1000" dirty="0">
                <a:solidFill>
                  <a:srgbClr val="1E2533"/>
                </a:solidFill>
                <a:latin typeface="Calibri" pitchFamily="34" charset="0"/>
                <a:ea typeface="Calibri" pitchFamily="34" charset="-122"/>
                <a:cs typeface="Calibri" pitchFamily="34" charset="-120"/>
              </a:rPr>
              <a:t>[7] P. Valle, C. Lu, S. Ali, and A. Arrieta, "Evaluating uncertainty and quality of vision-language-action-enabled robots," arXiv:2507.17049, 2025.</a:t>
            </a:r>
            <a:endParaRPr lang="en-US" sz="1000" dirty="0"/>
          </a:p>
          <a:p>
            <a:pPr marL="0" indent="0">
              <a:spcAft>
                <a:spcPts val="300"/>
              </a:spcAft>
              <a:buNone/>
            </a:pPr>
            <a:r>
              <a:rPr lang="en-US" sz="1000" dirty="0">
                <a:solidFill>
                  <a:srgbClr val="1E2533"/>
                </a:solidFill>
                <a:latin typeface="Calibri" pitchFamily="34" charset="0"/>
                <a:ea typeface="Calibri" pitchFamily="34" charset="-122"/>
                <a:cs typeface="Calibri" pitchFamily="34" charset="-120"/>
              </a:rPr>
              <a:t>[8] J. Wu, C. Lu, A. Arrieta, T. Yue, and S. Ali, "Reality bites: Assessing the realism of driving scenarios with large language models," in Proc. IEEE/ACM FORGE, 2024, pp. 40–51, doi: 10.1145/3650105.3652296.</a:t>
            </a:r>
            <a:endParaRPr lang="en-US" sz="1000" dirty="0"/>
          </a:p>
          <a:p>
            <a:pPr marL="0" indent="0">
              <a:spcAft>
                <a:spcPts val="300"/>
              </a:spcAft>
              <a:buNone/>
            </a:pPr>
            <a:r>
              <a:rPr lang="en-US" sz="1000" dirty="0">
                <a:solidFill>
                  <a:srgbClr val="1E2533"/>
                </a:solidFill>
                <a:latin typeface="Calibri" pitchFamily="34" charset="0"/>
                <a:ea typeface="Calibri" pitchFamily="34" charset="-122"/>
                <a:cs typeface="Calibri" pitchFamily="34" charset="-120"/>
              </a:rPr>
              <a:t>[9] H. Sartaj, J. Boudjadar, M. Frasheri, S. Ali, and P. G. Larsen, "Identifying uncertainty in self-adaptive robotics with large language models," IEEE Softw., vol. 43, no. 1, pp. 89–97, 2026, doi: 10.1109/MS.2025.3620578.</a:t>
            </a:r>
            <a:endParaRPr lang="en-US" sz="1000" dirty="0"/>
          </a:p>
          <a:p>
            <a:pPr marL="0" indent="0">
              <a:spcAft>
                <a:spcPts val="300"/>
              </a:spcAft>
              <a:buNone/>
            </a:pPr>
            <a:r>
              <a:rPr lang="en-US" sz="1000" dirty="0">
                <a:solidFill>
                  <a:srgbClr val="1E2533"/>
                </a:solidFill>
                <a:latin typeface="Calibri" pitchFamily="34" charset="0"/>
                <a:ea typeface="Calibri" pitchFamily="34" charset="-122"/>
                <a:cs typeface="Calibri" pitchFamily="34" charset="-120"/>
              </a:rPr>
              <a:t>[10] C. Lu, P. Valle, J. Wu, E. Isaku, H. Sartaj, A. Arrieta, and S. Ali, "Foundation models for software engineering of cyber-physical systems: The road ahead," ACM TOSEM, vol. 35, no. 9, pp. 1–58, 2026, doi: 10.1145/3830403.</a:t>
            </a:r>
            <a:endParaRPr lang="en-US" sz="1000" dirty="0"/>
          </a:p>
          <a:p>
            <a:pPr marL="0" indent="0">
              <a:spcAft>
                <a:spcPts val="300"/>
              </a:spcAft>
              <a:buNone/>
            </a:pPr>
            <a:r>
              <a:rPr lang="en-US" sz="1000" dirty="0">
                <a:solidFill>
                  <a:srgbClr val="1E2533"/>
                </a:solidFill>
                <a:latin typeface="Calibri" pitchFamily="34" charset="0"/>
                <a:ea typeface="Calibri" pitchFamily="34" charset="-122"/>
                <a:cs typeface="Calibri" pitchFamily="34" charset="-120"/>
              </a:rPr>
              <a:t>[11] S. Ali, P. Arcaini, and A. Arrieta, "Foundation models for the digital twins creation of cyber-physical systems," in Proc. ISoLA 2024, LNCS, Springer, 2025, pp. 9–26, doi: 10.1007/978-3-031-75390-9_2.</a:t>
            </a:r>
            <a:endParaRPr lang="en-US" sz="1000" dirty="0"/>
          </a:p>
          <a:p>
            <a:pPr marL="0" indent="0">
              <a:spcAft>
                <a:spcPts val="300"/>
              </a:spcAft>
              <a:buNone/>
            </a:pPr>
            <a:r>
              <a:rPr lang="en-US" sz="1000" dirty="0">
                <a:solidFill>
                  <a:srgbClr val="1E2533"/>
                </a:solidFill>
                <a:latin typeface="Calibri" pitchFamily="34" charset="0"/>
                <a:ea typeface="Calibri" pitchFamily="34" charset="-122"/>
                <a:cs typeface="Calibri" pitchFamily="34" charset="-120"/>
              </a:rPr>
              <a:t>[12] A. Calò, P. Arcaini, S. Ali, F. Hauer, and F. Ishikawa, "Generating avoidable collision scenarios for testing autonomous driving systems," in Proc. IEEE ICST, 2020, pp. 375–386, doi: 10.1109/ICST46399.2020.00045.</a:t>
            </a:r>
            <a:endParaRPr lang="en-US" sz="1000" dirty="0"/>
          </a:p>
          <a:p>
            <a:pPr marL="0" indent="0">
              <a:spcAft>
                <a:spcPts val="300"/>
              </a:spcAft>
              <a:buNone/>
            </a:pPr>
            <a:r>
              <a:rPr lang="en-US" sz="1000" dirty="0">
                <a:solidFill>
                  <a:srgbClr val="1E2533"/>
                </a:solidFill>
                <a:latin typeface="Calibri" pitchFamily="34" charset="0"/>
                <a:ea typeface="Calibri" pitchFamily="34" charset="-122"/>
                <a:cs typeface="Calibri" pitchFamily="34" charset="-120"/>
              </a:rPr>
              <a:t>[13] T. Laurent, S. Klikovits, P. Arcaini, F. Ishikawa, and A. Ventresque, "Parameter coverage for testing of autonomous driving systems under uncertainty," ACM TOSEM, vol. 32, no. 3, pp. 1–31, 2023, doi: 10.1145/3550270.</a:t>
            </a:r>
            <a:endParaRPr lang="en-US" sz="1000" dirty="0"/>
          </a:p>
          <a:p>
            <a:pPr marL="0" indent="0">
              <a:spcAft>
                <a:spcPts val="300"/>
              </a:spcAft>
              <a:buNone/>
            </a:pPr>
            <a:r>
              <a:rPr lang="en-US" sz="1000" dirty="0">
                <a:solidFill>
                  <a:srgbClr val="1E2533"/>
                </a:solidFill>
                <a:latin typeface="Calibri" pitchFamily="34" charset="0"/>
                <a:ea typeface="Calibri" pitchFamily="34" charset="-122"/>
                <a:cs typeface="Calibri" pitchFamily="34" charset="-120"/>
              </a:rPr>
              <a:t>[14] Z. Zhang, D. Lyu, P. Arcaini, L. Ma, I. Hasuo, and J. Zhao, "FalsifAI: Falsification of AI-enabled hybrid control systems guided by time-aware coverage criteria," IEEE TSE, vol. 49, no. 4, pp. 1842–1859, 2023, doi: 10.1109/TSE.2022.3194640.</a:t>
            </a:r>
            <a:endParaRPr lang="en-US" sz="1000" dirty="0"/>
          </a:p>
          <a:p>
            <a:pPr marL="0" indent="0">
              <a:spcAft>
                <a:spcPts val="300"/>
              </a:spcAft>
              <a:buNone/>
            </a:pPr>
            <a:r>
              <a:rPr lang="en-US" sz="1000" dirty="0">
                <a:solidFill>
                  <a:srgbClr val="1E2533"/>
                </a:solidFill>
                <a:latin typeface="Calibri" pitchFamily="34" charset="0"/>
                <a:ea typeface="Calibri" pitchFamily="34" charset="-122"/>
                <a:cs typeface="Calibri" pitchFamily="34" charset="-120"/>
              </a:rPr>
              <a:t>[15] Z. Zhang, D. Lyu, P. Arcaini, L. Ma, I. Hasuo, and J. Zhao, "Effective hybrid system falsification using Monte Carlo tree search guided by QB-robustness," in Proc. CAV, LNCS, 2021, pp. 595–618, doi: 10.1007/978-3-030-81685-8_29.</a:t>
            </a:r>
            <a:endParaRPr lang="en-US" sz="1000" dirty="0"/>
          </a:p>
          <a:p>
            <a:pPr marL="0" indent="0">
              <a:spcAft>
                <a:spcPts val="300"/>
              </a:spcAft>
              <a:buNone/>
            </a:pPr>
            <a:r>
              <a:rPr lang="en-US" sz="1000" dirty="0">
                <a:solidFill>
                  <a:srgbClr val="1E2533"/>
                </a:solidFill>
                <a:latin typeface="Calibri" pitchFamily="34" charset="0"/>
                <a:ea typeface="Calibri" pitchFamily="34" charset="-122"/>
                <a:cs typeface="Calibri" pitchFamily="34" charset="-120"/>
              </a:rPr>
              <a:t>[16] A. Arrieta, J. Ayerdi, M. Illarramendi, A. Agirre, G. Sagardui, and M. Arratibel, "Using machine learning to build test oracles: An industrial case study on elevators dispatching algorithms," in Proc. IEEE/ACM AST, 2021, pp. 30–39, doi: 10.1109/AST52587.2021.00012.</a:t>
            </a:r>
            <a:endParaRPr lang="en-US" sz="10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578"/>
                </a:solidFill>
                <a:latin typeface="Calibri"/>
                <a:ea typeface="Calibri"/>
                <a:cs typeface="Calibri"/>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buNone/>
            </a:pPr>
            <a:r>
              <a:rPr lang="en-US" sz="3000" b="1" dirty="0">
                <a:solidFill>
                  <a:srgbClr val="13213C"/>
                </a:solidFill>
                <a:latin typeface="Cambria" pitchFamily="34" charset="0"/>
                <a:ea typeface="Cambria" pitchFamily="34" charset="-122"/>
                <a:cs typeface="Cambria" pitchFamily="34" charset="-120"/>
              </a:rPr>
              <a:t>References (2/2)</a:t>
            </a:r>
            <a:endParaRPr lang="en-US" sz="3000" dirty="0"/>
          </a:p>
        </p:txBody>
      </p:sp>
      <p:sp>
        <p:nvSpPr>
          <p:cNvPr id="3" name="Text 1"/>
          <p:cNvSpPr txBox="1"/>
          <p:nvPr/>
        </p:nvSpPr>
        <p:spPr>
          <a:xfrm>
            <a:off x="548640" y="1234440"/>
            <a:ext cx="11094415" cy="5074920"/>
          </a:xfrm>
          <a:prstGeom prst="rect">
            <a:avLst/>
          </a:prstGeom>
          <a:noFill/>
          <a:ln/>
        </p:spPr>
        <p:txBody>
          <a:bodyPr wrap="square" lIns="0" tIns="0" rIns="0" bIns="0" rtlCol="0" anchor="t"/>
          <a:lstStyle/>
          <a:p>
            <a:pPr marL="0" indent="0">
              <a:spcAft>
                <a:spcPts val="300"/>
              </a:spcAft>
              <a:buNone/>
            </a:pPr>
            <a:r>
              <a:rPr lang="en-US" sz="1000" dirty="0">
                <a:solidFill>
                  <a:srgbClr val="1E2533"/>
                </a:solidFill>
                <a:latin typeface="Calibri" pitchFamily="34" charset="0"/>
                <a:ea typeface="Calibri" pitchFamily="34" charset="-122"/>
                <a:cs typeface="Calibri" pitchFamily="34" charset="-120"/>
              </a:rPr>
              <a:t>[17] J. Ayerdi, V. Terragni, A. Arrieta, P. Tonella, G. Sagardui, and M. Arratibel, "Generating metamorphic relations for cyber-physical systems with genetic programming: An industrial case study," in Proc. ESEC/FSE, 2021, pp. 1264–1274, doi: 10.1145/3468264.3473920.</a:t>
            </a:r>
            <a:endParaRPr lang="en-US" sz="1000" dirty="0"/>
          </a:p>
          <a:p>
            <a:pPr marL="0" indent="0">
              <a:spcAft>
                <a:spcPts val="300"/>
              </a:spcAft>
              <a:buNone/>
            </a:pPr>
            <a:r>
              <a:rPr lang="en-US" sz="1000" dirty="0">
                <a:solidFill>
                  <a:srgbClr val="1E2533"/>
                </a:solidFill>
                <a:latin typeface="Calibri" pitchFamily="34" charset="0"/>
                <a:ea typeface="Calibri" pitchFamily="34" charset="-122"/>
                <a:cs typeface="Calibri" pitchFamily="34" charset="-120"/>
              </a:rPr>
              <a:t>[18] A. Arrieta, P. Valle, J. A. Agirre, and G. Sagardui, "Some seeds are strong: Seeding strategies for search-based test case selection," ACM TOSEM, vol. 32, no. 1, pp. 1–47, 2023, doi: 10.1145/3532182.</a:t>
            </a:r>
            <a:endParaRPr lang="en-US" sz="1000" dirty="0"/>
          </a:p>
          <a:p>
            <a:pPr marL="0" indent="0">
              <a:spcAft>
                <a:spcPts val="300"/>
              </a:spcAft>
              <a:buNone/>
            </a:pPr>
            <a:r>
              <a:rPr lang="en-US" sz="1000" dirty="0">
                <a:solidFill>
                  <a:srgbClr val="1E2533"/>
                </a:solidFill>
                <a:latin typeface="Calibri" pitchFamily="34" charset="0"/>
                <a:ea typeface="Calibri" pitchFamily="34" charset="-122"/>
                <a:cs typeface="Calibri" pitchFamily="34" charset="-120"/>
              </a:rPr>
              <a:t>[19] S. Ali, P. Arcaini, X. Wang, and T. Yue, "Assessing the effectiveness of input and output coverage criteria for testing quantum programs," in Proc. IEEE ICST, 2021, pp. 13–23, doi: 10.1109/ICST49551.2021.00014.</a:t>
            </a:r>
            <a:endParaRPr lang="en-US" sz="1000" dirty="0"/>
          </a:p>
          <a:p>
            <a:pPr marL="0" indent="0">
              <a:spcAft>
                <a:spcPts val="300"/>
              </a:spcAft>
              <a:buNone/>
            </a:pPr>
            <a:r>
              <a:rPr lang="en-US" sz="1000" dirty="0">
                <a:solidFill>
                  <a:srgbClr val="1E2533"/>
                </a:solidFill>
                <a:latin typeface="Calibri" pitchFamily="34" charset="0"/>
                <a:ea typeface="Calibri" pitchFamily="34" charset="-122"/>
                <a:cs typeface="Calibri" pitchFamily="34" charset="-120"/>
              </a:rPr>
              <a:t>[20] X. Wang, Q. Xu, P. Arcaini, S. Ali, and T. Peyrucain, "Quantum machine learning-based test oracle for autonomous mobile robots," in Proc. IEEE/ACM ASE, 2025, pp. 3695–3706, doi: 10.1109/ASE63991.2025.00306.</a:t>
            </a:r>
            <a:endParaRPr lang="en-US" sz="1000" dirty="0"/>
          </a:p>
          <a:p>
            <a:pPr marL="0" indent="0">
              <a:spcAft>
                <a:spcPts val="300"/>
              </a:spcAft>
              <a:buNone/>
            </a:pPr>
            <a:r>
              <a:rPr lang="en-US" sz="1000" dirty="0">
                <a:solidFill>
                  <a:srgbClr val="1E2533"/>
                </a:solidFill>
                <a:latin typeface="Calibri" pitchFamily="34" charset="0"/>
                <a:ea typeface="Calibri" pitchFamily="34" charset="-122"/>
                <a:cs typeface="Calibri" pitchFamily="34" charset="-120"/>
              </a:rPr>
              <a:t>[21] X. Wang, S. Ali, A. Arrieta, P. Arcaini, and M. Arratibel, "Application of quantum extreme learning machines for QoS prediction of elevators' software in an industrial context," in Companion Proc. ACM FSE, 2024, pp. 399–410, doi: 10.1145/3663529.3663859.</a:t>
            </a:r>
            <a:endParaRPr lang="en-US" sz="1000" dirty="0"/>
          </a:p>
          <a:p>
            <a:pPr marL="0" indent="0">
              <a:spcAft>
                <a:spcPts val="300"/>
              </a:spcAft>
              <a:buNone/>
            </a:pPr>
            <a:r>
              <a:rPr lang="en-US" sz="1000" dirty="0">
                <a:solidFill>
                  <a:srgbClr val="1E2533"/>
                </a:solidFill>
                <a:latin typeface="Calibri" pitchFamily="34" charset="0"/>
                <a:ea typeface="Calibri" pitchFamily="34" charset="-122"/>
                <a:cs typeface="Calibri" pitchFamily="34" charset="-120"/>
              </a:rPr>
              <a:t>[22] X. Wang, S. Ali, and P. Arcaini, "Quantum artificial intelligence for software engineering: The road ahead," ACM TOSEM, vol. 35, no. 9, pp. 1–42, 2026, doi: 10.1145/3827610.</a:t>
            </a:r>
            <a:endParaRPr lang="en-US" sz="1000" dirty="0"/>
          </a:p>
          <a:p>
            <a:pPr marL="0" indent="0">
              <a:spcAft>
                <a:spcPts val="300"/>
              </a:spcAft>
              <a:buNone/>
            </a:pPr>
            <a:r>
              <a:rPr lang="en-US" sz="1000" dirty="0">
                <a:solidFill>
                  <a:srgbClr val="1E2533"/>
                </a:solidFill>
                <a:latin typeface="Calibri" pitchFamily="34" charset="0"/>
                <a:ea typeface="Calibri" pitchFamily="34" charset="-122"/>
                <a:cs typeface="Calibri" pitchFamily="34" charset="-120"/>
              </a:rPr>
              <a:t>[23] L. Kuhn, Y. Gal, and S. Farquhar, "Semantic uncertainty: Linguistic invariances for uncertainty estimation in natural language generation," in Proc. ICLR, 2023. arXiv:2302.09664.</a:t>
            </a:r>
            <a:endParaRPr lang="en-US" sz="1000" dirty="0"/>
          </a:p>
          <a:p>
            <a:pPr marL="0" indent="0">
              <a:spcAft>
                <a:spcPts val="300"/>
              </a:spcAft>
              <a:buNone/>
            </a:pPr>
            <a:r>
              <a:rPr lang="en-US" sz="1000" dirty="0">
                <a:solidFill>
                  <a:srgbClr val="1E2533"/>
                </a:solidFill>
                <a:latin typeface="Calibri" pitchFamily="34" charset="0"/>
                <a:ea typeface="Calibri" pitchFamily="34" charset="-122"/>
                <a:cs typeface="Calibri" pitchFamily="34" charset="-120"/>
              </a:rPr>
              <a:t>[24] S. Farquhar, J. Kossen, L. Kuhn, and Y. Gal, "Detecting hallucinations in large language models using semantic entropy," Nature, vol. 630, no. 8017, pp. 625–630, 2024, doi: 10.1038/s41586-024-07421-0.</a:t>
            </a:r>
            <a:endParaRPr lang="en-US" sz="1000" dirty="0"/>
          </a:p>
          <a:p>
            <a:pPr marL="0" indent="0">
              <a:spcAft>
                <a:spcPts val="300"/>
              </a:spcAft>
              <a:buNone/>
            </a:pPr>
            <a:r>
              <a:rPr lang="en-US" sz="1000" dirty="0">
                <a:solidFill>
                  <a:srgbClr val="1E2533"/>
                </a:solidFill>
                <a:latin typeface="Calibri" pitchFamily="34" charset="0"/>
                <a:ea typeface="Calibri" pitchFamily="34" charset="-122"/>
                <a:cs typeface="Calibri" pitchFamily="34" charset="-120"/>
              </a:rPr>
              <a:t>[25] P. Manakul, A. Liusie, and M. J. F. Gales, "SelfCheckGPT: Zero-resource black-box hallucination detection for generative large language models," in Proc. EMNLP, 2023, pp. 9004–9017, doi: 10.18653/v1/2023.emnlp-main.557.</a:t>
            </a:r>
            <a:endParaRPr lang="en-US" sz="1000" dirty="0"/>
          </a:p>
          <a:p>
            <a:pPr marL="0" indent="0">
              <a:spcAft>
                <a:spcPts val="300"/>
              </a:spcAft>
              <a:buNone/>
            </a:pPr>
            <a:r>
              <a:rPr lang="en-US" sz="1000" dirty="0">
                <a:solidFill>
                  <a:srgbClr val="1E2533"/>
                </a:solidFill>
                <a:latin typeface="Calibri" pitchFamily="34" charset="0"/>
                <a:ea typeface="Calibri" pitchFamily="34" charset="-122"/>
                <a:cs typeface="Calibri" pitchFamily="34" charset="-120"/>
              </a:rPr>
              <a:t>[26] Y. Huang, J. Song, Z. Wang, S. Zhao, H. Chen, F. Juefei-Xu, and L. Ma, "Look before you leap: An exploratory study of uncertainty analysis for large language models," IEEE TSE, vol. 51, no. 2, pp. 413–429, 2025, doi: 10.1109/TSE.2024.3519464.</a:t>
            </a:r>
            <a:endParaRPr lang="en-US" sz="1000" dirty="0"/>
          </a:p>
          <a:p>
            <a:pPr marL="0" indent="0">
              <a:spcAft>
                <a:spcPts val="300"/>
              </a:spcAft>
              <a:buNone/>
            </a:pPr>
            <a:r>
              <a:rPr lang="en-US" sz="1000" dirty="0">
                <a:solidFill>
                  <a:srgbClr val="1E2533"/>
                </a:solidFill>
                <a:latin typeface="Calibri" pitchFamily="34" charset="0"/>
                <a:ea typeface="Calibri" pitchFamily="34" charset="-122"/>
                <a:cs typeface="Calibri" pitchFamily="34" charset="-120"/>
              </a:rPr>
              <a:t>[27] J. Wang, Y. Huang, C. Chen, Z. Liu, S. Wang, and Q. Wang, "Software testing with large language models: Survey, landscape, and vision," IEEE TSE, vol. 50, no. 4, pp. 911–936, 2024, doi: 10.1109/TSE.2024.3368208.</a:t>
            </a:r>
            <a:endParaRPr lang="en-US" sz="1000" dirty="0"/>
          </a:p>
          <a:p>
            <a:pPr marL="0" indent="0">
              <a:spcAft>
                <a:spcPts val="300"/>
              </a:spcAft>
              <a:buNone/>
            </a:pPr>
            <a:r>
              <a:rPr lang="en-US" sz="1000" dirty="0">
                <a:solidFill>
                  <a:srgbClr val="1E2533"/>
                </a:solidFill>
                <a:latin typeface="Calibri" pitchFamily="34" charset="0"/>
                <a:ea typeface="Calibri" pitchFamily="34" charset="-122"/>
                <a:cs typeface="Calibri" pitchFamily="34" charset="-120"/>
              </a:rPr>
              <a:t>[28] M. Weiss and P. Tonella, "Fail-safe execution of deep learning based systems through uncertainty monitoring," in Proc. IEEE ICST, 2021, pp. 24–35, doi: 10.1109/ICST49551.2021.00015.</a:t>
            </a:r>
            <a:endParaRPr lang="en-US" sz="1000" dirty="0"/>
          </a:p>
          <a:p>
            <a:pPr marL="0" indent="0">
              <a:spcAft>
                <a:spcPts val="300"/>
              </a:spcAft>
              <a:buNone/>
            </a:pPr>
            <a:r>
              <a:rPr lang="en-US" sz="1000" dirty="0">
                <a:solidFill>
                  <a:srgbClr val="1E2533"/>
                </a:solidFill>
                <a:latin typeface="Calibri" pitchFamily="34" charset="0"/>
                <a:ea typeface="Calibri" pitchFamily="34" charset="-122"/>
                <a:cs typeface="Calibri" pitchFamily="34" charset="-120"/>
              </a:rPr>
              <a:t>[29] E. Leurent, "An environment for autonomous driving decision-making," GitHub repository, 2018. https://github.com/Farama-Foundation/HighwayEnv</a:t>
            </a:r>
            <a:endParaRPr lang="en-US" sz="1000" dirty="0"/>
          </a:p>
          <a:p>
            <a:pPr marL="0" indent="0">
              <a:spcAft>
                <a:spcPts val="300"/>
              </a:spcAft>
              <a:buNone/>
            </a:pPr>
            <a:r>
              <a:rPr lang="en-US" sz="1000" dirty="0">
                <a:solidFill>
                  <a:srgbClr val="1E2533"/>
                </a:solidFill>
                <a:latin typeface="Calibri" pitchFamily="34" charset="0"/>
                <a:ea typeface="Calibri" pitchFamily="34" charset="-122"/>
                <a:cs typeface="Calibri" pitchFamily="34" charset="-120"/>
              </a:rPr>
              <a:t>[30] InnoGuard: Hybrid and Generative Intelligence for Trustworthy Autonomous Cyber-Physical Systems, Horizon Europe MSCA Doctoral Network, GA No. 101169233, 2024–2028. https://cordis.europa.eu/project/id/101169233</a:t>
            </a:r>
            <a:endParaRPr lang="en-US" sz="1000" dirty="0"/>
          </a:p>
          <a:p>
            <a:pPr marL="0" indent="0">
              <a:spcAft>
                <a:spcPts val="300"/>
              </a:spcAft>
              <a:buNone/>
            </a:pPr>
            <a:r>
              <a:rPr lang="en-US" sz="1000" dirty="0">
                <a:solidFill>
                  <a:srgbClr val="1E2533"/>
                </a:solidFill>
                <a:latin typeface="Calibri" pitchFamily="34" charset="0"/>
                <a:ea typeface="Calibri" pitchFamily="34" charset="-122"/>
                <a:cs typeface="Calibri" pitchFamily="34" charset="-120"/>
              </a:rPr>
              <a:t>[31] Z. V. Le, S. Hong, and Y. Choi, "Performance of test generation techniques on property checking: A case study," Korea Congress of Computing (KCC), 2025.</a:t>
            </a:r>
            <a:endParaRPr lang="en-US" sz="1000" dirty="0"/>
          </a:p>
          <a:p>
            <a:pPr marL="0" indent="0">
              <a:spcAft>
                <a:spcPts val="300"/>
              </a:spcAft>
              <a:buNone/>
            </a:pPr>
            <a:r>
              <a:rPr lang="en-US" sz="1000" dirty="0">
                <a:solidFill>
                  <a:srgbClr val="1E2533"/>
                </a:solidFill>
                <a:latin typeface="Calibri" pitchFamily="34" charset="0"/>
                <a:ea typeface="Calibri" pitchFamily="34" charset="-122"/>
                <a:cs typeface="Calibri" pitchFamily="34" charset="-120"/>
              </a:rPr>
              <a:t>[32] Z. V. Le, S. Hong, and Y. Choi, "Stateful system, stateless techniques: Initial assessment on test generation for property checking of controller software," Korea Conference on Software Engineering (KCSE), 2026.</a:t>
            </a:r>
            <a:endParaRPr lang="en-US" sz="10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578"/>
                </a:solidFill>
                <a:latin typeface="Calibri"/>
                <a:ea typeface="Calibri"/>
                <a:cs typeface="Calibri"/>
              </a:defRPr>
            </a:lvl1pPr>
          </a:lstStyle>
          <a:p>
            <a:pPr algn="r"/>
            <a:fld id="{F7021451-1387-4CA6-816F-3879F97B5CBC}" type="slidenum">
              <a:rPr lang="en-US" b="0"/>
              <a:t>21</a:t>
            </a:fld>
            <a:endParaRPr lang="en-US"/>
          </a:p>
        </p:txBody>
      </p:sp>
    </p:spTree>
  </p:cSld>
  <p:clrMapOvr>
    <a:masterClrMapping/>
  </p:clrMapOvr>
</p:sld>
</file>

<file path=ppt/theme/theme1.xml><?xml version="1.0" encoding="utf-8"?>
<a:theme xmlns:a="http://schemas.openxmlformats.org/drawingml/2006/main" name="InnoGuard Interview">
  <a:themeElements>
    <a:clrScheme name="InnoGuard Interview">
      <a:dk1>
        <a:srgbClr val="1E2533"/>
      </a:dk1>
      <a:lt1>
        <a:srgbClr val="FFFFFF"/>
      </a:lt1>
      <a:dk2>
        <a:srgbClr val="13213C"/>
      </a:dk2>
      <a:lt2>
        <a:srgbClr val="F2F5F9"/>
      </a:lt2>
      <a:accent1>
        <a:srgbClr val="0F8B8D"/>
      </a:accent1>
      <a:accent2>
        <a:srgbClr val="E39B2D"/>
      </a:accent2>
      <a:accent3>
        <a:srgbClr val="C8463D"/>
      </a:accent3>
      <a:accent4>
        <a:srgbClr val="3567C8"/>
      </a:accent4>
      <a:accent5>
        <a:srgbClr val="6E56CF"/>
      </a:accent5>
      <a:accent6>
        <a:srgbClr val="2E8B57"/>
      </a:accent6>
      <a:hlink>
        <a:srgbClr val="3567C8"/>
      </a:hlink>
      <a:folHlink>
        <a:srgbClr val="6E56CF"/>
      </a:folHlink>
    </a:clrScheme>
    <a:fontScheme name="InnoGuard Interview">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29</TotalTime>
  <Words>5754</Words>
  <Application>Microsoft Office PowerPoint</Application>
  <PresentationFormat>Widescreen</PresentationFormat>
  <Paragraphs>406</Paragraphs>
  <Slides>21</Slides>
  <Notes>21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21</vt:i4>
      </vt:variant>
    </vt:vector>
  </HeadingPairs>
  <TitlesOfParts>
    <vt:vector size="25" baseType="lpstr">
      <vt:lpstr>Arial</vt:lpstr>
      <vt:lpstr>Calibri</vt:lpstr>
      <vt:lpstr>Cambria</vt:lpstr>
      <vt:lpstr>InnoGuard Interview</vt:lpstr>
      <vt:lpstr>When can we trust AI-generated tests? Uncertainty quantification for risk-based testing of autonomous CPS</vt:lpstr>
      <vt:lpstr>Write tests manually does not scale</vt:lpstr>
      <vt:lpstr>QA-Flow: from a requirements document to a bug report</vt:lpstr>
      <vt:lpstr>It finds real bugs — but 6 of its 18 FAILs are false alarms</vt:lpstr>
      <vt:lpstr>What PASS, FAIL, REVIEW and false alarm mean</vt:lpstr>
      <vt:lpstr>Inside one wrong test: the SAVE10 discount code</vt:lpstr>
      <vt:lpstr>The rules check the form of a test, not its meaning</vt:lpstr>
      <vt:lpstr>When can we trust an AI-generated test?</vt:lpstr>
      <vt:lpstr>The four PhD objectives</vt:lpstr>
      <vt:lpstr>From Demo 1's gaps to the PhD plan</vt:lpstr>
      <vt:lpstr>Research questions and how I will answer them</vt:lpstr>
      <vt:lpstr>36-month plan with secondment and publications</vt:lpstr>
      <vt:lpstr>Expected contributions to InnoGuard</vt:lpstr>
      <vt:lpstr>My Background</vt:lpstr>
      <vt:lpstr>What I bring, and why this team</vt:lpstr>
      <vt:lpstr>Thank you</vt:lpstr>
      <vt:lpstr>Backup · QA-Flow demo: planted defects, faults and gates</vt:lpstr>
      <vt:lpstr>Backup · Threats to validity and mitigations</vt:lpstr>
      <vt:lpstr>Backup · Towards uncertainty of quantum ML models (O4)</vt:lpstr>
      <vt:lpstr>References (1/2)</vt:lpstr>
      <vt:lpstr>References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When can we trust AI-generated tests? PhD research proposal</dc:title>
  <dc:subject>PptxGenJS Presentation</dc:subject>
  <dc:creator>Za Vinh Le</dc:creator>
  <cp:lastModifiedBy>Za Vinh Le</cp:lastModifiedBy>
  <cp:revision>6</cp:revision>
  <dcterms:created xsi:type="dcterms:W3CDTF">2026-10-27T13:53:07Z</dcterms:created>
  <dcterms:modified xsi:type="dcterms:W3CDTF">2026-10-28T00:27:20Z</dcterms:modified>
</cp:coreProperties>
</file>
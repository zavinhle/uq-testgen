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7" r:id="rId3"/>
    <p:sldId id="278" r:id="rId4"/>
    <p:sldId id="260" r:id="rId5"/>
    <p:sldId id="27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047273-5134-1B34-9BB5-4B040650920D}">
          <p14:sldIdLst>
            <p14:sldId id="256"/>
          </p14:sldIdLst>
        </p14:section>
        <p14:section name="A · The problem I hit (Demo 1)" id="{7CB31AD3-2173-C118-479C-3CF3B0A622F3}">
          <p14:sldIdLst>
            <p14:sldId id="277"/>
            <p14:sldId id="278"/>
            <p14:sldId id="260"/>
            <p14:sldId id="279"/>
            <p14:sldId id="261"/>
            <p14:sldId id="262"/>
          </p14:sldIdLst>
        </p14:section>
        <p14:section name="B · The PhD plan" id="{412C0BE4-6EA0-9AA4-2DCD-79540D27899C}">
          <p14:sldIdLst>
            <p14:sldId id="263"/>
            <p14:sldId id="264"/>
            <p14:sldId id="265"/>
            <p14:sldId id="266"/>
            <p14:sldId id="267"/>
            <p14:sldId id="268"/>
          </p14:sldIdLst>
        </p14:section>
        <p14:section name="C · What I can contribute" id="{03556DD3-1E2B-7DF6-7E99-B7D8504A12EA}">
          <p14:sldIdLst>
            <p14:sldId id="269"/>
            <p14:sldId id="270"/>
            <p14:sldId id="271"/>
          </p14:sldIdLst>
        </p14:section>
        <p14:section name="Backup" id="{C61593C6-5102-FA52-BA51-8BCDB6E68A39}">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853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three parts: first a real problem I hit with my own AI testing tool, shown in a demo; then how I want to solve it in the PhD, along the four objectives of the position; and finally what I bring.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Let me show you one up close.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Before the results, here is how to read the report. PASS: the test's check held, and the test also fails on a broken version of the shop, so we know it can catch bugs. FAIL: the check did not hold, so the tool reports a bug in the shop. REVIEW: the tool does not trust the test, for example because it passes even on a broken shop, so a person decides. And a false alarm: a FAIL where the mistake is in the AI's own test, not in the shop. The tool cannot tell these apart; I found them afterwards by re-running every FAIL on a shop with the planted bugs removed.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one of these wrong tests up close, because it explains the whole problem. The requirement says the code SAVE10 gives ten percent off. On the left is what a correct test would do: put a pair of shoes for 89 euros in the cart, enter SAVE10, and expect 80 euros 10. ShopLite has a planted bug and shows 79 euros, so the correct test fails and finds the bug. On the right is what the AI's test actually did: it opened the cart without adding anything, so the cart was empty, it never reached the discount, it saw zero euros and failed. The report files this as a bug, but the bug is in the test, and the real discount bug was never tested. The privacy tests made the same kind of mistake: they logged in the wrong way, got 'not logged in', and never checked whether one customer can see another customer's orders.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none of QA-Flow's rules catch it? Look at what each rule checks. The schema check: the answer is well-formed, passed. Grounding: the pages and fields exist and the quote is word-for-word, passed. The review flag: the test has a source, so it is not flagged. The fault-injection gate only looks at passing tests, and this one failed. So every rule checks the form of the test, and no rule asks whether the test really tests the requirement. A test can be wrong in three ways: the wrong scenario, the wrong check, or a test that catches no bug. In a web shop that wastes time. In an autonomous car, a wrong test means false safety, and AI is already being used to engineer exactly these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the question of my PhD: when can we trust an AI-generated test? My idea is simple: ask the AI for the same test several times and compare what the tests do. If they agree, we can trust them more; if they scatter, a human should look. This idea works for chatbot answers, in work on semantic entropy and self-consistency, but nobody has studied it for executable tests. It builds directly on your work: uncertainty-wise testing of cyber-physical systems, testing of driving systems and falsification, industrial oracles for elevators, and the use of foundation models in CPS engineering.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What Demo 1 cannot do yet maps onto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thing Demo 1 cannot do becomes an objective. The rules cannot tell a wrong test from a real defect: I need uncertainty signals for every generated test, that is O1. Every FAIL looks the same, so a human checks all of them: I need risk-based decisions, O2. Wrong tests hid real bugs, and we have no measure of what a generated test is worth: a study of uncertainty against correctness, bug-finding power and cost, O3. And everything so far is one web shop and one model: the PhD moves to autonomous systems, industrial cases and newer models, O4.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QA-Flow in this talk — and empirical studies. And why this team: uncertainty-wise CPS testing at Simula, ADS testing and falsification with Prof. Arcaini, industrial oracles at Mondragon. My work sits exactly where these meet.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lets AI write and run tests end to end, and it finds real bugs. But its rules cannot spot the AI's own wrong tests. My PhD is about measuring when AI-generated tests can be trusted, with metrics, risk methods, evidence and transfer to autonomous systems, along O1 to O4.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planted defects and my own ground truth define what counts as wrong; one shop, one model and one run; and small numbers. Each has a mitigation in the plan.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git\phd\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MOTIVATION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Turning specifications into tests by hand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Run scripts</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Test reports</a:t>
            </a:r>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Every release: </a:t>
            </a:r>
            <a:r>
              <a:rPr lang="en-US" sz="1700" dirty="0">
                <a:solidFill>
                  <a:srgbClr val="1E2533"/>
                </a:solidFill>
                <a:latin typeface="Calibri" pitchFamily="34" charset="0"/>
                <a:ea typeface="Calibri" pitchFamily="34" charset="-122"/>
                <a:cs typeface="Calibri" pitchFamily="34" charset="-120"/>
              </a:rPr>
              <a:t>tests are rewritten by hand</a:t>
            </a:r>
            <a:endParaRPr lang="en-US" sz="1700" dirty="0"/>
          </a:p>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AI can now read a spec and write tests [27]</a:t>
            </a:r>
            <a:endParaRPr lang="en-US" sz="1700" dirty="0"/>
          </a:p>
        </p:txBody>
      </p:sp>
      <p:sp>
        <p:nvSpPr>
          <p:cNvPr id="29" name="Shape 22"/>
          <p:cNvSpPr/>
          <p:nvPr/>
        </p:nvSpPr>
        <p:spPr>
          <a:xfrm>
            <a:off x="7315200" y="3063240"/>
            <a:ext cx="4325112" cy="1280160"/>
          </a:xfrm>
          <a:prstGeom prst="roundRect">
            <a:avLst>
              <a:gd name="adj" fmla="val 4898"/>
            </a:avLst>
          </a:prstGeom>
          <a:solidFill>
            <a:srgbClr val="EEF0FE"/>
          </a:solidFill>
          <a:ln w="12700">
            <a:solidFill>
              <a:srgbClr val="EEF0FE"/>
            </a:solidFill>
            <a:prstDash val="solid"/>
          </a:ln>
        </p:spPr>
        <p:txBody>
          <a:bodyPr/>
          <a:lstStyle/>
          <a:p>
            <a:endParaRPr lang="en-US"/>
          </a:p>
        </p:txBody>
      </p:sp>
      <p:sp>
        <p:nvSpPr>
          <p:cNvPr id="30" name="Text 23"/>
          <p:cNvSpPr txBox="1"/>
          <p:nvPr/>
        </p:nvSpPr>
        <p:spPr>
          <a:xfrm>
            <a:off x="7589520" y="3246120"/>
            <a:ext cx="3840480" cy="365760"/>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Goal</a:t>
            </a:r>
          </a:p>
        </p:txBody>
      </p:sp>
      <p:sp>
        <p:nvSpPr>
          <p:cNvPr id="31" name="Text 24"/>
          <p:cNvSpPr txBox="1"/>
          <p:nvPr/>
        </p:nvSpPr>
        <p:spPr>
          <a:xfrm>
            <a:off x="7589520" y="3535680"/>
            <a:ext cx="3840480" cy="701040"/>
          </a:xfrm>
          <a:prstGeom prst="rect">
            <a:avLst/>
          </a:prstGeom>
          <a:noFill/>
          <a:ln/>
        </p:spPr>
        <p:txBody>
          <a:bodyPr wrap="square" lIns="0" tIns="0" rIns="0" bIns="0" rtlCol="0" anchor="t"/>
          <a:lstStyle/>
          <a:p>
            <a:pPr marL="0" indent="0">
              <a:lnSpc>
                <a:spcPct val="150000"/>
              </a:lnSpc>
              <a:buNone/>
            </a:pPr>
            <a:r>
              <a:rPr lang="en-US" sz="1500" dirty="0">
                <a:solidFill>
                  <a:srgbClr val="1E2533"/>
                </a:solidFill>
                <a:latin typeface="Calibri" pitchFamily="34" charset="0"/>
                <a:ea typeface="Calibri" pitchFamily="34" charset="-122"/>
                <a:cs typeface="Calibri" pitchFamily="34" charset="-120"/>
              </a:rPr>
              <a:t>One tool: from the requirements document to a bug report, with AI writing the tests</a:t>
            </a:r>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3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IMPLEMENTATION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QA-Flow: </a:t>
            </a:r>
            <a:r>
              <a:rPr lang="en-US" dirty="0"/>
              <a:t>f</a:t>
            </a:r>
            <a:r>
              <a:rPr lang="en-US" sz="3000" b="1" dirty="0">
                <a:solidFill>
                  <a:srgbClr val="13213C"/>
                </a:solidFill>
                <a:latin typeface="Cambria" pitchFamily="34" charset="0"/>
                <a:ea typeface="Cambria" pitchFamily="34" charset="-122"/>
                <a:cs typeface="Cambria" pitchFamily="34" charset="-120"/>
              </a:rPr>
              <a:t>rom a requirements document to a bug report</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Read the requirements</a:t>
            </a:r>
            <a:endParaRPr lang="en-US" sz="14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Find the relevant text</a:t>
            </a:r>
            <a:endParaRPr lang="en-US" sz="14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AI designs the tests</a:t>
            </a:r>
            <a:endParaRPr lang="en-US" sz="14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Write test scripts</a:t>
            </a:r>
            <a:endParaRPr lang="en-US" sz="14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Run the tests</a:t>
            </a:r>
            <a:endParaRPr lang="en-US" sz="14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 bugs</a:t>
            </a:r>
            <a:endParaRPr lang="en-US" sz="14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txBody>
          <a:bodyPr/>
          <a:lstStyle/>
          <a:p>
            <a:endParaRPr lang="en-US"/>
          </a:p>
        </p:txBody>
      </p:sp>
      <p:sp>
        <p:nvSpPr>
          <p:cNvPr id="34" name="Text 26"/>
          <p:cNvSpPr txBox="1"/>
          <p:nvPr/>
        </p:nvSpPr>
        <p:spPr>
          <a:xfrm>
            <a:off x="822960" y="309067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hand-written rules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Evidence required</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Uncertainty is flagged</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Fault-injection gate: every passing test is re-run on broken builds</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txBody>
          <a:bodyPr/>
          <a:lstStyle/>
          <a:p>
            <a:endParaRPr lang="en-US"/>
          </a:p>
        </p:txBody>
      </p:sp>
      <p:sp>
        <p:nvSpPr>
          <p:cNvPr id="37" name="Text 29"/>
          <p:cNvSpPr txBox="1"/>
          <p:nvPr/>
        </p:nvSpPr>
        <p:spPr>
          <a:xfrm>
            <a:off x="6473952" y="3090672"/>
            <a:ext cx="4937760" cy="365760"/>
          </a:xfrm>
          <a:prstGeom prst="rect">
            <a:avLst/>
          </a:prstGeom>
          <a:noFill/>
          <a:ln/>
        </p:spPr>
        <p:txBody>
          <a:bodyPr wrap="square" lIns="0" tIns="0" rIns="0" bIns="0" rtlCol="0" anchor="t"/>
          <a:lstStyle/>
          <a:p>
            <a:pPr marL="0" indent="0">
              <a:buNone/>
            </a:pPr>
            <a:r>
              <a:rPr lang="en-US" sz="1700" b="1" dirty="0">
                <a:solidFill>
                  <a:srgbClr val="4F46E5"/>
                </a:solidFill>
                <a:latin typeface="Calibri" pitchFamily="34" charset="0"/>
                <a:ea typeface="Calibri" pitchFamily="34" charset="-122"/>
                <a:cs typeface="Calibri" pitchFamily="34" charset="-120"/>
              </a:rPr>
              <a:t>Demo application: A shopping website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Inputs: Software Requirement Specifications (SRS)</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Web, API, Security Testing</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LLM: Chat GPT</a:t>
            </a:r>
            <a:endParaRPr lang="en-US" sz="1500" dirty="0"/>
          </a:p>
        </p:txBody>
      </p:sp>
      <p:sp>
        <p:nvSpPr>
          <p:cNvPr id="3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DEMO 1 RESULTS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It finds real bugs — but 6 of its 18 FAILs are false alarms</a:t>
            </a:r>
            <a:endParaRPr lang="en-US" sz="3000" dirty="0"/>
          </a:p>
        </p:txBody>
      </p:sp>
      <p:sp>
        <p:nvSpPr>
          <p:cNvPr id="4" name="Shape 2"/>
          <p:cNvSpPr/>
          <p:nvPr/>
        </p:nvSpPr>
        <p:spPr>
          <a:xfrm>
            <a:off x="1810512"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2039112" y="1399032"/>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2039112"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2039112"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from the document</a:t>
            </a:r>
            <a:endParaRPr lang="en-US" sz="1100" dirty="0"/>
          </a:p>
        </p:txBody>
      </p:sp>
      <p:sp>
        <p:nvSpPr>
          <p:cNvPr id="8" name="Shape 6"/>
          <p:cNvSpPr/>
          <p:nvPr/>
        </p:nvSpPr>
        <p:spPr>
          <a:xfrm>
            <a:off x="4626864"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4855464" y="1399032"/>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4855464"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4855464"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web 23 · API 26 · security 13</a:t>
            </a:r>
            <a:endParaRPr lang="en-US" sz="1100" dirty="0"/>
          </a:p>
        </p:txBody>
      </p:sp>
      <p:sp>
        <p:nvSpPr>
          <p:cNvPr id="12" name="Shape 10"/>
          <p:cNvSpPr/>
          <p:nvPr/>
        </p:nvSpPr>
        <p:spPr>
          <a:xfrm>
            <a:off x="7443216"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671816" y="1399032"/>
            <a:ext cx="2286000" cy="731520"/>
          </a:xfrm>
          <a:prstGeom prst="rect">
            <a:avLst/>
          </a:prstGeom>
          <a:noFill/>
          <a:ln/>
        </p:spPr>
        <p:txBody>
          <a:bodyPr wrap="square" lIns="0" tIns="0" rIns="0" bIns="0" rtlCol="0" anchor="ctr"/>
          <a:lstStyle/>
          <a:p>
            <a:pPr marL="0" indent="0">
              <a:buNone/>
            </a:pPr>
            <a:r>
              <a:rPr lang="en-US" sz="3000" b="1" dirty="0">
                <a:solidFill>
                  <a:srgbClr val="4F46E5"/>
                </a:solidFill>
                <a:latin typeface="Cambria" pitchFamily="34" charset="0"/>
                <a:ea typeface="Cambria" pitchFamily="34" charset="-122"/>
                <a:cs typeface="Cambria" pitchFamily="34" charset="-120"/>
              </a:rPr>
              <a:t>31 / 18 / 13</a:t>
            </a:r>
            <a:endParaRPr lang="en-US" sz="3000" dirty="0"/>
          </a:p>
        </p:txBody>
      </p:sp>
      <p:sp>
        <p:nvSpPr>
          <p:cNvPr id="14" name="Text 12"/>
          <p:cNvSpPr txBox="1"/>
          <p:nvPr/>
        </p:nvSpPr>
        <p:spPr>
          <a:xfrm>
            <a:off x="7671816"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PASS / FAIL / REVIEW</a:t>
            </a:r>
            <a:endParaRPr lang="en-US" sz="1500" dirty="0"/>
          </a:p>
        </p:txBody>
      </p:sp>
      <p:sp>
        <p:nvSpPr>
          <p:cNvPr id="15" name="Text 13"/>
          <p:cNvSpPr txBox="1"/>
          <p:nvPr/>
        </p:nvSpPr>
        <p:spPr>
          <a:xfrm>
            <a:off x="7671816"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decided by the tool</a:t>
            </a:r>
            <a:endParaRPr lang="en-US" sz="1100" dirty="0"/>
          </a:p>
        </p:txBody>
      </p:sp>
      <p:sp>
        <p:nvSpPr>
          <p:cNvPr id="23" name="Shape 21"/>
          <p:cNvSpPr/>
          <p:nvPr/>
        </p:nvSpPr>
        <p:spPr>
          <a:xfrm>
            <a:off x="3260489" y="3474720"/>
            <a:ext cx="5440680" cy="2606040"/>
          </a:xfrm>
          <a:prstGeom prst="roundRect">
            <a:avLst>
              <a:gd name="adj" fmla="val 4211"/>
            </a:avLst>
          </a:prstGeom>
          <a:solidFill>
            <a:srgbClr val="FDECEA"/>
          </a:solidFill>
          <a:ln w="12700">
            <a:solidFill>
              <a:srgbClr val="FDECEA"/>
            </a:solidFill>
            <a:prstDash val="solid"/>
          </a:ln>
        </p:spPr>
        <p:txBody>
          <a:bodyPr/>
          <a:lstStyle/>
          <a:p>
            <a:endParaRPr lang="en-US"/>
          </a:p>
        </p:txBody>
      </p:sp>
      <p:sp>
        <p:nvSpPr>
          <p:cNvPr id="24" name="Text 22"/>
          <p:cNvSpPr txBox="1"/>
          <p:nvPr/>
        </p:nvSpPr>
        <p:spPr>
          <a:xfrm>
            <a:off x="3534809" y="3611880"/>
            <a:ext cx="4937760" cy="365760"/>
          </a:xfrm>
          <a:prstGeom prst="rect">
            <a:avLst/>
          </a:prstGeom>
          <a:noFill/>
          <a:ln/>
        </p:spPr>
        <p:txBody>
          <a:bodyPr wrap="square" lIns="0" tIns="0" rIns="0" bIns="0" rtlCol="0" anchor="t"/>
          <a:lstStyle/>
          <a:p>
            <a:pPr marL="0" indent="0">
              <a:buNone/>
            </a:pPr>
            <a:r>
              <a:rPr lang="en-US" sz="1600" b="1" dirty="0">
                <a:solidFill>
                  <a:srgbClr val="C8463D"/>
                </a:solidFill>
                <a:latin typeface="Calibri" pitchFamily="34" charset="0"/>
                <a:ea typeface="Calibri" pitchFamily="34" charset="-122"/>
                <a:cs typeface="Calibri" pitchFamily="34" charset="-120"/>
              </a:rPr>
              <a:t>6 FAILs are mistakes in the AI's own tests</a:t>
            </a:r>
            <a:endParaRPr lang="en-US" sz="1600" dirty="0"/>
          </a:p>
        </p:txBody>
      </p:sp>
      <p:sp>
        <p:nvSpPr>
          <p:cNvPr id="25" name="Text 23"/>
          <p:cNvSpPr txBox="1"/>
          <p:nvPr/>
        </p:nvSpPr>
        <p:spPr>
          <a:xfrm>
            <a:off x="3534809" y="402336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Discount test used an empty cart → the real discount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Privacy tests logged in the wrong way → the real data leak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They passed every trust rule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report shows them as real bugs</a:t>
            </a:r>
            <a:endParaRPr lang="en-US" sz="1300" dirty="0"/>
          </a:p>
        </p:txBody>
      </p:sp>
      <p:sp>
        <p:nvSpPr>
          <p:cNvPr id="2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PASS, FAIL, REVIEW and false alarm mean</a:t>
            </a:r>
            <a:endParaRPr lang="en-US" sz="3000" dirty="0"/>
          </a:p>
        </p:txBody>
      </p:sp>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HOW TO READ THE REPORT</a:t>
            </a:r>
            <a:endParaRPr lang="en-US" sz="1100" dirty="0"/>
          </a:p>
        </p:txBody>
      </p:sp>
      <p:sp>
        <p:nvSpPr>
          <p:cNvPr id="4" name="Rounded Rectangle 3"/>
          <p:cNvSpPr/>
          <p:nvPr/>
        </p:nvSpPr>
        <p:spPr>
          <a:xfrm>
            <a:off x="548640" y="1371600"/>
            <a:ext cx="2670048" cy="3977639"/>
          </a:xfrm>
          <a:prstGeom prst="roundRect">
            <a:avLst>
              <a:gd name="adj" fmla="val 6000"/>
            </a:avLst>
          </a:prstGeom>
          <a:solidFill>
            <a:srgbClr val="E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36192"/>
            <a:ext cx="2240280" cy="502920"/>
          </a:xfrm>
          <a:prstGeom prst="rect">
            <a:avLst/>
          </a:prstGeom>
          <a:noFill/>
        </p:spPr>
        <p:txBody>
          <a:bodyPr wrap="square" lIns="0" tIns="0" rIns="0" bIns="0" anchor="t">
            <a:spAutoFit/>
          </a:bodyPr>
          <a:lstStyle/>
          <a:p>
            <a:pPr>
              <a:spcAft>
                <a:spcPts val="800"/>
              </a:spcAft>
            </a:pPr>
            <a:r>
              <a:rPr sz="2400" b="1" i="0">
                <a:solidFill>
                  <a:srgbClr val="2E8B57"/>
                </a:solidFill>
                <a:latin typeface="Calibri"/>
              </a:rPr>
              <a:t>PASS</a:t>
            </a:r>
          </a:p>
        </p:txBody>
      </p:sp>
      <p:sp>
        <p:nvSpPr>
          <p:cNvPr id="6" name="TextBox 5"/>
          <p:cNvSpPr txBox="1"/>
          <p:nvPr/>
        </p:nvSpPr>
        <p:spPr>
          <a:xfrm>
            <a:off x="777240" y="2148840"/>
            <a:ext cx="2240280" cy="795089"/>
          </a:xfrm>
          <a:prstGeom prst="rect">
            <a:avLst/>
          </a:prstGeom>
          <a:noFill/>
        </p:spPr>
        <p:txBody>
          <a:bodyPr wrap="square" lIns="0" tIns="0" rIns="0" bIns="0" anchor="t">
            <a:spAutoFit/>
          </a:bodyPr>
          <a:lstStyle/>
          <a:p>
            <a:pPr>
              <a:spcAft>
                <a:spcPts val="800"/>
              </a:spcAft>
            </a:pPr>
            <a:r>
              <a:rPr sz="1500" b="0" i="0" dirty="0">
                <a:solidFill>
                  <a:srgbClr val="1E2533"/>
                </a:solidFill>
                <a:latin typeface="Calibri"/>
              </a:rPr>
              <a:t>The check held, and the test fails on a broken shops</a:t>
            </a:r>
            <a:endParaRPr lang="vi-VN" sz="1500" b="0" i="0" dirty="0">
              <a:solidFill>
                <a:srgbClr val="1E2533"/>
              </a:solidFill>
              <a:latin typeface="Calibri"/>
            </a:endParaRPr>
          </a:p>
          <a:p>
            <a:pPr>
              <a:spcAft>
                <a:spcPts val="800"/>
              </a:spcAft>
            </a:pPr>
            <a:r>
              <a:rPr lang="vi-VN" sz="1500" dirty="0">
                <a:solidFill>
                  <a:srgbClr val="1E2533"/>
                </a:solidFill>
                <a:latin typeface="Calibri"/>
              </a:rPr>
              <a:t>I</a:t>
            </a:r>
            <a:r>
              <a:rPr sz="1500" b="0" i="0" dirty="0">
                <a:solidFill>
                  <a:srgbClr val="1E2533"/>
                </a:solidFill>
                <a:latin typeface="Calibri"/>
              </a:rPr>
              <a:t>t can catch bugs.</a:t>
            </a:r>
          </a:p>
        </p:txBody>
      </p:sp>
      <p:sp>
        <p:nvSpPr>
          <p:cNvPr id="7" name="TextBox 6"/>
          <p:cNvSpPr txBox="1"/>
          <p:nvPr/>
        </p:nvSpPr>
        <p:spPr>
          <a:xfrm>
            <a:off x="777240" y="3611880"/>
            <a:ext cx="2240280" cy="1005840"/>
          </a:xfrm>
          <a:prstGeom prst="rect">
            <a:avLst/>
          </a:prstGeom>
          <a:noFill/>
        </p:spPr>
        <p:txBody>
          <a:bodyPr wrap="square" lIns="0" tIns="0" rIns="0" bIns="0" anchor="t">
            <a:spAutoFit/>
          </a:bodyPr>
          <a:lstStyle/>
          <a:p>
            <a:pPr>
              <a:spcAft>
                <a:spcPts val="800"/>
              </a:spcAft>
            </a:pPr>
            <a:r>
              <a:rPr sz="1300" b="0" i="1" dirty="0">
                <a:solidFill>
                  <a:srgbClr val="5B6578"/>
                </a:solidFill>
                <a:latin typeface="Calibri"/>
              </a:rPr>
              <a:t>Example: Log in with the right password → the account page opens.</a:t>
            </a:r>
          </a:p>
        </p:txBody>
      </p:sp>
      <p:sp>
        <p:nvSpPr>
          <p:cNvPr id="8" name="TextBox 7"/>
          <p:cNvSpPr txBox="1"/>
          <p:nvPr/>
        </p:nvSpPr>
        <p:spPr>
          <a:xfrm>
            <a:off x="777240" y="4754880"/>
            <a:ext cx="2240280" cy="411480"/>
          </a:xfrm>
          <a:prstGeom prst="rect">
            <a:avLst/>
          </a:prstGeom>
          <a:noFill/>
        </p:spPr>
        <p:txBody>
          <a:bodyPr wrap="square" lIns="0" tIns="0" rIns="0" bIns="0" anchor="t">
            <a:spAutoFit/>
          </a:bodyPr>
          <a:lstStyle/>
          <a:p>
            <a:pPr>
              <a:spcAft>
                <a:spcPts val="800"/>
              </a:spcAft>
            </a:pPr>
            <a:r>
              <a:rPr sz="1600" b="1" i="0">
                <a:solidFill>
                  <a:srgbClr val="2E8B57"/>
                </a:solidFill>
                <a:latin typeface="Calibri"/>
              </a:rPr>
              <a:t>31 in Demo 1</a:t>
            </a:r>
          </a:p>
        </p:txBody>
      </p:sp>
      <p:sp>
        <p:nvSpPr>
          <p:cNvPr id="9" name="Rounded Rectangle 8"/>
          <p:cNvSpPr/>
          <p:nvPr/>
        </p:nvSpPr>
        <p:spPr>
          <a:xfrm>
            <a:off x="3364992" y="1371600"/>
            <a:ext cx="2670048" cy="3977639"/>
          </a:xfrm>
          <a:prstGeom prst="roundRect">
            <a:avLst>
              <a:gd name="adj" fmla="val 6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93592" y="1536192"/>
            <a:ext cx="2240280" cy="502920"/>
          </a:xfrm>
          <a:prstGeom prst="rect">
            <a:avLst/>
          </a:prstGeom>
          <a:noFill/>
        </p:spPr>
        <p:txBody>
          <a:bodyPr wrap="square" lIns="0" tIns="0" rIns="0" bIns="0" anchor="t">
            <a:spAutoFit/>
          </a:bodyPr>
          <a:lstStyle/>
          <a:p>
            <a:pPr>
              <a:spcAft>
                <a:spcPts val="800"/>
              </a:spcAft>
            </a:pPr>
            <a:r>
              <a:rPr sz="2400" b="1" i="0">
                <a:solidFill>
                  <a:srgbClr val="C8463D"/>
                </a:solidFill>
                <a:latin typeface="Calibri"/>
              </a:rPr>
              <a:t>FAIL</a:t>
            </a:r>
          </a:p>
        </p:txBody>
      </p:sp>
      <p:sp>
        <p:nvSpPr>
          <p:cNvPr id="11" name="TextBox 10"/>
          <p:cNvSpPr txBox="1"/>
          <p:nvPr/>
        </p:nvSpPr>
        <p:spPr>
          <a:xfrm>
            <a:off x="3593592" y="2148840"/>
            <a:ext cx="2240280" cy="795089"/>
          </a:xfrm>
          <a:prstGeom prst="rect">
            <a:avLst/>
          </a:prstGeom>
          <a:noFill/>
        </p:spPr>
        <p:txBody>
          <a:bodyPr wrap="square" lIns="0" tIns="0" rIns="0" bIns="0" anchor="t">
            <a:spAutoFit/>
          </a:bodyPr>
          <a:lstStyle/>
          <a:p>
            <a:pPr>
              <a:spcAft>
                <a:spcPts val="800"/>
              </a:spcAft>
            </a:pPr>
            <a:r>
              <a:rPr sz="1500" b="0" i="0" dirty="0">
                <a:solidFill>
                  <a:srgbClr val="1E2533"/>
                </a:solidFill>
                <a:latin typeface="Calibri"/>
              </a:rPr>
              <a:t>The check did not hold </a:t>
            </a:r>
            <a:endParaRPr lang="vi-VN" sz="1500" b="0" i="0" dirty="0">
              <a:solidFill>
                <a:srgbClr val="1E2533"/>
              </a:solidFill>
              <a:latin typeface="Calibri"/>
            </a:endParaRPr>
          </a:p>
          <a:p>
            <a:pPr>
              <a:spcAft>
                <a:spcPts val="800"/>
              </a:spcAft>
            </a:pPr>
            <a:r>
              <a:rPr lang="vi-VN" sz="1500" dirty="0">
                <a:solidFill>
                  <a:srgbClr val="1E2533"/>
                </a:solidFill>
                <a:latin typeface="Calibri"/>
              </a:rPr>
              <a:t>T</a:t>
            </a:r>
            <a:r>
              <a:rPr sz="1500" b="0" i="0" dirty="0">
                <a:solidFill>
                  <a:srgbClr val="1E2533"/>
                </a:solidFill>
                <a:latin typeface="Calibri"/>
              </a:rPr>
              <a:t>he tool reports a bug in the shop.</a:t>
            </a:r>
          </a:p>
        </p:txBody>
      </p:sp>
      <p:sp>
        <p:nvSpPr>
          <p:cNvPr id="12" name="TextBox 11"/>
          <p:cNvSpPr txBox="1"/>
          <p:nvPr/>
        </p:nvSpPr>
        <p:spPr>
          <a:xfrm>
            <a:off x="3593592" y="3611880"/>
            <a:ext cx="2240280" cy="1005840"/>
          </a:xfrm>
          <a:prstGeom prst="rect">
            <a:avLst/>
          </a:prstGeom>
          <a:noFill/>
        </p:spPr>
        <p:txBody>
          <a:bodyPr wrap="square" lIns="0" tIns="0" rIns="0" bIns="0" anchor="t">
            <a:spAutoFit/>
          </a:bodyPr>
          <a:lstStyle/>
          <a:p>
            <a:pPr>
              <a:spcAft>
                <a:spcPts val="800"/>
              </a:spcAft>
            </a:pPr>
            <a:r>
              <a:rPr sz="1300" b="0" i="1">
                <a:solidFill>
                  <a:srgbClr val="5B6578"/>
                </a:solidFill>
                <a:latin typeface="Calibri"/>
              </a:rPr>
              <a:t>Example: SAVE10 gives €79.00 instead of €80.10.</a:t>
            </a:r>
          </a:p>
        </p:txBody>
      </p:sp>
      <p:sp>
        <p:nvSpPr>
          <p:cNvPr id="13" name="TextBox 12"/>
          <p:cNvSpPr txBox="1"/>
          <p:nvPr/>
        </p:nvSpPr>
        <p:spPr>
          <a:xfrm>
            <a:off x="3593592" y="4754880"/>
            <a:ext cx="2240280" cy="411480"/>
          </a:xfrm>
          <a:prstGeom prst="rect">
            <a:avLst/>
          </a:prstGeom>
          <a:noFill/>
        </p:spPr>
        <p:txBody>
          <a:bodyPr wrap="square" lIns="0" tIns="0" rIns="0" bIns="0" anchor="t">
            <a:spAutoFit/>
          </a:bodyPr>
          <a:lstStyle/>
          <a:p>
            <a:pPr>
              <a:spcAft>
                <a:spcPts val="800"/>
              </a:spcAft>
            </a:pPr>
            <a:r>
              <a:rPr sz="1600" b="1" i="0">
                <a:solidFill>
                  <a:srgbClr val="C8463D"/>
                </a:solidFill>
                <a:latin typeface="Calibri"/>
              </a:rPr>
              <a:t>18 in Demo 1</a:t>
            </a:r>
          </a:p>
        </p:txBody>
      </p:sp>
      <p:sp>
        <p:nvSpPr>
          <p:cNvPr id="14" name="Rounded Rectangle 13"/>
          <p:cNvSpPr/>
          <p:nvPr/>
        </p:nvSpPr>
        <p:spPr>
          <a:xfrm>
            <a:off x="6181344" y="1371600"/>
            <a:ext cx="2670048" cy="3977639"/>
          </a:xfrm>
          <a:prstGeom prst="roundRect">
            <a:avLst>
              <a:gd name="adj" fmla="val 6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9944" y="1536192"/>
            <a:ext cx="2240280" cy="502920"/>
          </a:xfrm>
          <a:prstGeom prst="rect">
            <a:avLst/>
          </a:prstGeom>
          <a:noFill/>
        </p:spPr>
        <p:txBody>
          <a:bodyPr wrap="square" lIns="0" tIns="0" rIns="0" bIns="0" anchor="t">
            <a:spAutoFit/>
          </a:bodyPr>
          <a:lstStyle/>
          <a:p>
            <a:pPr>
              <a:spcAft>
                <a:spcPts val="800"/>
              </a:spcAft>
            </a:pPr>
            <a:r>
              <a:rPr sz="2400" b="1" i="0">
                <a:solidFill>
                  <a:srgbClr val="B45309"/>
                </a:solidFill>
                <a:latin typeface="Calibri"/>
              </a:rPr>
              <a:t>REVIEW</a:t>
            </a:r>
          </a:p>
        </p:txBody>
      </p:sp>
      <p:sp>
        <p:nvSpPr>
          <p:cNvPr id="16" name="TextBox 15"/>
          <p:cNvSpPr txBox="1"/>
          <p:nvPr/>
        </p:nvSpPr>
        <p:spPr>
          <a:xfrm>
            <a:off x="6409944" y="2148840"/>
            <a:ext cx="2240280" cy="795089"/>
          </a:xfrm>
          <a:prstGeom prst="rect">
            <a:avLst/>
          </a:prstGeom>
          <a:noFill/>
        </p:spPr>
        <p:txBody>
          <a:bodyPr wrap="square" lIns="0" tIns="0" rIns="0" bIns="0" anchor="t">
            <a:spAutoFit/>
          </a:bodyPr>
          <a:lstStyle/>
          <a:p>
            <a:pPr>
              <a:spcAft>
                <a:spcPts val="800"/>
              </a:spcAft>
            </a:pPr>
            <a:r>
              <a:rPr sz="1500" b="0" i="0" dirty="0">
                <a:solidFill>
                  <a:srgbClr val="1E2533"/>
                </a:solidFill>
                <a:latin typeface="Calibri"/>
              </a:rPr>
              <a:t>The tool does not trust the test</a:t>
            </a:r>
            <a:endParaRPr lang="vi-VN" sz="1500" b="0" i="0" dirty="0">
              <a:solidFill>
                <a:srgbClr val="1E2533"/>
              </a:solidFill>
              <a:latin typeface="Calibri"/>
            </a:endParaRPr>
          </a:p>
          <a:p>
            <a:pPr>
              <a:spcAft>
                <a:spcPts val="800"/>
              </a:spcAft>
            </a:pPr>
            <a:r>
              <a:rPr lang="vi-VN" sz="1500" dirty="0">
                <a:solidFill>
                  <a:srgbClr val="1E2533"/>
                </a:solidFill>
                <a:latin typeface="Calibri"/>
              </a:rPr>
              <a:t>A</a:t>
            </a:r>
            <a:r>
              <a:rPr sz="1500" b="0" i="0" dirty="0">
                <a:solidFill>
                  <a:srgbClr val="1E2533"/>
                </a:solidFill>
                <a:latin typeface="Calibri"/>
              </a:rPr>
              <a:t> person decides.</a:t>
            </a:r>
          </a:p>
        </p:txBody>
      </p:sp>
      <p:sp>
        <p:nvSpPr>
          <p:cNvPr id="17" name="TextBox 16"/>
          <p:cNvSpPr txBox="1"/>
          <p:nvPr/>
        </p:nvSpPr>
        <p:spPr>
          <a:xfrm>
            <a:off x="6409944" y="3611880"/>
            <a:ext cx="2240280" cy="1005840"/>
          </a:xfrm>
          <a:prstGeom prst="rect">
            <a:avLst/>
          </a:prstGeom>
          <a:noFill/>
        </p:spPr>
        <p:txBody>
          <a:bodyPr wrap="square" lIns="0" tIns="0" rIns="0" bIns="0" anchor="t">
            <a:spAutoFit/>
          </a:bodyPr>
          <a:lstStyle/>
          <a:p>
            <a:pPr>
              <a:spcAft>
                <a:spcPts val="800"/>
              </a:spcAft>
            </a:pPr>
            <a:r>
              <a:rPr sz="1300" b="0" i="1" dirty="0">
                <a:solidFill>
                  <a:srgbClr val="5B6578"/>
                </a:solidFill>
                <a:latin typeface="Calibri"/>
              </a:rPr>
              <a:t>Example: A test that passes even on a broken shop: it cannot catch anything.</a:t>
            </a:r>
          </a:p>
        </p:txBody>
      </p:sp>
      <p:sp>
        <p:nvSpPr>
          <p:cNvPr id="18" name="TextBox 17"/>
          <p:cNvSpPr txBox="1"/>
          <p:nvPr/>
        </p:nvSpPr>
        <p:spPr>
          <a:xfrm>
            <a:off x="6409944" y="4754880"/>
            <a:ext cx="2240280" cy="411480"/>
          </a:xfrm>
          <a:prstGeom prst="rect">
            <a:avLst/>
          </a:prstGeom>
          <a:noFill/>
        </p:spPr>
        <p:txBody>
          <a:bodyPr wrap="square" lIns="0" tIns="0" rIns="0" bIns="0" anchor="t">
            <a:spAutoFit/>
          </a:bodyPr>
          <a:lstStyle/>
          <a:p>
            <a:pPr>
              <a:spcAft>
                <a:spcPts val="800"/>
              </a:spcAft>
            </a:pPr>
            <a:r>
              <a:rPr sz="1600" b="1" i="0">
                <a:solidFill>
                  <a:srgbClr val="B45309"/>
                </a:solidFill>
                <a:latin typeface="Calibri"/>
              </a:rPr>
              <a:t>13 in Demo 1</a:t>
            </a:r>
          </a:p>
        </p:txBody>
      </p:sp>
      <p:sp>
        <p:nvSpPr>
          <p:cNvPr id="19" name="Rounded Rectangle 18"/>
          <p:cNvSpPr/>
          <p:nvPr/>
        </p:nvSpPr>
        <p:spPr>
          <a:xfrm>
            <a:off x="8997696" y="1371600"/>
            <a:ext cx="2670048" cy="3977639"/>
          </a:xfrm>
          <a:prstGeom prst="roundRect">
            <a:avLst>
              <a:gd name="adj" fmla="val 6000"/>
            </a:avLst>
          </a:prstGeom>
          <a:solidFill>
            <a:srgbClr val="EFE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26296" y="1536192"/>
            <a:ext cx="2240280" cy="502920"/>
          </a:xfrm>
          <a:prstGeom prst="rect">
            <a:avLst/>
          </a:prstGeom>
          <a:noFill/>
        </p:spPr>
        <p:txBody>
          <a:bodyPr wrap="square" lIns="0" tIns="0" rIns="0" bIns="0" anchor="t">
            <a:spAutoFit/>
          </a:bodyPr>
          <a:lstStyle/>
          <a:p>
            <a:pPr>
              <a:spcAft>
                <a:spcPts val="800"/>
              </a:spcAft>
            </a:pPr>
            <a:r>
              <a:rPr sz="2400" b="1" i="0">
                <a:solidFill>
                  <a:srgbClr val="6E56CF"/>
                </a:solidFill>
                <a:latin typeface="Calibri"/>
              </a:rPr>
              <a:t>FALSE ALARM</a:t>
            </a:r>
          </a:p>
        </p:txBody>
      </p:sp>
      <p:sp>
        <p:nvSpPr>
          <p:cNvPr id="21" name="TextBox 20"/>
          <p:cNvSpPr txBox="1"/>
          <p:nvPr/>
        </p:nvSpPr>
        <p:spPr>
          <a:xfrm>
            <a:off x="9226296" y="2148840"/>
            <a:ext cx="2240280" cy="1371600"/>
          </a:xfrm>
          <a:prstGeom prst="rect">
            <a:avLst/>
          </a:prstGeom>
          <a:noFill/>
        </p:spPr>
        <p:txBody>
          <a:bodyPr wrap="square" lIns="0" tIns="0" rIns="0" bIns="0" anchor="t">
            <a:spAutoFit/>
          </a:bodyPr>
          <a:lstStyle/>
          <a:p>
            <a:pPr>
              <a:spcAft>
                <a:spcPts val="800"/>
              </a:spcAft>
            </a:pPr>
            <a:r>
              <a:rPr sz="1500" b="0" i="0">
                <a:solidFill>
                  <a:srgbClr val="1E2533"/>
                </a:solidFill>
                <a:latin typeface="Calibri"/>
              </a:rPr>
              <a:t>A FAIL where the mistake is in the AI's test, not in the shop. The tool cannot tell.</a:t>
            </a:r>
          </a:p>
        </p:txBody>
      </p:sp>
      <p:sp>
        <p:nvSpPr>
          <p:cNvPr id="22" name="TextBox 21"/>
          <p:cNvSpPr txBox="1"/>
          <p:nvPr/>
        </p:nvSpPr>
        <p:spPr>
          <a:xfrm>
            <a:off x="9226296" y="3611880"/>
            <a:ext cx="2240280" cy="1005840"/>
          </a:xfrm>
          <a:prstGeom prst="rect">
            <a:avLst/>
          </a:prstGeom>
          <a:noFill/>
        </p:spPr>
        <p:txBody>
          <a:bodyPr wrap="square" lIns="0" tIns="0" rIns="0" bIns="0" anchor="t">
            <a:spAutoFit/>
          </a:bodyPr>
          <a:lstStyle/>
          <a:p>
            <a:pPr>
              <a:spcAft>
                <a:spcPts val="800"/>
              </a:spcAft>
            </a:pPr>
            <a:r>
              <a:rPr sz="1300" b="0" i="1" dirty="0">
                <a:solidFill>
                  <a:srgbClr val="5B6578"/>
                </a:solidFill>
                <a:latin typeface="Calibri"/>
              </a:rPr>
              <a:t>Example: The SAVE10 test that used an empty cart.</a:t>
            </a:r>
          </a:p>
        </p:txBody>
      </p:sp>
      <p:sp>
        <p:nvSpPr>
          <p:cNvPr id="23" name="TextBox 22"/>
          <p:cNvSpPr txBox="1"/>
          <p:nvPr/>
        </p:nvSpPr>
        <p:spPr>
          <a:xfrm>
            <a:off x="9226296" y="4754880"/>
            <a:ext cx="2240280" cy="411480"/>
          </a:xfrm>
          <a:prstGeom prst="rect">
            <a:avLst/>
          </a:prstGeom>
          <a:noFill/>
        </p:spPr>
        <p:txBody>
          <a:bodyPr wrap="square" lIns="0" tIns="0" rIns="0" bIns="0" anchor="t">
            <a:spAutoFit/>
          </a:bodyPr>
          <a:lstStyle/>
          <a:p>
            <a:pPr>
              <a:spcAft>
                <a:spcPts val="800"/>
              </a:spcAft>
            </a:pPr>
            <a:r>
              <a:rPr sz="1600" b="1" i="0">
                <a:solidFill>
                  <a:srgbClr val="6E56CF"/>
                </a:solidFill>
                <a:latin typeface="Calibri"/>
              </a:rPr>
              <a:t>6 of the 18 FAILs</a:t>
            </a:r>
          </a:p>
        </p:txBody>
      </p:sp>
      <p:sp>
        <p:nvSpPr>
          <p:cNvPr id="24" name="TextBox 23"/>
          <p:cNvSpPr txBox="1"/>
          <p:nvPr/>
        </p:nvSpPr>
        <p:spPr>
          <a:xfrm>
            <a:off x="548640" y="5577840"/>
            <a:ext cx="11091672" cy="548640"/>
          </a:xfrm>
          <a:prstGeom prst="rect">
            <a:avLst/>
          </a:prstGeom>
          <a:noFill/>
        </p:spPr>
        <p:txBody>
          <a:bodyPr wrap="square" lIns="0" tIns="0" rIns="0" bIns="0" anchor="t">
            <a:spAutoFit/>
          </a:bodyPr>
          <a:lstStyle/>
          <a:p>
            <a:pPr>
              <a:spcAft>
                <a:spcPts val="800"/>
              </a:spcAft>
            </a:pPr>
            <a:r>
              <a:rPr sz="1400" b="1" i="0" dirty="0">
                <a:solidFill>
                  <a:srgbClr val="13213C"/>
                </a:solidFill>
                <a:latin typeface="Calibri"/>
              </a:rPr>
              <a:t>The tool decides PASS / FAIL / REVIEW by itself. False alarms were found only afterwards, by re-running every FAIL on a shop with the planted bugs removed.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A CLOSER LOOK</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Inside one wrong test: the SAVE10 discount code</a:t>
            </a:r>
            <a:endParaRPr lang="en-US" sz="3000" dirty="0"/>
          </a:p>
        </p:txBody>
      </p:sp>
      <p:sp>
        <p:nvSpPr>
          <p:cNvPr id="4" name="Text 2"/>
          <p:cNvSpPr txBox="1"/>
          <p:nvPr/>
        </p:nvSpPr>
        <p:spPr>
          <a:xfrm>
            <a:off x="548640" y="1188720"/>
            <a:ext cx="11094415" cy="411480"/>
          </a:xfrm>
          <a:prstGeom prst="rect">
            <a:avLst/>
          </a:prstGeom>
          <a:noFill/>
          <a:ln/>
        </p:spPr>
        <p:txBody>
          <a:bodyPr wrap="square" lIns="0" tIns="0" rIns="0" bIns="0" rtlCol="0" anchor="ctr"/>
          <a:lstStyle/>
          <a:p>
            <a:pPr marL="0" indent="0">
              <a:buNone/>
            </a:pPr>
            <a:r>
              <a:rPr lang="en-US" sz="1500" b="1" dirty="0">
                <a:solidFill>
                  <a:srgbClr val="1E2533"/>
                </a:solidFill>
                <a:latin typeface="Calibri" pitchFamily="34" charset="0"/>
                <a:ea typeface="Calibri" pitchFamily="34" charset="-122"/>
                <a:cs typeface="Calibri" pitchFamily="34" charset="-120"/>
              </a:rPr>
              <a:t>Requirement:  </a:t>
            </a:r>
            <a:r>
              <a:rPr lang="en-US" sz="1500" dirty="0">
                <a:solidFill>
                  <a:srgbClr val="1E2533"/>
                </a:solidFill>
                <a:latin typeface="Calibri" pitchFamily="34" charset="0"/>
                <a:ea typeface="Calibri" pitchFamily="34" charset="-122"/>
                <a:cs typeface="Calibri" pitchFamily="34" charset="-120"/>
              </a:rPr>
              <a:t>“SAVE10 gives 10% off.”</a:t>
            </a:r>
            <a:r>
              <a:rPr lang="en-US" sz="1500" dirty="0">
                <a:solidFill>
                  <a:srgbClr val="5B6578"/>
                </a:solidFill>
                <a:latin typeface="Calibri" pitchFamily="34" charset="0"/>
                <a:ea typeface="Calibri" pitchFamily="34" charset="-122"/>
                <a:cs typeface="Calibri" pitchFamily="34" charset="-120"/>
              </a:rPr>
              <a:t>   Planted bug in the shop: SAVE10 takes off €10 instead.</a:t>
            </a:r>
            <a:endParaRPr lang="en-US" sz="1500" dirty="0"/>
          </a:p>
        </p:txBody>
      </p:sp>
      <p:sp>
        <p:nvSpPr>
          <p:cNvPr id="5" name="Shape 3"/>
          <p:cNvSpPr/>
          <p:nvPr/>
        </p:nvSpPr>
        <p:spPr>
          <a:xfrm>
            <a:off x="548640" y="1783080"/>
            <a:ext cx="5440680" cy="3429000"/>
          </a:xfrm>
          <a:prstGeom prst="roundRect">
            <a:avLst>
              <a:gd name="adj" fmla="val 3200"/>
            </a:avLst>
          </a:prstGeom>
          <a:solidFill>
            <a:srgbClr val="E7F4EC"/>
          </a:solidFill>
          <a:ln w="12700">
            <a:solidFill>
              <a:srgbClr val="E7F4EC"/>
            </a:solidFill>
            <a:prstDash val="solid"/>
          </a:ln>
        </p:spPr>
        <p:txBody>
          <a:bodyPr/>
          <a:lstStyle/>
          <a:p>
            <a:endParaRPr lang="en-US"/>
          </a:p>
        </p:txBody>
      </p:sp>
      <p:sp>
        <p:nvSpPr>
          <p:cNvPr id="6" name="Text 4"/>
          <p:cNvSpPr txBox="1"/>
          <p:nvPr/>
        </p:nvSpPr>
        <p:spPr>
          <a:xfrm>
            <a:off x="822960" y="1892808"/>
            <a:ext cx="4892040" cy="365760"/>
          </a:xfrm>
          <a:prstGeom prst="rect">
            <a:avLst/>
          </a:prstGeom>
          <a:noFill/>
          <a:ln/>
        </p:spPr>
        <p:txBody>
          <a:bodyPr wrap="square" lIns="0" tIns="0" rIns="0" bIns="0" rtlCol="0" anchor="t"/>
          <a:lstStyle/>
          <a:p>
            <a:pPr marL="0" indent="0">
              <a:buNone/>
            </a:pPr>
            <a:r>
              <a:rPr lang="en-US" sz="1800" b="1" dirty="0">
                <a:solidFill>
                  <a:srgbClr val="2E8B57"/>
                </a:solidFill>
                <a:latin typeface="Calibri" pitchFamily="34" charset="0"/>
                <a:ea typeface="Calibri" pitchFamily="34" charset="-122"/>
                <a:cs typeface="Calibri" pitchFamily="34" charset="-120"/>
              </a:rPr>
              <a:t>What a correct test would do</a:t>
            </a:r>
            <a:endParaRPr lang="en-US" sz="1800" dirty="0"/>
          </a:p>
        </p:txBody>
      </p:sp>
      <p:sp>
        <p:nvSpPr>
          <p:cNvPr id="7" name="Shape 5"/>
          <p:cNvSpPr/>
          <p:nvPr/>
        </p:nvSpPr>
        <p:spPr>
          <a:xfrm>
            <a:off x="822960" y="23957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48690" y="2521458"/>
            <a:ext cx="251460" cy="251460"/>
          </a:xfrm>
          <a:prstGeom prst="rect">
            <a:avLst/>
          </a:prstGeom>
        </p:spPr>
      </p:pic>
      <p:sp>
        <p:nvSpPr>
          <p:cNvPr id="9" name="Text 6"/>
          <p:cNvSpPr txBox="1"/>
          <p:nvPr/>
        </p:nvSpPr>
        <p:spPr>
          <a:xfrm>
            <a:off x="1508760" y="23957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1. Put shoes (€89.00) in the cart</a:t>
            </a:r>
            <a:endParaRPr lang="en-US" sz="1600" dirty="0"/>
          </a:p>
        </p:txBody>
      </p:sp>
      <p:sp>
        <p:nvSpPr>
          <p:cNvPr id="10" name="Shape 7"/>
          <p:cNvSpPr/>
          <p:nvPr/>
        </p:nvSpPr>
        <p:spPr>
          <a:xfrm>
            <a:off x="822960" y="30815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48690" y="3207258"/>
            <a:ext cx="251460" cy="251460"/>
          </a:xfrm>
          <a:prstGeom prst="rect">
            <a:avLst/>
          </a:prstGeom>
        </p:spPr>
      </p:pic>
      <p:sp>
        <p:nvSpPr>
          <p:cNvPr id="12" name="Text 8"/>
          <p:cNvSpPr txBox="1"/>
          <p:nvPr/>
        </p:nvSpPr>
        <p:spPr>
          <a:xfrm>
            <a:off x="1508760" y="30815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2. Enter the code SAVE10</a:t>
            </a:r>
            <a:endParaRPr lang="en-US" sz="1600" dirty="0"/>
          </a:p>
        </p:txBody>
      </p:sp>
      <p:sp>
        <p:nvSpPr>
          <p:cNvPr id="13" name="Shape 9"/>
          <p:cNvSpPr/>
          <p:nvPr/>
        </p:nvSpPr>
        <p:spPr>
          <a:xfrm>
            <a:off x="822960" y="37673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948690" y="3893058"/>
            <a:ext cx="251460" cy="251460"/>
          </a:xfrm>
          <a:prstGeom prst="rect">
            <a:avLst/>
          </a:prstGeom>
        </p:spPr>
      </p:pic>
      <p:sp>
        <p:nvSpPr>
          <p:cNvPr id="15" name="Text 10"/>
          <p:cNvSpPr txBox="1"/>
          <p:nvPr/>
        </p:nvSpPr>
        <p:spPr>
          <a:xfrm>
            <a:off x="1508760" y="37673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3. Expect €80.10 → sees €79.00</a:t>
            </a:r>
            <a:endParaRPr lang="en-US" sz="1600" dirty="0"/>
          </a:p>
        </p:txBody>
      </p:sp>
      <p:sp>
        <p:nvSpPr>
          <p:cNvPr id="16" name="Shape 11"/>
          <p:cNvSpPr/>
          <p:nvPr/>
        </p:nvSpPr>
        <p:spPr>
          <a:xfrm>
            <a:off x="822960" y="4526280"/>
            <a:ext cx="4892040" cy="502920"/>
          </a:xfrm>
          <a:prstGeom prst="roundRect">
            <a:avLst>
              <a:gd name="adj" fmla="val 14545"/>
            </a:avLst>
          </a:prstGeom>
          <a:solidFill>
            <a:srgbClr val="FFFFFF"/>
          </a:solidFill>
          <a:ln w="19050">
            <a:solidFill>
              <a:srgbClr val="2E8B57"/>
            </a:solidFill>
            <a:prstDash val="solid"/>
          </a:ln>
        </p:spPr>
        <p:txBody>
          <a:bodyPr/>
          <a:lstStyle/>
          <a:p>
            <a:endParaRPr lang="en-US"/>
          </a:p>
        </p:txBody>
      </p:sp>
      <p:sp>
        <p:nvSpPr>
          <p:cNvPr id="17" name="Text 12"/>
          <p:cNvSpPr txBox="1"/>
          <p:nvPr/>
        </p:nvSpPr>
        <p:spPr>
          <a:xfrm>
            <a:off x="960120" y="4526280"/>
            <a:ext cx="4617720" cy="502920"/>
          </a:xfrm>
          <a:prstGeom prst="rect">
            <a:avLst/>
          </a:prstGeom>
          <a:noFill/>
          <a:ln/>
        </p:spPr>
        <p:txBody>
          <a:bodyPr wrap="square" lIns="0" tIns="0" rIns="0" bIns="0" rtlCol="0" anchor="ctr"/>
          <a:lstStyle/>
          <a:p>
            <a:pPr marL="0" indent="0">
              <a:buNone/>
            </a:pPr>
            <a:r>
              <a:rPr lang="en-US" sz="1500" b="1" dirty="0">
                <a:solidFill>
                  <a:srgbClr val="2E8B57"/>
                </a:solidFill>
                <a:latin typeface="Calibri" pitchFamily="34" charset="0"/>
                <a:ea typeface="Calibri" pitchFamily="34" charset="-122"/>
                <a:cs typeface="Calibri" pitchFamily="34" charset="-120"/>
              </a:rPr>
              <a:t>FAIL → the real discount bug is found</a:t>
            </a:r>
            <a:endParaRPr lang="en-US" sz="1500" dirty="0"/>
          </a:p>
        </p:txBody>
      </p:sp>
      <p:sp>
        <p:nvSpPr>
          <p:cNvPr id="18" name="Shape 13"/>
          <p:cNvSpPr/>
          <p:nvPr/>
        </p:nvSpPr>
        <p:spPr>
          <a:xfrm>
            <a:off x="6190488" y="1783080"/>
            <a:ext cx="5440680" cy="3429000"/>
          </a:xfrm>
          <a:prstGeom prst="roundRect">
            <a:avLst>
              <a:gd name="adj" fmla="val 3200"/>
            </a:avLst>
          </a:prstGeom>
          <a:solidFill>
            <a:srgbClr val="FDECEA"/>
          </a:solidFill>
          <a:ln w="12700">
            <a:solidFill>
              <a:srgbClr val="FDECEA"/>
            </a:solidFill>
            <a:prstDash val="solid"/>
          </a:ln>
        </p:spPr>
        <p:txBody>
          <a:bodyPr/>
          <a:lstStyle/>
          <a:p>
            <a:endParaRPr lang="en-US"/>
          </a:p>
        </p:txBody>
      </p:sp>
      <p:sp>
        <p:nvSpPr>
          <p:cNvPr id="19" name="Text 14"/>
          <p:cNvSpPr txBox="1"/>
          <p:nvPr/>
        </p:nvSpPr>
        <p:spPr>
          <a:xfrm>
            <a:off x="6464808" y="1892808"/>
            <a:ext cx="4892040" cy="365760"/>
          </a:xfrm>
          <a:prstGeom prst="rect">
            <a:avLst/>
          </a:prstGeom>
          <a:noFill/>
          <a:ln/>
        </p:spPr>
        <p:txBody>
          <a:bodyPr wrap="square" lIns="0" tIns="0" rIns="0" bIns="0" rtlCol="0" anchor="t"/>
          <a:lstStyle/>
          <a:p>
            <a:pPr marL="0" indent="0">
              <a:buNone/>
            </a:pPr>
            <a:r>
              <a:rPr lang="en-US" sz="1800" b="1" dirty="0">
                <a:solidFill>
                  <a:srgbClr val="C8463D"/>
                </a:solidFill>
                <a:latin typeface="Calibri" pitchFamily="34" charset="0"/>
                <a:ea typeface="Calibri" pitchFamily="34" charset="-122"/>
                <a:cs typeface="Calibri" pitchFamily="34" charset="-120"/>
              </a:rPr>
              <a:t>What the AI's test did</a:t>
            </a:r>
            <a:endParaRPr lang="en-US" sz="1800" dirty="0"/>
          </a:p>
        </p:txBody>
      </p:sp>
      <p:sp>
        <p:nvSpPr>
          <p:cNvPr id="20" name="Shape 15"/>
          <p:cNvSpPr/>
          <p:nvPr/>
        </p:nvSpPr>
        <p:spPr>
          <a:xfrm>
            <a:off x="6464808" y="23957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90538" y="2521458"/>
            <a:ext cx="251460" cy="251460"/>
          </a:xfrm>
          <a:prstGeom prst="rect">
            <a:avLst/>
          </a:prstGeom>
        </p:spPr>
      </p:pic>
      <p:sp>
        <p:nvSpPr>
          <p:cNvPr id="22" name="Text 16"/>
          <p:cNvSpPr txBox="1"/>
          <p:nvPr/>
        </p:nvSpPr>
        <p:spPr>
          <a:xfrm>
            <a:off x="7150608" y="23957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1. Opened the cart directly — it was empty</a:t>
            </a:r>
            <a:endParaRPr lang="en-US" sz="1600" dirty="0"/>
          </a:p>
        </p:txBody>
      </p:sp>
      <p:sp>
        <p:nvSpPr>
          <p:cNvPr id="23" name="Shape 17"/>
          <p:cNvSpPr/>
          <p:nvPr/>
        </p:nvSpPr>
        <p:spPr>
          <a:xfrm>
            <a:off x="6464808" y="30815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4" name="Image 4" descr="preencoded.png"/>
          <p:cNvPicPr>
            <a:picLocks noChangeAspect="1"/>
          </p:cNvPicPr>
          <p:nvPr/>
        </p:nvPicPr>
        <p:blipFill>
          <a:blip r:embed="rId4"/>
          <a:stretch>
            <a:fillRect/>
          </a:stretch>
        </p:blipFill>
        <p:spPr>
          <a:xfrm>
            <a:off x="6590538" y="3207258"/>
            <a:ext cx="251460" cy="251460"/>
          </a:xfrm>
          <a:prstGeom prst="rect">
            <a:avLst/>
          </a:prstGeom>
        </p:spPr>
      </p:pic>
      <p:sp>
        <p:nvSpPr>
          <p:cNvPr id="25" name="Text 18"/>
          <p:cNvSpPr txBox="1"/>
          <p:nvPr/>
        </p:nvSpPr>
        <p:spPr>
          <a:xfrm>
            <a:off x="7150608" y="30815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2. Never reached the discount</a:t>
            </a:r>
            <a:endParaRPr lang="en-US" sz="1600" dirty="0"/>
          </a:p>
        </p:txBody>
      </p:sp>
      <p:sp>
        <p:nvSpPr>
          <p:cNvPr id="26" name="Shape 19"/>
          <p:cNvSpPr/>
          <p:nvPr/>
        </p:nvSpPr>
        <p:spPr>
          <a:xfrm>
            <a:off x="6464808" y="37673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7" name="Image 5" descr="preencoded.png"/>
          <p:cNvPicPr>
            <a:picLocks noChangeAspect="1"/>
          </p:cNvPicPr>
          <p:nvPr/>
        </p:nvPicPr>
        <p:blipFill>
          <a:blip r:embed="rId5"/>
          <a:stretch>
            <a:fillRect/>
          </a:stretch>
        </p:blipFill>
        <p:spPr>
          <a:xfrm>
            <a:off x="6590538" y="3893058"/>
            <a:ext cx="251460" cy="251460"/>
          </a:xfrm>
          <a:prstGeom prst="rect">
            <a:avLst/>
          </a:prstGeom>
        </p:spPr>
      </p:pic>
      <p:sp>
        <p:nvSpPr>
          <p:cNvPr id="28" name="Text 20"/>
          <p:cNvSpPr txBox="1"/>
          <p:nvPr/>
        </p:nvSpPr>
        <p:spPr>
          <a:xfrm>
            <a:off x="7150608" y="37673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3. Saw €0.00 → stopped</a:t>
            </a:r>
            <a:endParaRPr lang="en-US" sz="1600" dirty="0"/>
          </a:p>
        </p:txBody>
      </p:sp>
      <p:sp>
        <p:nvSpPr>
          <p:cNvPr id="29" name="Shape 21"/>
          <p:cNvSpPr/>
          <p:nvPr/>
        </p:nvSpPr>
        <p:spPr>
          <a:xfrm>
            <a:off x="6464808" y="4526280"/>
            <a:ext cx="4892040" cy="502920"/>
          </a:xfrm>
          <a:prstGeom prst="roundRect">
            <a:avLst>
              <a:gd name="adj" fmla="val 14545"/>
            </a:avLst>
          </a:prstGeom>
          <a:solidFill>
            <a:srgbClr val="FFFFFF"/>
          </a:solidFill>
          <a:ln w="19050">
            <a:solidFill>
              <a:srgbClr val="C8463D"/>
            </a:solidFill>
            <a:prstDash val="solid"/>
          </a:ln>
        </p:spPr>
        <p:txBody>
          <a:bodyPr/>
          <a:lstStyle/>
          <a:p>
            <a:endParaRPr lang="en-US"/>
          </a:p>
        </p:txBody>
      </p:sp>
      <p:sp>
        <p:nvSpPr>
          <p:cNvPr id="30" name="Text 22"/>
          <p:cNvSpPr txBox="1"/>
          <p:nvPr/>
        </p:nvSpPr>
        <p:spPr>
          <a:xfrm>
            <a:off x="6601968" y="4526280"/>
            <a:ext cx="4617720" cy="502920"/>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FAIL → reported as a bug, but the bug is in the test</a:t>
            </a:r>
            <a:endParaRPr lang="en-US" sz="1500" dirty="0"/>
          </a:p>
        </p:txBody>
      </p:sp>
      <p:sp>
        <p:nvSpPr>
          <p:cNvPr id="31" name="Text 23"/>
          <p:cNvSpPr txBox="1"/>
          <p:nvPr/>
        </p:nvSpPr>
        <p:spPr>
          <a:xfrm>
            <a:off x="548640" y="5394960"/>
            <a:ext cx="11094415" cy="548640"/>
          </a:xfrm>
          <a:prstGeom prst="rect">
            <a:avLst/>
          </a:prstGeom>
          <a:noFill/>
          <a:ln/>
        </p:spPr>
        <p:txBody>
          <a:bodyPr wrap="square" lIns="0" tIns="0" rIns="0" bIns="0" rtlCol="0" anchor="t"/>
          <a:lstStyle/>
          <a:p>
            <a:pPr marL="0" indent="0">
              <a:buNone/>
            </a:pPr>
            <a:r>
              <a:rPr lang="en-US" sz="1400" b="1" dirty="0">
                <a:solidFill>
                  <a:srgbClr val="1E2533"/>
                </a:solidFill>
                <a:latin typeface="Calibri" pitchFamily="34" charset="0"/>
                <a:ea typeface="Calibri" pitchFamily="34" charset="-122"/>
                <a:cs typeface="Calibri" pitchFamily="34" charset="-120"/>
              </a:rPr>
              <a:t>Same for privacy: </a:t>
            </a:r>
            <a:r>
              <a:rPr lang="en-US" sz="1400" dirty="0">
                <a:solidFill>
                  <a:srgbClr val="1E2533"/>
                </a:solidFill>
                <a:latin typeface="Calibri" pitchFamily="34" charset="0"/>
                <a:ea typeface="Calibri" pitchFamily="34" charset="-122"/>
                <a:cs typeface="Calibri" pitchFamily="34" charset="-120"/>
              </a:rPr>
              <a:t>the test logged in the wrong way, so the real data leak was never checked.</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WHY THE RULES MISS IT</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rules check the form of a test, not its meaning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2962656"/>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rPr>
                        <a:t>Trust rule in QA-Flow</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it checks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The wrong SAVE10 test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3213C"/>
                          </a:solidFill>
                        </a:rPr>
                        <a:t>Schema check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The AI's answer has the right format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b="1" dirty="0">
                          <a:solidFill>
                            <a:srgbClr val="2E8B57"/>
                          </a:solidFill>
                        </a:rPr>
                        <a:t>✓ passed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3213C"/>
                          </a:solidFill>
                        </a:rPr>
                        <a:t>Grounding check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Pages and fields exist; the quote matches the document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b="1" dirty="0">
                          <a:solidFill>
                            <a:srgbClr val="2E8B57"/>
                          </a:solidFill>
                        </a:rPr>
                        <a:t>✓ passed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3213C"/>
                          </a:solidFill>
                        </a:rPr>
                        <a:t>NEEDS REVIEW flag</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Tests with no source go to a person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b="1" dirty="0">
                          <a:solidFill>
                            <a:srgbClr val="2E8B57"/>
                          </a:solidFill>
                        </a:rPr>
                        <a:t>✓ not flagged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3213C"/>
                          </a:solidFill>
                        </a:rPr>
                        <a:t>Fault-injection gate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A passing test must fail on a broken shop</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b="1" dirty="0">
                          <a:solidFill>
                            <a:srgbClr val="5B6578"/>
                          </a:solidFill>
                        </a:rPr>
                        <a:t>– skipped (the test failed)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4553712"/>
            <a:ext cx="6766560" cy="41148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No rule asks: does this test really test the requirement?</a:t>
            </a:r>
            <a:endParaRPr lang="en-US" sz="1700" dirty="0"/>
          </a:p>
        </p:txBody>
      </p:sp>
      <p:sp>
        <p:nvSpPr>
          <p:cNvPr id="6" name="Text 3"/>
          <p:cNvSpPr txBox="1"/>
          <p:nvPr/>
        </p:nvSpPr>
        <p:spPr>
          <a:xfrm>
            <a:off x="548640" y="4983480"/>
            <a:ext cx="6766560" cy="3200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Three ways a test can be wrong:</a:t>
            </a:r>
            <a:endParaRPr lang="en-US" sz="1400" dirty="0"/>
          </a:p>
        </p:txBody>
      </p:sp>
      <p:sp>
        <p:nvSpPr>
          <p:cNvPr id="7" name="Shape 4"/>
          <p:cNvSpPr/>
          <p:nvPr/>
        </p:nvSpPr>
        <p:spPr>
          <a:xfrm>
            <a:off x="548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4" name="Text 5"/>
          <p:cNvSpPr txBox="1"/>
          <p:nvPr/>
        </p:nvSpPr>
        <p:spPr>
          <a:xfrm>
            <a:off x="685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9" name="Shape 6"/>
          <p:cNvSpPr/>
          <p:nvPr/>
        </p:nvSpPr>
        <p:spPr>
          <a:xfrm>
            <a:off x="2834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10" name="Text 7"/>
          <p:cNvSpPr txBox="1"/>
          <p:nvPr/>
        </p:nvSpPr>
        <p:spPr>
          <a:xfrm>
            <a:off x="2971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check</a:t>
            </a:r>
            <a:endParaRPr lang="en-US" sz="1500" dirty="0"/>
          </a:p>
        </p:txBody>
      </p:sp>
      <p:sp>
        <p:nvSpPr>
          <p:cNvPr id="11" name="Shape 8"/>
          <p:cNvSpPr/>
          <p:nvPr/>
        </p:nvSpPr>
        <p:spPr>
          <a:xfrm>
            <a:off x="5120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12" name="Text 9"/>
          <p:cNvSpPr txBox="1"/>
          <p:nvPr/>
        </p:nvSpPr>
        <p:spPr>
          <a:xfrm>
            <a:off x="5257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Catches no bug</a:t>
            </a:r>
            <a:endParaRPr lang="en-US" sz="1500" dirty="0"/>
          </a:p>
        </p:txBody>
      </p:sp>
      <p:sp>
        <p:nvSpPr>
          <p:cNvPr id="13" name="Shape 10"/>
          <p:cNvSpPr/>
          <p:nvPr/>
        </p:nvSpPr>
        <p:spPr>
          <a:xfrm>
            <a:off x="7635240" y="1325880"/>
            <a:ext cx="4005072" cy="4462272"/>
          </a:xfrm>
          <a:prstGeom prst="roundRect">
            <a:avLst>
              <a:gd name="adj" fmla="val 2740"/>
            </a:avLst>
          </a:prstGeom>
          <a:solidFill>
            <a:srgbClr val="13213C"/>
          </a:solidFill>
          <a:ln w="12700">
            <a:solidFill>
              <a:srgbClr val="13213C"/>
            </a:solidFill>
            <a:prstDash val="solid"/>
          </a:ln>
        </p:spPr>
        <p:txBody>
          <a:bodyPr/>
          <a:lstStyle/>
          <a:p>
            <a:endParaRPr lang="en-US"/>
          </a:p>
        </p:txBody>
      </p:sp>
      <p:sp>
        <p:nvSpPr>
          <p:cNvPr id="14" name="Text 11"/>
          <p:cNvSpPr txBox="1"/>
          <p:nvPr/>
        </p:nvSpPr>
        <p:spPr>
          <a:xfrm>
            <a:off x="7863840" y="1508760"/>
            <a:ext cx="3611880" cy="685800"/>
          </a:xfrm>
          <a:prstGeom prst="rect">
            <a:avLst/>
          </a:prstGeom>
          <a:noFill/>
          <a:ln/>
        </p:spPr>
        <p:txBody>
          <a:bodyPr wrap="square" lIns="0" tIns="0" rIns="0" bIns="0" rtlCol="0" anchor="t"/>
          <a:lstStyle/>
          <a:p>
            <a:pPr marL="0" indent="0">
              <a:buNone/>
            </a:pPr>
            <a:r>
              <a:rPr lang="en-US" sz="1600" b="1" dirty="0">
                <a:solidFill>
                  <a:srgbClr val="E39B2D"/>
                </a:solidFill>
                <a:latin typeface="Calibri" pitchFamily="34" charset="0"/>
                <a:ea typeface="Calibri" pitchFamily="34" charset="-122"/>
                <a:cs typeface="Calibri" pitchFamily="34" charset="-120"/>
              </a:rPr>
              <a:t>Why it matters for self-driving cars</a:t>
            </a:r>
            <a:endParaRPr lang="en-US" sz="1600" dirty="0"/>
          </a:p>
        </p:txBody>
      </p:sp>
      <p:sp>
        <p:nvSpPr>
          <p:cNvPr id="15" name="Text 12"/>
          <p:cNvSpPr txBox="1"/>
          <p:nvPr/>
        </p:nvSpPr>
        <p:spPr>
          <a:xfrm>
            <a:off x="7863840" y="2240280"/>
            <a:ext cx="3611880" cy="3337560"/>
          </a:xfrm>
          <a:prstGeom prst="rect">
            <a:avLst/>
          </a:prstGeom>
          <a:noFill/>
          <a:ln/>
        </p:spPr>
        <p:txBody>
          <a:bodyPr wrap="square" lIns="0" tIns="0" rIns="0" bIns="0" rtlCol="0" anchor="t"/>
          <a:lstStyle/>
          <a:p>
            <a:pPr marL="177800" indent="-177800">
              <a:buSzPct val="100000"/>
              <a:buChar char="•"/>
            </a:pPr>
            <a:r>
              <a:rPr lang="en-US" sz="1400" b="1" dirty="0">
                <a:solidFill>
                  <a:srgbClr val="CFE3F1"/>
                </a:solidFill>
                <a:latin typeface="Calibri" pitchFamily="34" charset="0"/>
                <a:ea typeface="Calibri" pitchFamily="34" charset="-122"/>
                <a:cs typeface="Calibri" pitchFamily="34" charset="-120"/>
              </a:rPr>
              <a:t>AI already helps build them </a:t>
            </a:r>
            <a:r>
              <a:rPr lang="en-US" sz="1400" dirty="0">
                <a:solidFill>
                  <a:srgbClr val="CFE3F1"/>
                </a:solidFill>
                <a:latin typeface="Calibri" pitchFamily="34" charset="0"/>
                <a:ea typeface="Calibri" pitchFamily="34" charset="-122"/>
                <a:cs typeface="Calibri" pitchFamily="34" charset="-120"/>
              </a:rPr>
              <a:t>[8, 10]</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AI now writes their tests too [27]</a:t>
            </a:r>
            <a:endParaRPr lang="en-US" sz="1400" dirty="0"/>
          </a:p>
          <a:p>
            <a:pPr marL="177800" indent="-177800">
              <a:buSzPct val="100000"/>
              <a:buChar char="•"/>
            </a:pPr>
            <a:r>
              <a:rPr lang="en-US" sz="1400" b="1" dirty="0">
                <a:solidFill>
                  <a:srgbClr val="CFE3F1"/>
                </a:solidFill>
                <a:latin typeface="Calibri" pitchFamily="34" charset="0"/>
                <a:ea typeface="Calibri" pitchFamily="34" charset="-122"/>
                <a:cs typeface="Calibri" pitchFamily="34" charset="-120"/>
              </a:rPr>
              <a:t>A wrong test means </a:t>
            </a:r>
            <a:r>
              <a:rPr lang="en-US" sz="1400" dirty="0">
                <a:solidFill>
                  <a:srgbClr val="CFE3F1"/>
                </a:solidFill>
                <a:latin typeface="Calibri" pitchFamily="34" charset="0"/>
                <a:ea typeface="Calibri" pitchFamily="34" charset="-122"/>
                <a:cs typeface="Calibri" pitchFamily="34" charset="-120"/>
              </a:rPr>
              <a:t>false safety</a:t>
            </a:r>
            <a:endParaRPr lang="en-US" sz="1400" dirty="0"/>
          </a:p>
        </p:txBody>
      </p:sp>
      <p:sp>
        <p:nvSpPr>
          <p:cNvPr id="16" name="Text 13"/>
          <p:cNvSpPr txBox="1"/>
          <p:nvPr/>
        </p:nvSpPr>
        <p:spPr>
          <a:xfrm>
            <a:off x="548640" y="5870448"/>
            <a:ext cx="11094415" cy="557784"/>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THE PHD QUESTION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When can we trust an AI-generated test?</a:t>
            </a:r>
            <a:endParaRPr lang="en-US" sz="3000" dirty="0"/>
          </a:p>
        </p:txBody>
      </p:sp>
      <p:sp>
        <p:nvSpPr>
          <p:cNvPr id="4" name="Shape 2"/>
          <p:cNvSpPr/>
          <p:nvPr/>
        </p:nvSpPr>
        <p:spPr>
          <a:xfrm>
            <a:off x="548640" y="1280160"/>
            <a:ext cx="11094415" cy="960120"/>
          </a:xfrm>
          <a:prstGeom prst="roundRect">
            <a:avLst>
              <a:gd name="adj" fmla="val 11429"/>
            </a:avLst>
          </a:prstGeom>
          <a:solidFill>
            <a:srgbClr val="E6F3F3"/>
          </a:solidFill>
          <a:ln w="12700">
            <a:solidFill>
              <a:srgbClr val="E6F3F3"/>
            </a:solidFill>
            <a:prstDash val="solid"/>
          </a:ln>
        </p:spPr>
        <p:txBody>
          <a:bodyPr/>
          <a:lstStyle/>
          <a:p>
            <a:endParaRPr lang="en-US"/>
          </a:p>
        </p:txBody>
      </p:sp>
      <p:sp>
        <p:nvSpPr>
          <p:cNvPr id="5" name="Text 3"/>
          <p:cNvSpPr txBox="1"/>
          <p:nvPr/>
        </p:nvSpPr>
        <p:spPr>
          <a:xfrm>
            <a:off x="822960" y="1325880"/>
            <a:ext cx="10545775" cy="86868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My idea   </a:t>
            </a:r>
            <a:r>
              <a:rPr lang="en-US" sz="1500" dirty="0">
                <a:solidFill>
                  <a:srgbClr val="1E2533"/>
                </a:solidFill>
                <a:latin typeface="Calibri" pitchFamily="34" charset="0"/>
                <a:ea typeface="Calibri" pitchFamily="34" charset="-122"/>
                <a:cs typeface="Calibri" pitchFamily="34" charset="-120"/>
              </a:rPr>
              <a:t>Ask the AI for the same test several times. Tests agree → trust more. Tests differ → a person checks. Known for chatbots [24], new for tests.</a:t>
            </a:r>
            <a:endParaRPr lang="en-US" sz="1500" dirty="0"/>
          </a:p>
        </p:txBody>
      </p:sp>
      <p:sp>
        <p:nvSpPr>
          <p:cNvPr id="6" name="Shape 4"/>
          <p:cNvSpPr/>
          <p:nvPr/>
        </p:nvSpPr>
        <p:spPr>
          <a:xfrm>
            <a:off x="548640" y="2377440"/>
            <a:ext cx="3593592" cy="160020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7" name="Shape 5"/>
          <p:cNvSpPr/>
          <p:nvPr/>
        </p:nvSpPr>
        <p:spPr>
          <a:xfrm>
            <a:off x="731520" y="2487168"/>
            <a:ext cx="457200" cy="457200"/>
          </a:xfrm>
          <a:prstGeom prst="ellipse">
            <a:avLst/>
          </a:prstGeom>
          <a:solidFill>
            <a:srgbClr val="0F8B8D"/>
          </a:solidFill>
          <a:ln w="12700">
            <a:solidFill>
              <a:srgbClr val="0F8B8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45820" y="2601468"/>
            <a:ext cx="228600" cy="228600"/>
          </a:xfrm>
          <a:prstGeom prst="rect">
            <a:avLst/>
          </a:prstGeom>
        </p:spPr>
      </p:pic>
      <p:sp>
        <p:nvSpPr>
          <p:cNvPr id="9" name="Text 6"/>
          <p:cNvSpPr txBox="1"/>
          <p:nvPr/>
        </p:nvSpPr>
        <p:spPr>
          <a:xfrm>
            <a:off x="1280160" y="2487168"/>
            <a:ext cx="2770632"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Uncertainty in CPS testing</a:t>
            </a:r>
            <a:endParaRPr lang="en-US" sz="1400" dirty="0"/>
          </a:p>
        </p:txBody>
      </p:sp>
      <p:sp>
        <p:nvSpPr>
          <p:cNvPr id="10" name="Text 7"/>
          <p:cNvSpPr txBox="1"/>
          <p:nvPr/>
        </p:nvSpPr>
        <p:spPr>
          <a:xfrm>
            <a:off x="731520" y="3035808"/>
            <a:ext cx="3227832" cy="868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Uncertainty-wise test generation for cyber-physical systems [1]</a:t>
            </a:r>
            <a:endParaRPr lang="en-US" sz="1200" dirty="0"/>
          </a:p>
        </p:txBody>
      </p:sp>
      <p:sp>
        <p:nvSpPr>
          <p:cNvPr id="11" name="Shape 8"/>
          <p:cNvSpPr/>
          <p:nvPr/>
        </p:nvSpPr>
        <p:spPr>
          <a:xfrm>
            <a:off x="4297680" y="2377440"/>
            <a:ext cx="3593592" cy="160020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12" name="Shape 9"/>
          <p:cNvSpPr/>
          <p:nvPr/>
        </p:nvSpPr>
        <p:spPr>
          <a:xfrm>
            <a:off x="4480560" y="2487168"/>
            <a:ext cx="457200" cy="457200"/>
          </a:xfrm>
          <a:prstGeom prst="ellipse">
            <a:avLst/>
          </a:prstGeom>
          <a:solidFill>
            <a:srgbClr val="3567C8"/>
          </a:solidFill>
          <a:ln w="12700">
            <a:solidFill>
              <a:srgbClr val="3567C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594860" y="2601468"/>
            <a:ext cx="228600" cy="228600"/>
          </a:xfrm>
          <a:prstGeom prst="rect">
            <a:avLst/>
          </a:prstGeom>
        </p:spPr>
      </p:pic>
      <p:sp>
        <p:nvSpPr>
          <p:cNvPr id="14" name="Text 10"/>
          <p:cNvSpPr txBox="1"/>
          <p:nvPr/>
        </p:nvSpPr>
        <p:spPr>
          <a:xfrm>
            <a:off x="5029200" y="2487168"/>
            <a:ext cx="2770632"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Testing AI-enabled systems</a:t>
            </a:r>
            <a:endParaRPr lang="en-US" sz="1400" dirty="0"/>
          </a:p>
        </p:txBody>
      </p:sp>
      <p:sp>
        <p:nvSpPr>
          <p:cNvPr id="15" name="Text 11"/>
          <p:cNvSpPr txBox="1"/>
          <p:nvPr/>
        </p:nvSpPr>
        <p:spPr>
          <a:xfrm>
            <a:off x="4480560" y="3035808"/>
            <a:ext cx="3227832" cy="868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Falsification: searching for failures of AI-enabled control systems [14]</a:t>
            </a:r>
            <a:endParaRPr lang="en-US" sz="1200" dirty="0"/>
          </a:p>
        </p:txBody>
      </p:sp>
      <p:sp>
        <p:nvSpPr>
          <p:cNvPr id="16" name="Shape 12"/>
          <p:cNvSpPr/>
          <p:nvPr/>
        </p:nvSpPr>
        <p:spPr>
          <a:xfrm>
            <a:off x="8046720" y="2377440"/>
            <a:ext cx="3593592" cy="160020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8229600" y="2487168"/>
            <a:ext cx="457200" cy="4572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343900" y="2601468"/>
            <a:ext cx="228600" cy="228600"/>
          </a:xfrm>
          <a:prstGeom prst="rect">
            <a:avLst/>
          </a:prstGeom>
        </p:spPr>
      </p:pic>
      <p:sp>
        <p:nvSpPr>
          <p:cNvPr id="19" name="Text 14"/>
          <p:cNvSpPr txBox="1"/>
          <p:nvPr/>
        </p:nvSpPr>
        <p:spPr>
          <a:xfrm>
            <a:off x="8778240" y="2487168"/>
            <a:ext cx="2770632"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Industrial test oracles</a:t>
            </a:r>
            <a:endParaRPr lang="en-US" sz="1400" dirty="0"/>
          </a:p>
        </p:txBody>
      </p:sp>
      <p:sp>
        <p:nvSpPr>
          <p:cNvPr id="20" name="Text 15"/>
          <p:cNvSpPr txBox="1"/>
          <p:nvPr/>
        </p:nvSpPr>
        <p:spPr>
          <a:xfrm>
            <a:off x="8229600" y="3035808"/>
            <a:ext cx="3227832" cy="868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Machine learning as a test oracle for elevator software [16]</a:t>
            </a:r>
            <a:endParaRPr lang="en-US" sz="1200" dirty="0"/>
          </a:p>
        </p:txBody>
      </p:sp>
      <p:sp>
        <p:nvSpPr>
          <p:cNvPr id="26" name="Shape 20"/>
          <p:cNvSpPr/>
          <p:nvPr/>
        </p:nvSpPr>
        <p:spPr>
          <a:xfrm>
            <a:off x="548640" y="4160520"/>
            <a:ext cx="11094415" cy="438912"/>
          </a:xfrm>
          <a:prstGeom prst="roundRect">
            <a:avLst>
              <a:gd name="adj" fmla="val 25000"/>
            </a:avLst>
          </a:prstGeom>
          <a:solidFill>
            <a:srgbClr val="FFF4E0"/>
          </a:solidFill>
          <a:ln w="12700">
            <a:solidFill>
              <a:srgbClr val="FFF4E0"/>
            </a:solidFill>
            <a:prstDash val="solid"/>
          </a:ln>
        </p:spPr>
        <p:txBody>
          <a:bodyPr/>
          <a:lstStyle/>
          <a:p>
            <a:endParaRPr lang="en-US"/>
          </a:p>
        </p:txBody>
      </p:sp>
      <p:sp>
        <p:nvSpPr>
          <p:cNvPr id="27" name="Text 21"/>
          <p:cNvSpPr txBox="1"/>
          <p:nvPr/>
        </p:nvSpPr>
        <p:spPr>
          <a:xfrm>
            <a:off x="777240" y="4160520"/>
            <a:ext cx="10637215" cy="438912"/>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is studied for systems, robots and chatbots — not yet for AI that writes tests.</a:t>
            </a:r>
            <a:endParaRPr lang="en-US" sz="1400" dirty="0"/>
          </a:p>
        </p:txBody>
      </p:sp>
      <p:sp>
        <p:nvSpPr>
          <p:cNvPr id="28" name="Text 22"/>
          <p:cNvSpPr txBox="1"/>
          <p:nvPr/>
        </p:nvSpPr>
        <p:spPr>
          <a:xfrm>
            <a:off x="548640" y="4892040"/>
            <a:ext cx="11094415" cy="1280160"/>
          </a:xfrm>
          <a:prstGeom prst="rect">
            <a:avLst/>
          </a:prstGeom>
          <a:noFill/>
          <a:ln/>
        </p:spPr>
        <p:txBody>
          <a:bodyPr wrap="square" lIns="0" tIns="0" rIns="0" bIns="0" rtlCol="0" anchor="b"/>
          <a:lstStyle/>
          <a:p>
            <a:r>
              <a:rPr sz="1100">
                <a:solidFill>
                  <a:srgbClr val="5B6578"/>
                </a:solidFill>
                <a:latin typeface="Calibri"/>
              </a:rPr>
              <a:t>[1] M. Zhang et al., “Uncertainty-wise test case generation and minimization for cyber-physical systems,” J. Syst. Softw., 2019.</a:t>
            </a:r>
          </a:p>
          <a:p>
            <a:r>
              <a:rPr sz="1100">
                <a:solidFill>
                  <a:srgbClr val="5B6578"/>
                </a:solidFill>
                <a:latin typeface="Calibri"/>
              </a:rPr>
              <a:t>[14] Z. Zhang et al., “FalsifAI: Falsification of AI-enabled hybrid control systems guided by time-aware coverage criteria,” IEEE TSE, 2023.</a:t>
            </a:r>
          </a:p>
          <a:p>
            <a:r>
              <a:rPr sz="1100">
                <a:solidFill>
                  <a:srgbClr val="5B6578"/>
                </a:solidFill>
                <a:latin typeface="Calibri"/>
              </a:rPr>
              <a:t>[16] A. Arrieta et al., “Using machine learning to build test oracles: An industrial case study on elevators dispatching algorithms,” Proc. IEEE/ACM AST, 2021.</a:t>
            </a:r>
          </a:p>
          <a:p>
            <a:r>
              <a:rPr sz="1100">
                <a:solidFill>
                  <a:srgbClr val="5B6578"/>
                </a:solidFill>
                <a:latin typeface="Calibri"/>
              </a:rPr>
              <a:t>[24] S. Farquhar et al., “Detecting hallucinations in large language models using semantic entropy,” Nature, 2024.</a:t>
            </a:r>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OBJECTIVES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four PhD objectives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show that an AI-written test cannot be trusted?</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these signals decide accept / review / reject, given the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 they relate to correctness, bugs found and cost?</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they still work for newer AI and quantum ML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GAPS → RESEARCH AGENDA</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Demo 1's gaps to the PhD plan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800600"/>
        </p:xfrm>
        <a:graphic>
          <a:graphicData uri="http://schemas.openxmlformats.org/drawingml/2006/table">
            <a:tbl>
              <a:tblPr/>
              <a:tblGrid>
                <a:gridCol w="960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4515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960120">
                <a:tc>
                  <a:txBody>
                    <a:bodyPr/>
                    <a:lstStyle/>
                    <a:p>
                      <a:pPr marL="0" indent="0">
                        <a:buNone/>
                      </a:pPr>
                      <a:r>
                        <a:rPr lang="en-US" sz="1400" b="1" dirty="0">
                          <a:solidFill>
                            <a:srgbClr val="FFFFFF"/>
                          </a:solidFill>
                        </a:rPr>
                        <a:t>From</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Demo 1 cannot do</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the PhD will do</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Cannot tell a wrong test from a real bug (6 of 18)</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Signals that show when a test is untrustworthy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Every FAIL looks the same → a person checks all 18</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Accept / review / reject based on risk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Wrong tests hid 2 real bugs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Measure how trust relates to correctness and cost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300" b="1" dirty="0">
                          <a:solidFill>
                            <a:srgbClr val="5B6578"/>
                          </a:solidFill>
                        </a:rPr>
                        <a:t>Next</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One web shop, one AI model</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Self-driving simulators, industrial cases, InnoGuard platform, new AI models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RESEARCH QUESTIONS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777240" y="1417320"/>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signals best predict a wrong AI-written test?</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Compare signals (agreement, behaviour, model probabilities) on many generated tests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777240" y="2514600"/>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these signals support safe accept / review decisions?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 signal × how severe a failure is; measure the review effort saved</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77240" y="3611880"/>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 they relate to bugs found and cost?</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Large study: correctness, bugs found, run time, AI cost</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7" name="Text 15"/>
          <p:cNvSpPr txBox="1"/>
          <p:nvPr/>
        </p:nvSpPr>
        <p:spPr>
          <a:xfrm>
            <a:off x="777240" y="4709160"/>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they transfer to new and quantum AI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them to newer models and to quantum ML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WORK PLAN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5" name="Text 3"/>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7" name="Text 5"/>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9" name="Text 7"/>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2" name="Text 10"/>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4" name="Text 12"/>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6" name="Text 14"/>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8" name="Text 16"/>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20" name="Text 18"/>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2" name="Text 20"/>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4" name="Text 22"/>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7" name="Text 25"/>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9" name="Text 27"/>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1" name="Text 29"/>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3" name="Text 31"/>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5" name="Text 33"/>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CONTRIBUTIONS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Signals that tell when an AI-written test can be trusted</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Accept / review / reject with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How trust relates to correctness, bugs found and cost</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QA-Flow, an open benchmark and replication packages</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txBody>
          <a:bodyPr/>
          <a:lstStyle/>
          <a:p>
            <a:endParaRPr lang="en-US"/>
          </a:p>
        </p:txBody>
      </p:sp>
      <p:sp>
        <p:nvSpPr>
          <p:cNvPr id="21" name="Text 15"/>
          <p:cNvSpPr txBox="1"/>
          <p:nvPr/>
        </p:nvSpPr>
        <p:spPr>
          <a:xfrm>
            <a:off x="7635240" y="149047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C · MY BACKGROUND</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vi-VN" sz="3000" b="1" dirty="0" err="1">
                <a:solidFill>
                  <a:srgbClr val="13213C"/>
                </a:solidFill>
                <a:latin typeface="Cambria" pitchFamily="34" charset="0"/>
                <a:ea typeface="Cambria" pitchFamily="34" charset="-122"/>
                <a:cs typeface="Cambria" pitchFamily="34" charset="-120"/>
              </a:rPr>
              <a:t>My</a:t>
            </a:r>
            <a:r>
              <a:rPr lang="vi-VN" sz="3000" b="1" dirty="0">
                <a:solidFill>
                  <a:srgbClr val="13213C"/>
                </a:solidFill>
                <a:latin typeface="Cambria" pitchFamily="34" charset="0"/>
                <a:ea typeface="Cambria" pitchFamily="34" charset="-122"/>
                <a:cs typeface="Cambria" pitchFamily="34" charset="-120"/>
              </a:rPr>
              <a:t> </a:t>
            </a:r>
            <a:r>
              <a:rPr lang="vi-VN" sz="3000" b="1" dirty="0" err="1">
                <a:solidFill>
                  <a:srgbClr val="13213C"/>
                </a:solidFill>
                <a:latin typeface="Cambria" pitchFamily="34" charset="0"/>
                <a:ea typeface="Cambria" pitchFamily="34" charset="-122"/>
                <a:cs typeface="Cambria" pitchFamily="34" charset="-120"/>
              </a:rPr>
              <a:t>Background</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txBody>
          <a:bodyPr/>
          <a:lstStyle/>
          <a:p>
            <a:endParaRPr lang="en-US"/>
          </a:p>
        </p:txBody>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marL="0" indent="0" algn="ctr">
              <a:buNone/>
            </a:pPr>
            <a:r>
              <a:rPr lang="vi-VN" sz="1200" dirty="0" err="1">
                <a:solidFill>
                  <a:srgbClr val="5B6578"/>
                </a:solidFill>
                <a:latin typeface="Calibri" pitchFamily="34" charset="0"/>
                <a:ea typeface="Calibri" pitchFamily="34" charset="-122"/>
                <a:cs typeface="Calibri" pitchFamily="34" charset="-120"/>
              </a:rPr>
              <a:t>Research</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Autonomous</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Driving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Car</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Using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Reinforcement</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Learning</a:t>
            </a:r>
            <a:endParaRPr lang="en-US" sz="1200" dirty="0"/>
          </a:p>
        </p:txBody>
      </p:sp>
      <p:pic>
        <p:nvPicPr>
          <p:cNvPr id="11" name="Image 1" descr="preencoded.png"/>
          <p:cNvPicPr>
            <a:picLocks noChangeAspect="1"/>
          </p:cNvPicPr>
          <p:nvPr/>
        </p:nvPicPr>
        <p:blipFill>
          <a:blip r:embed="rId4"/>
          <a:stretch>
            <a:fillRect/>
          </a:stretch>
        </p:blipFill>
        <p:spPr>
          <a:xfrm>
            <a:off x="3730661" y="1975104"/>
            <a:ext cx="292608" cy="292608"/>
          </a:xfrm>
          <a:prstGeom prst="rect">
            <a:avLst/>
          </a:prstGeom>
        </p:spPr>
      </p:pic>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marL="0" indent="0" algn="ctr">
              <a:buNone/>
            </a:pPr>
            <a:r>
              <a:rPr lang="vi-VN" sz="1400" b="1" dirty="0" err="1">
                <a:solidFill>
                  <a:srgbClr val="1E2533"/>
                </a:solidFill>
                <a:latin typeface="Calibri" pitchFamily="34" charset="0"/>
                <a:ea typeface="Calibri" pitchFamily="34" charset="-122"/>
                <a:cs typeface="Calibri" pitchFamily="34" charset="-120"/>
              </a:rPr>
              <a:t>Software</a:t>
            </a:r>
            <a:r>
              <a:rPr lang="vi-VN" sz="1400" b="1" dirty="0">
                <a:solidFill>
                  <a:srgbClr val="1E2533"/>
                </a:solidFill>
                <a:latin typeface="Calibri" pitchFamily="34" charset="0"/>
                <a:ea typeface="Calibri" pitchFamily="34" charset="-122"/>
                <a:cs typeface="Calibri" pitchFamily="34" charset="-120"/>
              </a:rPr>
              <a:t> </a:t>
            </a:r>
            <a:r>
              <a:rPr lang="vi-VN" sz="1400" b="1" dirty="0" err="1">
                <a:solidFill>
                  <a:srgbClr val="1E2533"/>
                </a:solidFill>
                <a:latin typeface="Calibri" pitchFamily="34" charset="0"/>
                <a:ea typeface="Calibri" pitchFamily="34" charset="-122"/>
                <a:cs typeface="Calibri" pitchFamily="34" charset="-120"/>
              </a:rPr>
              <a:t>Test</a:t>
            </a:r>
            <a:r>
              <a:rPr lang="vi-VN" sz="1400" b="1" dirty="0">
                <a:solidFill>
                  <a:srgbClr val="1E2533"/>
                </a:solidFill>
                <a:latin typeface="Calibri" pitchFamily="34" charset="0"/>
                <a:ea typeface="Calibri" pitchFamily="34" charset="-122"/>
                <a:cs typeface="Calibri" pitchFamily="34" charset="-120"/>
              </a:rPr>
              <a:t> </a:t>
            </a:r>
            <a:r>
              <a:rPr lang="vi-VN" sz="1400" b="1" dirty="0" err="1">
                <a:solidFill>
                  <a:srgbClr val="1E2533"/>
                </a:solidFill>
                <a:latin typeface="Calibri" pitchFamily="34" charset="0"/>
                <a:ea typeface="Calibri" pitchFamily="34" charset="-122"/>
                <a:cs typeface="Calibri" pitchFamily="34" charset="-120"/>
              </a:rPr>
              <a:t>Enginer</a:t>
            </a:r>
            <a:r>
              <a:rPr lang="vi-VN" sz="1400" b="1" dirty="0">
                <a:solidFill>
                  <a:srgbClr val="1E2533"/>
                </a:solidFill>
                <a:latin typeface="Calibri" pitchFamily="34" charset="0"/>
                <a:ea typeface="Calibri" pitchFamily="34" charset="-122"/>
                <a:cs typeface="Calibri" pitchFamily="34" charset="-120"/>
              </a:rPr>
              <a:t> </a:t>
            </a:r>
          </a:p>
          <a:p>
            <a:pPr marL="0" indent="0" algn="ctr">
              <a:buNone/>
            </a:pPr>
            <a:r>
              <a:rPr lang="vi-VN" sz="1400" b="1" dirty="0" err="1">
                <a:solidFill>
                  <a:srgbClr val="1E2533"/>
                </a:solidFill>
                <a:latin typeface="Calibri" pitchFamily="34" charset="0"/>
                <a:ea typeface="Calibri" pitchFamily="34" charset="-122"/>
                <a:cs typeface="Calibri" pitchFamily="34" charset="-120"/>
              </a:rPr>
              <a:t>Bosch</a:t>
            </a:r>
            <a:r>
              <a:rPr lang="vi-VN" sz="1400" b="1" dirty="0">
                <a:solidFill>
                  <a:srgbClr val="1E2533"/>
                </a:solidFill>
                <a:latin typeface="Calibri" pitchFamily="34" charset="0"/>
                <a:ea typeface="Calibri" pitchFamily="34" charset="-122"/>
                <a:cs typeface="Calibri" pitchFamily="34" charset="-120"/>
              </a:rPr>
              <a:t> @ </a:t>
            </a:r>
            <a:r>
              <a:rPr lang="vi-VN" sz="1400" b="1" dirty="0" err="1">
                <a:solidFill>
                  <a:srgbClr val="1E2533"/>
                </a:solidFill>
                <a:latin typeface="Calibri" pitchFamily="34" charset="0"/>
                <a:ea typeface="Calibri" pitchFamily="34" charset="-122"/>
                <a:cs typeface="Calibri" pitchFamily="34" charset="-120"/>
              </a:rPr>
              <a:t>Vietnam</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marL="0" indent="0" algn="ctr">
              <a:buNone/>
            </a:pPr>
            <a:r>
              <a:rPr lang="vi-VN" sz="1200" dirty="0" err="1">
                <a:solidFill>
                  <a:srgbClr val="5B6578"/>
                </a:solidFill>
                <a:latin typeface="Calibri" pitchFamily="34" charset="0"/>
                <a:ea typeface="Calibri" pitchFamily="34" charset="-122"/>
                <a:cs typeface="Calibri" pitchFamily="34" charset="-120"/>
              </a:rPr>
              <a:t>Automotive</a:t>
            </a:r>
            <a:r>
              <a:rPr lang="vi-VN" sz="1200" dirty="0">
                <a:solidFill>
                  <a:srgbClr val="5B6578"/>
                </a:solidFill>
                <a:latin typeface="Calibri" pitchFamily="34" charset="0"/>
                <a:ea typeface="Calibri" pitchFamily="34" charset="-122"/>
                <a:cs typeface="Calibri" pitchFamily="34" charset="-120"/>
              </a:rPr>
              <a:t> ECU </a:t>
            </a:r>
            <a:r>
              <a:rPr lang="vi-VN" sz="1200" dirty="0" err="1">
                <a:solidFill>
                  <a:srgbClr val="5B6578"/>
                </a:solidFill>
                <a:latin typeface="Calibri" pitchFamily="34" charset="0"/>
                <a:ea typeface="Calibri" pitchFamily="34" charset="-122"/>
                <a:cs typeface="Calibri" pitchFamily="34" charset="-120"/>
              </a:rPr>
              <a:t>Testing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for</a:t>
            </a:r>
            <a:r>
              <a:rPr lang="vi-VN" sz="1200" dirty="0">
                <a:solidFill>
                  <a:srgbClr val="5B6578"/>
                </a:solidFill>
                <a:latin typeface="Calibri" pitchFamily="34" charset="0"/>
                <a:ea typeface="Calibri" pitchFamily="34" charset="-122"/>
                <a:cs typeface="Calibri" pitchFamily="34" charset="-120"/>
              </a:rPr>
              <a:t> ADAS </a:t>
            </a:r>
            <a:r>
              <a:rPr lang="vi-VN" sz="1200" dirty="0" err="1">
                <a:solidFill>
                  <a:srgbClr val="5B6578"/>
                </a:solidFill>
                <a:latin typeface="Calibri" pitchFamily="34" charset="0"/>
                <a:ea typeface="Calibri" pitchFamily="34" charset="-122"/>
                <a:cs typeface="Calibri" pitchFamily="34" charset="-120"/>
              </a:rPr>
              <a:t>system</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marL="0" indent="0" algn="ctr">
              <a:buNone/>
            </a:pPr>
            <a:r>
              <a:rPr lang="vi-VN" sz="1200" dirty="0" err="1">
                <a:solidFill>
                  <a:srgbClr val="5B6578"/>
                </a:solidFill>
                <a:latin typeface="Calibri" pitchFamily="34" charset="0"/>
                <a:ea typeface="Calibri" pitchFamily="34" charset="-122"/>
                <a:cs typeface="Calibri" pitchFamily="34" charset="-120"/>
              </a:rPr>
              <a:t>Research</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Software</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Testing</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and</a:t>
            </a:r>
            <a:r>
              <a:rPr lang="vi-VN" sz="1200" dirty="0">
                <a:solidFill>
                  <a:srgbClr val="5B6578"/>
                </a:solidFill>
                <a:latin typeface="Calibri" pitchFamily="34" charset="0"/>
                <a:ea typeface="Calibri" pitchFamily="34" charset="-122"/>
                <a:cs typeface="Calibri" pitchFamily="34" charset="-120"/>
              </a:rPr>
              <a:t> </a:t>
            </a:r>
            <a:r>
              <a:rPr lang="vi-VN" sz="1200" dirty="0" err="1">
                <a:solidFill>
                  <a:srgbClr val="5B6578"/>
                </a:solidFill>
                <a:latin typeface="Calibri" pitchFamily="34" charset="0"/>
                <a:ea typeface="Calibri" pitchFamily="34" charset="-122"/>
                <a:cs typeface="Calibri" pitchFamily="34" charset="-120"/>
              </a:rPr>
              <a:t>Verification</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a:t>
            </a:r>
            <a:r>
              <a:rPr lang="vi-VN" sz="1400" b="1" dirty="0">
                <a:solidFill>
                  <a:srgbClr val="1E2533"/>
                </a:solidFill>
                <a:latin typeface="Calibri" pitchFamily="34" charset="0"/>
                <a:ea typeface="Calibri" pitchFamily="34" charset="-122"/>
                <a:cs typeface="Calibri" pitchFamily="34" charset="-120"/>
              </a:rPr>
              <a:t>T</a:t>
            </a:r>
            <a:r>
              <a:rPr lang="en-US" sz="1400" b="1" dirty="0">
                <a:solidFill>
                  <a:srgbClr val="1E2533"/>
                </a:solidFill>
                <a:latin typeface="Calibri" pitchFamily="34" charset="0"/>
                <a:ea typeface="Calibri" pitchFamily="34" charset="-122"/>
                <a:cs typeface="Calibri" pitchFamily="34" charset="-120"/>
              </a:rPr>
              <a:t>est </a:t>
            </a:r>
            <a:r>
              <a:rPr lang="vi-VN" sz="1400" b="1" dirty="0">
                <a:solidFill>
                  <a:srgbClr val="1E2533"/>
                </a:solidFill>
                <a:latin typeface="Calibri" pitchFamily="34" charset="0"/>
                <a:ea typeface="Calibri" pitchFamily="34" charset="-122"/>
                <a:cs typeface="Calibri" pitchFamily="34" charset="-120"/>
              </a:rPr>
              <a:t>E</a:t>
            </a:r>
            <a:r>
              <a:rPr lang="en-US" sz="1400" b="1" dirty="0" err="1">
                <a:solidFill>
                  <a:srgbClr val="1E2533"/>
                </a:solidFill>
                <a:latin typeface="Calibri" pitchFamily="34" charset="0"/>
                <a:ea typeface="Calibri" pitchFamily="34" charset="-122"/>
                <a:cs typeface="Calibri" pitchFamily="34" charset="-120"/>
              </a:rPr>
              <a:t>ngineer</a:t>
            </a:r>
            <a:endParaRPr lang="vi-VN" sz="1400" b="1" dirty="0">
              <a:solidFill>
                <a:srgbClr val="1E2533"/>
              </a:solidFill>
              <a:latin typeface="Calibri" pitchFamily="34" charset="0"/>
              <a:ea typeface="Calibri" pitchFamily="34" charset="-122"/>
              <a:cs typeface="Calibri" pitchFamily="34" charset="-120"/>
            </a:endParaRPr>
          </a:p>
          <a:p>
            <a:pPr marL="0" indent="0" algn="ctr">
              <a:buNone/>
            </a:pPr>
            <a:r>
              <a:rPr lang="vi-VN" sz="1400" b="1" dirty="0">
                <a:solidFill>
                  <a:srgbClr val="1E2533"/>
                </a:solidFill>
                <a:latin typeface="Calibri" pitchFamily="34" charset="0"/>
                <a:ea typeface="Calibri" pitchFamily="34" charset="-122"/>
                <a:cs typeface="Calibri" pitchFamily="34" charset="-120"/>
              </a:rPr>
              <a:t>BNF @ </a:t>
            </a:r>
            <a:r>
              <a:rPr lang="vi-VN" sz="1400" b="1" dirty="0" err="1">
                <a:solidFill>
                  <a:srgbClr val="1E2533"/>
                </a:solidFill>
                <a:latin typeface="Calibri" pitchFamily="34" charset="0"/>
                <a:ea typeface="Calibri" pitchFamily="34" charset="-122"/>
                <a:cs typeface="Calibri" pitchFamily="34" charset="-120"/>
              </a:rPr>
              <a:t>Korea</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a:t>
            </a:r>
            <a:endParaRPr lang="vi-VN" sz="1200" dirty="0">
              <a:solidFill>
                <a:srgbClr val="5B6578"/>
              </a:solidFill>
              <a:latin typeface="Calibri" pitchFamily="34" charset="0"/>
              <a:ea typeface="Calibri" pitchFamily="34" charset="-122"/>
              <a:cs typeface="Calibri" pitchFamily="34" charset="-120"/>
            </a:endParaRPr>
          </a:p>
          <a:p>
            <a:pPr marL="0" indent="0" algn="ctr">
              <a:buNone/>
            </a:pPr>
            <a:r>
              <a:rPr lang="en-US" sz="1200" dirty="0">
                <a:solidFill>
                  <a:srgbClr val="5B6578"/>
                </a:solidFill>
                <a:latin typeface="Calibri" pitchFamily="34" charset="0"/>
                <a:ea typeface="Calibri" pitchFamily="34" charset="-122"/>
                <a:cs typeface="Calibri" pitchFamily="34" charset="-120"/>
              </a:rPr>
              <a:t>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1" name="Text 24"/>
          <p:cNvSpPr txBox="1"/>
          <p:nvPr/>
        </p:nvSpPr>
        <p:spPr>
          <a:xfrm>
            <a:off x="822960" y="478231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C · WHAT I BRING</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Built QA-Flow end to end: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ground-truth check of QA-Flow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txBody>
          <a:bodyPr/>
          <a:lstStyle/>
          <a:p>
            <a:endParaRPr lang="en-US"/>
          </a:p>
        </p:txBody>
      </p:sp>
      <p:sp>
        <p:nvSpPr>
          <p:cNvPr id="25" name="Text 19"/>
          <p:cNvSpPr txBox="1"/>
          <p:nvPr/>
        </p:nvSpPr>
        <p:spPr>
          <a:xfrm>
            <a:off x="8321040" y="1508760"/>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work sits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38047" y="2113571"/>
            <a:ext cx="10515600" cy="1097280"/>
          </a:xfrm>
          <a:prstGeom prst="rect">
            <a:avLst/>
          </a:prstGeom>
          <a:noFill/>
          <a:ln/>
        </p:spPr>
        <p:txBody>
          <a:bodyPr wrap="square" lIns="0" tIns="0" rIns="0" bIns="0" rtlCol="0" anchor="t"/>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1752447" y="3076303"/>
            <a:ext cx="8686800" cy="1737360"/>
          </a:xfrm>
          <a:prstGeom prst="rect">
            <a:avLst/>
          </a:prstGeom>
          <a:noFill/>
          <a:ln/>
        </p:spPr>
        <p:txBody>
          <a:bodyPr wrap="square" lIns="0" tIns="0" rIns="0" bIns="0" rtlCol="0" anchor="t"/>
          <a:lstStyle/>
          <a:p>
            <a:pPr marL="177800" indent="-177800">
              <a:spcAft>
                <a:spcPts val="600"/>
              </a:spcAft>
              <a:buSzPct val="100000"/>
              <a:buChar char="•"/>
            </a:pPr>
            <a:endParaRPr lang="en-US" sz="1800" dirty="0"/>
          </a:p>
        </p:txBody>
      </p:sp>
      <p:pic>
        <p:nvPicPr>
          <p:cNvPr id="5" name="Image 0" descr="D:\git\phd\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3200400"/>
        </p:xfrm>
        <a:graphic>
          <a:graphicData uri="http://schemas.openxmlformats.org/drawingml/2006/table">
            <a:tbl>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7"/>
                  </a:ext>
                </a:extLst>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7726680" y="1463040"/>
            <a:ext cx="374904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Wrong test = still fails after the planted defects are fixed;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Ground truth and prompts designed by me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Independent labelling; several prompt variants; pre-registered designs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web shop, one AI model, 62 tests in one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6 wrong tests out of 18 FAILs: small numbers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Repeated runs, larger benchmarks,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5757</Words>
  <Application>Microsoft Office PowerPoint</Application>
  <PresentationFormat>Widescreen</PresentationFormat>
  <Paragraphs>406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InnoGuard Interview</vt:lpstr>
      <vt:lpstr>When can we trust AI-generated tests? Uncertainty quantification for risk-based testing of autonomous CPS</vt:lpstr>
      <vt:lpstr>Turning specifications into tests by hand does not scale</vt:lpstr>
      <vt:lpstr>QA-Flow: from a requirements document to a bug report</vt:lpstr>
      <vt:lpstr>It finds real bugs — but 6 of its 18 FAILs are false alarms</vt:lpstr>
      <vt:lpstr>What PASS, FAIL, REVIEW and false alarm mean</vt:lpstr>
      <vt:lpstr>Inside one wrong test: the SAVE10 discount code</vt:lpstr>
      <vt:lpstr>The rules check the form of a test, not its meaning</vt:lpstr>
      <vt:lpstr>When can we trust an AI-generated test?</vt:lpstr>
      <vt:lpstr>The four PhD objectives</vt:lpstr>
      <vt:lpstr>From Demo 1's gaps to the PhD plan</vt:lpstr>
      <vt:lpstr>Research questions and how I will answer them</vt:lpstr>
      <vt:lpstr>36-month plan with secondment and publications</vt:lpstr>
      <vt:lpstr>Expected contributions to InnoGuard</vt:lpstr>
      <vt:lpstr>My Background</vt:lpstr>
      <vt:lpstr>What I bring, and why this team</vt:lpstr>
      <vt:lpstr>Thank you</vt:lpstr>
      <vt:lpstr>Backup · QA-Flow demo: planted defects, faults and gates</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Henry Le</cp:lastModifiedBy>
  <cp:revision>5</cp:revision>
  <dcterms:created xsi:type="dcterms:W3CDTF">2026-10-27T13:53:07Z</dcterms:created>
  <dcterms:modified xsi:type="dcterms:W3CDTF">2026-10-27T14:31:29Z</dcterms:modified>
</cp:coreProperties>
</file>
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77" r:id="rId3"/>
    <p:sldId id="27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E047273-5134-1B34-9BB5-4B040650920D}">
          <p14:sldIdLst>
            <p14:sldId id="256"/>
          </p14:sldIdLst>
        </p14:section>
        <p14:section name="A · The problem I hit (Demo 1)" id="{7CB31AD3-2173-C118-479C-3CF3B0A622F3}">
          <p14:sldIdLst>
            <p14:sldId id="277"/>
            <p14:sldId id="278"/>
            <p14:sldId id="260"/>
            <p14:sldId id="261"/>
            <p14:sldId id="262"/>
          </p14:sldIdLst>
        </p14:section>
        <p14:section name="B · The PhD plan" id="{412C0BE4-6EA0-9AA4-2DCD-79540D27899C}">
          <p14:sldIdLst>
            <p14:sldId id="263"/>
            <p14:sldId id="264"/>
            <p14:sldId id="265"/>
            <p14:sldId id="266"/>
            <p14:sldId id="267"/>
            <p14:sldId id="268"/>
          </p14:sldIdLst>
        </p14:section>
        <p14:section name="C · What I can contribute" id="{03556DD3-1E2B-7DF6-7E99-B7D8504A12EA}">
          <p14:sldIdLst>
            <p14:sldId id="269"/>
            <p14:sldId id="270"/>
            <p14:sldId id="271"/>
          </p14:sldIdLst>
        </p14:section>
        <p14:section name="Backup" id="{C61593C6-5102-FA52-BA51-8BCDB6E68A39}">
          <p14:sldIdLst>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8535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 you for the invitation. My talk has three parts: first a real problem I hit with my own AI testing tool, shown in a demo; then how I want to solve it in the PhD, along the four objectives of the position; and finally what I bring.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motivation comes from my daily work as a tester. For every release we read the specification, write test cases, write scripts, run them and file bugs — and when the specification changes, we do it again. The bottleneck is test design, not execution. LLMs can now read specifications and write tests, so I asked: can one pipeline go from the document to the report?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QA-Flow, the tool I started from. Its six stages: the requirements document plus a discovery of the running application; retrieval over the documents; three LLM agents; a closed step language that code compiles into Playwright scripts; execution of web, API and security tests; and a report. Trust is handled by four hand-written rules. The demo application, ShopLite, contains seven planted defects so we know what should be found.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QA-Flow extracted 34 requirements and ran 62 tests, and it found 5 of the 7 planted defects. But when I re-ran every failing test on a build with the planted defects fixed, 6 of the 18 FAILs still failed: the bug was in the AI's test, not in the shop. Every one of them passed all four trust rules. So the rules cannot tell a wrong test from a real defect. Let me show you one up close.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one of these wrong tests up close, because it explains the whole problem. The requirement says the code SAVE10 gives ten percent off. On the left is what a correct test would do: put a pair of shoes for 89 euros in the cart, enter SAVE10, and expect 80 euros 10. ShopLite has a planted bug and shows 79 euros, so the correct test fails and finds the bug. On the right is what the AI's test actually did: it opened the cart without adding anything, so the cart was empty, it never reached the discount, it saw zero euros and failed. The report files this as a bug, but the bug is in the test, and the real discount bug was never tested. The privacy tests made the same kind of mistake: they logged in the wrong way, got 'not logged in', and never checked whether one customer can see another customer's orders.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none of QA-Flow's rules catch it? Look at what each rule checks. The schema check: the answer is well-formed, passed. Grounding: the pages and fields exist and the quote is word-for-word, passed. The review flag: the test has a source, so it is not flagged. The fault-injection gate only looks at passing tests, and this one failed. So every rule checks the form of the test, and no rule asks whether the test really tests the requirement. A test can be wrong in three ways: the wrong scenario, the wrong check, or a test that catches no bug. In a web shop that wastes time. In an autonomous car, a wrong test means false safety, and AI is already being used to engineer exactly these systems.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leads to the question of my PhD: when can we trust an AI-generated test? My idea is simple: ask the AI for the same test several times and compare what the tests do. If they agree, we can trust them more; if they scatter, a human should look. This idea works for chatbot answers, in work on semantic entropy and self-consistency, but nobody has studied it for executable tests. It builds directly on your work: uncertainty-wise testing of cyber-physical systems, testing of driving systems and falsification, industrial oracles for elevators, and the use of foundation models in CPS engineering.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I read the four objectives of the position, phrased as questions. What Demo 1 cannot do yet maps onto them.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thing Demo 1 cannot do becomes an objective. The rules cannot tell a wrong test from a real defect: I need uncertainty signals for every generated test, that is O1. Every FAIL looks the same, so a human checks all of them: I need risk-based decisions, O2. Wrong tests hid real bugs, and we have no measure of what a generated test is worth: a study of uncertainty against correctness, bug-finding power and cost, O3. And everything so far is one web shop and one model: the PhD moves to autonomous systems, industrial cases and newer models, O4.</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research questions, one per objective, each with its method, evaluated on open-source ACPS, industrial cases through the network such as the Mondragon elevator systems, and the InnoGuard platform, with fault-injection or expert ground truth.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36-month plan. Year 1: a mapping study, an open benchmark that includes both QA-Flow-style web/API artefacts and ACPS tests, and the first metric suite. Year 2: the empirical study, risk methods and the planned secondment at Mondragon. Year 3: industrial and InnoGuard-platform evaluation, the quantum ML extension, and the thesis. Secondment dates are indicative.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contributions — metrics, risk methods, empirical evidence and open artefacts — published at the main SE venues and developed jointly across the network, with the Mondragon secondment as the industrial anchor.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path: from hardware to automotive software testing at Bosch, then research on falsification and test generation for controller software at Kyungpook National University, and now LLM-based testing in industry — which is where QA-Flow comes from. The common thread is making automated testing of safety-relevant software trustworthy.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bring maps onto the preferred profile: CPS testing practice, verification research, hands-on LLM tooling — QA-Flow in this talk — and empirical studies. And why this team: uncertainty-wise CPS testing at Simula, ADS testing and falsification with Prof. Arcaini, industrial oracles at Mondragon. My work sits exactly where these meet.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QA-Flow lets AI write and run tests end to end, and it finds real bugs. But its rules cannot spot the AI's own wrong tests. My PhD is about measuring when AI-generated tests can be trusted, with metrics, risk methods, evidence and transfer to autonomous systems, along O1 to O4. Thank you — I look forward to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Details of the QA-Flow run behind Demo 1: which planted defects were found by which tests, and how many outputs each trust rule caught.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threats: planted defects and my own ground truth define what counts as wrong; one shop, one model and one run; and small numbers. Each has a mitigation in the plan.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objective 4: shot-based sampling is a natural analogue to sampling an LLM, so the same disagreement-based metrics can be tested, with quantum noise as an extra source of uncertainty.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3213C"/>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10515600" cy="1097280"/>
          </a:xfrm>
          <a:prstGeom prst="rect">
            <a:avLst/>
          </a:prstGeom>
          <a:noFill/>
          <a:ln/>
        </p:spPr>
        <p:txBody>
          <a:bodyPr wrap="square" rtlCol="0"/>
          <a:lstStyle>
            <a:lvl1pPr marL="0" indent="0" algn="l">
              <a:buNone/>
              <a:defRPr lang="en-US" sz="4000" b="1" dirty="0">
                <a:solidFill>
                  <a:srgbClr val="FFFFFF"/>
                </a:solidFill>
                <a:latin typeface="Calibri" pitchFamily="34" charset="0"/>
                <a:ea typeface="Calibri" pitchFamily="34" charset="-122"/>
                <a:cs typeface="Calibri" pitchFamily="34" charset="-120"/>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rtlCol="0"/>
          <a:lstStyle>
            <a:lvl1pPr marL="0" indent="0">
              <a:buNone/>
              <a:defRPr lang="en-US" sz="3000" b="1" dirty="0">
                <a:solidFill>
                  <a:srgbClr val="13213C"/>
                </a:solidFill>
                <a:latin typeface="Cambria" pitchFamily="34" charset="0"/>
                <a:ea typeface="Cambria" pitchFamily="34" charset="-122"/>
                <a:cs typeface="Cambria" pitchFamily="34" charset="-120"/>
              </a:defRPr>
            </a:lvl1pPr>
          </a:lstStyle>
          <a:p>
            <a:pPr marL="0" indent="0">
              <a:buNone/>
            </a:pPr>
            <a:endParaRPr lang="en-US" sz="3000" dirty="0"/>
          </a:p>
        </p:txBody>
      </p:sp>
      <p:sp>
        <p:nvSpPr>
          <p:cNvPr id="3" name="Text 0"/>
          <p:cNvSpPr/>
          <p:nvPr/>
        </p:nvSpPr>
        <p:spPr>
          <a:xfrm>
            <a:off x="548640" y="6473952"/>
            <a:ext cx="6400800" cy="274320"/>
          </a:xfrm>
          <a:prstGeom prst="rect">
            <a:avLst/>
          </a:prstGeom>
          <a:noFill/>
          <a:ln/>
        </p:spPr>
        <p:txBody>
          <a:bodyPr wrap="square" lIns="0" tIns="0" rIns="0" bIns="0" rtlCol="0" anchor="ctr"/>
          <a:lstStyle/>
          <a:p>
            <a:pPr marL="0" indent="0">
              <a:buNone/>
            </a:pPr>
            <a:r>
              <a:rPr lang="en-US" sz="1000" dirty="0">
                <a:solidFill>
                  <a:srgbClr val="5B6578"/>
                </a:solidFill>
                <a:latin typeface="Calibri" pitchFamily="34" charset="0"/>
                <a:ea typeface="Calibri" pitchFamily="34" charset="-122"/>
                <a:cs typeface="Calibri" pitchFamily="34" charset="-120"/>
              </a:rPr>
              <a:t>Za Vinh Le  ·  PhD research proposal  ·  InnoGuard @ Simula</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8.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25880"/>
            <a:ext cx="10058400" cy="365760"/>
          </a:xfrm>
          <a:prstGeom prst="rect">
            <a:avLst/>
          </a:prstGeom>
          <a:noFill/>
          <a:ln/>
        </p:spPr>
        <p:txBody>
          <a:bodyPr wrap="square" lIns="0" tIns="0" rIns="0" bIns="0" rtlCol="0" anchor="t"/>
          <a:lstStyle/>
          <a:p>
            <a:pPr marL="0" indent="0">
              <a:buNone/>
            </a:pPr>
            <a:r>
              <a:rPr lang="en-US" sz="1400" b="1" kern="0" spc="100" dirty="0">
                <a:solidFill>
                  <a:srgbClr val="CFE3F1"/>
                </a:solidFill>
                <a:latin typeface="Calibri" pitchFamily="34" charset="0"/>
                <a:ea typeface="Calibri" pitchFamily="34" charset="-122"/>
                <a:cs typeface="Calibri" pitchFamily="34" charset="-120"/>
              </a:rPr>
              <a:t>PhD RESEARCH PROPOSAL</a:t>
            </a:r>
            <a:endParaRPr lang="en-US" sz="1400" dirty="0"/>
          </a:p>
        </p:txBody>
      </p:sp>
      <p:sp>
        <p:nvSpPr>
          <p:cNvPr id="3" name="Text 0"/>
          <p:cNvSpPr>
            <a:spLocks noGrp="1"/>
          </p:cNvSpPr>
          <p:nvPr>
            <p:ph type="title" idx="100" hasCustomPrompt="1"/>
          </p:nvPr>
        </p:nvSpPr>
        <p:spPr>
          <a:xfrm>
            <a:off x="548640" y="1828800"/>
            <a:ext cx="10515600" cy="1097280"/>
          </a:xfrm>
          <a:prstGeom prst="rect">
            <a:avLst/>
          </a:prstGeom>
          <a:noFill/>
          <a:ln/>
        </p:spPr>
        <p:txBody>
          <a:bodyPr wrap="square" lIns="0" tIns="0" rIns="0" bIns="0" rtlCol="0" anchor="t"/>
          <a:lstStyle/>
          <a:p>
            <a:pPr marL="0" indent="0" algn="l">
              <a:buNone/>
            </a:pPr>
            <a:r>
              <a:rPr lang="en-US" sz="4000" b="1" dirty="0">
                <a:solidFill>
                  <a:srgbClr val="FFFFFF"/>
                </a:solidFill>
                <a:latin typeface="Calibri" pitchFamily="34" charset="0"/>
                <a:ea typeface="Calibri" pitchFamily="34" charset="-122"/>
                <a:cs typeface="Calibri" pitchFamily="34" charset="-120"/>
              </a:rPr>
              <a:t>When can we trust AI-generated tests?</a:t>
            </a:r>
            <a:endParaRPr lang="en-US" sz="4000" dirty="0"/>
          </a:p>
          <a:p>
            <a:pPr marL="0" indent="0" algn="l">
              <a:buNone/>
            </a:pPr>
            <a:r>
              <a:rPr lang="en-US" sz="4000" b="1" dirty="0">
                <a:solidFill>
                  <a:srgbClr val="FFFFFF"/>
                </a:solidFill>
                <a:latin typeface="Calibri" pitchFamily="34" charset="0"/>
                <a:ea typeface="Calibri" pitchFamily="34" charset="-122"/>
                <a:cs typeface="Calibri" pitchFamily="34" charset="-120"/>
              </a:rPr>
              <a:t>Uncertainty quantification for risk-based testing of autonomous CPS</a:t>
            </a:r>
            <a:endParaRPr lang="en-US" sz="4000" dirty="0"/>
          </a:p>
        </p:txBody>
      </p:sp>
      <p:sp>
        <p:nvSpPr>
          <p:cNvPr id="4" name="Text 2"/>
          <p:cNvSpPr txBox="1"/>
          <p:nvPr/>
        </p:nvSpPr>
        <p:spPr>
          <a:xfrm>
            <a:off x="548640" y="4526280"/>
            <a:ext cx="8229600" cy="45720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Za Vinh Le</a:t>
            </a:r>
            <a:endParaRPr lang="en-US" sz="2000" dirty="0"/>
          </a:p>
        </p:txBody>
      </p:sp>
      <p:pic>
        <p:nvPicPr>
          <p:cNvPr id="5" name="Image 0" descr="D:\git\phd\uq-testgen\deck\assets\strip.png"/>
          <p:cNvPicPr>
            <a:picLocks noChangeAspect="1"/>
          </p:cNvPicPr>
          <p:nvPr/>
        </p:nvPicPr>
        <p:blipFill>
          <a:blip r:embed="rId3"/>
          <a:stretch>
            <a:fillRect/>
          </a:stretch>
        </p:blipFill>
        <p:spPr>
          <a:xfrm>
            <a:off x="0" y="5641848"/>
            <a:ext cx="12191695" cy="12191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4F46E5"/>
                </a:solidFill>
                <a:latin typeface="Calibri" pitchFamily="34" charset="0"/>
                <a:ea typeface="Calibri" pitchFamily="34" charset="-122"/>
                <a:cs typeface="Calibri" pitchFamily="34" charset="-120"/>
              </a:rPr>
              <a:t>MOTIVATION</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Turning specifications into tests by hand does not scale</a:t>
            </a:r>
            <a:endParaRPr lang="en-US" sz="3000" dirty="0"/>
          </a:p>
        </p:txBody>
      </p:sp>
      <p:sp>
        <p:nvSpPr>
          <p:cNvPr id="4" name="Shape 2"/>
          <p:cNvSpPr/>
          <p:nvPr/>
        </p:nvSpPr>
        <p:spPr>
          <a:xfrm>
            <a:off x="1338042" y="14173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498062" y="1577340"/>
            <a:ext cx="320040" cy="320040"/>
          </a:xfrm>
          <a:prstGeom prst="rect">
            <a:avLst/>
          </a:prstGeom>
        </p:spPr>
      </p:pic>
      <p:sp>
        <p:nvSpPr>
          <p:cNvPr id="6" name="Text 3"/>
          <p:cNvSpPr txBox="1"/>
          <p:nvPr/>
        </p:nvSpPr>
        <p:spPr>
          <a:xfrm>
            <a:off x="548640" y="2148840"/>
            <a:ext cx="2218883" cy="32004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Read the spec</a:t>
            </a:r>
            <a:endParaRPr lang="en-US" sz="1500" dirty="0"/>
          </a:p>
        </p:txBody>
      </p:sp>
      <p:sp>
        <p:nvSpPr>
          <p:cNvPr id="7" name="Text 4"/>
          <p:cNvSpPr txBox="1"/>
          <p:nvPr/>
        </p:nvSpPr>
        <p:spPr>
          <a:xfrm>
            <a:off x="548640" y="2468880"/>
            <a:ext cx="2218883" cy="274320"/>
          </a:xfrm>
          <a:prstGeom prst="rect">
            <a:avLst/>
          </a:prstGeom>
          <a:noFill/>
          <a:ln/>
        </p:spPr>
        <p:txBody>
          <a:bodyPr wrap="square" lIns="0" tIns="0" rIns="0" bIns="0" rtlCol="0" anchor="t"/>
          <a:lstStyle/>
          <a:p>
            <a:pPr marL="0" indent="0" algn="ctr">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8" name="Shape 5"/>
          <p:cNvSpPr/>
          <p:nvPr/>
        </p:nvSpPr>
        <p:spPr>
          <a:xfrm>
            <a:off x="2115282" y="1627632"/>
            <a:ext cx="1304483" cy="219456"/>
          </a:xfrm>
          <a:prstGeom prst="rightArrow">
            <a:avLst/>
          </a:prstGeom>
          <a:solidFill>
            <a:srgbClr val="DDE3EC"/>
          </a:solidFill>
          <a:ln w="12700">
            <a:solidFill>
              <a:srgbClr val="DDE3EC"/>
            </a:solidFill>
            <a:prstDash val="solid"/>
          </a:ln>
        </p:spPr>
        <p:txBody>
          <a:bodyPr/>
          <a:lstStyle/>
          <a:p>
            <a:endParaRPr lang="en-US"/>
          </a:p>
        </p:txBody>
      </p:sp>
      <p:sp>
        <p:nvSpPr>
          <p:cNvPr id="9" name="Shape 6"/>
          <p:cNvSpPr/>
          <p:nvPr/>
        </p:nvSpPr>
        <p:spPr>
          <a:xfrm>
            <a:off x="3556925" y="14173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3716945" y="1577340"/>
            <a:ext cx="320040" cy="320040"/>
          </a:xfrm>
          <a:prstGeom prst="rect">
            <a:avLst/>
          </a:prstGeom>
        </p:spPr>
      </p:pic>
      <p:sp>
        <p:nvSpPr>
          <p:cNvPr id="11" name="Text 7"/>
          <p:cNvSpPr txBox="1"/>
          <p:nvPr/>
        </p:nvSpPr>
        <p:spPr>
          <a:xfrm>
            <a:off x="2767523" y="2148840"/>
            <a:ext cx="2218883" cy="32004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Write test cases</a:t>
            </a:r>
            <a:endParaRPr lang="en-US" sz="1500" dirty="0"/>
          </a:p>
        </p:txBody>
      </p:sp>
      <p:sp>
        <p:nvSpPr>
          <p:cNvPr id="12" name="Text 8"/>
          <p:cNvSpPr txBox="1"/>
          <p:nvPr/>
        </p:nvSpPr>
        <p:spPr>
          <a:xfrm>
            <a:off x="2767523" y="2468880"/>
            <a:ext cx="2218883" cy="274320"/>
          </a:xfrm>
          <a:prstGeom prst="rect">
            <a:avLst/>
          </a:prstGeom>
          <a:noFill/>
          <a:ln/>
        </p:spPr>
        <p:txBody>
          <a:bodyPr wrap="square" lIns="0" tIns="0" rIns="0" bIns="0" rtlCol="0" anchor="t"/>
          <a:lstStyle/>
          <a:p>
            <a:pPr marL="0" indent="0" algn="ctr">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13" name="Shape 9"/>
          <p:cNvSpPr/>
          <p:nvPr/>
        </p:nvSpPr>
        <p:spPr>
          <a:xfrm>
            <a:off x="4334165" y="1627632"/>
            <a:ext cx="1304483" cy="219456"/>
          </a:xfrm>
          <a:prstGeom prst="rightArrow">
            <a:avLst/>
          </a:prstGeom>
          <a:solidFill>
            <a:srgbClr val="DDE3EC"/>
          </a:solidFill>
          <a:ln w="12700">
            <a:solidFill>
              <a:srgbClr val="DDE3EC"/>
            </a:solidFill>
            <a:prstDash val="solid"/>
          </a:ln>
        </p:spPr>
        <p:txBody>
          <a:bodyPr/>
          <a:lstStyle/>
          <a:p>
            <a:endParaRPr lang="en-US"/>
          </a:p>
        </p:txBody>
      </p:sp>
      <p:sp>
        <p:nvSpPr>
          <p:cNvPr id="14" name="Shape 10"/>
          <p:cNvSpPr/>
          <p:nvPr/>
        </p:nvSpPr>
        <p:spPr>
          <a:xfrm>
            <a:off x="5775808" y="14173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5935828" y="1577340"/>
            <a:ext cx="320040" cy="320040"/>
          </a:xfrm>
          <a:prstGeom prst="rect">
            <a:avLst/>
          </a:prstGeom>
        </p:spPr>
      </p:pic>
      <p:sp>
        <p:nvSpPr>
          <p:cNvPr id="16" name="Text 11"/>
          <p:cNvSpPr txBox="1"/>
          <p:nvPr/>
        </p:nvSpPr>
        <p:spPr>
          <a:xfrm>
            <a:off x="4986406" y="2148840"/>
            <a:ext cx="2218883" cy="32004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Write scripts</a:t>
            </a:r>
            <a:endParaRPr lang="en-US" sz="1500" dirty="0"/>
          </a:p>
        </p:txBody>
      </p:sp>
      <p:sp>
        <p:nvSpPr>
          <p:cNvPr id="17" name="Text 12"/>
          <p:cNvSpPr txBox="1"/>
          <p:nvPr/>
        </p:nvSpPr>
        <p:spPr>
          <a:xfrm>
            <a:off x="4986406" y="2468880"/>
            <a:ext cx="2218883" cy="274320"/>
          </a:xfrm>
          <a:prstGeom prst="rect">
            <a:avLst/>
          </a:prstGeom>
          <a:noFill/>
          <a:ln/>
        </p:spPr>
        <p:txBody>
          <a:bodyPr wrap="square" lIns="0" tIns="0" rIns="0" bIns="0" rtlCol="0" anchor="t"/>
          <a:lstStyle/>
          <a:p>
            <a:pPr marL="0" indent="0" algn="ctr">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18" name="Shape 13"/>
          <p:cNvSpPr/>
          <p:nvPr/>
        </p:nvSpPr>
        <p:spPr>
          <a:xfrm>
            <a:off x="6553048" y="1627632"/>
            <a:ext cx="1304483" cy="219456"/>
          </a:xfrm>
          <a:prstGeom prst="rightArrow">
            <a:avLst/>
          </a:prstGeom>
          <a:solidFill>
            <a:srgbClr val="DDE3EC"/>
          </a:solidFill>
          <a:ln w="12700">
            <a:solidFill>
              <a:srgbClr val="DDE3EC"/>
            </a:solidFill>
            <a:prstDash val="solid"/>
          </a:ln>
        </p:spPr>
        <p:txBody>
          <a:bodyPr/>
          <a:lstStyle/>
          <a:p>
            <a:endParaRPr lang="en-US"/>
          </a:p>
        </p:txBody>
      </p:sp>
      <p:sp>
        <p:nvSpPr>
          <p:cNvPr id="19" name="Shape 14"/>
          <p:cNvSpPr/>
          <p:nvPr/>
        </p:nvSpPr>
        <p:spPr>
          <a:xfrm>
            <a:off x="7994691" y="14173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8154711" y="1577340"/>
            <a:ext cx="320040" cy="320040"/>
          </a:xfrm>
          <a:prstGeom prst="rect">
            <a:avLst/>
          </a:prstGeom>
        </p:spPr>
      </p:pic>
      <p:sp>
        <p:nvSpPr>
          <p:cNvPr id="21" name="Text 15"/>
          <p:cNvSpPr txBox="1"/>
          <p:nvPr/>
        </p:nvSpPr>
        <p:spPr>
          <a:xfrm>
            <a:off x="7205289" y="2148840"/>
            <a:ext cx="2218883" cy="32004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Run scripts</a:t>
            </a:r>
            <a:endParaRPr lang="en-US" sz="1500" dirty="0"/>
          </a:p>
        </p:txBody>
      </p:sp>
      <p:sp>
        <p:nvSpPr>
          <p:cNvPr id="22" name="Text 16"/>
          <p:cNvSpPr txBox="1"/>
          <p:nvPr/>
        </p:nvSpPr>
        <p:spPr>
          <a:xfrm>
            <a:off x="7205289" y="2468880"/>
            <a:ext cx="2218883" cy="274320"/>
          </a:xfrm>
          <a:prstGeom prst="rect">
            <a:avLst/>
          </a:prstGeom>
          <a:noFill/>
          <a:ln/>
        </p:spPr>
        <p:txBody>
          <a:bodyPr wrap="square" lIns="0" tIns="0" rIns="0" bIns="0" rtlCol="0" anchor="t"/>
          <a:lstStyle/>
          <a:p>
            <a:pPr marL="0" indent="0" algn="ctr">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23" name="Shape 17"/>
          <p:cNvSpPr/>
          <p:nvPr/>
        </p:nvSpPr>
        <p:spPr>
          <a:xfrm>
            <a:off x="8771931" y="1627632"/>
            <a:ext cx="1304483" cy="219456"/>
          </a:xfrm>
          <a:prstGeom prst="rightArrow">
            <a:avLst/>
          </a:prstGeom>
          <a:solidFill>
            <a:srgbClr val="DDE3EC"/>
          </a:solidFill>
          <a:ln w="12700">
            <a:solidFill>
              <a:srgbClr val="DDE3EC"/>
            </a:solidFill>
            <a:prstDash val="solid"/>
          </a:ln>
        </p:spPr>
        <p:txBody>
          <a:bodyPr/>
          <a:lstStyle/>
          <a:p>
            <a:endParaRPr lang="en-US"/>
          </a:p>
        </p:txBody>
      </p:sp>
      <p:sp>
        <p:nvSpPr>
          <p:cNvPr id="24" name="Shape 18"/>
          <p:cNvSpPr/>
          <p:nvPr/>
        </p:nvSpPr>
        <p:spPr>
          <a:xfrm>
            <a:off x="10213574" y="1417320"/>
            <a:ext cx="640080" cy="640080"/>
          </a:xfrm>
          <a:prstGeom prst="ellipse">
            <a:avLst/>
          </a:prstGeom>
          <a:solidFill>
            <a:srgbClr val="5B6578"/>
          </a:solidFill>
          <a:ln w="12700">
            <a:solidFill>
              <a:srgbClr val="5B6578"/>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10373594" y="1577340"/>
            <a:ext cx="320040" cy="320040"/>
          </a:xfrm>
          <a:prstGeom prst="rect">
            <a:avLst/>
          </a:prstGeom>
        </p:spPr>
      </p:pic>
      <p:sp>
        <p:nvSpPr>
          <p:cNvPr id="26" name="Text 19"/>
          <p:cNvSpPr txBox="1"/>
          <p:nvPr/>
        </p:nvSpPr>
        <p:spPr>
          <a:xfrm>
            <a:off x="9424172" y="2148840"/>
            <a:ext cx="2218883" cy="320040"/>
          </a:xfrm>
          <a:prstGeom prst="rect">
            <a:avLst/>
          </a:prstGeom>
          <a:noFill/>
          <a:ln/>
        </p:spPr>
        <p:txBody>
          <a:bodyPr wrap="square" lIns="0" tIns="0" rIns="0" bIns="0" rtlCol="0" anchor="t"/>
          <a:lstStyle/>
          <a:p>
            <a:pPr marL="0" indent="0" algn="ctr">
              <a:buNone/>
            </a:pPr>
            <a:r>
              <a:rPr lang="en-US" sz="1500" b="1" dirty="0">
                <a:solidFill>
                  <a:srgbClr val="13213C"/>
                </a:solidFill>
                <a:latin typeface="Calibri" pitchFamily="34" charset="0"/>
                <a:ea typeface="Calibri" pitchFamily="34" charset="-122"/>
                <a:cs typeface="Calibri" pitchFamily="34" charset="-120"/>
              </a:rPr>
              <a:t>Test reports</a:t>
            </a:r>
          </a:p>
          <a:p>
            <a:pPr marL="0" indent="0" algn="ctr">
              <a:buNone/>
            </a:pPr>
            <a:r>
              <a:rPr lang="en-US" sz="1500" b="1" dirty="0">
                <a:solidFill>
                  <a:srgbClr val="13213C"/>
                </a:solidFill>
                <a:latin typeface="Calibri" pitchFamily="34" charset="0"/>
                <a:ea typeface="Calibri" pitchFamily="34" charset="-122"/>
                <a:cs typeface="Calibri" pitchFamily="34" charset="-120"/>
              </a:rPr>
              <a:t>T</a:t>
            </a:r>
            <a:endParaRPr lang="en-US" sz="1500" dirty="0"/>
          </a:p>
        </p:txBody>
      </p:sp>
      <p:sp>
        <p:nvSpPr>
          <p:cNvPr id="27" name="Text 20"/>
          <p:cNvSpPr txBox="1"/>
          <p:nvPr/>
        </p:nvSpPr>
        <p:spPr>
          <a:xfrm>
            <a:off x="9424172" y="2468880"/>
            <a:ext cx="2218883" cy="274320"/>
          </a:xfrm>
          <a:prstGeom prst="rect">
            <a:avLst/>
          </a:prstGeom>
          <a:noFill/>
          <a:ln/>
        </p:spPr>
        <p:txBody>
          <a:bodyPr wrap="square" lIns="0" tIns="0" rIns="0" bIns="0" rtlCol="0" anchor="t"/>
          <a:lstStyle/>
          <a:p>
            <a:pPr marL="0" indent="0" algn="ctr">
              <a:buNone/>
            </a:pPr>
            <a:r>
              <a:rPr lang="en-US" sz="1200" i="1" dirty="0">
                <a:solidFill>
                  <a:srgbClr val="C8463D"/>
                </a:solidFill>
                <a:latin typeface="Calibri" pitchFamily="34" charset="0"/>
                <a:ea typeface="Calibri" pitchFamily="34" charset="-122"/>
                <a:cs typeface="Calibri" pitchFamily="34" charset="-120"/>
              </a:rPr>
              <a:t>manual</a:t>
            </a:r>
            <a:endParaRPr lang="en-US" sz="1200" dirty="0"/>
          </a:p>
        </p:txBody>
      </p:sp>
      <p:sp>
        <p:nvSpPr>
          <p:cNvPr id="28" name="Text 21"/>
          <p:cNvSpPr txBox="1"/>
          <p:nvPr/>
        </p:nvSpPr>
        <p:spPr>
          <a:xfrm>
            <a:off x="548640" y="3063240"/>
            <a:ext cx="6492240" cy="2377440"/>
          </a:xfrm>
          <a:prstGeom prst="rect">
            <a:avLst/>
          </a:prstGeom>
          <a:noFill/>
          <a:ln/>
        </p:spPr>
        <p:txBody>
          <a:bodyPr wrap="square" lIns="0" tIns="0" rIns="0" bIns="0" rtlCol="0" anchor="t"/>
          <a:lstStyle/>
          <a:p>
            <a:pPr marL="177800" indent="-177800">
              <a:lnSpc>
                <a:spcPct val="150000"/>
              </a:lnSpc>
              <a:buSzPct val="100000"/>
              <a:buChar char="•"/>
            </a:pPr>
            <a:r>
              <a:rPr lang="en-US" sz="1700" b="1" dirty="0">
                <a:solidFill>
                  <a:srgbClr val="1E2533"/>
                </a:solidFill>
                <a:latin typeface="Calibri" pitchFamily="34" charset="0"/>
                <a:ea typeface="Calibri" pitchFamily="34" charset="-122"/>
                <a:cs typeface="Calibri" pitchFamily="34" charset="-120"/>
              </a:rPr>
              <a:t>Every release, every spec change: </a:t>
            </a:r>
            <a:r>
              <a:rPr lang="en-US" sz="1700" dirty="0">
                <a:solidFill>
                  <a:srgbClr val="1E2533"/>
                </a:solidFill>
                <a:latin typeface="Calibri" pitchFamily="34" charset="0"/>
                <a:ea typeface="Calibri" pitchFamily="34" charset="-122"/>
                <a:cs typeface="Calibri" pitchFamily="34" charset="-120"/>
              </a:rPr>
              <a:t>test cases and scripts are re-written for web, API and security testing</a:t>
            </a:r>
            <a:endParaRPr lang="en-US" sz="1700" dirty="0"/>
          </a:p>
          <a:p>
            <a:pPr marL="177800" indent="-177800">
              <a:lnSpc>
                <a:spcPct val="150000"/>
              </a:lnSpc>
              <a:buSzPct val="100000"/>
              <a:buChar char="•"/>
            </a:pPr>
            <a:r>
              <a:rPr lang="en-US" sz="1700" b="1" dirty="0">
                <a:solidFill>
                  <a:srgbClr val="1E2533"/>
                </a:solidFill>
                <a:latin typeface="Calibri" pitchFamily="34" charset="0"/>
                <a:ea typeface="Calibri" pitchFamily="34" charset="-122"/>
                <a:cs typeface="Calibri" pitchFamily="34" charset="-120"/>
              </a:rPr>
              <a:t>LLMs can now read specifications and write tests [27], </a:t>
            </a:r>
            <a:r>
              <a:rPr lang="en-US" sz="1700" dirty="0">
                <a:solidFill>
                  <a:srgbClr val="1E2533"/>
                </a:solidFill>
                <a:latin typeface="Calibri" pitchFamily="34" charset="0"/>
                <a:ea typeface="Calibri" pitchFamily="34" charset="-122"/>
                <a:cs typeface="Calibri" pitchFamily="34" charset="-120"/>
              </a:rPr>
              <a:t>which makes end-to-end automation possible</a:t>
            </a:r>
            <a:endParaRPr lang="en-US" sz="1700" dirty="0"/>
          </a:p>
        </p:txBody>
      </p:sp>
      <p:sp>
        <p:nvSpPr>
          <p:cNvPr id="29" name="Shape 22"/>
          <p:cNvSpPr/>
          <p:nvPr/>
        </p:nvSpPr>
        <p:spPr>
          <a:xfrm>
            <a:off x="7315200" y="3063240"/>
            <a:ext cx="4325112" cy="1280160"/>
          </a:xfrm>
          <a:prstGeom prst="roundRect">
            <a:avLst>
              <a:gd name="adj" fmla="val 4898"/>
            </a:avLst>
          </a:prstGeom>
          <a:solidFill>
            <a:srgbClr val="EEF0FE"/>
          </a:solidFill>
          <a:ln w="12700">
            <a:solidFill>
              <a:srgbClr val="EEF0FE"/>
            </a:solidFill>
            <a:prstDash val="solid"/>
          </a:ln>
        </p:spPr>
        <p:txBody>
          <a:bodyPr/>
          <a:lstStyle/>
          <a:p>
            <a:endParaRPr lang="en-US"/>
          </a:p>
        </p:txBody>
      </p:sp>
      <p:sp>
        <p:nvSpPr>
          <p:cNvPr id="30" name="Text 23"/>
          <p:cNvSpPr txBox="1"/>
          <p:nvPr/>
        </p:nvSpPr>
        <p:spPr>
          <a:xfrm>
            <a:off x="7589520" y="3246120"/>
            <a:ext cx="3840480" cy="365760"/>
          </a:xfrm>
          <a:prstGeom prst="rect">
            <a:avLst/>
          </a:prstGeom>
          <a:noFill/>
          <a:ln/>
        </p:spPr>
        <p:txBody>
          <a:bodyPr wrap="square" lIns="0" tIns="0" rIns="0" bIns="0" rtlCol="0" anchor="t"/>
          <a:lstStyle/>
          <a:p>
            <a:pPr marL="0" indent="0">
              <a:buNone/>
            </a:pPr>
            <a:r>
              <a:rPr lang="en-US" sz="1600" b="1" dirty="0">
                <a:solidFill>
                  <a:srgbClr val="4F46E5"/>
                </a:solidFill>
                <a:latin typeface="Calibri" pitchFamily="34" charset="0"/>
                <a:ea typeface="Calibri" pitchFamily="34" charset="-122"/>
                <a:cs typeface="Calibri" pitchFamily="34" charset="-120"/>
              </a:rPr>
              <a:t>Goal</a:t>
            </a:r>
          </a:p>
        </p:txBody>
      </p:sp>
      <p:sp>
        <p:nvSpPr>
          <p:cNvPr id="31" name="Text 24"/>
          <p:cNvSpPr txBox="1"/>
          <p:nvPr/>
        </p:nvSpPr>
        <p:spPr>
          <a:xfrm>
            <a:off x="7589520" y="3535680"/>
            <a:ext cx="3840480" cy="701040"/>
          </a:xfrm>
          <a:prstGeom prst="rect">
            <a:avLst/>
          </a:prstGeom>
          <a:noFill/>
          <a:ln/>
        </p:spPr>
        <p:txBody>
          <a:bodyPr wrap="square" lIns="0" tIns="0" rIns="0" bIns="0" rtlCol="0" anchor="t"/>
          <a:lstStyle/>
          <a:p>
            <a:pPr marL="0" indent="0">
              <a:lnSpc>
                <a:spcPct val="150000"/>
              </a:lnSpc>
              <a:buNone/>
            </a:pPr>
            <a:r>
              <a:rPr lang="en-US" sz="1500" dirty="0">
                <a:solidFill>
                  <a:srgbClr val="1E2533"/>
                </a:solidFill>
                <a:latin typeface="Calibri" pitchFamily="34" charset="0"/>
                <a:ea typeface="Calibri" pitchFamily="34" charset="-122"/>
                <a:cs typeface="Calibri" pitchFamily="34" charset="-120"/>
              </a:rPr>
              <a:t>One pipeline from requirement document to test reports using LLM</a:t>
            </a:r>
          </a:p>
        </p:txBody>
      </p:sp>
      <p:sp>
        <p:nvSpPr>
          <p:cNvPr id="32" name="Text 25"/>
          <p:cNvSpPr txBox="1"/>
          <p:nvPr/>
        </p:nvSpPr>
        <p:spPr>
          <a:xfrm>
            <a:off x="548640" y="5897880"/>
            <a:ext cx="11094415" cy="53035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[27] J. Wang et al., “Software testing with large language models: Survey, landscape, and vision,” IEEE TSE, 2024.</a:t>
            </a:r>
            <a:endParaRPr lang="en-US" sz="900" dirty="0"/>
          </a:p>
        </p:txBody>
      </p:sp>
      <p:sp>
        <p:nvSpPr>
          <p:cNvPr id="33"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4F46E5"/>
                </a:solidFill>
                <a:latin typeface="Calibri" pitchFamily="34" charset="0"/>
                <a:ea typeface="Calibri" pitchFamily="34" charset="-122"/>
                <a:cs typeface="Calibri" pitchFamily="34" charset="-120"/>
              </a:rPr>
              <a:t>IMPLEMENTATION</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QA-Flow: </a:t>
            </a:r>
            <a:r>
              <a:rPr lang="en-US" dirty="0"/>
              <a:t>F</a:t>
            </a:r>
            <a:r>
              <a:rPr lang="en-US" sz="3000" b="1" dirty="0">
                <a:solidFill>
                  <a:srgbClr val="13213C"/>
                </a:solidFill>
                <a:latin typeface="Cambria" pitchFamily="34" charset="0"/>
                <a:ea typeface="Cambria" pitchFamily="34" charset="-122"/>
                <a:cs typeface="Cambria" pitchFamily="34" charset="-120"/>
              </a:rPr>
              <a:t>rom a requirements document to test report</a:t>
            </a:r>
            <a:endParaRPr lang="en-US" sz="3000" dirty="0"/>
          </a:p>
        </p:txBody>
      </p:sp>
      <p:sp>
        <p:nvSpPr>
          <p:cNvPr id="4" name="Shape 2"/>
          <p:cNvSpPr/>
          <p:nvPr/>
        </p:nvSpPr>
        <p:spPr>
          <a:xfrm>
            <a:off x="1153135"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313155" y="1485900"/>
            <a:ext cx="320040" cy="320040"/>
          </a:xfrm>
          <a:prstGeom prst="rect">
            <a:avLst/>
          </a:prstGeom>
        </p:spPr>
      </p:pic>
      <p:sp>
        <p:nvSpPr>
          <p:cNvPr id="6" name="Text 3"/>
          <p:cNvSpPr txBox="1"/>
          <p:nvPr/>
        </p:nvSpPr>
        <p:spPr>
          <a:xfrm>
            <a:off x="548640"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Requirements &amp; specs</a:t>
            </a:r>
            <a:endParaRPr lang="en-US" sz="1400" dirty="0"/>
          </a:p>
        </p:txBody>
      </p:sp>
      <p:sp>
        <p:nvSpPr>
          <p:cNvPr id="8" name="Shape 5"/>
          <p:cNvSpPr/>
          <p:nvPr/>
        </p:nvSpPr>
        <p:spPr>
          <a:xfrm>
            <a:off x="1930375" y="153619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9" name="Shape 6"/>
          <p:cNvSpPr/>
          <p:nvPr/>
        </p:nvSpPr>
        <p:spPr>
          <a:xfrm>
            <a:off x="3002204"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3162224" y="1485900"/>
            <a:ext cx="320040" cy="320040"/>
          </a:xfrm>
          <a:prstGeom prst="rect">
            <a:avLst/>
          </a:prstGeom>
        </p:spPr>
      </p:pic>
      <p:sp>
        <p:nvSpPr>
          <p:cNvPr id="11" name="Text 7"/>
          <p:cNvSpPr txBox="1"/>
          <p:nvPr/>
        </p:nvSpPr>
        <p:spPr>
          <a:xfrm>
            <a:off x="2397709"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RAG over docs</a:t>
            </a:r>
            <a:endParaRPr lang="en-US" sz="1400" dirty="0"/>
          </a:p>
        </p:txBody>
      </p:sp>
      <p:sp>
        <p:nvSpPr>
          <p:cNvPr id="13" name="Shape 9"/>
          <p:cNvSpPr/>
          <p:nvPr/>
        </p:nvSpPr>
        <p:spPr>
          <a:xfrm>
            <a:off x="3779444" y="153619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14" name="Shape 10"/>
          <p:cNvSpPr/>
          <p:nvPr/>
        </p:nvSpPr>
        <p:spPr>
          <a:xfrm>
            <a:off x="4851273"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5011293" y="1485900"/>
            <a:ext cx="320040" cy="320040"/>
          </a:xfrm>
          <a:prstGeom prst="rect">
            <a:avLst/>
          </a:prstGeom>
        </p:spPr>
      </p:pic>
      <p:sp>
        <p:nvSpPr>
          <p:cNvPr id="16" name="Text 11"/>
          <p:cNvSpPr txBox="1"/>
          <p:nvPr/>
        </p:nvSpPr>
        <p:spPr>
          <a:xfrm>
            <a:off x="4246778"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LLM agents</a:t>
            </a:r>
            <a:endParaRPr lang="en-US" sz="1400" dirty="0"/>
          </a:p>
        </p:txBody>
      </p:sp>
      <p:sp>
        <p:nvSpPr>
          <p:cNvPr id="18" name="Shape 13"/>
          <p:cNvSpPr/>
          <p:nvPr/>
        </p:nvSpPr>
        <p:spPr>
          <a:xfrm>
            <a:off x="5628513" y="153619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19" name="Shape 14"/>
          <p:cNvSpPr/>
          <p:nvPr/>
        </p:nvSpPr>
        <p:spPr>
          <a:xfrm>
            <a:off x="6700342"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6860362" y="1485900"/>
            <a:ext cx="320040" cy="320040"/>
          </a:xfrm>
          <a:prstGeom prst="rect">
            <a:avLst/>
          </a:prstGeom>
        </p:spPr>
      </p:pic>
      <p:sp>
        <p:nvSpPr>
          <p:cNvPr id="21" name="Text 15"/>
          <p:cNvSpPr txBox="1"/>
          <p:nvPr/>
        </p:nvSpPr>
        <p:spPr>
          <a:xfrm>
            <a:off x="6095848"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Tests &amp; scripts</a:t>
            </a:r>
            <a:endParaRPr lang="en-US" sz="1400" dirty="0"/>
          </a:p>
        </p:txBody>
      </p:sp>
      <p:sp>
        <p:nvSpPr>
          <p:cNvPr id="23" name="Shape 17"/>
          <p:cNvSpPr/>
          <p:nvPr/>
        </p:nvSpPr>
        <p:spPr>
          <a:xfrm>
            <a:off x="7477582" y="153619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24" name="Shape 18"/>
          <p:cNvSpPr/>
          <p:nvPr/>
        </p:nvSpPr>
        <p:spPr>
          <a:xfrm>
            <a:off x="8549411"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8709431" y="1485900"/>
            <a:ext cx="320040" cy="320040"/>
          </a:xfrm>
          <a:prstGeom prst="rect">
            <a:avLst/>
          </a:prstGeom>
        </p:spPr>
      </p:pic>
      <p:sp>
        <p:nvSpPr>
          <p:cNvPr id="26" name="Text 19"/>
          <p:cNvSpPr txBox="1"/>
          <p:nvPr/>
        </p:nvSpPr>
        <p:spPr>
          <a:xfrm>
            <a:off x="7944917"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Execution</a:t>
            </a:r>
            <a:endParaRPr lang="en-US" sz="1400" dirty="0"/>
          </a:p>
        </p:txBody>
      </p:sp>
      <p:sp>
        <p:nvSpPr>
          <p:cNvPr id="28" name="Shape 21"/>
          <p:cNvSpPr/>
          <p:nvPr/>
        </p:nvSpPr>
        <p:spPr>
          <a:xfrm>
            <a:off x="9326651" y="1536192"/>
            <a:ext cx="934669" cy="219456"/>
          </a:xfrm>
          <a:prstGeom prst="rightArrow">
            <a:avLst/>
          </a:prstGeom>
          <a:solidFill>
            <a:srgbClr val="DDE3EC"/>
          </a:solidFill>
          <a:ln w="12700">
            <a:solidFill>
              <a:srgbClr val="DDE3EC"/>
            </a:solidFill>
            <a:prstDash val="solid"/>
          </a:ln>
        </p:spPr>
        <p:txBody>
          <a:bodyPr/>
          <a:lstStyle/>
          <a:p>
            <a:endParaRPr lang="en-US"/>
          </a:p>
        </p:txBody>
      </p:sp>
      <p:sp>
        <p:nvSpPr>
          <p:cNvPr id="29" name="Shape 22"/>
          <p:cNvSpPr/>
          <p:nvPr/>
        </p:nvSpPr>
        <p:spPr>
          <a:xfrm>
            <a:off x="10398481" y="1325880"/>
            <a:ext cx="640080" cy="640080"/>
          </a:xfrm>
          <a:prstGeom prst="ellipse">
            <a:avLst/>
          </a:prstGeom>
          <a:solidFill>
            <a:srgbClr val="4F46E5"/>
          </a:solidFill>
          <a:ln w="12700">
            <a:solidFill>
              <a:srgbClr val="4F46E5"/>
            </a:solidFill>
            <a:prstDash val="solid"/>
          </a:ln>
        </p:spPr>
        <p:txBody>
          <a:bodyPr/>
          <a:lstStyle/>
          <a:p>
            <a:endParaRPr lang="en-US"/>
          </a:p>
        </p:txBody>
      </p:sp>
      <p:pic>
        <p:nvPicPr>
          <p:cNvPr id="30" name="Image 5" descr="preencoded.png"/>
          <p:cNvPicPr>
            <a:picLocks noChangeAspect="1"/>
          </p:cNvPicPr>
          <p:nvPr/>
        </p:nvPicPr>
        <p:blipFill>
          <a:blip r:embed="rId8"/>
          <a:stretch>
            <a:fillRect/>
          </a:stretch>
        </p:blipFill>
        <p:spPr>
          <a:xfrm>
            <a:off x="10558501" y="1485900"/>
            <a:ext cx="320040" cy="320040"/>
          </a:xfrm>
          <a:prstGeom prst="rect">
            <a:avLst/>
          </a:prstGeom>
        </p:spPr>
      </p:pic>
      <p:sp>
        <p:nvSpPr>
          <p:cNvPr id="31" name="Text 23"/>
          <p:cNvSpPr txBox="1"/>
          <p:nvPr/>
        </p:nvSpPr>
        <p:spPr>
          <a:xfrm>
            <a:off x="9793986" y="2057400"/>
            <a:ext cx="1849069" cy="320040"/>
          </a:xfrm>
          <a:prstGeom prst="rect">
            <a:avLst/>
          </a:prstGeom>
          <a:noFill/>
          <a:ln/>
        </p:spPr>
        <p:txBody>
          <a:bodyPr wrap="square" lIns="0" tIns="0" rIns="0" bIns="0" rtlCol="0" anchor="t"/>
          <a:lstStyle/>
          <a:p>
            <a:pPr marL="0" indent="0" algn="ctr">
              <a:buNone/>
            </a:pPr>
            <a:r>
              <a:rPr lang="en-US" sz="1400" b="1" dirty="0">
                <a:solidFill>
                  <a:srgbClr val="13213C"/>
                </a:solidFill>
                <a:latin typeface="Calibri" pitchFamily="34" charset="0"/>
                <a:ea typeface="Calibri" pitchFamily="34" charset="-122"/>
                <a:cs typeface="Calibri" pitchFamily="34" charset="-120"/>
              </a:rPr>
              <a:t>Report</a:t>
            </a:r>
            <a:endParaRPr lang="en-US" sz="1400" dirty="0"/>
          </a:p>
        </p:txBody>
      </p:sp>
      <p:sp>
        <p:nvSpPr>
          <p:cNvPr id="33" name="Shape 25"/>
          <p:cNvSpPr/>
          <p:nvPr/>
        </p:nvSpPr>
        <p:spPr>
          <a:xfrm>
            <a:off x="548640" y="2926080"/>
            <a:ext cx="5440680" cy="2926080"/>
          </a:xfrm>
          <a:prstGeom prst="roundRect">
            <a:avLst>
              <a:gd name="adj" fmla="val 3750"/>
            </a:avLst>
          </a:prstGeom>
          <a:solidFill>
            <a:srgbClr val="F2F5F9"/>
          </a:solidFill>
          <a:ln w="12700">
            <a:solidFill>
              <a:srgbClr val="F2F5F9"/>
            </a:solidFill>
            <a:prstDash val="solid"/>
          </a:ln>
        </p:spPr>
        <p:txBody>
          <a:bodyPr/>
          <a:lstStyle/>
          <a:p>
            <a:endParaRPr lang="en-US"/>
          </a:p>
        </p:txBody>
      </p:sp>
      <p:sp>
        <p:nvSpPr>
          <p:cNvPr id="34" name="Text 26"/>
          <p:cNvSpPr txBox="1"/>
          <p:nvPr/>
        </p:nvSpPr>
        <p:spPr>
          <a:xfrm>
            <a:off x="822960" y="3090672"/>
            <a:ext cx="4937760" cy="365760"/>
          </a:xfrm>
          <a:prstGeom prst="rect">
            <a:avLst/>
          </a:prstGeom>
          <a:noFill/>
          <a:ln/>
        </p:spPr>
        <p:txBody>
          <a:bodyPr wrap="square" lIns="0" tIns="0" rIns="0" bIns="0" rtlCol="0" anchor="t"/>
          <a:lstStyle/>
          <a:p>
            <a:pPr marL="0" indent="0">
              <a:buNone/>
            </a:pPr>
            <a:r>
              <a:rPr lang="en-US" sz="1700" b="1" dirty="0">
                <a:solidFill>
                  <a:srgbClr val="13213C"/>
                </a:solidFill>
                <a:latin typeface="Calibri" pitchFamily="34" charset="0"/>
                <a:ea typeface="Calibri" pitchFamily="34" charset="-122"/>
                <a:cs typeface="Calibri" pitchFamily="34" charset="-120"/>
              </a:rPr>
              <a:t>Trust: hand-written rules</a:t>
            </a:r>
            <a:endParaRPr lang="en-US" sz="1700" dirty="0"/>
          </a:p>
        </p:txBody>
      </p:sp>
      <p:sp>
        <p:nvSpPr>
          <p:cNvPr id="35" name="Text 27"/>
          <p:cNvSpPr txBox="1"/>
          <p:nvPr/>
        </p:nvSpPr>
        <p:spPr>
          <a:xfrm>
            <a:off x="822960" y="3547872"/>
            <a:ext cx="4937760" cy="21945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Evidence required</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Uncertainty is flagged</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Fault-injection gate: every passing test is re-run on broken builds</a:t>
            </a:r>
            <a:endParaRPr lang="en-US" sz="1500" dirty="0"/>
          </a:p>
        </p:txBody>
      </p:sp>
      <p:sp>
        <p:nvSpPr>
          <p:cNvPr id="36" name="Shape 28"/>
          <p:cNvSpPr/>
          <p:nvPr/>
        </p:nvSpPr>
        <p:spPr>
          <a:xfrm>
            <a:off x="6199632" y="2926080"/>
            <a:ext cx="5440680" cy="2926080"/>
          </a:xfrm>
          <a:prstGeom prst="roundRect">
            <a:avLst>
              <a:gd name="adj" fmla="val 3750"/>
            </a:avLst>
          </a:prstGeom>
          <a:solidFill>
            <a:srgbClr val="EEF0FE"/>
          </a:solidFill>
          <a:ln w="12700">
            <a:solidFill>
              <a:srgbClr val="EEF0FE"/>
            </a:solidFill>
            <a:prstDash val="solid"/>
          </a:ln>
        </p:spPr>
        <p:txBody>
          <a:bodyPr/>
          <a:lstStyle/>
          <a:p>
            <a:endParaRPr lang="en-US"/>
          </a:p>
        </p:txBody>
      </p:sp>
      <p:sp>
        <p:nvSpPr>
          <p:cNvPr id="37" name="Text 29"/>
          <p:cNvSpPr txBox="1"/>
          <p:nvPr/>
        </p:nvSpPr>
        <p:spPr>
          <a:xfrm>
            <a:off x="6473952" y="3090672"/>
            <a:ext cx="4937760" cy="365760"/>
          </a:xfrm>
          <a:prstGeom prst="rect">
            <a:avLst/>
          </a:prstGeom>
          <a:noFill/>
          <a:ln/>
        </p:spPr>
        <p:txBody>
          <a:bodyPr wrap="square" lIns="0" tIns="0" rIns="0" bIns="0" rtlCol="0" anchor="t"/>
          <a:lstStyle/>
          <a:p>
            <a:pPr marL="0" indent="0">
              <a:buNone/>
            </a:pPr>
            <a:r>
              <a:rPr lang="en-US" sz="1700" b="1" dirty="0">
                <a:solidFill>
                  <a:srgbClr val="4F46E5"/>
                </a:solidFill>
                <a:latin typeface="Calibri" pitchFamily="34" charset="0"/>
                <a:ea typeface="Calibri" pitchFamily="34" charset="-122"/>
                <a:cs typeface="Calibri" pitchFamily="34" charset="-120"/>
              </a:rPr>
              <a:t>Demo application: A shopping website</a:t>
            </a:r>
            <a:endParaRPr lang="en-US" sz="1700" dirty="0"/>
          </a:p>
        </p:txBody>
      </p:sp>
      <p:sp>
        <p:nvSpPr>
          <p:cNvPr id="38" name="Text 30"/>
          <p:cNvSpPr txBox="1"/>
          <p:nvPr/>
        </p:nvSpPr>
        <p:spPr>
          <a:xfrm>
            <a:off x="6473952" y="3547872"/>
            <a:ext cx="4937760" cy="21945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Inputs: Software Requirement Specifications (SRS)</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Web, API, Security Testing</a:t>
            </a:r>
            <a:endParaRPr lang="en-US" sz="1500" dirty="0"/>
          </a:p>
          <a:p>
            <a:pPr marL="177800" indent="-177800">
              <a:spcAft>
                <a:spcPts val="600"/>
              </a:spcAft>
              <a:buSzPct val="100000"/>
              <a:buChar char="•"/>
            </a:pPr>
            <a:r>
              <a:rPr lang="en-US" sz="1500" dirty="0">
                <a:solidFill>
                  <a:srgbClr val="1E2533"/>
                </a:solidFill>
                <a:latin typeface="Calibri" pitchFamily="34" charset="0"/>
                <a:ea typeface="Calibri" pitchFamily="34" charset="-122"/>
                <a:cs typeface="Calibri" pitchFamily="34" charset="-120"/>
              </a:rPr>
              <a:t>LLM: Chat GPT</a:t>
            </a:r>
            <a:endParaRPr lang="en-US" sz="1500" dirty="0"/>
          </a:p>
        </p:txBody>
      </p:sp>
      <p:sp>
        <p:nvSpPr>
          <p:cNvPr id="39"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4F46E5"/>
                </a:solidFill>
                <a:latin typeface="Calibri" pitchFamily="34" charset="0"/>
                <a:ea typeface="Calibri" pitchFamily="34" charset="-122"/>
                <a:cs typeface="Calibri" pitchFamily="34" charset="-120"/>
              </a:rPr>
              <a:t>PART A · DEMO 1 RESULTS</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It finds the bugs — but 6 of its 18 FAILs are wrong tests</a:t>
            </a:r>
            <a:endParaRPr lang="en-US" sz="3000" dirty="0"/>
          </a:p>
        </p:txBody>
      </p:sp>
      <p:sp>
        <p:nvSpPr>
          <p:cNvPr id="4" name="Shape 2"/>
          <p:cNvSpPr/>
          <p:nvPr/>
        </p:nvSpPr>
        <p:spPr>
          <a:xfrm>
            <a:off x="1810512" y="1307592"/>
            <a:ext cx="2633472" cy="1783080"/>
          </a:xfrm>
          <a:prstGeom prst="roundRect">
            <a:avLst>
              <a:gd name="adj" fmla="val 6154"/>
            </a:avLst>
          </a:prstGeom>
          <a:solidFill>
            <a:srgbClr val="F2F5F9"/>
          </a:solidFill>
          <a:ln w="12700">
            <a:solidFill>
              <a:srgbClr val="F2F5F9"/>
            </a:solidFill>
            <a:prstDash val="solid"/>
          </a:ln>
        </p:spPr>
        <p:txBody>
          <a:bodyPr/>
          <a:lstStyle/>
          <a:p>
            <a:endParaRPr lang="en-US"/>
          </a:p>
        </p:txBody>
      </p:sp>
      <p:sp>
        <p:nvSpPr>
          <p:cNvPr id="5" name="Text 3"/>
          <p:cNvSpPr txBox="1"/>
          <p:nvPr/>
        </p:nvSpPr>
        <p:spPr>
          <a:xfrm>
            <a:off x="2039112" y="1399032"/>
            <a:ext cx="2286000" cy="731520"/>
          </a:xfrm>
          <a:prstGeom prst="rect">
            <a:avLst/>
          </a:prstGeom>
          <a:noFill/>
          <a:ln/>
        </p:spPr>
        <p:txBody>
          <a:bodyPr wrap="square" lIns="0" tIns="0" rIns="0" bIns="0" rtlCol="0" anchor="ctr"/>
          <a:lstStyle/>
          <a:p>
            <a:pPr marL="0" indent="0">
              <a:buNone/>
            </a:pPr>
            <a:r>
              <a:rPr lang="en-US" sz="4000" b="1" dirty="0">
                <a:solidFill>
                  <a:srgbClr val="4F46E5"/>
                </a:solidFill>
                <a:latin typeface="Cambria" pitchFamily="34" charset="0"/>
                <a:ea typeface="Cambria" pitchFamily="34" charset="-122"/>
                <a:cs typeface="Cambria" pitchFamily="34" charset="-120"/>
              </a:rPr>
              <a:t>34</a:t>
            </a:r>
            <a:endParaRPr lang="en-US" sz="4000" dirty="0"/>
          </a:p>
        </p:txBody>
      </p:sp>
      <p:sp>
        <p:nvSpPr>
          <p:cNvPr id="6" name="Text 4"/>
          <p:cNvSpPr txBox="1"/>
          <p:nvPr/>
        </p:nvSpPr>
        <p:spPr>
          <a:xfrm>
            <a:off x="2039112" y="2157984"/>
            <a:ext cx="2286000" cy="32004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requirements</a:t>
            </a:r>
            <a:endParaRPr lang="en-US" sz="1500" dirty="0"/>
          </a:p>
        </p:txBody>
      </p:sp>
      <p:sp>
        <p:nvSpPr>
          <p:cNvPr id="7" name="Text 5"/>
          <p:cNvSpPr txBox="1"/>
          <p:nvPr/>
        </p:nvSpPr>
        <p:spPr>
          <a:xfrm>
            <a:off x="2039112" y="2478024"/>
            <a:ext cx="2286000" cy="548640"/>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extracted from the SRS</a:t>
            </a:r>
            <a:endParaRPr lang="en-US" sz="1100" dirty="0"/>
          </a:p>
        </p:txBody>
      </p:sp>
      <p:sp>
        <p:nvSpPr>
          <p:cNvPr id="8" name="Shape 6"/>
          <p:cNvSpPr/>
          <p:nvPr/>
        </p:nvSpPr>
        <p:spPr>
          <a:xfrm>
            <a:off x="4626864" y="1307592"/>
            <a:ext cx="2633472" cy="1783080"/>
          </a:xfrm>
          <a:prstGeom prst="roundRect">
            <a:avLst>
              <a:gd name="adj" fmla="val 6154"/>
            </a:avLst>
          </a:prstGeom>
          <a:solidFill>
            <a:srgbClr val="F2F5F9"/>
          </a:solidFill>
          <a:ln w="12700">
            <a:solidFill>
              <a:srgbClr val="F2F5F9"/>
            </a:solidFill>
            <a:prstDash val="solid"/>
          </a:ln>
        </p:spPr>
        <p:txBody>
          <a:bodyPr/>
          <a:lstStyle/>
          <a:p>
            <a:endParaRPr lang="en-US"/>
          </a:p>
        </p:txBody>
      </p:sp>
      <p:sp>
        <p:nvSpPr>
          <p:cNvPr id="9" name="Text 7"/>
          <p:cNvSpPr txBox="1"/>
          <p:nvPr/>
        </p:nvSpPr>
        <p:spPr>
          <a:xfrm>
            <a:off x="4855464" y="1399032"/>
            <a:ext cx="2286000" cy="731520"/>
          </a:xfrm>
          <a:prstGeom prst="rect">
            <a:avLst/>
          </a:prstGeom>
          <a:noFill/>
          <a:ln/>
        </p:spPr>
        <p:txBody>
          <a:bodyPr wrap="square" lIns="0" tIns="0" rIns="0" bIns="0" rtlCol="0" anchor="ctr"/>
          <a:lstStyle/>
          <a:p>
            <a:pPr marL="0" indent="0">
              <a:buNone/>
            </a:pPr>
            <a:r>
              <a:rPr lang="en-US" sz="4000" b="1" dirty="0">
                <a:solidFill>
                  <a:srgbClr val="4F46E5"/>
                </a:solidFill>
                <a:latin typeface="Cambria" pitchFamily="34" charset="0"/>
                <a:ea typeface="Cambria" pitchFamily="34" charset="-122"/>
                <a:cs typeface="Cambria" pitchFamily="34" charset="-120"/>
              </a:rPr>
              <a:t>62</a:t>
            </a:r>
            <a:endParaRPr lang="en-US" sz="4000" dirty="0"/>
          </a:p>
        </p:txBody>
      </p:sp>
      <p:sp>
        <p:nvSpPr>
          <p:cNvPr id="10" name="Text 8"/>
          <p:cNvSpPr txBox="1"/>
          <p:nvPr/>
        </p:nvSpPr>
        <p:spPr>
          <a:xfrm>
            <a:off x="4855464" y="2157984"/>
            <a:ext cx="2286000" cy="32004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tests</a:t>
            </a:r>
            <a:endParaRPr lang="en-US" sz="1500" dirty="0"/>
          </a:p>
        </p:txBody>
      </p:sp>
      <p:sp>
        <p:nvSpPr>
          <p:cNvPr id="11" name="Text 9"/>
          <p:cNvSpPr txBox="1"/>
          <p:nvPr/>
        </p:nvSpPr>
        <p:spPr>
          <a:xfrm>
            <a:off x="4855464" y="2478024"/>
            <a:ext cx="2286000" cy="548640"/>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web 23 · API 26 · security 13</a:t>
            </a:r>
            <a:endParaRPr lang="en-US" sz="1100" dirty="0"/>
          </a:p>
        </p:txBody>
      </p:sp>
      <p:sp>
        <p:nvSpPr>
          <p:cNvPr id="12" name="Shape 10"/>
          <p:cNvSpPr/>
          <p:nvPr/>
        </p:nvSpPr>
        <p:spPr>
          <a:xfrm>
            <a:off x="7443216" y="1307592"/>
            <a:ext cx="2633472" cy="1783080"/>
          </a:xfrm>
          <a:prstGeom prst="roundRect">
            <a:avLst>
              <a:gd name="adj" fmla="val 6154"/>
            </a:avLst>
          </a:prstGeom>
          <a:solidFill>
            <a:srgbClr val="F2F5F9"/>
          </a:solidFill>
          <a:ln w="12700">
            <a:solidFill>
              <a:srgbClr val="F2F5F9"/>
            </a:solidFill>
            <a:prstDash val="solid"/>
          </a:ln>
        </p:spPr>
        <p:txBody>
          <a:bodyPr/>
          <a:lstStyle/>
          <a:p>
            <a:endParaRPr lang="en-US"/>
          </a:p>
        </p:txBody>
      </p:sp>
      <p:sp>
        <p:nvSpPr>
          <p:cNvPr id="13" name="Text 11"/>
          <p:cNvSpPr txBox="1"/>
          <p:nvPr/>
        </p:nvSpPr>
        <p:spPr>
          <a:xfrm>
            <a:off x="7671816" y="1399032"/>
            <a:ext cx="2286000" cy="731520"/>
          </a:xfrm>
          <a:prstGeom prst="rect">
            <a:avLst/>
          </a:prstGeom>
          <a:noFill/>
          <a:ln/>
        </p:spPr>
        <p:txBody>
          <a:bodyPr wrap="square" lIns="0" tIns="0" rIns="0" bIns="0" rtlCol="0" anchor="ctr"/>
          <a:lstStyle/>
          <a:p>
            <a:pPr marL="0" indent="0">
              <a:buNone/>
            </a:pPr>
            <a:r>
              <a:rPr lang="en-US" sz="3000" b="1" dirty="0">
                <a:solidFill>
                  <a:srgbClr val="4F46E5"/>
                </a:solidFill>
                <a:latin typeface="Cambria" pitchFamily="34" charset="0"/>
                <a:ea typeface="Cambria" pitchFamily="34" charset="-122"/>
                <a:cs typeface="Cambria" pitchFamily="34" charset="-120"/>
              </a:rPr>
              <a:t>31 / 18 / 13</a:t>
            </a:r>
            <a:endParaRPr lang="en-US" sz="3000" dirty="0"/>
          </a:p>
        </p:txBody>
      </p:sp>
      <p:sp>
        <p:nvSpPr>
          <p:cNvPr id="14" name="Text 12"/>
          <p:cNvSpPr txBox="1"/>
          <p:nvPr/>
        </p:nvSpPr>
        <p:spPr>
          <a:xfrm>
            <a:off x="7671816" y="2157984"/>
            <a:ext cx="2286000" cy="320040"/>
          </a:xfrm>
          <a:prstGeom prst="rect">
            <a:avLst/>
          </a:prstGeom>
          <a:noFill/>
          <a:ln/>
        </p:spPr>
        <p:txBody>
          <a:bodyPr wrap="square" lIns="0" tIns="0" rIns="0" bIns="0" rtlCol="0" anchor="t"/>
          <a:lstStyle/>
          <a:p>
            <a:pPr marL="0" indent="0">
              <a:buNone/>
            </a:pPr>
            <a:r>
              <a:rPr lang="en-US" sz="1500" b="1" dirty="0">
                <a:solidFill>
                  <a:srgbClr val="13213C"/>
                </a:solidFill>
                <a:latin typeface="Calibri" pitchFamily="34" charset="0"/>
                <a:ea typeface="Calibri" pitchFamily="34" charset="-122"/>
                <a:cs typeface="Calibri" pitchFamily="34" charset="-120"/>
              </a:rPr>
              <a:t>PASS / FAIL / REVIEW</a:t>
            </a:r>
            <a:endParaRPr lang="en-US" sz="1500" dirty="0"/>
          </a:p>
        </p:txBody>
      </p:sp>
      <p:sp>
        <p:nvSpPr>
          <p:cNvPr id="15" name="Text 13"/>
          <p:cNvSpPr txBox="1"/>
          <p:nvPr/>
        </p:nvSpPr>
        <p:spPr>
          <a:xfrm>
            <a:off x="7671816" y="2478024"/>
            <a:ext cx="2286000" cy="548640"/>
          </a:xfrm>
          <a:prstGeom prst="rect">
            <a:avLst/>
          </a:prstGeom>
          <a:noFill/>
          <a:ln/>
        </p:spPr>
        <p:txBody>
          <a:bodyPr wrap="square" lIns="0" tIns="0" rIns="0" bIns="0" rtlCol="0" anchor="t"/>
          <a:lstStyle/>
          <a:p>
            <a:pPr marL="0" indent="0">
              <a:buNone/>
            </a:pPr>
            <a:r>
              <a:rPr lang="en-US" sz="1100" dirty="0">
                <a:solidFill>
                  <a:srgbClr val="5B6578"/>
                </a:solidFill>
                <a:latin typeface="Calibri" pitchFamily="34" charset="0"/>
                <a:ea typeface="Calibri" pitchFamily="34" charset="-122"/>
                <a:cs typeface="Calibri" pitchFamily="34" charset="-120"/>
              </a:rPr>
              <a:t>verdicts by the rules</a:t>
            </a:r>
            <a:endParaRPr lang="en-US" sz="1100" dirty="0"/>
          </a:p>
        </p:txBody>
      </p:sp>
      <p:sp>
        <p:nvSpPr>
          <p:cNvPr id="23" name="Shape 21"/>
          <p:cNvSpPr/>
          <p:nvPr/>
        </p:nvSpPr>
        <p:spPr>
          <a:xfrm>
            <a:off x="3260489" y="3474720"/>
            <a:ext cx="5440680" cy="2606040"/>
          </a:xfrm>
          <a:prstGeom prst="roundRect">
            <a:avLst>
              <a:gd name="adj" fmla="val 4211"/>
            </a:avLst>
          </a:prstGeom>
          <a:solidFill>
            <a:srgbClr val="FDECEA"/>
          </a:solidFill>
          <a:ln w="12700">
            <a:solidFill>
              <a:srgbClr val="FDECEA"/>
            </a:solidFill>
            <a:prstDash val="solid"/>
          </a:ln>
        </p:spPr>
        <p:txBody>
          <a:bodyPr/>
          <a:lstStyle/>
          <a:p>
            <a:endParaRPr lang="en-US"/>
          </a:p>
        </p:txBody>
      </p:sp>
      <p:sp>
        <p:nvSpPr>
          <p:cNvPr id="24" name="Text 22"/>
          <p:cNvSpPr txBox="1"/>
          <p:nvPr/>
        </p:nvSpPr>
        <p:spPr>
          <a:xfrm>
            <a:off x="3534809" y="3611880"/>
            <a:ext cx="4937760" cy="365760"/>
          </a:xfrm>
          <a:prstGeom prst="rect">
            <a:avLst/>
          </a:prstGeom>
          <a:noFill/>
          <a:ln/>
        </p:spPr>
        <p:txBody>
          <a:bodyPr wrap="square" lIns="0" tIns="0" rIns="0" bIns="0" rtlCol="0" anchor="t"/>
          <a:lstStyle/>
          <a:p>
            <a:pPr marL="0" indent="0">
              <a:buNone/>
            </a:pPr>
            <a:r>
              <a:rPr lang="en-US" sz="1600" b="1" dirty="0">
                <a:solidFill>
                  <a:srgbClr val="C8463D"/>
                </a:solidFill>
                <a:latin typeface="Calibri" pitchFamily="34" charset="0"/>
                <a:ea typeface="Calibri" pitchFamily="34" charset="-122"/>
                <a:cs typeface="Calibri" pitchFamily="34" charset="-120"/>
              </a:rPr>
              <a:t>The twist: 6 FAILs are mistakes in the AI's tests</a:t>
            </a:r>
            <a:endParaRPr lang="en-US" sz="1600" dirty="0"/>
          </a:p>
        </p:txBody>
      </p:sp>
      <p:sp>
        <p:nvSpPr>
          <p:cNvPr id="25" name="Text 23"/>
          <p:cNvSpPr txBox="1"/>
          <p:nvPr/>
        </p:nvSpPr>
        <p:spPr>
          <a:xfrm>
            <a:off x="3534809" y="4023360"/>
            <a:ext cx="4937760" cy="2011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SAVE10 test checks an empty cart (€0.00), so the real discount bug was missed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IDOR tests call the API with a browser cookie instead of a token (401), so the real IDOR bug was missed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All of them passed every trust rule: valid JSON, real refs, verbatim quotes</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The report files them as bugs, exactly like the real ones</a:t>
            </a:r>
            <a:endParaRPr lang="en-US" sz="1300" dirty="0"/>
          </a:p>
        </p:txBody>
      </p:sp>
      <p:sp>
        <p:nvSpPr>
          <p:cNvPr id="27"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4F46E5"/>
                </a:solidFill>
                <a:latin typeface="Calibri" pitchFamily="34" charset="0"/>
                <a:ea typeface="Calibri" pitchFamily="34" charset="-122"/>
                <a:cs typeface="Calibri" pitchFamily="34" charset="-120"/>
              </a:rPr>
              <a:t>PART A · A CLOSER LOOK</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Inside one wrong test: the SAVE10 discount code</a:t>
            </a:r>
            <a:endParaRPr lang="en-US" sz="3000" dirty="0"/>
          </a:p>
        </p:txBody>
      </p:sp>
      <p:sp>
        <p:nvSpPr>
          <p:cNvPr id="4" name="Text 2"/>
          <p:cNvSpPr txBox="1"/>
          <p:nvPr/>
        </p:nvSpPr>
        <p:spPr>
          <a:xfrm>
            <a:off x="548640" y="1188720"/>
            <a:ext cx="11094415" cy="411480"/>
          </a:xfrm>
          <a:prstGeom prst="rect">
            <a:avLst/>
          </a:prstGeom>
          <a:noFill/>
          <a:ln/>
        </p:spPr>
        <p:txBody>
          <a:bodyPr wrap="square" lIns="0" tIns="0" rIns="0" bIns="0" rtlCol="0" anchor="ctr"/>
          <a:lstStyle/>
          <a:p>
            <a:pPr marL="0" indent="0">
              <a:buNone/>
            </a:pPr>
            <a:r>
              <a:rPr lang="en-US" sz="1500" b="1" dirty="0">
                <a:solidFill>
                  <a:srgbClr val="1E2533"/>
                </a:solidFill>
                <a:latin typeface="Calibri" pitchFamily="34" charset="0"/>
                <a:ea typeface="Calibri" pitchFamily="34" charset="-122"/>
                <a:cs typeface="Calibri" pitchFamily="34" charset="-120"/>
              </a:rPr>
              <a:t>Requirement:  </a:t>
            </a:r>
            <a:r>
              <a:rPr lang="en-US" sz="1500" dirty="0">
                <a:solidFill>
                  <a:srgbClr val="1E2533"/>
                </a:solidFill>
                <a:latin typeface="Calibri" pitchFamily="34" charset="0"/>
                <a:ea typeface="Calibri" pitchFamily="34" charset="-122"/>
                <a:cs typeface="Calibri" pitchFamily="34" charset="-120"/>
              </a:rPr>
              <a:t>“The discount code SAVE10 reduces the subtotal by 10 percent.”</a:t>
            </a:r>
            <a:r>
              <a:rPr lang="en-US" sz="1500" dirty="0">
                <a:solidFill>
                  <a:srgbClr val="5B6578"/>
                </a:solidFill>
                <a:latin typeface="Calibri" pitchFamily="34" charset="0"/>
                <a:ea typeface="Calibri" pitchFamily="34" charset="-122"/>
                <a:cs typeface="Calibri" pitchFamily="34" charset="-120"/>
              </a:rPr>
              <a:t>   ShopLite has a planted bug here: SAVE10 takes off €10 instead of 10%.</a:t>
            </a:r>
            <a:endParaRPr lang="en-US" sz="1500" dirty="0"/>
          </a:p>
        </p:txBody>
      </p:sp>
      <p:sp>
        <p:nvSpPr>
          <p:cNvPr id="5" name="Shape 3"/>
          <p:cNvSpPr/>
          <p:nvPr/>
        </p:nvSpPr>
        <p:spPr>
          <a:xfrm>
            <a:off x="548640" y="1783080"/>
            <a:ext cx="5440680" cy="3429000"/>
          </a:xfrm>
          <a:prstGeom prst="roundRect">
            <a:avLst>
              <a:gd name="adj" fmla="val 3200"/>
            </a:avLst>
          </a:prstGeom>
          <a:solidFill>
            <a:srgbClr val="E7F4EC"/>
          </a:solidFill>
          <a:ln w="12700">
            <a:solidFill>
              <a:srgbClr val="E7F4EC"/>
            </a:solidFill>
            <a:prstDash val="solid"/>
          </a:ln>
        </p:spPr>
        <p:txBody>
          <a:bodyPr/>
          <a:lstStyle/>
          <a:p>
            <a:endParaRPr lang="en-US"/>
          </a:p>
        </p:txBody>
      </p:sp>
      <p:sp>
        <p:nvSpPr>
          <p:cNvPr id="6" name="Text 4"/>
          <p:cNvSpPr txBox="1"/>
          <p:nvPr/>
        </p:nvSpPr>
        <p:spPr>
          <a:xfrm>
            <a:off x="822960" y="1892808"/>
            <a:ext cx="4892040" cy="365760"/>
          </a:xfrm>
          <a:prstGeom prst="rect">
            <a:avLst/>
          </a:prstGeom>
          <a:noFill/>
          <a:ln/>
        </p:spPr>
        <p:txBody>
          <a:bodyPr wrap="square" lIns="0" tIns="0" rIns="0" bIns="0" rtlCol="0" anchor="t"/>
          <a:lstStyle/>
          <a:p>
            <a:pPr marL="0" indent="0">
              <a:buNone/>
            </a:pPr>
            <a:r>
              <a:rPr lang="en-US" sz="1800" b="1" dirty="0">
                <a:solidFill>
                  <a:srgbClr val="2E8B57"/>
                </a:solidFill>
                <a:latin typeface="Calibri" pitchFamily="34" charset="0"/>
                <a:ea typeface="Calibri" pitchFamily="34" charset="-122"/>
                <a:cs typeface="Calibri" pitchFamily="34" charset="-120"/>
              </a:rPr>
              <a:t>What a correct test would do</a:t>
            </a:r>
            <a:endParaRPr lang="en-US" sz="1800" dirty="0"/>
          </a:p>
        </p:txBody>
      </p:sp>
      <p:sp>
        <p:nvSpPr>
          <p:cNvPr id="7" name="Shape 5"/>
          <p:cNvSpPr/>
          <p:nvPr/>
        </p:nvSpPr>
        <p:spPr>
          <a:xfrm>
            <a:off x="822960" y="2395728"/>
            <a:ext cx="502920" cy="502920"/>
          </a:xfrm>
          <a:prstGeom prst="ellipse">
            <a:avLst/>
          </a:prstGeom>
          <a:solidFill>
            <a:srgbClr val="2E8B57"/>
          </a:solidFill>
          <a:ln w="12700">
            <a:solidFill>
              <a:srgbClr val="2E8B57"/>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948690" y="2521458"/>
            <a:ext cx="251460" cy="251460"/>
          </a:xfrm>
          <a:prstGeom prst="rect">
            <a:avLst/>
          </a:prstGeom>
        </p:spPr>
      </p:pic>
      <p:sp>
        <p:nvSpPr>
          <p:cNvPr id="9" name="Text 6"/>
          <p:cNvSpPr txBox="1"/>
          <p:nvPr/>
        </p:nvSpPr>
        <p:spPr>
          <a:xfrm>
            <a:off x="1508760" y="2395728"/>
            <a:ext cx="4251960" cy="502920"/>
          </a:xfrm>
          <a:prstGeom prst="rect">
            <a:avLst/>
          </a:prstGeom>
          <a:noFill/>
          <a:ln/>
        </p:spPr>
        <p:txBody>
          <a:bodyPr wrap="square" lIns="0" tIns="0" rIns="0" bIns="0" rtlCol="0" anchor="ctr"/>
          <a:lstStyle/>
          <a:p>
            <a:pPr marL="0" indent="0">
              <a:buNone/>
            </a:pPr>
            <a:r>
              <a:rPr lang="en-US" sz="1600" dirty="0">
                <a:solidFill>
                  <a:srgbClr val="1E2533"/>
                </a:solidFill>
                <a:latin typeface="Calibri" pitchFamily="34" charset="0"/>
                <a:ea typeface="Calibri" pitchFamily="34" charset="-122"/>
                <a:cs typeface="Calibri" pitchFamily="34" charset="-120"/>
              </a:rPr>
              <a:t>1. Put shoes (€89.00) in the cart</a:t>
            </a:r>
            <a:endParaRPr lang="en-US" sz="1600" dirty="0"/>
          </a:p>
        </p:txBody>
      </p:sp>
      <p:sp>
        <p:nvSpPr>
          <p:cNvPr id="10" name="Shape 7"/>
          <p:cNvSpPr/>
          <p:nvPr/>
        </p:nvSpPr>
        <p:spPr>
          <a:xfrm>
            <a:off x="822960" y="3081528"/>
            <a:ext cx="502920" cy="502920"/>
          </a:xfrm>
          <a:prstGeom prst="ellipse">
            <a:avLst/>
          </a:prstGeom>
          <a:solidFill>
            <a:srgbClr val="2E8B57"/>
          </a:solidFill>
          <a:ln w="12700">
            <a:solidFill>
              <a:srgbClr val="2E8B57"/>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948690" y="3207258"/>
            <a:ext cx="251460" cy="251460"/>
          </a:xfrm>
          <a:prstGeom prst="rect">
            <a:avLst/>
          </a:prstGeom>
        </p:spPr>
      </p:pic>
      <p:sp>
        <p:nvSpPr>
          <p:cNvPr id="12" name="Text 8"/>
          <p:cNvSpPr txBox="1"/>
          <p:nvPr/>
        </p:nvSpPr>
        <p:spPr>
          <a:xfrm>
            <a:off x="1508760" y="3081528"/>
            <a:ext cx="4251960" cy="502920"/>
          </a:xfrm>
          <a:prstGeom prst="rect">
            <a:avLst/>
          </a:prstGeom>
          <a:noFill/>
          <a:ln/>
        </p:spPr>
        <p:txBody>
          <a:bodyPr wrap="square" lIns="0" tIns="0" rIns="0" bIns="0" rtlCol="0" anchor="ctr"/>
          <a:lstStyle/>
          <a:p>
            <a:pPr marL="0" indent="0">
              <a:buNone/>
            </a:pPr>
            <a:r>
              <a:rPr lang="en-US" sz="1600" dirty="0">
                <a:solidFill>
                  <a:srgbClr val="1E2533"/>
                </a:solidFill>
                <a:latin typeface="Calibri" pitchFamily="34" charset="0"/>
                <a:ea typeface="Calibri" pitchFamily="34" charset="-122"/>
                <a:cs typeface="Calibri" pitchFamily="34" charset="-120"/>
              </a:rPr>
              <a:t>2. Enter the code SAVE10</a:t>
            </a:r>
            <a:endParaRPr lang="en-US" sz="1600" dirty="0"/>
          </a:p>
        </p:txBody>
      </p:sp>
      <p:sp>
        <p:nvSpPr>
          <p:cNvPr id="13" name="Shape 9"/>
          <p:cNvSpPr/>
          <p:nvPr/>
        </p:nvSpPr>
        <p:spPr>
          <a:xfrm>
            <a:off x="822960" y="3767328"/>
            <a:ext cx="502920" cy="502920"/>
          </a:xfrm>
          <a:prstGeom prst="ellipse">
            <a:avLst/>
          </a:prstGeom>
          <a:solidFill>
            <a:srgbClr val="2E8B57"/>
          </a:solidFill>
          <a:ln w="12700">
            <a:solidFill>
              <a:srgbClr val="2E8B57"/>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948690" y="3893058"/>
            <a:ext cx="251460" cy="251460"/>
          </a:xfrm>
          <a:prstGeom prst="rect">
            <a:avLst/>
          </a:prstGeom>
        </p:spPr>
      </p:pic>
      <p:sp>
        <p:nvSpPr>
          <p:cNvPr id="15" name="Text 10"/>
          <p:cNvSpPr txBox="1"/>
          <p:nvPr/>
        </p:nvSpPr>
        <p:spPr>
          <a:xfrm>
            <a:off x="1508760" y="3767328"/>
            <a:ext cx="4251960" cy="502920"/>
          </a:xfrm>
          <a:prstGeom prst="rect">
            <a:avLst/>
          </a:prstGeom>
          <a:noFill/>
          <a:ln/>
        </p:spPr>
        <p:txBody>
          <a:bodyPr wrap="square" lIns="0" tIns="0" rIns="0" bIns="0" rtlCol="0" anchor="ctr"/>
          <a:lstStyle/>
          <a:p>
            <a:pPr marL="0" indent="0">
              <a:buNone/>
            </a:pPr>
            <a:r>
              <a:rPr lang="en-US" sz="1600" dirty="0">
                <a:solidFill>
                  <a:srgbClr val="1E2533"/>
                </a:solidFill>
                <a:latin typeface="Calibri" pitchFamily="34" charset="0"/>
                <a:ea typeface="Calibri" pitchFamily="34" charset="-122"/>
                <a:cs typeface="Calibri" pitchFamily="34" charset="-120"/>
              </a:rPr>
              <a:t>3. Expect €80.10 → sees €79.00</a:t>
            </a:r>
            <a:endParaRPr lang="en-US" sz="1600" dirty="0"/>
          </a:p>
        </p:txBody>
      </p:sp>
      <p:sp>
        <p:nvSpPr>
          <p:cNvPr id="16" name="Shape 11"/>
          <p:cNvSpPr/>
          <p:nvPr/>
        </p:nvSpPr>
        <p:spPr>
          <a:xfrm>
            <a:off x="822960" y="4526280"/>
            <a:ext cx="4892040" cy="502920"/>
          </a:xfrm>
          <a:prstGeom prst="roundRect">
            <a:avLst>
              <a:gd name="adj" fmla="val 14545"/>
            </a:avLst>
          </a:prstGeom>
          <a:solidFill>
            <a:srgbClr val="FFFFFF"/>
          </a:solidFill>
          <a:ln w="19050">
            <a:solidFill>
              <a:srgbClr val="2E8B57"/>
            </a:solidFill>
            <a:prstDash val="solid"/>
          </a:ln>
        </p:spPr>
        <p:txBody>
          <a:bodyPr/>
          <a:lstStyle/>
          <a:p>
            <a:endParaRPr lang="en-US"/>
          </a:p>
        </p:txBody>
      </p:sp>
      <p:sp>
        <p:nvSpPr>
          <p:cNvPr id="17" name="Text 12"/>
          <p:cNvSpPr txBox="1"/>
          <p:nvPr/>
        </p:nvSpPr>
        <p:spPr>
          <a:xfrm>
            <a:off x="960120" y="4526280"/>
            <a:ext cx="4617720" cy="502920"/>
          </a:xfrm>
          <a:prstGeom prst="rect">
            <a:avLst/>
          </a:prstGeom>
          <a:noFill/>
          <a:ln/>
        </p:spPr>
        <p:txBody>
          <a:bodyPr wrap="square" lIns="0" tIns="0" rIns="0" bIns="0" rtlCol="0" anchor="ctr"/>
          <a:lstStyle/>
          <a:p>
            <a:pPr marL="0" indent="0">
              <a:buNone/>
            </a:pPr>
            <a:r>
              <a:rPr lang="en-US" sz="1500" b="1" dirty="0">
                <a:solidFill>
                  <a:srgbClr val="2E8B57"/>
                </a:solidFill>
                <a:latin typeface="Calibri" pitchFamily="34" charset="0"/>
                <a:ea typeface="Calibri" pitchFamily="34" charset="-122"/>
                <a:cs typeface="Calibri" pitchFamily="34" charset="-120"/>
              </a:rPr>
              <a:t>FAIL → the real discount bug is found</a:t>
            </a:r>
            <a:endParaRPr lang="en-US" sz="1500" dirty="0"/>
          </a:p>
        </p:txBody>
      </p:sp>
      <p:sp>
        <p:nvSpPr>
          <p:cNvPr id="18" name="Shape 13"/>
          <p:cNvSpPr/>
          <p:nvPr/>
        </p:nvSpPr>
        <p:spPr>
          <a:xfrm>
            <a:off x="6190488" y="1783080"/>
            <a:ext cx="5440680" cy="3429000"/>
          </a:xfrm>
          <a:prstGeom prst="roundRect">
            <a:avLst>
              <a:gd name="adj" fmla="val 3200"/>
            </a:avLst>
          </a:prstGeom>
          <a:solidFill>
            <a:srgbClr val="FDECEA"/>
          </a:solidFill>
          <a:ln w="12700">
            <a:solidFill>
              <a:srgbClr val="FDECEA"/>
            </a:solidFill>
            <a:prstDash val="solid"/>
          </a:ln>
        </p:spPr>
        <p:txBody>
          <a:bodyPr/>
          <a:lstStyle/>
          <a:p>
            <a:endParaRPr lang="en-US"/>
          </a:p>
        </p:txBody>
      </p:sp>
      <p:sp>
        <p:nvSpPr>
          <p:cNvPr id="19" name="Text 14"/>
          <p:cNvSpPr txBox="1"/>
          <p:nvPr/>
        </p:nvSpPr>
        <p:spPr>
          <a:xfrm>
            <a:off x="6464808" y="1892808"/>
            <a:ext cx="4892040" cy="365760"/>
          </a:xfrm>
          <a:prstGeom prst="rect">
            <a:avLst/>
          </a:prstGeom>
          <a:noFill/>
          <a:ln/>
        </p:spPr>
        <p:txBody>
          <a:bodyPr wrap="square" lIns="0" tIns="0" rIns="0" bIns="0" rtlCol="0" anchor="t"/>
          <a:lstStyle/>
          <a:p>
            <a:pPr marL="0" indent="0">
              <a:buNone/>
            </a:pPr>
            <a:r>
              <a:rPr lang="en-US" sz="1800" b="1" dirty="0">
                <a:solidFill>
                  <a:srgbClr val="C8463D"/>
                </a:solidFill>
                <a:latin typeface="Calibri" pitchFamily="34" charset="0"/>
                <a:ea typeface="Calibri" pitchFamily="34" charset="-122"/>
                <a:cs typeface="Calibri" pitchFamily="34" charset="-120"/>
              </a:rPr>
              <a:t>What the AI's test did</a:t>
            </a:r>
            <a:endParaRPr lang="en-US" sz="1800" dirty="0"/>
          </a:p>
        </p:txBody>
      </p:sp>
      <p:sp>
        <p:nvSpPr>
          <p:cNvPr id="20" name="Shape 15"/>
          <p:cNvSpPr/>
          <p:nvPr/>
        </p:nvSpPr>
        <p:spPr>
          <a:xfrm>
            <a:off x="6464808" y="2395728"/>
            <a:ext cx="502920" cy="502920"/>
          </a:xfrm>
          <a:prstGeom prst="ellipse">
            <a:avLst/>
          </a:prstGeom>
          <a:solidFill>
            <a:srgbClr val="C8463D"/>
          </a:solidFill>
          <a:ln w="12700">
            <a:solidFill>
              <a:srgbClr val="C8463D"/>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590538" y="2521458"/>
            <a:ext cx="251460" cy="251460"/>
          </a:xfrm>
          <a:prstGeom prst="rect">
            <a:avLst/>
          </a:prstGeom>
        </p:spPr>
      </p:pic>
      <p:sp>
        <p:nvSpPr>
          <p:cNvPr id="22" name="Text 16"/>
          <p:cNvSpPr txBox="1"/>
          <p:nvPr/>
        </p:nvSpPr>
        <p:spPr>
          <a:xfrm>
            <a:off x="7150608" y="2395728"/>
            <a:ext cx="4251960" cy="502920"/>
          </a:xfrm>
          <a:prstGeom prst="rect">
            <a:avLst/>
          </a:prstGeom>
          <a:noFill/>
          <a:ln/>
        </p:spPr>
        <p:txBody>
          <a:bodyPr wrap="square" lIns="0" tIns="0" rIns="0" bIns="0" rtlCol="0" anchor="ctr"/>
          <a:lstStyle/>
          <a:p>
            <a:pPr marL="0" indent="0">
              <a:buNone/>
            </a:pPr>
            <a:r>
              <a:rPr lang="en-US" sz="1600" dirty="0">
                <a:solidFill>
                  <a:srgbClr val="1E2533"/>
                </a:solidFill>
                <a:latin typeface="Calibri" pitchFamily="34" charset="0"/>
                <a:ea typeface="Calibri" pitchFamily="34" charset="-122"/>
                <a:cs typeface="Calibri" pitchFamily="34" charset="-120"/>
              </a:rPr>
              <a:t>1. Opened the cart directly — it was empty</a:t>
            </a:r>
            <a:endParaRPr lang="en-US" sz="1600" dirty="0"/>
          </a:p>
        </p:txBody>
      </p:sp>
      <p:sp>
        <p:nvSpPr>
          <p:cNvPr id="23" name="Shape 17"/>
          <p:cNvSpPr/>
          <p:nvPr/>
        </p:nvSpPr>
        <p:spPr>
          <a:xfrm>
            <a:off x="6464808" y="3081528"/>
            <a:ext cx="502920" cy="502920"/>
          </a:xfrm>
          <a:prstGeom prst="ellipse">
            <a:avLst/>
          </a:prstGeom>
          <a:solidFill>
            <a:srgbClr val="C8463D"/>
          </a:solidFill>
          <a:ln w="12700">
            <a:solidFill>
              <a:srgbClr val="C8463D"/>
            </a:solidFill>
            <a:prstDash val="solid"/>
          </a:ln>
        </p:spPr>
        <p:txBody>
          <a:bodyPr/>
          <a:lstStyle/>
          <a:p>
            <a:endParaRPr lang="en-US"/>
          </a:p>
        </p:txBody>
      </p:sp>
      <p:pic>
        <p:nvPicPr>
          <p:cNvPr id="24" name="Image 4" descr="preencoded.png"/>
          <p:cNvPicPr>
            <a:picLocks noChangeAspect="1"/>
          </p:cNvPicPr>
          <p:nvPr/>
        </p:nvPicPr>
        <p:blipFill>
          <a:blip r:embed="rId4"/>
          <a:stretch>
            <a:fillRect/>
          </a:stretch>
        </p:blipFill>
        <p:spPr>
          <a:xfrm>
            <a:off x="6590538" y="3207258"/>
            <a:ext cx="251460" cy="251460"/>
          </a:xfrm>
          <a:prstGeom prst="rect">
            <a:avLst/>
          </a:prstGeom>
        </p:spPr>
      </p:pic>
      <p:sp>
        <p:nvSpPr>
          <p:cNvPr id="25" name="Text 18"/>
          <p:cNvSpPr txBox="1"/>
          <p:nvPr/>
        </p:nvSpPr>
        <p:spPr>
          <a:xfrm>
            <a:off x="7150608" y="3081528"/>
            <a:ext cx="4251960" cy="502920"/>
          </a:xfrm>
          <a:prstGeom prst="rect">
            <a:avLst/>
          </a:prstGeom>
          <a:noFill/>
          <a:ln/>
        </p:spPr>
        <p:txBody>
          <a:bodyPr wrap="square" lIns="0" tIns="0" rIns="0" bIns="0" rtlCol="0" anchor="ctr"/>
          <a:lstStyle/>
          <a:p>
            <a:pPr marL="0" indent="0">
              <a:buNone/>
            </a:pPr>
            <a:r>
              <a:rPr lang="en-US" sz="1600" dirty="0">
                <a:solidFill>
                  <a:srgbClr val="1E2533"/>
                </a:solidFill>
                <a:latin typeface="Calibri" pitchFamily="34" charset="0"/>
                <a:ea typeface="Calibri" pitchFamily="34" charset="-122"/>
                <a:cs typeface="Calibri" pitchFamily="34" charset="-120"/>
              </a:rPr>
              <a:t>2. Never reached the discount</a:t>
            </a:r>
            <a:endParaRPr lang="en-US" sz="1600" dirty="0"/>
          </a:p>
        </p:txBody>
      </p:sp>
      <p:sp>
        <p:nvSpPr>
          <p:cNvPr id="26" name="Shape 19"/>
          <p:cNvSpPr/>
          <p:nvPr/>
        </p:nvSpPr>
        <p:spPr>
          <a:xfrm>
            <a:off x="6464808" y="3767328"/>
            <a:ext cx="502920" cy="502920"/>
          </a:xfrm>
          <a:prstGeom prst="ellipse">
            <a:avLst/>
          </a:prstGeom>
          <a:solidFill>
            <a:srgbClr val="C8463D"/>
          </a:solidFill>
          <a:ln w="12700">
            <a:solidFill>
              <a:srgbClr val="C8463D"/>
            </a:solidFill>
            <a:prstDash val="solid"/>
          </a:ln>
        </p:spPr>
        <p:txBody>
          <a:bodyPr/>
          <a:lstStyle/>
          <a:p>
            <a:endParaRPr lang="en-US"/>
          </a:p>
        </p:txBody>
      </p:sp>
      <p:pic>
        <p:nvPicPr>
          <p:cNvPr id="27" name="Image 5" descr="preencoded.png"/>
          <p:cNvPicPr>
            <a:picLocks noChangeAspect="1"/>
          </p:cNvPicPr>
          <p:nvPr/>
        </p:nvPicPr>
        <p:blipFill>
          <a:blip r:embed="rId5"/>
          <a:stretch>
            <a:fillRect/>
          </a:stretch>
        </p:blipFill>
        <p:spPr>
          <a:xfrm>
            <a:off x="6590538" y="3893058"/>
            <a:ext cx="251460" cy="251460"/>
          </a:xfrm>
          <a:prstGeom prst="rect">
            <a:avLst/>
          </a:prstGeom>
        </p:spPr>
      </p:pic>
      <p:sp>
        <p:nvSpPr>
          <p:cNvPr id="28" name="Text 20"/>
          <p:cNvSpPr txBox="1"/>
          <p:nvPr/>
        </p:nvSpPr>
        <p:spPr>
          <a:xfrm>
            <a:off x="7150608" y="3767328"/>
            <a:ext cx="4251960" cy="502920"/>
          </a:xfrm>
          <a:prstGeom prst="rect">
            <a:avLst/>
          </a:prstGeom>
          <a:noFill/>
          <a:ln/>
        </p:spPr>
        <p:txBody>
          <a:bodyPr wrap="square" lIns="0" tIns="0" rIns="0" bIns="0" rtlCol="0" anchor="ctr"/>
          <a:lstStyle/>
          <a:p>
            <a:pPr marL="0" indent="0">
              <a:buNone/>
            </a:pPr>
            <a:r>
              <a:rPr lang="en-US" sz="1600" dirty="0">
                <a:solidFill>
                  <a:srgbClr val="1E2533"/>
                </a:solidFill>
                <a:latin typeface="Calibri" pitchFamily="34" charset="0"/>
                <a:ea typeface="Calibri" pitchFamily="34" charset="-122"/>
                <a:cs typeface="Calibri" pitchFamily="34" charset="-120"/>
              </a:rPr>
              <a:t>3. Saw €0.00 → stopped</a:t>
            </a:r>
            <a:endParaRPr lang="en-US" sz="1600" dirty="0"/>
          </a:p>
        </p:txBody>
      </p:sp>
      <p:sp>
        <p:nvSpPr>
          <p:cNvPr id="29" name="Shape 21"/>
          <p:cNvSpPr/>
          <p:nvPr/>
        </p:nvSpPr>
        <p:spPr>
          <a:xfrm>
            <a:off x="6464808" y="4526280"/>
            <a:ext cx="4892040" cy="502920"/>
          </a:xfrm>
          <a:prstGeom prst="roundRect">
            <a:avLst>
              <a:gd name="adj" fmla="val 14545"/>
            </a:avLst>
          </a:prstGeom>
          <a:solidFill>
            <a:srgbClr val="FFFFFF"/>
          </a:solidFill>
          <a:ln w="19050">
            <a:solidFill>
              <a:srgbClr val="C8463D"/>
            </a:solidFill>
            <a:prstDash val="solid"/>
          </a:ln>
        </p:spPr>
        <p:txBody>
          <a:bodyPr/>
          <a:lstStyle/>
          <a:p>
            <a:endParaRPr lang="en-US"/>
          </a:p>
        </p:txBody>
      </p:sp>
      <p:sp>
        <p:nvSpPr>
          <p:cNvPr id="30" name="Text 22"/>
          <p:cNvSpPr txBox="1"/>
          <p:nvPr/>
        </p:nvSpPr>
        <p:spPr>
          <a:xfrm>
            <a:off x="6601968" y="4526280"/>
            <a:ext cx="4617720" cy="502920"/>
          </a:xfrm>
          <a:prstGeom prst="rect">
            <a:avLst/>
          </a:prstGeom>
          <a:noFill/>
          <a:ln/>
        </p:spPr>
        <p:txBody>
          <a:bodyPr wrap="square" lIns="0" tIns="0" rIns="0" bIns="0" rtlCol="0" anchor="ctr"/>
          <a:lstStyle/>
          <a:p>
            <a:pPr marL="0" indent="0">
              <a:buNone/>
            </a:pPr>
            <a:r>
              <a:rPr lang="en-US" sz="1500" b="1" dirty="0">
                <a:solidFill>
                  <a:srgbClr val="C8463D"/>
                </a:solidFill>
                <a:latin typeface="Calibri" pitchFamily="34" charset="0"/>
                <a:ea typeface="Calibri" pitchFamily="34" charset="-122"/>
                <a:cs typeface="Calibri" pitchFamily="34" charset="-120"/>
              </a:rPr>
              <a:t>FAIL → filed as a bug, but the bug is in the test</a:t>
            </a:r>
            <a:endParaRPr lang="en-US" sz="1500" dirty="0"/>
          </a:p>
        </p:txBody>
      </p:sp>
      <p:sp>
        <p:nvSpPr>
          <p:cNvPr id="31" name="Text 23"/>
          <p:cNvSpPr txBox="1"/>
          <p:nvPr/>
        </p:nvSpPr>
        <p:spPr>
          <a:xfrm>
            <a:off x="548640" y="5394960"/>
            <a:ext cx="11094415" cy="548640"/>
          </a:xfrm>
          <a:prstGeom prst="rect">
            <a:avLst/>
          </a:prstGeom>
          <a:noFill/>
          <a:ln/>
        </p:spPr>
        <p:txBody>
          <a:bodyPr wrap="square" lIns="0" tIns="0" rIns="0" bIns="0" rtlCol="0" anchor="t"/>
          <a:lstStyle/>
          <a:p>
            <a:pPr marL="0" indent="0">
              <a:buNone/>
            </a:pPr>
            <a:r>
              <a:rPr lang="en-US" sz="1400" b="1" dirty="0">
                <a:solidFill>
                  <a:srgbClr val="1E2533"/>
                </a:solidFill>
                <a:latin typeface="Calibri" pitchFamily="34" charset="0"/>
                <a:ea typeface="Calibri" pitchFamily="34" charset="-122"/>
                <a:cs typeface="Calibri" pitchFamily="34" charset="-120"/>
              </a:rPr>
              <a:t>Same story for privacy: </a:t>
            </a:r>
            <a:r>
              <a:rPr lang="en-US" sz="1400" dirty="0">
                <a:solidFill>
                  <a:srgbClr val="1E2533"/>
                </a:solidFill>
                <a:latin typeface="Calibri" pitchFamily="34" charset="0"/>
                <a:ea typeface="Calibri" pitchFamily="34" charset="-122"/>
                <a:cs typeface="Calibri" pitchFamily="34" charset="-120"/>
              </a:rPr>
              <a:t>the tests for “a customer must not see other customers' orders” logged in the wrong way, got “not logged in”, and failed. The real data leak was never checked.</a:t>
            </a:r>
            <a:endParaRPr lang="en-US" sz="1400" dirty="0"/>
          </a:p>
        </p:txBody>
      </p:sp>
      <p:sp>
        <p:nvSpPr>
          <p:cNvPr id="32"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4F46E5"/>
                </a:solidFill>
                <a:latin typeface="Calibri" pitchFamily="34" charset="0"/>
                <a:ea typeface="Calibri" pitchFamily="34" charset="-122"/>
                <a:cs typeface="Calibri" pitchFamily="34" charset="-120"/>
              </a:rPr>
              <a:t>PART A · WHY THE RULES MISS IT</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The rules check the form of a test, not its meaning</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3048000"/>
        </p:xfrm>
        <a:graphic>
          <a:graphicData uri="http://schemas.openxmlformats.org/drawingml/2006/table">
            <a:tbl>
              <a:tblPr/>
              <a:tblGrid>
                <a:gridCol w="19202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566928">
                <a:tc>
                  <a:txBody>
                    <a:bodyPr/>
                    <a:lstStyle/>
                    <a:p>
                      <a:pPr marL="0" indent="0">
                        <a:buNone/>
                      </a:pPr>
                      <a:r>
                        <a:rPr lang="en-US" sz="1400" b="1" dirty="0">
                          <a:solidFill>
                            <a:srgbClr val="FFFFFF"/>
                          </a:solidFill>
                        </a:rPr>
                        <a:t>Trust rule in QA-Flow</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What it checks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The wrong SAVE10 test</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566928">
                <a:tc>
                  <a:txBody>
                    <a:bodyPr/>
                    <a:lstStyle/>
                    <a:p>
                      <a:pPr marL="0" indent="0">
                        <a:buNone/>
                      </a:pPr>
                      <a:r>
                        <a:rPr lang="en-US" sz="1400" b="1" dirty="0">
                          <a:solidFill>
                            <a:srgbClr val="13213C"/>
                          </a:solidFill>
                        </a:rPr>
                        <a:t>Schema check</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The AI's answer is valid and uses only allowed steps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b="1" dirty="0">
                          <a:solidFill>
                            <a:srgbClr val="2E8B57"/>
                          </a:solidFill>
                        </a:rPr>
                        <a:t>✓ passed</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566928">
                <a:tc>
                  <a:txBody>
                    <a:bodyPr/>
                    <a:lstStyle/>
                    <a:p>
                      <a:pPr marL="0" indent="0">
                        <a:buNone/>
                      </a:pPr>
                      <a:r>
                        <a:rPr lang="en-US" sz="1400" b="1" dirty="0">
                          <a:solidFill>
                            <a:srgbClr val="13213C"/>
                          </a:solidFill>
                        </a:rPr>
                        <a:t>Grounding check</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Pages and fields exist; the quote is word-for-word from the requirement</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b="1" dirty="0">
                          <a:solidFill>
                            <a:srgbClr val="2E8B57"/>
                          </a:solidFill>
                        </a:rPr>
                        <a:t>✓ passed</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rgbClr val="13213C"/>
                          </a:solidFill>
                        </a:rPr>
                        <a:t>NEEDS REVIEW flag</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Tests without a source in the document go to a human</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b="1" dirty="0">
                          <a:solidFill>
                            <a:srgbClr val="2E8B57"/>
                          </a:solidFill>
                        </a:rPr>
                        <a:t>✓ not flagged</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566928">
                <a:tc>
                  <a:txBody>
                    <a:bodyPr/>
                    <a:lstStyle/>
                    <a:p>
                      <a:pPr marL="0" indent="0">
                        <a:buNone/>
                      </a:pPr>
                      <a:r>
                        <a:rPr lang="en-US" sz="1400" b="1" dirty="0">
                          <a:solidFill>
                            <a:srgbClr val="13213C"/>
                          </a:solidFill>
                        </a:rPr>
                        <a:t>Fault-injection gate</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A passing test must fail on a broken build</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b="1" dirty="0">
                          <a:solidFill>
                            <a:srgbClr val="5B6578"/>
                          </a:solidFill>
                        </a:rPr>
                        <a:t>– only checks passing tests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548640" y="4553712"/>
            <a:ext cx="6766560" cy="411480"/>
          </a:xfrm>
          <a:prstGeom prst="rect">
            <a:avLst/>
          </a:prstGeom>
          <a:noFill/>
          <a:ln/>
        </p:spPr>
        <p:txBody>
          <a:bodyPr wrap="square" lIns="0" tIns="0" rIns="0" bIns="0" rtlCol="0" anchor="t"/>
          <a:lstStyle/>
          <a:p>
            <a:pPr marL="0" indent="0">
              <a:buNone/>
            </a:pPr>
            <a:r>
              <a:rPr lang="en-US" sz="1700" b="1" dirty="0">
                <a:solidFill>
                  <a:srgbClr val="C8463D"/>
                </a:solidFill>
                <a:latin typeface="Calibri" pitchFamily="34" charset="0"/>
                <a:ea typeface="Calibri" pitchFamily="34" charset="-122"/>
                <a:cs typeface="Calibri" pitchFamily="34" charset="-120"/>
              </a:rPr>
              <a:t>No rule asks: does this test really test the requirement?</a:t>
            </a:r>
            <a:endParaRPr lang="en-US" sz="1700" dirty="0"/>
          </a:p>
        </p:txBody>
      </p:sp>
      <p:sp>
        <p:nvSpPr>
          <p:cNvPr id="6" name="Text 3"/>
          <p:cNvSpPr txBox="1"/>
          <p:nvPr/>
        </p:nvSpPr>
        <p:spPr>
          <a:xfrm>
            <a:off x="548640" y="4983480"/>
            <a:ext cx="6766560" cy="3200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A test can run cleanly and still be wrong in three ways:</a:t>
            </a:r>
            <a:endParaRPr lang="en-US" sz="1400" dirty="0"/>
          </a:p>
        </p:txBody>
      </p:sp>
      <p:sp>
        <p:nvSpPr>
          <p:cNvPr id="7" name="Shape 4"/>
          <p:cNvSpPr/>
          <p:nvPr/>
        </p:nvSpPr>
        <p:spPr>
          <a:xfrm>
            <a:off x="548640" y="5349240"/>
            <a:ext cx="2148840" cy="438912"/>
          </a:xfrm>
          <a:prstGeom prst="rect">
            <a:avLst/>
          </a:prstGeom>
          <a:solidFill>
            <a:srgbClr val="FDECEA"/>
          </a:solidFill>
          <a:ln w="12700">
            <a:solidFill>
              <a:srgbClr val="FDECEA"/>
            </a:solidFill>
            <a:prstDash val="solid"/>
          </a:ln>
        </p:spPr>
        <p:txBody>
          <a:bodyPr/>
          <a:lstStyle/>
          <a:p>
            <a:endParaRPr lang="en-US"/>
          </a:p>
        </p:txBody>
      </p:sp>
      <p:sp>
        <p:nvSpPr>
          <p:cNvPr id="4" name="Text 5"/>
          <p:cNvSpPr txBox="1"/>
          <p:nvPr/>
        </p:nvSpPr>
        <p:spPr>
          <a:xfrm>
            <a:off x="685800" y="5349240"/>
            <a:ext cx="1920240" cy="438912"/>
          </a:xfrm>
          <a:prstGeom prst="rect">
            <a:avLst/>
          </a:prstGeom>
          <a:noFill/>
          <a:ln/>
        </p:spPr>
        <p:txBody>
          <a:bodyPr wrap="square" lIns="0" tIns="0" rIns="0" bIns="0" rtlCol="0" anchor="ctr"/>
          <a:lstStyle/>
          <a:p>
            <a:pPr marL="0" indent="0">
              <a:buNone/>
            </a:pPr>
            <a:r>
              <a:rPr lang="en-US" sz="1500" b="1" dirty="0">
                <a:solidFill>
                  <a:srgbClr val="C8463D"/>
                </a:solidFill>
                <a:latin typeface="Calibri" pitchFamily="34" charset="0"/>
                <a:ea typeface="Calibri" pitchFamily="34" charset="-122"/>
                <a:cs typeface="Calibri" pitchFamily="34" charset="-120"/>
              </a:rPr>
              <a:t>Wrong scenario</a:t>
            </a:r>
            <a:endParaRPr lang="en-US" sz="1500" dirty="0"/>
          </a:p>
        </p:txBody>
      </p:sp>
      <p:sp>
        <p:nvSpPr>
          <p:cNvPr id="9" name="Shape 6"/>
          <p:cNvSpPr/>
          <p:nvPr/>
        </p:nvSpPr>
        <p:spPr>
          <a:xfrm>
            <a:off x="2834640" y="5349240"/>
            <a:ext cx="2148840" cy="438912"/>
          </a:xfrm>
          <a:prstGeom prst="rect">
            <a:avLst/>
          </a:prstGeom>
          <a:solidFill>
            <a:srgbClr val="FDECEA"/>
          </a:solidFill>
          <a:ln w="12700">
            <a:solidFill>
              <a:srgbClr val="FDECEA"/>
            </a:solidFill>
            <a:prstDash val="solid"/>
          </a:ln>
        </p:spPr>
        <p:txBody>
          <a:bodyPr/>
          <a:lstStyle/>
          <a:p>
            <a:endParaRPr lang="en-US"/>
          </a:p>
        </p:txBody>
      </p:sp>
      <p:sp>
        <p:nvSpPr>
          <p:cNvPr id="10" name="Text 7"/>
          <p:cNvSpPr txBox="1"/>
          <p:nvPr/>
        </p:nvSpPr>
        <p:spPr>
          <a:xfrm>
            <a:off x="2971800" y="5349240"/>
            <a:ext cx="1920240" cy="438912"/>
          </a:xfrm>
          <a:prstGeom prst="rect">
            <a:avLst/>
          </a:prstGeom>
          <a:noFill/>
          <a:ln/>
        </p:spPr>
        <p:txBody>
          <a:bodyPr wrap="square" lIns="0" tIns="0" rIns="0" bIns="0" rtlCol="0" anchor="ctr"/>
          <a:lstStyle/>
          <a:p>
            <a:pPr marL="0" indent="0">
              <a:buNone/>
            </a:pPr>
            <a:r>
              <a:rPr lang="en-US" sz="1500" b="1" dirty="0">
                <a:solidFill>
                  <a:srgbClr val="C8463D"/>
                </a:solidFill>
                <a:latin typeface="Calibri" pitchFamily="34" charset="0"/>
                <a:ea typeface="Calibri" pitchFamily="34" charset="-122"/>
                <a:cs typeface="Calibri" pitchFamily="34" charset="-120"/>
              </a:rPr>
              <a:t>Wrong check</a:t>
            </a:r>
            <a:endParaRPr lang="en-US" sz="1500" dirty="0"/>
          </a:p>
        </p:txBody>
      </p:sp>
      <p:sp>
        <p:nvSpPr>
          <p:cNvPr id="11" name="Shape 8"/>
          <p:cNvSpPr/>
          <p:nvPr/>
        </p:nvSpPr>
        <p:spPr>
          <a:xfrm>
            <a:off x="5120640" y="5349240"/>
            <a:ext cx="2148840" cy="438912"/>
          </a:xfrm>
          <a:prstGeom prst="rect">
            <a:avLst/>
          </a:prstGeom>
          <a:solidFill>
            <a:srgbClr val="FDECEA"/>
          </a:solidFill>
          <a:ln w="12700">
            <a:solidFill>
              <a:srgbClr val="FDECEA"/>
            </a:solidFill>
            <a:prstDash val="solid"/>
          </a:ln>
        </p:spPr>
        <p:txBody>
          <a:bodyPr/>
          <a:lstStyle/>
          <a:p>
            <a:endParaRPr lang="en-US"/>
          </a:p>
        </p:txBody>
      </p:sp>
      <p:sp>
        <p:nvSpPr>
          <p:cNvPr id="12" name="Text 9"/>
          <p:cNvSpPr txBox="1"/>
          <p:nvPr/>
        </p:nvSpPr>
        <p:spPr>
          <a:xfrm>
            <a:off x="5257800" y="5349240"/>
            <a:ext cx="1920240" cy="438912"/>
          </a:xfrm>
          <a:prstGeom prst="rect">
            <a:avLst/>
          </a:prstGeom>
          <a:noFill/>
          <a:ln/>
        </p:spPr>
        <p:txBody>
          <a:bodyPr wrap="square" lIns="0" tIns="0" rIns="0" bIns="0" rtlCol="0" anchor="ctr"/>
          <a:lstStyle/>
          <a:p>
            <a:pPr marL="0" indent="0">
              <a:buNone/>
            </a:pPr>
            <a:r>
              <a:rPr lang="en-US" sz="1500" b="1" dirty="0">
                <a:solidFill>
                  <a:srgbClr val="C8463D"/>
                </a:solidFill>
                <a:latin typeface="Calibri" pitchFamily="34" charset="0"/>
                <a:ea typeface="Calibri" pitchFamily="34" charset="-122"/>
                <a:cs typeface="Calibri" pitchFamily="34" charset="-120"/>
              </a:rPr>
              <a:t>Catches no bug</a:t>
            </a:r>
            <a:endParaRPr lang="en-US" sz="1500" dirty="0"/>
          </a:p>
        </p:txBody>
      </p:sp>
      <p:sp>
        <p:nvSpPr>
          <p:cNvPr id="13" name="Shape 10"/>
          <p:cNvSpPr/>
          <p:nvPr/>
        </p:nvSpPr>
        <p:spPr>
          <a:xfrm>
            <a:off x="7635240" y="1325880"/>
            <a:ext cx="4005072" cy="4462272"/>
          </a:xfrm>
          <a:prstGeom prst="roundRect">
            <a:avLst>
              <a:gd name="adj" fmla="val 2740"/>
            </a:avLst>
          </a:prstGeom>
          <a:solidFill>
            <a:srgbClr val="13213C"/>
          </a:solidFill>
          <a:ln w="12700">
            <a:solidFill>
              <a:srgbClr val="13213C"/>
            </a:solidFill>
            <a:prstDash val="solid"/>
          </a:ln>
        </p:spPr>
        <p:txBody>
          <a:bodyPr/>
          <a:lstStyle/>
          <a:p>
            <a:endParaRPr lang="en-US"/>
          </a:p>
        </p:txBody>
      </p:sp>
      <p:sp>
        <p:nvSpPr>
          <p:cNvPr id="14" name="Text 11"/>
          <p:cNvSpPr txBox="1"/>
          <p:nvPr/>
        </p:nvSpPr>
        <p:spPr>
          <a:xfrm>
            <a:off x="7863840" y="1508760"/>
            <a:ext cx="3611880" cy="685800"/>
          </a:xfrm>
          <a:prstGeom prst="rect">
            <a:avLst/>
          </a:prstGeom>
          <a:noFill/>
          <a:ln/>
        </p:spPr>
        <p:txBody>
          <a:bodyPr wrap="square" lIns="0" tIns="0" rIns="0" bIns="0" rtlCol="0" anchor="t"/>
          <a:lstStyle/>
          <a:p>
            <a:pPr marL="0" indent="0">
              <a:buNone/>
            </a:pPr>
            <a:r>
              <a:rPr lang="en-US" sz="1600" b="1" dirty="0">
                <a:solidFill>
                  <a:srgbClr val="E39B2D"/>
                </a:solidFill>
                <a:latin typeface="Calibri" pitchFamily="34" charset="0"/>
                <a:ea typeface="Calibri" pitchFamily="34" charset="-122"/>
                <a:cs typeface="Calibri" pitchFamily="34" charset="-120"/>
              </a:rPr>
              <a:t>Why it matters more for autonomous systems</a:t>
            </a:r>
            <a:endParaRPr lang="en-US" sz="1600" dirty="0"/>
          </a:p>
        </p:txBody>
      </p:sp>
      <p:sp>
        <p:nvSpPr>
          <p:cNvPr id="15" name="Text 12"/>
          <p:cNvSpPr txBox="1"/>
          <p:nvPr/>
        </p:nvSpPr>
        <p:spPr>
          <a:xfrm>
            <a:off x="7863840" y="2240280"/>
            <a:ext cx="3611880" cy="3337560"/>
          </a:xfrm>
          <a:prstGeom prst="rect">
            <a:avLst/>
          </a:prstGeom>
          <a:noFill/>
          <a:ln/>
        </p:spPr>
        <p:txBody>
          <a:bodyPr wrap="square" lIns="0" tIns="0" rIns="0" bIns="0" rtlCol="0" anchor="t"/>
          <a:lstStyle/>
          <a:p>
            <a:pPr marL="177800" indent="-177800">
              <a:buSzPct val="100000"/>
              <a:buChar char="•"/>
            </a:pPr>
            <a:r>
              <a:rPr lang="en-US" sz="1400" b="1" dirty="0">
                <a:solidFill>
                  <a:srgbClr val="CFE3F1"/>
                </a:solidFill>
                <a:latin typeface="Calibri" pitchFamily="34" charset="0"/>
                <a:ea typeface="Calibri" pitchFamily="34" charset="-122"/>
                <a:cs typeface="Calibri" pitchFamily="34" charset="-120"/>
              </a:rPr>
              <a:t>AI already helps engineer cyber-physical systems: </a:t>
            </a:r>
            <a:r>
              <a:rPr lang="en-US" sz="1400" dirty="0">
                <a:solidFill>
                  <a:srgbClr val="CFE3F1"/>
                </a:solidFill>
                <a:latin typeface="Calibri" pitchFamily="34" charset="0"/>
                <a:ea typeface="Calibri" pitchFamily="34" charset="-122"/>
                <a:cs typeface="Calibri" pitchFamily="34" charset="-120"/>
              </a:rPr>
              <a:t>checking driving scenarios, writing checks, building digital twins [8, 10]</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AI writes the tests themselves [27]</a:t>
            </a:r>
            <a:endParaRPr lang="en-US" sz="1400" dirty="0"/>
          </a:p>
          <a:p>
            <a:pPr marL="177800" indent="-177800">
              <a:buSzPct val="100000"/>
              <a:buChar char="•"/>
            </a:pPr>
            <a:r>
              <a:rPr lang="en-US" sz="1400" b="1" dirty="0">
                <a:solidFill>
                  <a:srgbClr val="CFE3F1"/>
                </a:solidFill>
                <a:latin typeface="Calibri" pitchFamily="34" charset="0"/>
                <a:ea typeface="Calibri" pitchFamily="34" charset="-122"/>
                <a:cs typeface="Calibri" pitchFamily="34" charset="-120"/>
              </a:rPr>
              <a:t>In a self-driving car, a wrong test means </a:t>
            </a:r>
            <a:r>
              <a:rPr lang="en-US" sz="1400" dirty="0">
                <a:solidFill>
                  <a:srgbClr val="CFE3F1"/>
                </a:solidFill>
                <a:latin typeface="Calibri" pitchFamily="34" charset="0"/>
                <a:ea typeface="Calibri" pitchFamily="34" charset="-122"/>
                <a:cs typeface="Calibri" pitchFamily="34" charset="-120"/>
              </a:rPr>
              <a:t>false safety — or a team that stops trusting its test reports</a:t>
            </a:r>
            <a:endParaRPr lang="en-US" sz="1400" dirty="0"/>
          </a:p>
        </p:txBody>
      </p:sp>
      <p:sp>
        <p:nvSpPr>
          <p:cNvPr id="16" name="Text 13"/>
          <p:cNvSpPr txBox="1"/>
          <p:nvPr/>
        </p:nvSpPr>
        <p:spPr>
          <a:xfrm>
            <a:off x="548640" y="5870448"/>
            <a:ext cx="11094415" cy="557784"/>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[8] J. Wu et al., “Reality bites: Assessing the realism of driving scenarios with large language models,” Proc. IEEE/ACM FORGE, 2024.</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[10] C. Lu et al., “Foundation models for software engineering of cyber-physical systems: The road ahead,” ACM TOSEM, 2026.</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[27] J. Wang et al., “Software testing with large language models: Survey, landscape, and vision,” IEEE TSE, 2024.</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0F8B8D"/>
                </a:solidFill>
                <a:latin typeface="Calibri" pitchFamily="34" charset="0"/>
                <a:ea typeface="Calibri" pitchFamily="34" charset="-122"/>
                <a:cs typeface="Calibri" pitchFamily="34" charset="-120"/>
              </a:rPr>
              <a:t>PART B · THE PHD QUESTION</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When can we trust an AI-generated test?</a:t>
            </a:r>
            <a:endParaRPr lang="en-US" sz="3000" dirty="0"/>
          </a:p>
        </p:txBody>
      </p:sp>
      <p:sp>
        <p:nvSpPr>
          <p:cNvPr id="4" name="Shape 2"/>
          <p:cNvSpPr/>
          <p:nvPr/>
        </p:nvSpPr>
        <p:spPr>
          <a:xfrm>
            <a:off x="548640" y="1280160"/>
            <a:ext cx="11094415" cy="960120"/>
          </a:xfrm>
          <a:prstGeom prst="roundRect">
            <a:avLst>
              <a:gd name="adj" fmla="val 11429"/>
            </a:avLst>
          </a:prstGeom>
          <a:solidFill>
            <a:srgbClr val="E6F3F3"/>
          </a:solidFill>
          <a:ln w="12700">
            <a:solidFill>
              <a:srgbClr val="E6F3F3"/>
            </a:solidFill>
            <a:prstDash val="solid"/>
          </a:ln>
        </p:spPr>
        <p:txBody>
          <a:bodyPr/>
          <a:lstStyle/>
          <a:p>
            <a:endParaRPr lang="en-US"/>
          </a:p>
        </p:txBody>
      </p:sp>
      <p:sp>
        <p:nvSpPr>
          <p:cNvPr id="5" name="Text 3"/>
          <p:cNvSpPr txBox="1"/>
          <p:nvPr/>
        </p:nvSpPr>
        <p:spPr>
          <a:xfrm>
            <a:off x="822960" y="1325880"/>
            <a:ext cx="10545775" cy="868680"/>
          </a:xfrm>
          <a:prstGeom prst="rect">
            <a:avLst/>
          </a:prstGeom>
          <a:noFill/>
          <a:ln/>
        </p:spPr>
        <p:txBody>
          <a:bodyPr wrap="square" lIns="0" tIns="0" rIns="0" bIns="0" rtlCol="0" anchor="ctr"/>
          <a:lstStyle/>
          <a:p>
            <a:pPr marL="0" indent="0">
              <a:buNone/>
            </a:pPr>
            <a:r>
              <a:rPr lang="en-US" sz="1500" b="1" dirty="0">
                <a:solidFill>
                  <a:srgbClr val="0F8B8D"/>
                </a:solidFill>
                <a:latin typeface="Calibri" pitchFamily="34" charset="0"/>
                <a:ea typeface="Calibri" pitchFamily="34" charset="-122"/>
                <a:cs typeface="Calibri" pitchFamily="34" charset="-120"/>
              </a:rPr>
              <a:t>My idea  </a:t>
            </a:r>
            <a:r>
              <a:rPr lang="en-US" sz="1500" dirty="0">
                <a:solidFill>
                  <a:srgbClr val="1E2533"/>
                </a:solidFill>
                <a:latin typeface="Calibri" pitchFamily="34" charset="0"/>
                <a:ea typeface="Calibri" pitchFamily="34" charset="-122"/>
                <a:cs typeface="Calibri" pitchFamily="34" charset="-120"/>
              </a:rPr>
              <a:t>Ask the AI for the same test several times and compare what the tests do. If they agree, trust more; if they scatter, a human checks. This works for chatbot answers [23, 24, 25] — but has not been studied for executable tests.</a:t>
            </a:r>
            <a:endParaRPr lang="en-US" sz="1500" dirty="0"/>
          </a:p>
        </p:txBody>
      </p:sp>
      <p:sp>
        <p:nvSpPr>
          <p:cNvPr id="6" name="Shape 4"/>
          <p:cNvSpPr/>
          <p:nvPr/>
        </p:nvSpPr>
        <p:spPr>
          <a:xfrm>
            <a:off x="548640" y="2377440"/>
            <a:ext cx="2670048" cy="2331720"/>
          </a:xfrm>
          <a:prstGeom prst="roundRect">
            <a:avLst>
              <a:gd name="adj" fmla="val 4706"/>
            </a:avLst>
          </a:prstGeom>
          <a:solidFill>
            <a:srgbClr val="F2F5F9"/>
          </a:solidFill>
          <a:ln w="12700">
            <a:solidFill>
              <a:srgbClr val="F2F5F9"/>
            </a:solidFill>
            <a:prstDash val="solid"/>
          </a:ln>
        </p:spPr>
        <p:txBody>
          <a:bodyPr/>
          <a:lstStyle/>
          <a:p>
            <a:endParaRPr lang="en-US"/>
          </a:p>
        </p:txBody>
      </p:sp>
      <p:sp>
        <p:nvSpPr>
          <p:cNvPr id="7" name="Shape 5"/>
          <p:cNvSpPr/>
          <p:nvPr/>
        </p:nvSpPr>
        <p:spPr>
          <a:xfrm>
            <a:off x="731520" y="2487168"/>
            <a:ext cx="457200" cy="457200"/>
          </a:xfrm>
          <a:prstGeom prst="ellipse">
            <a:avLst/>
          </a:prstGeom>
          <a:solidFill>
            <a:srgbClr val="0F8B8D"/>
          </a:solidFill>
          <a:ln w="12700">
            <a:solidFill>
              <a:srgbClr val="0F8B8D"/>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845820" y="2601468"/>
            <a:ext cx="228600" cy="228600"/>
          </a:xfrm>
          <a:prstGeom prst="rect">
            <a:avLst/>
          </a:prstGeom>
        </p:spPr>
      </p:pic>
      <p:sp>
        <p:nvSpPr>
          <p:cNvPr id="9" name="Text 6"/>
          <p:cNvSpPr txBox="1"/>
          <p:nvPr/>
        </p:nvSpPr>
        <p:spPr>
          <a:xfrm>
            <a:off x="1280160" y="2487168"/>
            <a:ext cx="1828800" cy="457200"/>
          </a:xfrm>
          <a:prstGeom prst="rect">
            <a:avLst/>
          </a:prstGeom>
          <a:noFill/>
          <a:ln/>
        </p:spPr>
        <p:txBody>
          <a:bodyPr wrap="square" lIns="0" tIns="0" rIns="0" bIns="0" rtlCol="0" anchor="ctr"/>
          <a:lstStyle/>
          <a:p>
            <a:pPr marL="0" indent="0">
              <a:buNone/>
            </a:pPr>
            <a:r>
              <a:rPr lang="en-US" sz="1400" b="1" dirty="0">
                <a:solidFill>
                  <a:srgbClr val="13213C"/>
                </a:solidFill>
                <a:latin typeface="Calibri" pitchFamily="34" charset="0"/>
                <a:ea typeface="Calibri" pitchFamily="34" charset="-122"/>
                <a:cs typeface="Calibri" pitchFamily="34" charset="-120"/>
              </a:rPr>
              <a:t>Uncertainty in CPS testing</a:t>
            </a:r>
            <a:endParaRPr lang="en-US" sz="1400" dirty="0"/>
          </a:p>
        </p:txBody>
      </p:sp>
      <p:sp>
        <p:nvSpPr>
          <p:cNvPr id="10" name="Text 7"/>
          <p:cNvSpPr txBox="1"/>
          <p:nvPr/>
        </p:nvSpPr>
        <p:spPr>
          <a:xfrm>
            <a:off x="731520" y="3035808"/>
            <a:ext cx="2377440" cy="1627632"/>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U-Taxonomy, uncertainty-wise test modelling &amp; generation [3, 2, 1]</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DL prediction validator; uncertainty-wise oracles [4, 6]</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Uncertainty &amp; quality of VLA robots [7]</a:t>
            </a:r>
            <a:endParaRPr lang="en-US" sz="1200" dirty="0"/>
          </a:p>
        </p:txBody>
      </p:sp>
      <p:sp>
        <p:nvSpPr>
          <p:cNvPr id="11" name="Shape 8"/>
          <p:cNvSpPr/>
          <p:nvPr/>
        </p:nvSpPr>
        <p:spPr>
          <a:xfrm>
            <a:off x="3364992" y="2377440"/>
            <a:ext cx="2670048" cy="2331720"/>
          </a:xfrm>
          <a:prstGeom prst="roundRect">
            <a:avLst>
              <a:gd name="adj" fmla="val 4706"/>
            </a:avLst>
          </a:prstGeom>
          <a:solidFill>
            <a:srgbClr val="F2F5F9"/>
          </a:solidFill>
          <a:ln w="12700">
            <a:solidFill>
              <a:srgbClr val="F2F5F9"/>
            </a:solidFill>
            <a:prstDash val="solid"/>
          </a:ln>
        </p:spPr>
        <p:txBody>
          <a:bodyPr/>
          <a:lstStyle/>
          <a:p>
            <a:endParaRPr lang="en-US"/>
          </a:p>
        </p:txBody>
      </p:sp>
      <p:sp>
        <p:nvSpPr>
          <p:cNvPr id="12" name="Shape 9"/>
          <p:cNvSpPr/>
          <p:nvPr/>
        </p:nvSpPr>
        <p:spPr>
          <a:xfrm>
            <a:off x="3547872" y="2487168"/>
            <a:ext cx="457200" cy="457200"/>
          </a:xfrm>
          <a:prstGeom prst="ellipse">
            <a:avLst/>
          </a:prstGeom>
          <a:solidFill>
            <a:srgbClr val="3567C8"/>
          </a:solidFill>
          <a:ln w="12700">
            <a:solidFill>
              <a:srgbClr val="3567C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662172" y="2601468"/>
            <a:ext cx="228600" cy="228600"/>
          </a:xfrm>
          <a:prstGeom prst="rect">
            <a:avLst/>
          </a:prstGeom>
        </p:spPr>
      </p:pic>
      <p:sp>
        <p:nvSpPr>
          <p:cNvPr id="14" name="Text 10"/>
          <p:cNvSpPr txBox="1"/>
          <p:nvPr/>
        </p:nvSpPr>
        <p:spPr>
          <a:xfrm>
            <a:off x="4096512" y="2487168"/>
            <a:ext cx="1828800" cy="457200"/>
          </a:xfrm>
          <a:prstGeom prst="rect">
            <a:avLst/>
          </a:prstGeom>
          <a:noFill/>
          <a:ln/>
        </p:spPr>
        <p:txBody>
          <a:bodyPr wrap="square" lIns="0" tIns="0" rIns="0" bIns="0" rtlCol="0" anchor="ctr"/>
          <a:lstStyle/>
          <a:p>
            <a:pPr marL="0" indent="0">
              <a:buNone/>
            </a:pPr>
            <a:r>
              <a:rPr lang="en-US" sz="1400" b="1" dirty="0">
                <a:solidFill>
                  <a:srgbClr val="13213C"/>
                </a:solidFill>
                <a:latin typeface="Calibri" pitchFamily="34" charset="0"/>
                <a:ea typeface="Calibri" pitchFamily="34" charset="-122"/>
                <a:cs typeface="Calibri" pitchFamily="34" charset="-120"/>
              </a:rPr>
              <a:t>Driving-system testing</a:t>
            </a:r>
            <a:endParaRPr lang="en-US" sz="1400" dirty="0"/>
          </a:p>
        </p:txBody>
      </p:sp>
      <p:sp>
        <p:nvSpPr>
          <p:cNvPr id="15" name="Text 11"/>
          <p:cNvSpPr txBox="1"/>
          <p:nvPr/>
        </p:nvSpPr>
        <p:spPr>
          <a:xfrm>
            <a:off x="3547872" y="3035808"/>
            <a:ext cx="2377440" cy="1627632"/>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Avoidable-collision scenarios [12]</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Parameter coverage under uncertainty [13]</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Robustness-guided falsification [15, 14]</a:t>
            </a:r>
            <a:endParaRPr lang="en-US" sz="1200" dirty="0"/>
          </a:p>
        </p:txBody>
      </p:sp>
      <p:sp>
        <p:nvSpPr>
          <p:cNvPr id="16" name="Shape 12"/>
          <p:cNvSpPr/>
          <p:nvPr/>
        </p:nvSpPr>
        <p:spPr>
          <a:xfrm>
            <a:off x="6181344" y="2377440"/>
            <a:ext cx="2670048" cy="2331720"/>
          </a:xfrm>
          <a:prstGeom prst="roundRect">
            <a:avLst>
              <a:gd name="adj" fmla="val 4706"/>
            </a:avLst>
          </a:prstGeom>
          <a:solidFill>
            <a:srgbClr val="F2F5F9"/>
          </a:solidFill>
          <a:ln w="12700">
            <a:solidFill>
              <a:srgbClr val="F2F5F9"/>
            </a:solidFill>
            <a:prstDash val="solid"/>
          </a:ln>
        </p:spPr>
        <p:txBody>
          <a:bodyPr/>
          <a:lstStyle/>
          <a:p>
            <a:endParaRPr lang="en-US"/>
          </a:p>
        </p:txBody>
      </p:sp>
      <p:sp>
        <p:nvSpPr>
          <p:cNvPr id="17" name="Shape 13"/>
          <p:cNvSpPr/>
          <p:nvPr/>
        </p:nvSpPr>
        <p:spPr>
          <a:xfrm>
            <a:off x="6364224" y="2487168"/>
            <a:ext cx="457200" cy="457200"/>
          </a:xfrm>
          <a:prstGeom prst="ellipse">
            <a:avLst/>
          </a:prstGeom>
          <a:solidFill>
            <a:srgbClr val="E39B2D"/>
          </a:solidFill>
          <a:ln w="12700">
            <a:solidFill>
              <a:srgbClr val="E39B2D"/>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6478524" y="2601468"/>
            <a:ext cx="228600" cy="228600"/>
          </a:xfrm>
          <a:prstGeom prst="rect">
            <a:avLst/>
          </a:prstGeom>
        </p:spPr>
      </p:pic>
      <p:sp>
        <p:nvSpPr>
          <p:cNvPr id="19" name="Text 14"/>
          <p:cNvSpPr txBox="1"/>
          <p:nvPr/>
        </p:nvSpPr>
        <p:spPr>
          <a:xfrm>
            <a:off x="6912864" y="2487168"/>
            <a:ext cx="1828800" cy="457200"/>
          </a:xfrm>
          <a:prstGeom prst="rect">
            <a:avLst/>
          </a:prstGeom>
          <a:noFill/>
          <a:ln/>
        </p:spPr>
        <p:txBody>
          <a:bodyPr wrap="square" lIns="0" tIns="0" rIns="0" bIns="0" rtlCol="0" anchor="ctr"/>
          <a:lstStyle/>
          <a:p>
            <a:pPr marL="0" indent="0">
              <a:buNone/>
            </a:pPr>
            <a:r>
              <a:rPr lang="en-US" sz="1400" b="1" dirty="0">
                <a:solidFill>
                  <a:srgbClr val="13213C"/>
                </a:solidFill>
                <a:latin typeface="Calibri" pitchFamily="34" charset="0"/>
                <a:ea typeface="Calibri" pitchFamily="34" charset="-122"/>
                <a:cs typeface="Calibri" pitchFamily="34" charset="-120"/>
              </a:rPr>
              <a:t>Oracles &amp; industrial CPS</a:t>
            </a:r>
            <a:endParaRPr lang="en-US" sz="1400" dirty="0"/>
          </a:p>
        </p:txBody>
      </p:sp>
      <p:sp>
        <p:nvSpPr>
          <p:cNvPr id="20" name="Text 15"/>
          <p:cNvSpPr txBox="1"/>
          <p:nvPr/>
        </p:nvSpPr>
        <p:spPr>
          <a:xfrm>
            <a:off x="6364224" y="3035808"/>
            <a:ext cx="2377440" cy="1627632"/>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ML-based oracles for elevators [16]</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Metamorphic relations for CPS [17]</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Elevator robustness under uncertainty [5]</a:t>
            </a:r>
            <a:endParaRPr lang="en-US" sz="1200" dirty="0"/>
          </a:p>
        </p:txBody>
      </p:sp>
      <p:sp>
        <p:nvSpPr>
          <p:cNvPr id="21" name="Shape 16"/>
          <p:cNvSpPr/>
          <p:nvPr/>
        </p:nvSpPr>
        <p:spPr>
          <a:xfrm>
            <a:off x="8997696" y="2377440"/>
            <a:ext cx="2670048" cy="2331720"/>
          </a:xfrm>
          <a:prstGeom prst="roundRect">
            <a:avLst>
              <a:gd name="adj" fmla="val 4706"/>
            </a:avLst>
          </a:prstGeom>
          <a:solidFill>
            <a:srgbClr val="F2F5F9"/>
          </a:solidFill>
          <a:ln w="12700">
            <a:solidFill>
              <a:srgbClr val="F2F5F9"/>
            </a:solidFill>
            <a:prstDash val="solid"/>
          </a:ln>
        </p:spPr>
        <p:txBody>
          <a:bodyPr/>
          <a:lstStyle/>
          <a:p>
            <a:endParaRPr lang="en-US"/>
          </a:p>
        </p:txBody>
      </p:sp>
      <p:sp>
        <p:nvSpPr>
          <p:cNvPr id="22" name="Shape 17"/>
          <p:cNvSpPr/>
          <p:nvPr/>
        </p:nvSpPr>
        <p:spPr>
          <a:xfrm>
            <a:off x="9180576" y="2487168"/>
            <a:ext cx="457200" cy="457200"/>
          </a:xfrm>
          <a:prstGeom prst="ellipse">
            <a:avLst/>
          </a:prstGeom>
          <a:solidFill>
            <a:srgbClr val="6E56CF"/>
          </a:solidFill>
          <a:ln w="12700">
            <a:solidFill>
              <a:srgbClr val="6E56CF"/>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9294876" y="2601468"/>
            <a:ext cx="228600" cy="228600"/>
          </a:xfrm>
          <a:prstGeom prst="rect">
            <a:avLst/>
          </a:prstGeom>
        </p:spPr>
      </p:pic>
      <p:sp>
        <p:nvSpPr>
          <p:cNvPr id="24" name="Text 18"/>
          <p:cNvSpPr txBox="1"/>
          <p:nvPr/>
        </p:nvSpPr>
        <p:spPr>
          <a:xfrm>
            <a:off x="9729216" y="2487168"/>
            <a:ext cx="1828800" cy="457200"/>
          </a:xfrm>
          <a:prstGeom prst="rect">
            <a:avLst/>
          </a:prstGeom>
          <a:noFill/>
          <a:ln/>
        </p:spPr>
        <p:txBody>
          <a:bodyPr wrap="square" lIns="0" tIns="0" rIns="0" bIns="0" rtlCol="0" anchor="ctr"/>
          <a:lstStyle/>
          <a:p>
            <a:pPr marL="0" indent="0">
              <a:buNone/>
            </a:pPr>
            <a:r>
              <a:rPr lang="en-US" sz="1400" b="1" dirty="0">
                <a:solidFill>
                  <a:srgbClr val="13213C"/>
                </a:solidFill>
                <a:latin typeface="Calibri" pitchFamily="34" charset="0"/>
                <a:ea typeface="Calibri" pitchFamily="34" charset="-122"/>
                <a:cs typeface="Calibri" pitchFamily="34" charset="-120"/>
              </a:rPr>
              <a:t>AI in testing</a:t>
            </a:r>
            <a:endParaRPr lang="en-US" sz="1400" dirty="0"/>
          </a:p>
        </p:txBody>
      </p:sp>
      <p:sp>
        <p:nvSpPr>
          <p:cNvPr id="25" name="Text 19"/>
          <p:cNvSpPr txBox="1"/>
          <p:nvPr/>
        </p:nvSpPr>
        <p:spPr>
          <a:xfrm>
            <a:off x="9180576" y="3035808"/>
            <a:ext cx="2377440" cy="1627632"/>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LLMs judging scenario realism [8]</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Foundation models for CPS [10, 11]</a:t>
            </a:r>
            <a:endParaRPr lang="en-US" sz="1200" dirty="0"/>
          </a:p>
          <a:p>
            <a:pPr marL="177800" indent="-177800">
              <a:spcAft>
                <a:spcPts val="600"/>
              </a:spcAft>
              <a:buSzPct val="100000"/>
              <a:buChar char="•"/>
            </a:pPr>
            <a:r>
              <a:rPr lang="en-US" sz="1200" dirty="0">
                <a:solidFill>
                  <a:srgbClr val="1E2533"/>
                </a:solidFill>
                <a:latin typeface="Calibri" pitchFamily="34" charset="0"/>
                <a:ea typeface="Calibri" pitchFamily="34" charset="-122"/>
                <a:cs typeface="Calibri" pitchFamily="34" charset="-120"/>
              </a:rPr>
              <a:t>LLM uncertainty in SE tasks [26]</a:t>
            </a:r>
            <a:endParaRPr lang="en-US" sz="1200" dirty="0"/>
          </a:p>
        </p:txBody>
      </p:sp>
      <p:sp>
        <p:nvSpPr>
          <p:cNvPr id="26" name="Shape 20"/>
          <p:cNvSpPr/>
          <p:nvPr/>
        </p:nvSpPr>
        <p:spPr>
          <a:xfrm>
            <a:off x="548640" y="4800600"/>
            <a:ext cx="11094415" cy="438912"/>
          </a:xfrm>
          <a:prstGeom prst="roundRect">
            <a:avLst>
              <a:gd name="adj" fmla="val 25000"/>
            </a:avLst>
          </a:prstGeom>
          <a:solidFill>
            <a:srgbClr val="FFF4E0"/>
          </a:solidFill>
          <a:ln w="12700">
            <a:solidFill>
              <a:srgbClr val="FFF4E0"/>
            </a:solidFill>
            <a:prstDash val="solid"/>
          </a:ln>
        </p:spPr>
        <p:txBody>
          <a:bodyPr/>
          <a:lstStyle/>
          <a:p>
            <a:endParaRPr lang="en-US"/>
          </a:p>
        </p:txBody>
      </p:sp>
      <p:sp>
        <p:nvSpPr>
          <p:cNvPr id="27" name="Text 21"/>
          <p:cNvSpPr txBox="1"/>
          <p:nvPr/>
        </p:nvSpPr>
        <p:spPr>
          <a:xfrm>
            <a:off x="777240" y="4800600"/>
            <a:ext cx="10637215" cy="438912"/>
          </a:xfrm>
          <a:prstGeom prst="rect">
            <a:avLst/>
          </a:prstGeom>
          <a:noFill/>
          <a:ln/>
        </p:spPr>
        <p:txBody>
          <a:bodyPr wrap="square" lIns="0" tIns="0" rIns="0" bIns="0" rtlCol="0" anchor="ctr"/>
          <a:lstStyle/>
          <a:p>
            <a:pPr marL="0" indent="0">
              <a:buNone/>
            </a:pPr>
            <a:r>
              <a:rPr lang="en-US" sz="1400" b="1" dirty="0">
                <a:solidFill>
                  <a:srgbClr val="E39B2D"/>
                </a:solidFill>
                <a:latin typeface="Calibri" pitchFamily="34" charset="0"/>
                <a:ea typeface="Calibri" pitchFamily="34" charset="-122"/>
                <a:cs typeface="Calibri" pitchFamily="34" charset="-120"/>
              </a:rPr>
              <a:t>Gap  </a:t>
            </a:r>
            <a:r>
              <a:rPr lang="en-US" sz="1400" dirty="0">
                <a:solidFill>
                  <a:srgbClr val="1E2533"/>
                </a:solidFill>
                <a:latin typeface="Calibri" pitchFamily="34" charset="0"/>
                <a:ea typeface="Calibri" pitchFamily="34" charset="-122"/>
                <a:cs typeface="Calibri" pitchFamily="34" charset="-120"/>
              </a:rPr>
              <a:t>Uncertainty is studied for CPS, neural networks, robots and AI text — not yet for AI that writes executable tests.</a:t>
            </a:r>
            <a:endParaRPr lang="en-US" sz="1400" dirty="0"/>
          </a:p>
        </p:txBody>
      </p:sp>
      <p:sp>
        <p:nvSpPr>
          <p:cNvPr id="28" name="Text 22"/>
          <p:cNvSpPr txBox="1"/>
          <p:nvPr/>
        </p:nvSpPr>
        <p:spPr>
          <a:xfrm>
            <a:off x="548640" y="5303520"/>
            <a:ext cx="11094415" cy="1124712"/>
          </a:xfrm>
          <a:prstGeom prst="rect">
            <a:avLst/>
          </a:prstGeom>
          <a:noFill/>
          <a:ln/>
        </p:spPr>
        <p:txBody>
          <a:bodyPr wrap="square" lIns="0" tIns="0" rIns="0" bIns="0" rtlCol="0" anchor="b"/>
          <a:lstStyle/>
          <a:p>
            <a:pPr marL="0" indent="0">
              <a:buNone/>
            </a:pPr>
            <a:r>
              <a:rPr lang="en-US" sz="750" dirty="0">
                <a:solidFill>
                  <a:srgbClr val="5B6578"/>
                </a:solidFill>
                <a:latin typeface="Calibri" pitchFamily="34" charset="0"/>
                <a:ea typeface="Calibri" pitchFamily="34" charset="-122"/>
                <a:cs typeface="Calibri" pitchFamily="34" charset="-120"/>
              </a:rPr>
              <a:t>[1] M. Zhang et al., “Uncertainty-wise test case generation and minimization for cyber-physical systems,” J. Syst. Softw., 2019.   [2] M. Zhang et al., “Uncertainty-wise cyber-physical system test modeling,” Softw. Syst. Model., 2019.   [3] M. Zhang et al., “Understanding uncertainty in cyber-physical systems: A conceptual model,” Proc. ECMFA, 2016.   [4] F. O. Catak et al., “Uncertainty-aware prediction validator in deep learning models for cyber-physical system data,” ACM TOSEM, 2022.   [5] L. Han et al., “Uncertainty-aware robustness assessment of industrial elevator systems,” ACM TOSEM, 2023.   [6] P. Valle et al., “Defining and generating multi-level and uncertainty-wise test oracles for cyber-physical systems,” Softw. Syst. Model., 2025.   [7] P. Valle et al., “Evaluating uncertainty and quality of vision-language-action-enabled robots,” arXiv:2507.17049, 2025.   [8] J. Wu et al., “Reality bites: Assessing the realism of driving scenarios with large language models,” Proc. IEEE/ACM FORGE, 2024.   [10] C. Lu et al., “Foundation models for software engineering of cyber-physical systems: The road ahead,” ACM TOSEM, 2026.   [11] S. Ali et al., “Foundation models for the digital twins creation of cyber-physical systems,” Proc. ISoLA 2024, 2025.   [12] A. Calò et al., “Generating avoidable collision scenarios for testing autonomous driving systems,” Proc. IEEE ICST, 2020.   [13] T. Laurent et al., “Parameter coverage for testing of autonomous driving systems under uncertainty,” ACM TOSEM, 2023.   [14] Z. Zhang et al., “FalsifAI: Falsification of AI-enabled hybrid control systems guided by time-aware coverage criteria,” IEEE TSE, 2023.   [15] Z. Zhang et al., “Effective hybrid system falsification using Monte Carlo tree search guided by QB-robustness,” Proc. CAV, 2021.   [16] A. Arrieta et al., “Using machine learning to build test oracles: An industrial case study on elevators dispatching algorithms,” Proc. IEEE/ACM AST, 2021.   [17] J. Ayerdi et al., “Generating metamorphic relations for cyber-physical systems with genetic programming: An industrial case study,” Proc. ESEC/FSE, 2021.   [23] L. Kuhn et al., “Semantic uncertainty: Linguistic invariances for uncertainty estimation in natural language generation,” in Proc. ICLR, 2023.   [24] S. Farquhar et al., “Detecting hallucinations in large language models using semantic entropy,” Nature, 2024.   [25] P. Manakul et al., “SelfCheckGPT: Zero-resource black-box hallucination detection for generative large language models,” Proc. EMNLP, 2023.   [26] Y. Huang et al., “Look before you leap: An exploratory study of uncertainty analysis for large language models,” IEEE TSE, 2025.</a:t>
            </a:r>
            <a:endParaRPr lang="en-US" sz="750" dirty="0"/>
          </a:p>
        </p:txBody>
      </p:sp>
      <p:sp>
        <p:nvSpPr>
          <p:cNvPr id="29"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E39B2D"/>
                </a:solidFill>
                <a:latin typeface="Calibri" pitchFamily="34" charset="0"/>
                <a:ea typeface="Calibri" pitchFamily="34" charset="-122"/>
                <a:cs typeface="Calibri" pitchFamily="34" charset="-120"/>
              </a:rPr>
              <a:t>PART B · OBJECTIVES</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The position's four objectives, as research questions</a:t>
            </a:r>
            <a:endParaRPr lang="en-US" sz="3000" dirty="0"/>
          </a:p>
        </p:txBody>
      </p:sp>
      <p:sp>
        <p:nvSpPr>
          <p:cNvPr id="4" name="Shape 2"/>
          <p:cNvSpPr/>
          <p:nvPr/>
        </p:nvSpPr>
        <p:spPr>
          <a:xfrm>
            <a:off x="548640" y="137160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5" name="Shape 3"/>
          <p:cNvSpPr/>
          <p:nvPr/>
        </p:nvSpPr>
        <p:spPr>
          <a:xfrm>
            <a:off x="822960" y="1645920"/>
            <a:ext cx="685800" cy="685800"/>
          </a:xfrm>
          <a:prstGeom prst="ellipse">
            <a:avLst/>
          </a:prstGeom>
          <a:solidFill>
            <a:srgbClr val="0F8B8D"/>
          </a:solidFill>
          <a:ln w="12700">
            <a:solidFill>
              <a:srgbClr val="0F8B8D"/>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94410" y="1817370"/>
            <a:ext cx="342900" cy="342900"/>
          </a:xfrm>
          <a:prstGeom prst="rect">
            <a:avLst/>
          </a:prstGeom>
        </p:spPr>
      </p:pic>
      <p:sp>
        <p:nvSpPr>
          <p:cNvPr id="7" name="Text 4"/>
          <p:cNvSpPr txBox="1"/>
          <p:nvPr/>
        </p:nvSpPr>
        <p:spPr>
          <a:xfrm>
            <a:off x="1645920" y="1719072"/>
            <a:ext cx="1280160" cy="548640"/>
          </a:xfrm>
          <a:prstGeom prst="rect">
            <a:avLst/>
          </a:prstGeom>
          <a:noFill/>
          <a:ln/>
        </p:spPr>
        <p:txBody>
          <a:bodyPr wrap="square" lIns="0" tIns="0" rIns="0" bIns="0" rtlCol="0" anchor="t"/>
          <a:lstStyle/>
          <a:p>
            <a:pPr marL="0" indent="0">
              <a:buNone/>
            </a:pPr>
            <a:r>
              <a:rPr lang="en-US" sz="2800" b="1" dirty="0">
                <a:solidFill>
                  <a:srgbClr val="0F8B8D"/>
                </a:solidFill>
                <a:latin typeface="Calibri" pitchFamily="34" charset="0"/>
                <a:ea typeface="Calibri" pitchFamily="34" charset="-122"/>
                <a:cs typeface="Calibri" pitchFamily="34" charset="-120"/>
              </a:rPr>
              <a:t>O1</a:t>
            </a:r>
            <a:endParaRPr lang="en-US" sz="2800" dirty="0"/>
          </a:p>
        </p:txBody>
      </p:sp>
      <p:sp>
        <p:nvSpPr>
          <p:cNvPr id="8" name="Text 5"/>
          <p:cNvSpPr txBox="1"/>
          <p:nvPr/>
        </p:nvSpPr>
        <p:spPr>
          <a:xfrm>
            <a:off x="822960" y="256032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New UQ metrics</a:t>
            </a:r>
            <a:endParaRPr lang="en-US" sz="1800" dirty="0"/>
          </a:p>
        </p:txBody>
      </p:sp>
      <p:sp>
        <p:nvSpPr>
          <p:cNvPr id="9" name="Text 6"/>
          <p:cNvSpPr txBox="1"/>
          <p:nvPr/>
        </p:nvSpPr>
        <p:spPr>
          <a:xfrm>
            <a:off x="822960" y="324612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Which signals reveal that an AI-generated test artefact is untrustworthy — for black-box and white-box models?</a:t>
            </a:r>
            <a:endParaRPr lang="en-US" sz="1400" dirty="0"/>
          </a:p>
        </p:txBody>
      </p:sp>
      <p:sp>
        <p:nvSpPr>
          <p:cNvPr id="10" name="Shape 7"/>
          <p:cNvSpPr/>
          <p:nvPr/>
        </p:nvSpPr>
        <p:spPr>
          <a:xfrm>
            <a:off x="3364992" y="137160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11" name="Shape 8"/>
          <p:cNvSpPr/>
          <p:nvPr/>
        </p:nvSpPr>
        <p:spPr>
          <a:xfrm>
            <a:off x="3639312" y="1645920"/>
            <a:ext cx="685800" cy="685800"/>
          </a:xfrm>
          <a:prstGeom prst="ellipse">
            <a:avLst/>
          </a:prstGeom>
          <a:solidFill>
            <a:srgbClr val="3567C8"/>
          </a:solidFill>
          <a:ln w="12700">
            <a:solidFill>
              <a:srgbClr val="3567C8"/>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810762" y="1817370"/>
            <a:ext cx="342900" cy="342900"/>
          </a:xfrm>
          <a:prstGeom prst="rect">
            <a:avLst/>
          </a:prstGeom>
        </p:spPr>
      </p:pic>
      <p:sp>
        <p:nvSpPr>
          <p:cNvPr id="13" name="Text 9"/>
          <p:cNvSpPr txBox="1"/>
          <p:nvPr/>
        </p:nvSpPr>
        <p:spPr>
          <a:xfrm>
            <a:off x="4462272" y="1719072"/>
            <a:ext cx="1280160" cy="548640"/>
          </a:xfrm>
          <a:prstGeom prst="rect">
            <a:avLst/>
          </a:prstGeom>
          <a:noFill/>
          <a:ln/>
        </p:spPr>
        <p:txBody>
          <a:bodyPr wrap="square" lIns="0" tIns="0" rIns="0" bIns="0" rtlCol="0" anchor="t"/>
          <a:lstStyle/>
          <a:p>
            <a:pPr marL="0" indent="0">
              <a:buNone/>
            </a:pPr>
            <a:r>
              <a:rPr lang="en-US" sz="2800" b="1" dirty="0">
                <a:solidFill>
                  <a:srgbClr val="3567C8"/>
                </a:solidFill>
                <a:latin typeface="Calibri" pitchFamily="34" charset="0"/>
                <a:ea typeface="Calibri" pitchFamily="34" charset="-122"/>
                <a:cs typeface="Calibri" pitchFamily="34" charset="-120"/>
              </a:rPr>
              <a:t>O2</a:t>
            </a:r>
            <a:endParaRPr lang="en-US" sz="2800" dirty="0"/>
          </a:p>
        </p:txBody>
      </p:sp>
      <p:sp>
        <p:nvSpPr>
          <p:cNvPr id="14" name="Text 10"/>
          <p:cNvSpPr txBox="1"/>
          <p:nvPr/>
        </p:nvSpPr>
        <p:spPr>
          <a:xfrm>
            <a:off x="3639312" y="256032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Risk &amp; trustworthiness</a:t>
            </a:r>
            <a:endParaRPr lang="en-US" sz="1800" dirty="0"/>
          </a:p>
        </p:txBody>
      </p:sp>
      <p:sp>
        <p:nvSpPr>
          <p:cNvPr id="15" name="Text 11"/>
          <p:cNvSpPr txBox="1"/>
          <p:nvPr/>
        </p:nvSpPr>
        <p:spPr>
          <a:xfrm>
            <a:off x="3639312" y="324612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How should quantified uncertainty drive accept / review / reject decisions under safety risk?</a:t>
            </a:r>
            <a:endParaRPr lang="en-US" sz="1400" dirty="0"/>
          </a:p>
        </p:txBody>
      </p:sp>
      <p:sp>
        <p:nvSpPr>
          <p:cNvPr id="16" name="Shape 12"/>
          <p:cNvSpPr/>
          <p:nvPr/>
        </p:nvSpPr>
        <p:spPr>
          <a:xfrm>
            <a:off x="6181344" y="137160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17" name="Shape 13"/>
          <p:cNvSpPr/>
          <p:nvPr/>
        </p:nvSpPr>
        <p:spPr>
          <a:xfrm>
            <a:off x="6455664" y="1645920"/>
            <a:ext cx="685800" cy="685800"/>
          </a:xfrm>
          <a:prstGeom prst="ellipse">
            <a:avLst/>
          </a:prstGeom>
          <a:solidFill>
            <a:srgbClr val="E39B2D"/>
          </a:solidFill>
          <a:ln w="12700">
            <a:solidFill>
              <a:srgbClr val="E39B2D"/>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6627114" y="1817370"/>
            <a:ext cx="342900" cy="342900"/>
          </a:xfrm>
          <a:prstGeom prst="rect">
            <a:avLst/>
          </a:prstGeom>
        </p:spPr>
      </p:pic>
      <p:sp>
        <p:nvSpPr>
          <p:cNvPr id="19" name="Text 14"/>
          <p:cNvSpPr txBox="1"/>
          <p:nvPr/>
        </p:nvSpPr>
        <p:spPr>
          <a:xfrm>
            <a:off x="7278624" y="1719072"/>
            <a:ext cx="1280160" cy="548640"/>
          </a:xfrm>
          <a:prstGeom prst="rect">
            <a:avLst/>
          </a:prstGeom>
          <a:noFill/>
          <a:ln/>
        </p:spPr>
        <p:txBody>
          <a:bodyPr wrap="square" lIns="0" tIns="0" rIns="0" bIns="0" rtlCol="0" anchor="t"/>
          <a:lstStyle/>
          <a:p>
            <a:pPr marL="0" indent="0">
              <a:buNone/>
            </a:pPr>
            <a:r>
              <a:rPr lang="en-US" sz="2800" b="1" dirty="0">
                <a:solidFill>
                  <a:srgbClr val="E39B2D"/>
                </a:solidFill>
                <a:latin typeface="Calibri" pitchFamily="34" charset="0"/>
                <a:ea typeface="Calibri" pitchFamily="34" charset="-122"/>
                <a:cs typeface="Calibri" pitchFamily="34" charset="-120"/>
              </a:rPr>
              <a:t>O3</a:t>
            </a:r>
            <a:endParaRPr lang="en-US" sz="2800" dirty="0"/>
          </a:p>
        </p:txBody>
      </p:sp>
      <p:sp>
        <p:nvSpPr>
          <p:cNvPr id="20" name="Text 15"/>
          <p:cNvSpPr txBox="1"/>
          <p:nvPr/>
        </p:nvSpPr>
        <p:spPr>
          <a:xfrm>
            <a:off x="6455664" y="256032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Uncertainty vs. quality</a:t>
            </a:r>
            <a:endParaRPr lang="en-US" sz="1800" dirty="0"/>
          </a:p>
        </p:txBody>
      </p:sp>
      <p:sp>
        <p:nvSpPr>
          <p:cNvPr id="21" name="Text 16"/>
          <p:cNvSpPr txBox="1"/>
          <p:nvPr/>
        </p:nvSpPr>
        <p:spPr>
          <a:xfrm>
            <a:off x="6455664" y="324612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How does uncertainty relate to correctness, fault-detection power and cost of the generated tests?</a:t>
            </a:r>
            <a:endParaRPr lang="en-US" sz="1400" dirty="0"/>
          </a:p>
        </p:txBody>
      </p:sp>
      <p:sp>
        <p:nvSpPr>
          <p:cNvPr id="22" name="Shape 17"/>
          <p:cNvSpPr/>
          <p:nvPr/>
        </p:nvSpPr>
        <p:spPr>
          <a:xfrm>
            <a:off x="8997696" y="1371600"/>
            <a:ext cx="2633472" cy="3931920"/>
          </a:xfrm>
          <a:prstGeom prst="roundRect">
            <a:avLst>
              <a:gd name="adj" fmla="val 4167"/>
            </a:avLst>
          </a:prstGeom>
          <a:solidFill>
            <a:srgbClr val="F2F5F9"/>
          </a:solidFill>
          <a:ln w="12700">
            <a:solidFill>
              <a:srgbClr val="F2F5F9"/>
            </a:solidFill>
            <a:prstDash val="solid"/>
          </a:ln>
        </p:spPr>
        <p:txBody>
          <a:bodyPr/>
          <a:lstStyle/>
          <a:p>
            <a:endParaRPr lang="en-US"/>
          </a:p>
        </p:txBody>
      </p:sp>
      <p:sp>
        <p:nvSpPr>
          <p:cNvPr id="23" name="Shape 18"/>
          <p:cNvSpPr/>
          <p:nvPr/>
        </p:nvSpPr>
        <p:spPr>
          <a:xfrm>
            <a:off x="9272016" y="1645920"/>
            <a:ext cx="685800" cy="685800"/>
          </a:xfrm>
          <a:prstGeom prst="ellipse">
            <a:avLst/>
          </a:prstGeom>
          <a:solidFill>
            <a:srgbClr val="6E56CF"/>
          </a:solidFill>
          <a:ln w="12700">
            <a:solidFill>
              <a:srgbClr val="6E56CF"/>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443466" y="1817370"/>
            <a:ext cx="342900" cy="342900"/>
          </a:xfrm>
          <a:prstGeom prst="rect">
            <a:avLst/>
          </a:prstGeom>
        </p:spPr>
      </p:pic>
      <p:sp>
        <p:nvSpPr>
          <p:cNvPr id="25" name="Text 19"/>
          <p:cNvSpPr txBox="1"/>
          <p:nvPr/>
        </p:nvSpPr>
        <p:spPr>
          <a:xfrm>
            <a:off x="10094976" y="1719072"/>
            <a:ext cx="1280160" cy="548640"/>
          </a:xfrm>
          <a:prstGeom prst="rect">
            <a:avLst/>
          </a:prstGeom>
          <a:noFill/>
          <a:ln/>
        </p:spPr>
        <p:txBody>
          <a:bodyPr wrap="square" lIns="0" tIns="0" rIns="0" bIns="0" rtlCol="0" anchor="t"/>
          <a:lstStyle/>
          <a:p>
            <a:pPr marL="0" indent="0">
              <a:buNone/>
            </a:pPr>
            <a:r>
              <a:rPr lang="en-US" sz="2800" b="1" dirty="0">
                <a:solidFill>
                  <a:srgbClr val="6E56CF"/>
                </a:solidFill>
                <a:latin typeface="Calibri" pitchFamily="34" charset="0"/>
                <a:ea typeface="Calibri" pitchFamily="34" charset="-122"/>
                <a:cs typeface="Calibri" pitchFamily="34" charset="-120"/>
              </a:rPr>
              <a:t>O4</a:t>
            </a:r>
            <a:endParaRPr lang="en-US" sz="2800" dirty="0"/>
          </a:p>
        </p:txBody>
      </p:sp>
      <p:sp>
        <p:nvSpPr>
          <p:cNvPr id="26" name="Text 20"/>
          <p:cNvSpPr txBox="1"/>
          <p:nvPr/>
        </p:nvSpPr>
        <p:spPr>
          <a:xfrm>
            <a:off x="9272016" y="2560320"/>
            <a:ext cx="2194560" cy="640080"/>
          </a:xfrm>
          <a:prstGeom prst="rect">
            <a:avLst/>
          </a:prstGeom>
          <a:noFill/>
          <a:ln/>
        </p:spPr>
        <p:txBody>
          <a:bodyPr wrap="square" lIns="0" tIns="0" rIns="0" bIns="0" rtlCol="0" anchor="t"/>
          <a:lstStyle/>
          <a:p>
            <a:pPr marL="0" indent="0">
              <a:buNone/>
            </a:pPr>
            <a:r>
              <a:rPr lang="en-US" sz="1800" b="1" dirty="0">
                <a:solidFill>
                  <a:srgbClr val="13213C"/>
                </a:solidFill>
                <a:latin typeface="Calibri" pitchFamily="34" charset="0"/>
                <a:ea typeface="Calibri" pitchFamily="34" charset="-122"/>
                <a:cs typeface="Calibri" pitchFamily="34" charset="-120"/>
              </a:rPr>
              <a:t>Future AI models</a:t>
            </a:r>
            <a:endParaRPr lang="en-US" sz="1800" dirty="0"/>
          </a:p>
        </p:txBody>
      </p:sp>
      <p:sp>
        <p:nvSpPr>
          <p:cNvPr id="27" name="Text 21"/>
          <p:cNvSpPr txBox="1"/>
          <p:nvPr/>
        </p:nvSpPr>
        <p:spPr>
          <a:xfrm>
            <a:off x="9272016" y="3246120"/>
            <a:ext cx="2148840" cy="1920240"/>
          </a:xfrm>
          <a:prstGeom prst="rect">
            <a:avLst/>
          </a:prstGeom>
          <a:noFill/>
          <a:ln/>
        </p:spPr>
        <p:txBody>
          <a:bodyPr wrap="square" lIns="0" tIns="0" rIns="0" bIns="0" rtlCol="0" anchor="t"/>
          <a:lstStyle/>
          <a:p>
            <a:pPr marL="0" indent="0">
              <a:buNone/>
            </a:pPr>
            <a:r>
              <a:rPr lang="en-US" sz="1400" dirty="0">
                <a:solidFill>
                  <a:srgbClr val="1E2533"/>
                </a:solidFill>
                <a:latin typeface="Calibri" pitchFamily="34" charset="0"/>
                <a:ea typeface="Calibri" pitchFamily="34" charset="-122"/>
                <a:cs typeface="Calibri" pitchFamily="34" charset="-120"/>
              </a:rPr>
              <a:t>Do the metrics transfer to newer large models and to quantum machine learning models?</a:t>
            </a:r>
            <a:endParaRPr lang="en-US" sz="1400" dirty="0"/>
          </a:p>
        </p:txBody>
      </p:sp>
      <p:sp>
        <p:nvSpPr>
          <p:cNvPr id="28" name="Text 22"/>
          <p:cNvSpPr txBox="1"/>
          <p:nvPr/>
        </p:nvSpPr>
        <p:spPr>
          <a:xfrm>
            <a:off x="548640" y="5760720"/>
            <a:ext cx="11094415" cy="66751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[30] InnoGuard: Hybrid and Generative Intelligence for Trustworthy Autonomous Cyber-Physical Systems, Horizon Europe MSCA Doctoral Network, GA No. 101169233, 2024–2028. https://cordis.europa.eu/project/id/101169233</a:t>
            </a:r>
            <a:endParaRPr lang="en-US" sz="900" dirty="0"/>
          </a:p>
        </p:txBody>
      </p:sp>
      <p:sp>
        <p:nvSpPr>
          <p:cNvPr id="29"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E39B2D"/>
                </a:solidFill>
                <a:latin typeface="Calibri" pitchFamily="34" charset="0"/>
                <a:ea typeface="Calibri" pitchFamily="34" charset="-122"/>
                <a:cs typeface="Calibri" pitchFamily="34" charset="-120"/>
              </a:rPr>
              <a:t>PART B · GAPS → RESEARCH AGENDA</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What Demo 1 cannot do yet becomes the research agenda</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800600"/>
        </p:xfrm>
        <a:graphic>
          <a:graphicData uri="http://schemas.openxmlformats.org/drawingml/2006/table">
            <a:tbl>
              <a:tblPr/>
              <a:tblGrid>
                <a:gridCol w="9601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645152">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960120">
                <a:tc>
                  <a:txBody>
                    <a:bodyPr/>
                    <a:lstStyle/>
                    <a:p>
                      <a:pPr marL="0" indent="0">
                        <a:buNone/>
                      </a:pPr>
                      <a:r>
                        <a:rPr lang="en-US" sz="1400" b="1" dirty="0">
                          <a:solidFill>
                            <a:srgbClr val="FFFFFF"/>
                          </a:solidFill>
                        </a:rPr>
                        <a:t>From</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Gap seen in the demo</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Next implementation</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Obj.</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960120">
                <a:tc>
                  <a:txBody>
                    <a:bodyPr/>
                    <a:lstStyle/>
                    <a:p>
                      <a:pPr marL="0" indent="0">
                        <a:buNone/>
                      </a:pPr>
                      <a:r>
                        <a:rPr lang="en-US" sz="1300" b="1" dirty="0">
                          <a:solidFill>
                            <a:srgbClr val="4F46E5"/>
                          </a:solidFill>
                        </a:rPr>
                        <a:t>Demo 1</a:t>
                      </a:r>
                      <a:endParaRPr lang="en-US" sz="13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Rules cannot tell a wrong test from a real defect (6 of 18 FAILs were wrong tests)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Uncertainty signals per generated test: agreement across repeated generations, behaviour of the test, white-box signals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lgn="ctr">
                        <a:buNone/>
                      </a:pPr>
                      <a:r>
                        <a:rPr lang="en-US" sz="1800" b="1" dirty="0">
                          <a:solidFill>
                            <a:srgbClr val="0F8B8D"/>
                          </a:solidFill>
                        </a:rPr>
                        <a:t>O1</a:t>
                      </a:r>
                      <a:endParaRPr lang="en-US" sz="18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960120">
                <a:tc>
                  <a:txBody>
                    <a:bodyPr/>
                    <a:lstStyle/>
                    <a:p>
                      <a:pPr marL="0" indent="0">
                        <a:buNone/>
                      </a:pPr>
                      <a:r>
                        <a:rPr lang="en-US" sz="1300" b="1" dirty="0">
                          <a:solidFill>
                            <a:srgbClr val="4F46E5"/>
                          </a:solidFill>
                        </a:rPr>
                        <a:t>Demo 1</a:t>
                      </a:r>
                      <a:endParaRPr lang="en-US" sz="13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Every FAIL looks the same, so a human must check all 18</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Risk-based accept / review / reject, weighted by how severe a failure would be</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3567C8"/>
                          </a:solidFill>
                        </a:rPr>
                        <a:t>O2</a:t>
                      </a:r>
                      <a:endParaRPr lang="en-US" sz="18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60120">
                <a:tc>
                  <a:txBody>
                    <a:bodyPr/>
                    <a:lstStyle/>
                    <a:p>
                      <a:pPr marL="0" indent="0">
                        <a:buNone/>
                      </a:pPr>
                      <a:r>
                        <a:rPr lang="en-US" sz="1300" b="1" dirty="0">
                          <a:solidFill>
                            <a:srgbClr val="4F46E5"/>
                          </a:solidFill>
                        </a:rPr>
                        <a:t>Demo 1</a:t>
                      </a:r>
                      <a:endParaRPr lang="en-US" sz="13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Wrong tests hid 2 real bugs (discount, data leak); no measure of what a test is worth</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000000"/>
                          </a:solidFill>
                        </a:rPr>
                        <a:t>Study how uncertainty relates to correctness, bug-finding power and cost</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lgn="ctr">
                        <a:buNone/>
                      </a:pPr>
                      <a:r>
                        <a:rPr lang="en-US" sz="1800" b="1" dirty="0">
                          <a:solidFill>
                            <a:srgbClr val="E39B2D"/>
                          </a:solidFill>
                        </a:rPr>
                        <a:t>O3</a:t>
                      </a:r>
                      <a:endParaRPr lang="en-US" sz="18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960120">
                <a:tc>
                  <a:txBody>
                    <a:bodyPr/>
                    <a:lstStyle/>
                    <a:p>
                      <a:pPr marL="0" indent="0">
                        <a:buNone/>
                      </a:pPr>
                      <a:r>
                        <a:rPr lang="en-US" sz="1300" b="1" dirty="0">
                          <a:solidFill>
                            <a:srgbClr val="5B6578"/>
                          </a:solidFill>
                        </a:rPr>
                        <a:t>Next</a:t>
                      </a:r>
                      <a:endParaRPr lang="en-US" sz="13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One web shop and one AI model; safety matters most in autonomous systems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rPr>
                        <a:t>Driving simulators and open-source ACPS, industrial cases, InnoGuard platform; newer and quantum ML models</a:t>
                      </a:r>
                      <a:endParaRPr lang="en-US" sz="14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lgn="ctr">
                        <a:buNone/>
                      </a:pPr>
                      <a:r>
                        <a:rPr lang="en-US" sz="1800" b="1" dirty="0">
                          <a:solidFill>
                            <a:srgbClr val="6E56CF"/>
                          </a:solidFill>
                        </a:rPr>
                        <a:t>O4</a:t>
                      </a:r>
                      <a:endParaRPr lang="en-US" sz="1800" dirty="0"/>
                    </a:p>
                  </a:txBody>
                  <a:tcPr marT="91440" marB="91440"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E39B2D"/>
                </a:solidFill>
                <a:latin typeface="Calibri" pitchFamily="34" charset="0"/>
                <a:ea typeface="Calibri" pitchFamily="34" charset="-122"/>
                <a:cs typeface="Calibri" pitchFamily="34" charset="-120"/>
              </a:rPr>
              <a:t>PART B · RESEARCH QUESTIONS</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Research questions and how I will answer them</a:t>
            </a:r>
            <a:endParaRPr lang="en-US" sz="3000" dirty="0"/>
          </a:p>
        </p:txBody>
      </p:sp>
      <p:sp>
        <p:nvSpPr>
          <p:cNvPr id="4" name="Shape 2"/>
          <p:cNvSpPr/>
          <p:nvPr/>
        </p:nvSpPr>
        <p:spPr>
          <a:xfrm>
            <a:off x="548640" y="1280160"/>
            <a:ext cx="11094415" cy="969264"/>
          </a:xfrm>
          <a:prstGeom prst="roundRect">
            <a:avLst>
              <a:gd name="adj" fmla="val 11321"/>
            </a:avLst>
          </a:prstGeom>
          <a:solidFill>
            <a:srgbClr val="F2F5F9"/>
          </a:solidFill>
          <a:ln w="12700">
            <a:solidFill>
              <a:srgbClr val="F2F5F9"/>
            </a:solidFill>
            <a:prstDash val="solid"/>
          </a:ln>
        </p:spPr>
        <p:txBody>
          <a:bodyPr/>
          <a:lstStyle/>
          <a:p>
            <a:endParaRPr lang="en-US"/>
          </a:p>
        </p:txBody>
      </p:sp>
      <p:sp>
        <p:nvSpPr>
          <p:cNvPr id="5" name="Text 3"/>
          <p:cNvSpPr txBox="1"/>
          <p:nvPr/>
        </p:nvSpPr>
        <p:spPr>
          <a:xfrm>
            <a:off x="777240" y="1417320"/>
            <a:ext cx="914400" cy="685800"/>
          </a:xfrm>
          <a:prstGeom prst="rect">
            <a:avLst/>
          </a:prstGeom>
          <a:noFill/>
          <a:ln/>
        </p:spPr>
        <p:txBody>
          <a:bodyPr wrap="square" lIns="0" tIns="0" rIns="0" bIns="0" rtlCol="0" anchor="ctr"/>
          <a:lstStyle/>
          <a:p>
            <a:pPr marL="0" indent="0">
              <a:buNone/>
            </a:pPr>
            <a:r>
              <a:rPr lang="en-US" sz="2400" b="1" dirty="0">
                <a:solidFill>
                  <a:srgbClr val="0F8B8D"/>
                </a:solidFill>
                <a:latin typeface="Cambria" pitchFamily="34" charset="0"/>
                <a:ea typeface="Cambria" pitchFamily="34" charset="-122"/>
                <a:cs typeface="Cambria" pitchFamily="34" charset="-120"/>
              </a:rPr>
              <a:t>RQ1</a:t>
            </a:r>
            <a:endParaRPr lang="en-US" sz="2400" dirty="0"/>
          </a:p>
        </p:txBody>
      </p:sp>
      <p:sp>
        <p:nvSpPr>
          <p:cNvPr id="6" name="Text 4"/>
          <p:cNvSpPr txBox="1"/>
          <p:nvPr/>
        </p:nvSpPr>
        <p:spPr>
          <a:xfrm>
            <a:off x="1783080" y="1362456"/>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Which uncertainty metrics best predict the correctness of AI-generated test artefacts?</a:t>
            </a:r>
            <a:endParaRPr lang="en-US" sz="1500" dirty="0"/>
          </a:p>
        </p:txBody>
      </p:sp>
      <p:sp>
        <p:nvSpPr>
          <p:cNvPr id="7" name="Text 5"/>
          <p:cNvSpPr txBox="1"/>
          <p:nvPr/>
        </p:nvSpPr>
        <p:spPr>
          <a:xfrm>
            <a:off x="6537960" y="1362456"/>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Metric suite: behavioural / semantic / oracle / white-box; AUROC, calibration error; LLMs and VLMs as generators and judges</a:t>
            </a:r>
            <a:endParaRPr lang="en-US" sz="1300" dirty="0"/>
          </a:p>
        </p:txBody>
      </p:sp>
      <p:sp>
        <p:nvSpPr>
          <p:cNvPr id="8" name="Shape 6"/>
          <p:cNvSpPr/>
          <p:nvPr/>
        </p:nvSpPr>
        <p:spPr>
          <a:xfrm>
            <a:off x="548640" y="2377440"/>
            <a:ext cx="11094415" cy="969264"/>
          </a:xfrm>
          <a:prstGeom prst="roundRect">
            <a:avLst>
              <a:gd name="adj" fmla="val 11321"/>
            </a:avLst>
          </a:prstGeom>
          <a:solidFill>
            <a:srgbClr val="F2F5F9"/>
          </a:solidFill>
          <a:ln w="12700">
            <a:solidFill>
              <a:srgbClr val="F2F5F9"/>
            </a:solidFill>
            <a:prstDash val="solid"/>
          </a:ln>
        </p:spPr>
        <p:txBody>
          <a:bodyPr/>
          <a:lstStyle/>
          <a:p>
            <a:endParaRPr lang="en-US"/>
          </a:p>
        </p:txBody>
      </p:sp>
      <p:sp>
        <p:nvSpPr>
          <p:cNvPr id="9" name="Text 7"/>
          <p:cNvSpPr txBox="1"/>
          <p:nvPr/>
        </p:nvSpPr>
        <p:spPr>
          <a:xfrm>
            <a:off x="777240" y="2514600"/>
            <a:ext cx="914400" cy="685800"/>
          </a:xfrm>
          <a:prstGeom prst="rect">
            <a:avLst/>
          </a:prstGeom>
          <a:noFill/>
          <a:ln/>
        </p:spPr>
        <p:txBody>
          <a:bodyPr wrap="square" lIns="0" tIns="0" rIns="0" bIns="0" rtlCol="0" anchor="ctr"/>
          <a:lstStyle/>
          <a:p>
            <a:pPr marL="0" indent="0">
              <a:buNone/>
            </a:pPr>
            <a:r>
              <a:rPr lang="en-US" sz="2400" b="1" dirty="0">
                <a:solidFill>
                  <a:srgbClr val="3567C8"/>
                </a:solidFill>
                <a:latin typeface="Cambria" pitchFamily="34" charset="0"/>
                <a:ea typeface="Cambria" pitchFamily="34" charset="-122"/>
                <a:cs typeface="Cambria" pitchFamily="34" charset="-120"/>
              </a:rPr>
              <a:t>RQ2</a:t>
            </a:r>
            <a:endParaRPr lang="en-US" sz="2400" dirty="0"/>
          </a:p>
        </p:txBody>
      </p:sp>
      <p:sp>
        <p:nvSpPr>
          <p:cNvPr id="10" name="Text 8"/>
          <p:cNvSpPr txBox="1"/>
          <p:nvPr/>
        </p:nvSpPr>
        <p:spPr>
          <a:xfrm>
            <a:off x="1783080" y="2459736"/>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How can uncertainty support risk-based acceptance of generated artefacts?</a:t>
            </a:r>
            <a:endParaRPr lang="en-US" sz="1500" dirty="0"/>
          </a:p>
        </p:txBody>
      </p:sp>
      <p:sp>
        <p:nvSpPr>
          <p:cNvPr id="11" name="Text 9"/>
          <p:cNvSpPr txBox="1"/>
          <p:nvPr/>
        </p:nvSpPr>
        <p:spPr>
          <a:xfrm>
            <a:off x="6537960" y="2459736"/>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Risk model linking uncertainty to hazard severity; selective-prediction guarantees; review-effort savings in user studies</a:t>
            </a:r>
            <a:endParaRPr lang="en-US" sz="1300" dirty="0"/>
          </a:p>
        </p:txBody>
      </p:sp>
      <p:sp>
        <p:nvSpPr>
          <p:cNvPr id="12" name="Shape 10"/>
          <p:cNvSpPr/>
          <p:nvPr/>
        </p:nvSpPr>
        <p:spPr>
          <a:xfrm>
            <a:off x="548640" y="3474720"/>
            <a:ext cx="11094415" cy="969264"/>
          </a:xfrm>
          <a:prstGeom prst="roundRect">
            <a:avLst>
              <a:gd name="adj" fmla="val 11321"/>
            </a:avLst>
          </a:prstGeom>
          <a:solidFill>
            <a:srgbClr val="F2F5F9"/>
          </a:solidFill>
          <a:ln w="12700">
            <a:solidFill>
              <a:srgbClr val="F2F5F9"/>
            </a:solidFill>
            <a:prstDash val="solid"/>
          </a:ln>
        </p:spPr>
        <p:txBody>
          <a:bodyPr/>
          <a:lstStyle/>
          <a:p>
            <a:endParaRPr lang="en-US"/>
          </a:p>
        </p:txBody>
      </p:sp>
      <p:sp>
        <p:nvSpPr>
          <p:cNvPr id="13" name="Text 11"/>
          <p:cNvSpPr txBox="1"/>
          <p:nvPr/>
        </p:nvSpPr>
        <p:spPr>
          <a:xfrm>
            <a:off x="777240" y="3611880"/>
            <a:ext cx="914400" cy="685800"/>
          </a:xfrm>
          <a:prstGeom prst="rect">
            <a:avLst/>
          </a:prstGeom>
          <a:noFill/>
          <a:ln/>
        </p:spPr>
        <p:txBody>
          <a:bodyPr wrap="square" lIns="0" tIns="0" rIns="0" bIns="0" rtlCol="0" anchor="ctr"/>
          <a:lstStyle/>
          <a:p>
            <a:pPr marL="0" indent="0">
              <a:buNone/>
            </a:pPr>
            <a:r>
              <a:rPr lang="en-US" sz="2400" b="1" dirty="0">
                <a:solidFill>
                  <a:srgbClr val="E39B2D"/>
                </a:solidFill>
                <a:latin typeface="Cambria" pitchFamily="34" charset="0"/>
                <a:ea typeface="Cambria" pitchFamily="34" charset="-122"/>
                <a:cs typeface="Cambria" pitchFamily="34" charset="-120"/>
              </a:rPr>
              <a:t>RQ3</a:t>
            </a:r>
            <a:endParaRPr lang="en-US" sz="2400" dirty="0"/>
          </a:p>
        </p:txBody>
      </p:sp>
      <p:sp>
        <p:nvSpPr>
          <p:cNvPr id="14" name="Text 12"/>
          <p:cNvSpPr txBox="1"/>
          <p:nvPr/>
        </p:nvSpPr>
        <p:spPr>
          <a:xfrm>
            <a:off x="1783080" y="3557016"/>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How does uncertainty relate to effectiveness and non-functional properties?</a:t>
            </a:r>
            <a:endParaRPr lang="en-US" sz="1500" dirty="0"/>
          </a:p>
        </p:txBody>
      </p:sp>
      <p:sp>
        <p:nvSpPr>
          <p:cNvPr id="15" name="Text 13"/>
          <p:cNvSpPr txBox="1"/>
          <p:nvPr/>
        </p:nvSpPr>
        <p:spPr>
          <a:xfrm>
            <a:off x="6537960" y="3557016"/>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Mutation score, failure severity, flakiness, execution time and token cost; mixed-effects statistics</a:t>
            </a:r>
            <a:endParaRPr lang="en-US" sz="1300" dirty="0"/>
          </a:p>
        </p:txBody>
      </p:sp>
      <p:sp>
        <p:nvSpPr>
          <p:cNvPr id="16" name="Shape 14"/>
          <p:cNvSpPr/>
          <p:nvPr/>
        </p:nvSpPr>
        <p:spPr>
          <a:xfrm>
            <a:off x="548640" y="4572000"/>
            <a:ext cx="11094415" cy="969264"/>
          </a:xfrm>
          <a:prstGeom prst="roundRect">
            <a:avLst>
              <a:gd name="adj" fmla="val 11321"/>
            </a:avLst>
          </a:prstGeom>
          <a:solidFill>
            <a:srgbClr val="F2F5F9"/>
          </a:solidFill>
          <a:ln w="12700">
            <a:solidFill>
              <a:srgbClr val="F2F5F9"/>
            </a:solidFill>
            <a:prstDash val="solid"/>
          </a:ln>
        </p:spPr>
        <p:txBody>
          <a:bodyPr/>
          <a:lstStyle/>
          <a:p>
            <a:endParaRPr lang="en-US"/>
          </a:p>
        </p:txBody>
      </p:sp>
      <p:sp>
        <p:nvSpPr>
          <p:cNvPr id="17" name="Text 15"/>
          <p:cNvSpPr txBox="1"/>
          <p:nvPr/>
        </p:nvSpPr>
        <p:spPr>
          <a:xfrm>
            <a:off x="777240" y="4709160"/>
            <a:ext cx="914400" cy="685800"/>
          </a:xfrm>
          <a:prstGeom prst="rect">
            <a:avLst/>
          </a:prstGeom>
          <a:noFill/>
          <a:ln/>
        </p:spPr>
        <p:txBody>
          <a:bodyPr wrap="square" lIns="0" tIns="0" rIns="0" bIns="0" rtlCol="0" anchor="ctr"/>
          <a:lstStyle/>
          <a:p>
            <a:pPr marL="0" indent="0">
              <a:buNone/>
            </a:pPr>
            <a:r>
              <a:rPr lang="en-US" sz="2400" b="1" dirty="0">
                <a:solidFill>
                  <a:srgbClr val="6E56CF"/>
                </a:solidFill>
                <a:latin typeface="Cambria" pitchFamily="34" charset="0"/>
                <a:ea typeface="Cambria" pitchFamily="34" charset="-122"/>
                <a:cs typeface="Cambria" pitchFamily="34" charset="-120"/>
              </a:rPr>
              <a:t>RQ4</a:t>
            </a:r>
            <a:endParaRPr lang="en-US" sz="2400" dirty="0"/>
          </a:p>
        </p:txBody>
      </p:sp>
      <p:sp>
        <p:nvSpPr>
          <p:cNvPr id="18" name="Text 16"/>
          <p:cNvSpPr txBox="1"/>
          <p:nvPr/>
        </p:nvSpPr>
        <p:spPr>
          <a:xfrm>
            <a:off x="1783080" y="4654296"/>
            <a:ext cx="4572000" cy="804672"/>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Do the metrics transfer to advanced and quantum ML models?</a:t>
            </a:r>
            <a:endParaRPr lang="en-US" sz="1500" dirty="0"/>
          </a:p>
        </p:txBody>
      </p:sp>
      <p:sp>
        <p:nvSpPr>
          <p:cNvPr id="19" name="Text 17"/>
          <p:cNvSpPr txBox="1"/>
          <p:nvPr/>
        </p:nvSpPr>
        <p:spPr>
          <a:xfrm>
            <a:off x="6537960" y="4654296"/>
            <a:ext cx="4892040" cy="804672"/>
          </a:xfrm>
          <a:prstGeom prst="rect">
            <a:avLst/>
          </a:prstGeom>
          <a:noFill/>
          <a:ln/>
        </p:spPr>
        <p:txBody>
          <a:bodyPr wrap="square" lIns="0" tIns="0" rIns="0" bIns="0" rtlCol="0" anchor="ctr"/>
          <a:lstStyle/>
          <a:p>
            <a:pPr marL="0" indent="0">
              <a:buNone/>
            </a:pPr>
            <a:r>
              <a:rPr lang="en-US" sz="1300" dirty="0">
                <a:solidFill>
                  <a:srgbClr val="1E2533"/>
                </a:solidFill>
                <a:latin typeface="Calibri" pitchFamily="34" charset="0"/>
                <a:ea typeface="Calibri" pitchFamily="34" charset="-122"/>
                <a:cs typeface="Calibri" pitchFamily="34" charset="-120"/>
              </a:rPr>
              <a:t>Re-apply metrics to newer foundation models and to QML-based oracles/predictors [20, 21]</a:t>
            </a:r>
            <a:endParaRPr lang="en-US" sz="1300" dirty="0"/>
          </a:p>
        </p:txBody>
      </p:sp>
      <p:sp>
        <p:nvSpPr>
          <p:cNvPr id="20" name="Text 18"/>
          <p:cNvSpPr txBox="1"/>
          <p:nvPr/>
        </p:nvSpPr>
        <p:spPr>
          <a:xfrm>
            <a:off x="548640" y="5760720"/>
            <a:ext cx="11094415" cy="66751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[20] X. Wang et al., “Quantum machine learning-based test oracle for autonomous mobile robots,” Proc. IEEE/ACM ASE, 2025.</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[21] X. Wang et al., “Application of quantum extreme learning machines for QoS prediction of elevators' software in an industrial context,” Companion Proc. ACM FSE, 2024.</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E39B2D"/>
                </a:solidFill>
                <a:latin typeface="Calibri" pitchFamily="34" charset="0"/>
                <a:ea typeface="Calibri" pitchFamily="34" charset="-122"/>
                <a:cs typeface="Calibri" pitchFamily="34" charset="-120"/>
              </a:rPr>
              <a:t>PART B · WORK PLAN</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36-month plan with secondment and publications</a:t>
            </a:r>
            <a:endParaRPr lang="en-US" sz="3000" dirty="0"/>
          </a:p>
        </p:txBody>
      </p:sp>
      <p:sp>
        <p:nvSpPr>
          <p:cNvPr id="4" name="Shape 2"/>
          <p:cNvSpPr/>
          <p:nvPr/>
        </p:nvSpPr>
        <p:spPr>
          <a:xfrm>
            <a:off x="3493008" y="1325880"/>
            <a:ext cx="2686202" cy="365760"/>
          </a:xfrm>
          <a:prstGeom prst="roundRect">
            <a:avLst>
              <a:gd name="adj" fmla="val 30000"/>
            </a:avLst>
          </a:prstGeom>
          <a:solidFill>
            <a:srgbClr val="E9EEF5"/>
          </a:solidFill>
          <a:ln w="12700">
            <a:solidFill>
              <a:srgbClr val="E9EEF5"/>
            </a:solidFill>
            <a:prstDash val="solid"/>
          </a:ln>
        </p:spPr>
        <p:txBody>
          <a:bodyPr/>
          <a:lstStyle/>
          <a:p>
            <a:endParaRPr lang="en-US"/>
          </a:p>
        </p:txBody>
      </p:sp>
      <p:sp>
        <p:nvSpPr>
          <p:cNvPr id="5" name="Text 3"/>
          <p:cNvSpPr txBox="1"/>
          <p:nvPr/>
        </p:nvSpPr>
        <p:spPr>
          <a:xfrm>
            <a:off x="3474720"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1</a:t>
            </a:r>
            <a:endParaRPr lang="en-US" sz="1300" dirty="0"/>
          </a:p>
        </p:txBody>
      </p:sp>
      <p:sp>
        <p:nvSpPr>
          <p:cNvPr id="6" name="Shape 4"/>
          <p:cNvSpPr/>
          <p:nvPr/>
        </p:nvSpPr>
        <p:spPr>
          <a:xfrm>
            <a:off x="6215786" y="1325880"/>
            <a:ext cx="2686202" cy="365760"/>
          </a:xfrm>
          <a:prstGeom prst="roundRect">
            <a:avLst>
              <a:gd name="adj" fmla="val 30000"/>
            </a:avLst>
          </a:prstGeom>
          <a:solidFill>
            <a:srgbClr val="F2F5F9"/>
          </a:solidFill>
          <a:ln w="12700">
            <a:solidFill>
              <a:srgbClr val="F2F5F9"/>
            </a:solidFill>
            <a:prstDash val="solid"/>
          </a:ln>
        </p:spPr>
        <p:txBody>
          <a:bodyPr/>
          <a:lstStyle/>
          <a:p>
            <a:endParaRPr lang="en-US"/>
          </a:p>
        </p:txBody>
      </p:sp>
      <p:sp>
        <p:nvSpPr>
          <p:cNvPr id="7" name="Text 5"/>
          <p:cNvSpPr txBox="1"/>
          <p:nvPr/>
        </p:nvSpPr>
        <p:spPr>
          <a:xfrm>
            <a:off x="6197498"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2</a:t>
            </a:r>
            <a:endParaRPr lang="en-US" sz="1300" dirty="0"/>
          </a:p>
        </p:txBody>
      </p:sp>
      <p:sp>
        <p:nvSpPr>
          <p:cNvPr id="8" name="Shape 6"/>
          <p:cNvSpPr/>
          <p:nvPr/>
        </p:nvSpPr>
        <p:spPr>
          <a:xfrm>
            <a:off x="8938565" y="1325880"/>
            <a:ext cx="2686202" cy="365760"/>
          </a:xfrm>
          <a:prstGeom prst="roundRect">
            <a:avLst>
              <a:gd name="adj" fmla="val 30000"/>
            </a:avLst>
          </a:prstGeom>
          <a:solidFill>
            <a:srgbClr val="E9EEF5"/>
          </a:solidFill>
          <a:ln w="12700">
            <a:solidFill>
              <a:srgbClr val="E9EEF5"/>
            </a:solidFill>
            <a:prstDash val="solid"/>
          </a:ln>
        </p:spPr>
        <p:txBody>
          <a:bodyPr/>
          <a:lstStyle/>
          <a:p>
            <a:endParaRPr lang="en-US"/>
          </a:p>
        </p:txBody>
      </p:sp>
      <p:sp>
        <p:nvSpPr>
          <p:cNvPr id="9" name="Text 7"/>
          <p:cNvSpPr txBox="1"/>
          <p:nvPr/>
        </p:nvSpPr>
        <p:spPr>
          <a:xfrm>
            <a:off x="8920277" y="1371600"/>
            <a:ext cx="2722778" cy="274320"/>
          </a:xfrm>
          <a:prstGeom prst="rect">
            <a:avLst/>
          </a:prstGeom>
          <a:noFill/>
          <a:ln/>
        </p:spPr>
        <p:txBody>
          <a:bodyPr wrap="square" lIns="0" tIns="0" rIns="0" bIns="0" rtlCol="0" anchor="t"/>
          <a:lstStyle/>
          <a:p>
            <a:pPr marL="0" indent="0" algn="ctr">
              <a:buNone/>
            </a:pPr>
            <a:r>
              <a:rPr lang="en-US" sz="1300" b="1" dirty="0">
                <a:solidFill>
                  <a:srgbClr val="13213C"/>
                </a:solidFill>
                <a:latin typeface="Calibri" pitchFamily="34" charset="0"/>
                <a:ea typeface="Calibri" pitchFamily="34" charset="-122"/>
                <a:cs typeface="Calibri" pitchFamily="34" charset="-120"/>
              </a:rPr>
              <a:t>Year 3</a:t>
            </a:r>
            <a:endParaRPr lang="en-US" sz="1300" dirty="0"/>
          </a:p>
        </p:txBody>
      </p:sp>
      <p:sp>
        <p:nvSpPr>
          <p:cNvPr id="10" name="Text 8"/>
          <p:cNvSpPr txBox="1"/>
          <p:nvPr/>
        </p:nvSpPr>
        <p:spPr>
          <a:xfrm>
            <a:off x="548640" y="1828800"/>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WP1 Survey &amp; ACPS benchmark</a:t>
            </a:r>
            <a:endParaRPr lang="en-US" sz="1300" dirty="0"/>
          </a:p>
        </p:txBody>
      </p:sp>
      <p:sp>
        <p:nvSpPr>
          <p:cNvPr id="11" name="Shape 9"/>
          <p:cNvSpPr/>
          <p:nvPr/>
        </p:nvSpPr>
        <p:spPr>
          <a:xfrm>
            <a:off x="3474720" y="1883664"/>
            <a:ext cx="2042084" cy="237744"/>
          </a:xfrm>
          <a:prstGeom prst="roundRect">
            <a:avLst>
              <a:gd name="adj" fmla="val 30769"/>
            </a:avLst>
          </a:prstGeom>
          <a:solidFill>
            <a:srgbClr val="5B6578"/>
          </a:solidFill>
          <a:ln w="12700">
            <a:solidFill>
              <a:srgbClr val="5B6578"/>
            </a:solidFill>
            <a:prstDash val="solid"/>
          </a:ln>
        </p:spPr>
        <p:txBody>
          <a:bodyPr/>
          <a:lstStyle/>
          <a:p>
            <a:endParaRPr lang="en-US"/>
          </a:p>
        </p:txBody>
      </p:sp>
      <p:sp>
        <p:nvSpPr>
          <p:cNvPr id="12" name="Text 10"/>
          <p:cNvSpPr txBox="1"/>
          <p:nvPr/>
        </p:nvSpPr>
        <p:spPr>
          <a:xfrm>
            <a:off x="548640" y="2249424"/>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WP2 UQ metrics (O1)</a:t>
            </a:r>
            <a:endParaRPr lang="en-US" sz="1300" dirty="0"/>
          </a:p>
        </p:txBody>
      </p:sp>
      <p:sp>
        <p:nvSpPr>
          <p:cNvPr id="13" name="Shape 11"/>
          <p:cNvSpPr/>
          <p:nvPr/>
        </p:nvSpPr>
        <p:spPr>
          <a:xfrm>
            <a:off x="4155415" y="2304288"/>
            <a:ext cx="3403473" cy="237744"/>
          </a:xfrm>
          <a:prstGeom prst="roundRect">
            <a:avLst>
              <a:gd name="adj" fmla="val 30769"/>
            </a:avLst>
          </a:prstGeom>
          <a:solidFill>
            <a:srgbClr val="0F8B8D"/>
          </a:solidFill>
          <a:ln w="12700">
            <a:solidFill>
              <a:srgbClr val="0F8B8D"/>
            </a:solidFill>
            <a:prstDash val="solid"/>
          </a:ln>
        </p:spPr>
        <p:txBody>
          <a:bodyPr/>
          <a:lstStyle/>
          <a:p>
            <a:endParaRPr lang="en-US"/>
          </a:p>
        </p:txBody>
      </p:sp>
      <p:sp>
        <p:nvSpPr>
          <p:cNvPr id="14" name="Text 12"/>
          <p:cNvSpPr txBox="1"/>
          <p:nvPr/>
        </p:nvSpPr>
        <p:spPr>
          <a:xfrm>
            <a:off x="548640" y="2670048"/>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WP3 Uncertainty vs. quality study (O3)</a:t>
            </a:r>
            <a:endParaRPr lang="en-US" sz="1300" dirty="0"/>
          </a:p>
        </p:txBody>
      </p:sp>
      <p:sp>
        <p:nvSpPr>
          <p:cNvPr id="15" name="Shape 13"/>
          <p:cNvSpPr/>
          <p:nvPr/>
        </p:nvSpPr>
        <p:spPr>
          <a:xfrm>
            <a:off x="5516804" y="2724912"/>
            <a:ext cx="4311066" cy="237744"/>
          </a:xfrm>
          <a:prstGeom prst="roundRect">
            <a:avLst>
              <a:gd name="adj" fmla="val 30769"/>
            </a:avLst>
          </a:prstGeom>
          <a:solidFill>
            <a:srgbClr val="E39B2D"/>
          </a:solidFill>
          <a:ln w="12700">
            <a:solidFill>
              <a:srgbClr val="E39B2D"/>
            </a:solidFill>
            <a:prstDash val="solid"/>
          </a:ln>
        </p:spPr>
        <p:txBody>
          <a:bodyPr/>
          <a:lstStyle/>
          <a:p>
            <a:endParaRPr lang="en-US"/>
          </a:p>
        </p:txBody>
      </p:sp>
      <p:sp>
        <p:nvSpPr>
          <p:cNvPr id="16" name="Text 14"/>
          <p:cNvSpPr txBox="1"/>
          <p:nvPr/>
        </p:nvSpPr>
        <p:spPr>
          <a:xfrm>
            <a:off x="548640" y="3090672"/>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WP4 Risk &amp; trust methods (O2)</a:t>
            </a:r>
            <a:endParaRPr lang="en-US" sz="1300" dirty="0"/>
          </a:p>
        </p:txBody>
      </p:sp>
      <p:sp>
        <p:nvSpPr>
          <p:cNvPr id="17" name="Shape 15"/>
          <p:cNvSpPr/>
          <p:nvPr/>
        </p:nvSpPr>
        <p:spPr>
          <a:xfrm>
            <a:off x="6197498" y="3145536"/>
            <a:ext cx="3403473" cy="237744"/>
          </a:xfrm>
          <a:prstGeom prst="roundRect">
            <a:avLst>
              <a:gd name="adj" fmla="val 30769"/>
            </a:avLst>
          </a:prstGeom>
          <a:solidFill>
            <a:srgbClr val="3567C8"/>
          </a:solidFill>
          <a:ln w="12700">
            <a:solidFill>
              <a:srgbClr val="3567C8"/>
            </a:solidFill>
            <a:prstDash val="solid"/>
          </a:ln>
        </p:spPr>
        <p:txBody>
          <a:bodyPr/>
          <a:lstStyle/>
          <a:p>
            <a:endParaRPr lang="en-US"/>
          </a:p>
        </p:txBody>
      </p:sp>
      <p:sp>
        <p:nvSpPr>
          <p:cNvPr id="18" name="Text 16"/>
          <p:cNvSpPr txBox="1"/>
          <p:nvPr/>
        </p:nvSpPr>
        <p:spPr>
          <a:xfrm>
            <a:off x="548640" y="3511296"/>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Secondment · Mondragon</a:t>
            </a:r>
            <a:endParaRPr lang="en-US" sz="1300" dirty="0"/>
          </a:p>
        </p:txBody>
      </p:sp>
      <p:sp>
        <p:nvSpPr>
          <p:cNvPr id="19" name="Shape 17"/>
          <p:cNvSpPr/>
          <p:nvPr/>
        </p:nvSpPr>
        <p:spPr>
          <a:xfrm>
            <a:off x="7558888" y="3566160"/>
            <a:ext cx="1134491" cy="237744"/>
          </a:xfrm>
          <a:prstGeom prst="roundRect">
            <a:avLst>
              <a:gd name="adj" fmla="val 30769"/>
            </a:avLst>
          </a:prstGeom>
          <a:solidFill>
            <a:srgbClr val="13213C"/>
          </a:solidFill>
          <a:ln w="12700">
            <a:solidFill>
              <a:srgbClr val="13213C"/>
            </a:solidFill>
            <a:prstDash val="solid"/>
          </a:ln>
        </p:spPr>
        <p:txBody>
          <a:bodyPr/>
          <a:lstStyle/>
          <a:p>
            <a:endParaRPr lang="en-US"/>
          </a:p>
        </p:txBody>
      </p:sp>
      <p:sp>
        <p:nvSpPr>
          <p:cNvPr id="20" name="Text 18"/>
          <p:cNvSpPr txBox="1"/>
          <p:nvPr/>
        </p:nvSpPr>
        <p:spPr>
          <a:xfrm>
            <a:off x="548640" y="3931920"/>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WP5 Industrial &amp; InnoGuard eval.</a:t>
            </a:r>
            <a:endParaRPr lang="en-US" sz="1300" dirty="0"/>
          </a:p>
        </p:txBody>
      </p:sp>
      <p:sp>
        <p:nvSpPr>
          <p:cNvPr id="21" name="Shape 19"/>
          <p:cNvSpPr/>
          <p:nvPr/>
        </p:nvSpPr>
        <p:spPr>
          <a:xfrm>
            <a:off x="8239582" y="3986784"/>
            <a:ext cx="2495880" cy="237744"/>
          </a:xfrm>
          <a:prstGeom prst="roundRect">
            <a:avLst>
              <a:gd name="adj" fmla="val 30769"/>
            </a:avLst>
          </a:prstGeom>
          <a:solidFill>
            <a:srgbClr val="2E8B57"/>
          </a:solidFill>
          <a:ln w="12700">
            <a:solidFill>
              <a:srgbClr val="2E8B57"/>
            </a:solidFill>
            <a:prstDash val="solid"/>
          </a:ln>
        </p:spPr>
        <p:txBody>
          <a:bodyPr/>
          <a:lstStyle/>
          <a:p>
            <a:endParaRPr lang="en-US"/>
          </a:p>
        </p:txBody>
      </p:sp>
      <p:sp>
        <p:nvSpPr>
          <p:cNvPr id="22" name="Text 20"/>
          <p:cNvSpPr txBox="1"/>
          <p:nvPr/>
        </p:nvSpPr>
        <p:spPr>
          <a:xfrm>
            <a:off x="548640" y="4352544"/>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WP6 Advanced &amp; quantum ML (O4)</a:t>
            </a:r>
            <a:endParaRPr lang="en-US" sz="1300" dirty="0"/>
          </a:p>
        </p:txBody>
      </p:sp>
      <p:sp>
        <p:nvSpPr>
          <p:cNvPr id="23" name="Shape 21"/>
          <p:cNvSpPr/>
          <p:nvPr/>
        </p:nvSpPr>
        <p:spPr>
          <a:xfrm>
            <a:off x="9147175" y="4407408"/>
            <a:ext cx="2042084" cy="237744"/>
          </a:xfrm>
          <a:prstGeom prst="roundRect">
            <a:avLst>
              <a:gd name="adj" fmla="val 30769"/>
            </a:avLst>
          </a:prstGeom>
          <a:solidFill>
            <a:srgbClr val="6E56CF"/>
          </a:solidFill>
          <a:ln w="12700">
            <a:solidFill>
              <a:srgbClr val="6E56CF"/>
            </a:solidFill>
            <a:prstDash val="solid"/>
          </a:ln>
        </p:spPr>
        <p:txBody>
          <a:bodyPr/>
          <a:lstStyle/>
          <a:p>
            <a:endParaRPr lang="en-US"/>
          </a:p>
        </p:txBody>
      </p:sp>
      <p:sp>
        <p:nvSpPr>
          <p:cNvPr id="24" name="Text 22"/>
          <p:cNvSpPr txBox="1"/>
          <p:nvPr/>
        </p:nvSpPr>
        <p:spPr>
          <a:xfrm>
            <a:off x="548640" y="4773168"/>
            <a:ext cx="2834640" cy="347472"/>
          </a:xfrm>
          <a:prstGeom prst="rect">
            <a:avLst/>
          </a:prstGeom>
          <a:noFill/>
          <a:ln/>
        </p:spPr>
        <p:txBody>
          <a:bodyPr wrap="square" lIns="0" tIns="0" rIns="0" bIns="0" rtlCol="0" anchor="ctr"/>
          <a:lstStyle/>
          <a:p>
            <a:pPr marL="0" indent="0">
              <a:buNone/>
            </a:pPr>
            <a:r>
              <a:rPr lang="en-US" sz="1300" b="1" dirty="0">
                <a:solidFill>
                  <a:srgbClr val="13213C"/>
                </a:solidFill>
                <a:latin typeface="Calibri" pitchFamily="34" charset="0"/>
                <a:ea typeface="Calibri" pitchFamily="34" charset="-122"/>
                <a:cs typeface="Calibri" pitchFamily="34" charset="-120"/>
              </a:rPr>
              <a:t>Thesis</a:t>
            </a:r>
            <a:endParaRPr lang="en-US" sz="1300" dirty="0"/>
          </a:p>
        </p:txBody>
      </p:sp>
      <p:sp>
        <p:nvSpPr>
          <p:cNvPr id="25" name="Shape 23"/>
          <p:cNvSpPr/>
          <p:nvPr/>
        </p:nvSpPr>
        <p:spPr>
          <a:xfrm>
            <a:off x="10281666" y="4828032"/>
            <a:ext cx="1361389" cy="237744"/>
          </a:xfrm>
          <a:prstGeom prst="roundRect">
            <a:avLst>
              <a:gd name="adj" fmla="val 30769"/>
            </a:avLst>
          </a:prstGeom>
          <a:solidFill>
            <a:srgbClr val="C8463D"/>
          </a:solidFill>
          <a:ln w="12700">
            <a:solidFill>
              <a:srgbClr val="C8463D"/>
            </a:solidFill>
            <a:prstDash val="solid"/>
          </a:ln>
        </p:spPr>
        <p:txBody>
          <a:bodyPr/>
          <a:lstStyle/>
          <a:p>
            <a:endParaRPr lang="en-US"/>
          </a:p>
        </p:txBody>
      </p:sp>
      <p:sp>
        <p:nvSpPr>
          <p:cNvPr id="26" name="Shape 24"/>
          <p:cNvSpPr/>
          <p:nvPr/>
        </p:nvSpPr>
        <p:spPr>
          <a:xfrm>
            <a:off x="5293627"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27" name="Text 25"/>
          <p:cNvSpPr txBox="1"/>
          <p:nvPr/>
        </p:nvSpPr>
        <p:spPr>
          <a:xfrm>
            <a:off x="4488955"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P1 mapping study</a:t>
            </a:r>
            <a:endParaRPr lang="en-US" sz="1100" dirty="0"/>
          </a:p>
        </p:txBody>
      </p:sp>
      <p:sp>
        <p:nvSpPr>
          <p:cNvPr id="28" name="Shape 26"/>
          <p:cNvSpPr/>
          <p:nvPr/>
        </p:nvSpPr>
        <p:spPr>
          <a:xfrm>
            <a:off x="6881914"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29" name="Text 27"/>
          <p:cNvSpPr txBox="1"/>
          <p:nvPr/>
        </p:nvSpPr>
        <p:spPr>
          <a:xfrm>
            <a:off x="6077242" y="5852160"/>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P2 metrics · ICST/ISSTA</a:t>
            </a:r>
            <a:endParaRPr lang="en-US" sz="1100" dirty="0"/>
          </a:p>
        </p:txBody>
      </p:sp>
      <p:sp>
        <p:nvSpPr>
          <p:cNvPr id="30" name="Shape 28"/>
          <p:cNvSpPr/>
          <p:nvPr/>
        </p:nvSpPr>
        <p:spPr>
          <a:xfrm>
            <a:off x="8697100"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1" name="Text 29"/>
          <p:cNvSpPr txBox="1"/>
          <p:nvPr/>
        </p:nvSpPr>
        <p:spPr>
          <a:xfrm>
            <a:off x="7892428"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P3 industrial study</a:t>
            </a:r>
            <a:endParaRPr lang="en-US" sz="1100" dirty="0"/>
          </a:p>
        </p:txBody>
      </p:sp>
      <p:sp>
        <p:nvSpPr>
          <p:cNvPr id="32" name="Shape 30"/>
          <p:cNvSpPr/>
          <p:nvPr/>
        </p:nvSpPr>
        <p:spPr>
          <a:xfrm>
            <a:off x="9831591"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3" name="Text 31"/>
          <p:cNvSpPr txBox="1"/>
          <p:nvPr/>
        </p:nvSpPr>
        <p:spPr>
          <a:xfrm>
            <a:off x="9026919" y="5852160"/>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P4 journal · TOSEM/TSE</a:t>
            </a:r>
            <a:endParaRPr lang="en-US" sz="1100" dirty="0"/>
          </a:p>
        </p:txBody>
      </p:sp>
      <p:sp>
        <p:nvSpPr>
          <p:cNvPr id="34" name="Shape 32"/>
          <p:cNvSpPr/>
          <p:nvPr/>
        </p:nvSpPr>
        <p:spPr>
          <a:xfrm>
            <a:off x="10966082" y="5303520"/>
            <a:ext cx="219456" cy="219456"/>
          </a:xfrm>
          <a:prstGeom prst="diamond">
            <a:avLst/>
          </a:prstGeom>
          <a:solidFill>
            <a:srgbClr val="E39B2D"/>
          </a:solidFill>
          <a:ln w="12700">
            <a:solidFill>
              <a:srgbClr val="E39B2D"/>
            </a:solidFill>
            <a:prstDash val="solid"/>
          </a:ln>
        </p:spPr>
        <p:txBody>
          <a:bodyPr/>
          <a:lstStyle/>
          <a:p>
            <a:endParaRPr lang="en-US"/>
          </a:p>
        </p:txBody>
      </p:sp>
      <p:sp>
        <p:nvSpPr>
          <p:cNvPr id="35" name="Text 33"/>
          <p:cNvSpPr txBox="1"/>
          <p:nvPr/>
        </p:nvSpPr>
        <p:spPr>
          <a:xfrm>
            <a:off x="10161410" y="5559552"/>
            <a:ext cx="1828800" cy="274320"/>
          </a:xfrm>
          <a:prstGeom prst="rect">
            <a:avLst/>
          </a:prstGeom>
          <a:noFill/>
          <a:ln/>
        </p:spPr>
        <p:txBody>
          <a:bodyPr wrap="square" lIns="0" tIns="0" rIns="0" bIns="0" rtlCol="0" anchor="t"/>
          <a:lstStyle/>
          <a:p>
            <a:pPr marL="0" indent="0" algn="ctr">
              <a:buNone/>
            </a:pPr>
            <a:r>
              <a:rPr lang="en-US" sz="1100" dirty="0">
                <a:solidFill>
                  <a:srgbClr val="1E2533"/>
                </a:solidFill>
                <a:latin typeface="Calibri" pitchFamily="34" charset="0"/>
                <a:ea typeface="Calibri" pitchFamily="34" charset="-122"/>
                <a:cs typeface="Calibri" pitchFamily="34" charset="-120"/>
              </a:rPr>
              <a:t>P5 QML · ASE/ICSE</a:t>
            </a:r>
            <a:endParaRPr lang="en-US" sz="1100" dirty="0"/>
          </a:p>
        </p:txBody>
      </p:sp>
      <p:sp>
        <p:nvSpPr>
          <p:cNvPr id="36" name="Text 34"/>
          <p:cNvSpPr txBox="1"/>
          <p:nvPr/>
        </p:nvSpPr>
        <p:spPr>
          <a:xfrm>
            <a:off x="548640" y="5266944"/>
            <a:ext cx="2834640" cy="292608"/>
          </a:xfrm>
          <a:prstGeom prst="rect">
            <a:avLst/>
          </a:prstGeom>
          <a:noFill/>
          <a:ln/>
        </p:spPr>
        <p:txBody>
          <a:bodyPr wrap="square" lIns="0" tIns="0" rIns="0" bIns="0" rtlCol="0" anchor="t"/>
          <a:lstStyle/>
          <a:p>
            <a:pPr marL="0" indent="0">
              <a:buNone/>
            </a:pPr>
            <a:r>
              <a:rPr lang="en-US" sz="1300" b="1" dirty="0">
                <a:solidFill>
                  <a:srgbClr val="E39B2D"/>
                </a:solidFill>
                <a:latin typeface="Calibri" pitchFamily="34" charset="0"/>
                <a:ea typeface="Calibri" pitchFamily="34" charset="-122"/>
                <a:cs typeface="Calibri" pitchFamily="34" charset="-120"/>
              </a:rPr>
              <a:t>Publications</a:t>
            </a:r>
            <a:endParaRPr lang="en-US" sz="1300" dirty="0"/>
          </a:p>
        </p:txBody>
      </p:sp>
      <p:sp>
        <p:nvSpPr>
          <p:cNvPr id="37"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E39B2D"/>
                </a:solidFill>
                <a:latin typeface="Calibri" pitchFamily="34" charset="0"/>
                <a:ea typeface="Calibri" pitchFamily="34" charset="-122"/>
                <a:cs typeface="Calibri" pitchFamily="34" charset="-120"/>
              </a:rPr>
              <a:t>PART B · CONTRIBUTIONS</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Expected contributions to InnoGuard</a:t>
            </a:r>
            <a:endParaRPr lang="en-US" sz="3000" dirty="0"/>
          </a:p>
        </p:txBody>
      </p:sp>
      <p:sp>
        <p:nvSpPr>
          <p:cNvPr id="4" name="Shape 2"/>
          <p:cNvSpPr/>
          <p:nvPr/>
        </p:nvSpPr>
        <p:spPr>
          <a:xfrm>
            <a:off x="548640" y="1435608"/>
            <a:ext cx="640080" cy="640080"/>
          </a:xfrm>
          <a:prstGeom prst="ellipse">
            <a:avLst/>
          </a:prstGeom>
          <a:solidFill>
            <a:srgbClr val="0F8B8D"/>
          </a:solidFill>
          <a:ln w="12700">
            <a:solidFill>
              <a:srgbClr val="0F8B8D"/>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708660" y="1595628"/>
            <a:ext cx="320040" cy="320040"/>
          </a:xfrm>
          <a:prstGeom prst="rect">
            <a:avLst/>
          </a:prstGeom>
        </p:spPr>
      </p:pic>
      <p:sp>
        <p:nvSpPr>
          <p:cNvPr id="6" name="Text 3"/>
          <p:cNvSpPr txBox="1"/>
          <p:nvPr/>
        </p:nvSpPr>
        <p:spPr>
          <a:xfrm>
            <a:off x="1417320" y="1399032"/>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Metrics</a:t>
            </a:r>
            <a:endParaRPr lang="en-US" sz="1800" dirty="0"/>
          </a:p>
        </p:txBody>
      </p:sp>
      <p:sp>
        <p:nvSpPr>
          <p:cNvPr id="7" name="Text 4"/>
          <p:cNvSpPr txBox="1"/>
          <p:nvPr/>
        </p:nvSpPr>
        <p:spPr>
          <a:xfrm>
            <a:off x="3200400" y="1399032"/>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Uncertainty metrics for AI-generated tests, e.g. agreement between repeated generations, measured on what the tests do</a:t>
            </a:r>
            <a:endParaRPr lang="en-US" sz="1400" dirty="0"/>
          </a:p>
        </p:txBody>
      </p:sp>
      <p:sp>
        <p:nvSpPr>
          <p:cNvPr id="8" name="Shape 5"/>
          <p:cNvSpPr/>
          <p:nvPr/>
        </p:nvSpPr>
        <p:spPr>
          <a:xfrm>
            <a:off x="548640" y="2423160"/>
            <a:ext cx="640080" cy="640080"/>
          </a:xfrm>
          <a:prstGeom prst="ellipse">
            <a:avLst/>
          </a:prstGeom>
          <a:solidFill>
            <a:srgbClr val="3567C8"/>
          </a:solidFill>
          <a:ln w="12700">
            <a:solidFill>
              <a:srgbClr val="3567C8"/>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708660" y="2583180"/>
            <a:ext cx="320040" cy="320040"/>
          </a:xfrm>
          <a:prstGeom prst="rect">
            <a:avLst/>
          </a:prstGeom>
        </p:spPr>
      </p:pic>
      <p:sp>
        <p:nvSpPr>
          <p:cNvPr id="10" name="Text 6"/>
          <p:cNvSpPr txBox="1"/>
          <p:nvPr/>
        </p:nvSpPr>
        <p:spPr>
          <a:xfrm>
            <a:off x="1417320" y="2386584"/>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Methods</a:t>
            </a:r>
            <a:endParaRPr lang="en-US" sz="1800" dirty="0"/>
          </a:p>
        </p:txBody>
      </p:sp>
      <p:sp>
        <p:nvSpPr>
          <p:cNvPr id="11" name="Text 7"/>
          <p:cNvSpPr txBox="1"/>
          <p:nvPr/>
        </p:nvSpPr>
        <p:spPr>
          <a:xfrm>
            <a:off x="3200400" y="2386584"/>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Risk-based acceptance of AI-generated artefacts with calibrated, safety-aware thresholds</a:t>
            </a:r>
            <a:endParaRPr lang="en-US" sz="1400" dirty="0"/>
          </a:p>
        </p:txBody>
      </p:sp>
      <p:sp>
        <p:nvSpPr>
          <p:cNvPr id="12" name="Shape 8"/>
          <p:cNvSpPr/>
          <p:nvPr/>
        </p:nvSpPr>
        <p:spPr>
          <a:xfrm>
            <a:off x="548640" y="3410712"/>
            <a:ext cx="640080" cy="640080"/>
          </a:xfrm>
          <a:prstGeom prst="ellipse">
            <a:avLst/>
          </a:prstGeom>
          <a:solidFill>
            <a:srgbClr val="E39B2D"/>
          </a:solidFill>
          <a:ln w="12700">
            <a:solidFill>
              <a:srgbClr val="E39B2D"/>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708660" y="3570732"/>
            <a:ext cx="320040" cy="320040"/>
          </a:xfrm>
          <a:prstGeom prst="rect">
            <a:avLst/>
          </a:prstGeom>
        </p:spPr>
      </p:pic>
      <p:sp>
        <p:nvSpPr>
          <p:cNvPr id="14" name="Text 9"/>
          <p:cNvSpPr txBox="1"/>
          <p:nvPr/>
        </p:nvSpPr>
        <p:spPr>
          <a:xfrm>
            <a:off x="1417320" y="3374136"/>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Evidence</a:t>
            </a:r>
            <a:endParaRPr lang="en-US" sz="1800" dirty="0"/>
          </a:p>
        </p:txBody>
      </p:sp>
      <p:sp>
        <p:nvSpPr>
          <p:cNvPr id="15" name="Text 10"/>
          <p:cNvSpPr txBox="1"/>
          <p:nvPr/>
        </p:nvSpPr>
        <p:spPr>
          <a:xfrm>
            <a:off x="3200400" y="3374136"/>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Empirical laws linking uncertainty to correctness, fault detection and cost across models</a:t>
            </a:r>
            <a:endParaRPr lang="en-US" sz="1400" dirty="0"/>
          </a:p>
        </p:txBody>
      </p:sp>
      <p:sp>
        <p:nvSpPr>
          <p:cNvPr id="16" name="Shape 11"/>
          <p:cNvSpPr/>
          <p:nvPr/>
        </p:nvSpPr>
        <p:spPr>
          <a:xfrm>
            <a:off x="548640" y="4398264"/>
            <a:ext cx="640080" cy="640080"/>
          </a:xfrm>
          <a:prstGeom prst="ellipse">
            <a:avLst/>
          </a:prstGeom>
          <a:solidFill>
            <a:srgbClr val="6E56CF"/>
          </a:solidFill>
          <a:ln w="12700">
            <a:solidFill>
              <a:srgbClr val="6E56CF"/>
            </a:solidFill>
            <a:prstDash val="solid"/>
          </a:ln>
        </p:spPr>
        <p:txBody>
          <a:bodyPr/>
          <a:lstStyle/>
          <a:p>
            <a:endParaRPr lang="en-US"/>
          </a:p>
        </p:txBody>
      </p:sp>
      <p:pic>
        <p:nvPicPr>
          <p:cNvPr id="17" name="Image 3" descr="preencoded.png"/>
          <p:cNvPicPr>
            <a:picLocks noChangeAspect="1"/>
          </p:cNvPicPr>
          <p:nvPr/>
        </p:nvPicPr>
        <p:blipFill>
          <a:blip r:embed="rId6"/>
          <a:stretch>
            <a:fillRect/>
          </a:stretch>
        </p:blipFill>
        <p:spPr>
          <a:xfrm>
            <a:off x="708660" y="4558284"/>
            <a:ext cx="320040" cy="320040"/>
          </a:xfrm>
          <a:prstGeom prst="rect">
            <a:avLst/>
          </a:prstGeom>
        </p:spPr>
      </p:pic>
      <p:sp>
        <p:nvSpPr>
          <p:cNvPr id="18" name="Text 12"/>
          <p:cNvSpPr txBox="1"/>
          <p:nvPr/>
        </p:nvSpPr>
        <p:spPr>
          <a:xfrm>
            <a:off x="1417320" y="4361688"/>
            <a:ext cx="1828800" cy="731520"/>
          </a:xfrm>
          <a:prstGeom prst="rect">
            <a:avLst/>
          </a:prstGeom>
          <a:noFill/>
          <a:ln/>
        </p:spPr>
        <p:txBody>
          <a:bodyPr wrap="square" lIns="0" tIns="0" rIns="0" bIns="0" rtlCol="0" anchor="ctr"/>
          <a:lstStyle/>
          <a:p>
            <a:pPr marL="0" indent="0">
              <a:buNone/>
            </a:pPr>
            <a:r>
              <a:rPr lang="en-US" sz="1800" b="1" dirty="0">
                <a:solidFill>
                  <a:srgbClr val="13213C"/>
                </a:solidFill>
                <a:latin typeface="Calibri" pitchFamily="34" charset="0"/>
                <a:ea typeface="Calibri" pitchFamily="34" charset="-122"/>
                <a:cs typeface="Calibri" pitchFamily="34" charset="-120"/>
              </a:rPr>
              <a:t>Open science</a:t>
            </a:r>
            <a:endParaRPr lang="en-US" sz="1800" dirty="0"/>
          </a:p>
        </p:txBody>
      </p:sp>
      <p:sp>
        <p:nvSpPr>
          <p:cNvPr id="19" name="Text 13"/>
          <p:cNvSpPr txBox="1"/>
          <p:nvPr/>
        </p:nvSpPr>
        <p:spPr>
          <a:xfrm>
            <a:off x="3200400" y="4361688"/>
            <a:ext cx="4023360" cy="731520"/>
          </a:xfrm>
          <a:prstGeom prst="rect">
            <a:avLst/>
          </a:prstGeom>
          <a:noFill/>
          <a:ln/>
        </p:spPr>
        <p:txBody>
          <a:bodyPr wrap="square" lIns="0" tIns="0" rIns="0" bIns="0" rtlCol="0" anchor="ctr"/>
          <a:lstStyle/>
          <a:p>
            <a:pPr marL="0" indent="0">
              <a:buNone/>
            </a:pPr>
            <a:r>
              <a:rPr lang="en-US" sz="1400" dirty="0">
                <a:solidFill>
                  <a:srgbClr val="1E2533"/>
                </a:solidFill>
                <a:latin typeface="Calibri" pitchFamily="34" charset="0"/>
                <a:ea typeface="Calibri" pitchFamily="34" charset="-122"/>
                <a:cs typeface="Calibri" pitchFamily="34" charset="-120"/>
              </a:rPr>
              <a:t>QA-Flow, an open ACPS benchmark and replication packages; integration with the InnoGuard platform</a:t>
            </a:r>
            <a:endParaRPr lang="en-US" sz="1400" dirty="0"/>
          </a:p>
        </p:txBody>
      </p:sp>
      <p:sp>
        <p:nvSpPr>
          <p:cNvPr id="20" name="Shape 14"/>
          <p:cNvSpPr/>
          <p:nvPr/>
        </p:nvSpPr>
        <p:spPr>
          <a:xfrm>
            <a:off x="7406640" y="1325880"/>
            <a:ext cx="4233672" cy="3931920"/>
          </a:xfrm>
          <a:prstGeom prst="roundRect">
            <a:avLst>
              <a:gd name="adj" fmla="val 2791"/>
            </a:avLst>
          </a:prstGeom>
          <a:solidFill>
            <a:srgbClr val="F2F5F9"/>
          </a:solidFill>
          <a:ln w="12700">
            <a:solidFill>
              <a:srgbClr val="F2F5F9"/>
            </a:solidFill>
            <a:prstDash val="solid"/>
          </a:ln>
        </p:spPr>
        <p:txBody>
          <a:bodyPr/>
          <a:lstStyle/>
          <a:p>
            <a:endParaRPr lang="en-US"/>
          </a:p>
        </p:txBody>
      </p:sp>
      <p:sp>
        <p:nvSpPr>
          <p:cNvPr id="21" name="Text 15"/>
          <p:cNvSpPr txBox="1"/>
          <p:nvPr/>
        </p:nvSpPr>
        <p:spPr>
          <a:xfrm>
            <a:off x="7635240" y="1490472"/>
            <a:ext cx="3840480" cy="365760"/>
          </a:xfrm>
          <a:prstGeom prst="rect">
            <a:avLst/>
          </a:prstGeom>
          <a:noFill/>
          <a:ln/>
        </p:spPr>
        <p:txBody>
          <a:bodyPr wrap="square" lIns="0" tIns="0" rIns="0" bIns="0" rtlCol="0" anchor="t"/>
          <a:lstStyle/>
          <a:p>
            <a:pPr marL="0" indent="0">
              <a:buNone/>
            </a:pPr>
            <a:r>
              <a:rPr lang="en-US" sz="1600" b="1" dirty="0">
                <a:solidFill>
                  <a:srgbClr val="13213C"/>
                </a:solidFill>
                <a:latin typeface="Calibri" pitchFamily="34" charset="0"/>
                <a:ea typeface="Calibri" pitchFamily="34" charset="-122"/>
                <a:cs typeface="Calibri" pitchFamily="34" charset="-120"/>
              </a:rPr>
              <a:t>Dissemination &amp; network</a:t>
            </a:r>
            <a:endParaRPr lang="en-US" sz="1600" dirty="0"/>
          </a:p>
        </p:txBody>
      </p:sp>
      <p:sp>
        <p:nvSpPr>
          <p:cNvPr id="22" name="Text 16"/>
          <p:cNvSpPr txBox="1"/>
          <p:nvPr/>
        </p:nvSpPr>
        <p:spPr>
          <a:xfrm>
            <a:off x="7635240" y="1920240"/>
            <a:ext cx="3840480" cy="32004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Venues: ICSE, FSE, ASE, ISSTA, ICST; TOSEM, TSE, EMSE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Joint papers across the network, building on the team's foundation-model road maps [10, 11]</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Secondment at Mondragon: industrial CPS case and oracle expertise</a:t>
            </a:r>
            <a:endParaRPr lang="en-US" sz="1400" dirty="0"/>
          </a:p>
          <a:p>
            <a:pPr marL="177800" indent="-177800">
              <a:spcAft>
                <a:spcPts val="600"/>
              </a:spcAft>
              <a:buSzPct val="100000"/>
              <a:buChar char="•"/>
            </a:pPr>
            <a:r>
              <a:rPr lang="en-US" sz="1400" dirty="0">
                <a:solidFill>
                  <a:srgbClr val="1E2533"/>
                </a:solidFill>
                <a:latin typeface="Calibri" pitchFamily="34" charset="0"/>
                <a:ea typeface="Calibri" pitchFamily="34" charset="-122"/>
                <a:cs typeface="Calibri" pitchFamily="34" charset="-120"/>
              </a:rPr>
              <a:t>Training, summer schools and outreach of the doctoral network</a:t>
            </a:r>
            <a:endParaRPr lang="en-US" sz="1400" dirty="0"/>
          </a:p>
        </p:txBody>
      </p:sp>
      <p:sp>
        <p:nvSpPr>
          <p:cNvPr id="23" name="Text 17"/>
          <p:cNvSpPr txBox="1"/>
          <p:nvPr/>
        </p:nvSpPr>
        <p:spPr>
          <a:xfrm>
            <a:off x="548640" y="5669280"/>
            <a:ext cx="11094415" cy="75895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[10] C. Lu et al., “Foundation models for software engineering of cyber-physical systems: The road ahead,” ACM TOSEM, 2026.</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[11] S. Ali et al., “Foundation models for the digital twins creation of cyber-physical systems,” Proc. ISoLA 2024, 2025.</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2E8B57"/>
                </a:solidFill>
                <a:latin typeface="Calibri" pitchFamily="34" charset="0"/>
                <a:ea typeface="Calibri" pitchFamily="34" charset="-122"/>
                <a:cs typeface="Calibri" pitchFamily="34" charset="-120"/>
              </a:rPr>
              <a:t>PART C · MY BACKGROUND</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From automotive test benches to AI-driven testing</a:t>
            </a:r>
            <a:endParaRPr lang="en-US" sz="3000" dirty="0"/>
          </a:p>
        </p:txBody>
      </p:sp>
      <p:sp>
        <p:nvSpPr>
          <p:cNvPr id="4" name="Shape 2"/>
          <p:cNvSpPr/>
          <p:nvPr/>
        </p:nvSpPr>
        <p:spPr>
          <a:xfrm>
            <a:off x="1658082" y="2121408"/>
            <a:ext cx="8875532" cy="0"/>
          </a:xfrm>
          <a:prstGeom prst="line">
            <a:avLst/>
          </a:prstGeom>
          <a:noFill/>
          <a:ln w="25400">
            <a:solidFill>
              <a:srgbClr val="DDE3EC"/>
            </a:solidFill>
            <a:prstDash val="solid"/>
          </a:ln>
        </p:spPr>
        <p:txBody>
          <a:bodyPr/>
          <a:lstStyle/>
          <a:p>
            <a:endParaRPr lang="en-US"/>
          </a:p>
        </p:txBody>
      </p:sp>
      <p:sp>
        <p:nvSpPr>
          <p:cNvPr id="5" name="Shape 3"/>
          <p:cNvSpPr/>
          <p:nvPr/>
        </p:nvSpPr>
        <p:spPr>
          <a:xfrm>
            <a:off x="1365474" y="1828800"/>
            <a:ext cx="585216" cy="585216"/>
          </a:xfrm>
          <a:prstGeom prst="ellipse">
            <a:avLst/>
          </a:prstGeom>
          <a:solidFill>
            <a:srgbClr val="5B6578"/>
          </a:solidFill>
          <a:ln w="12700">
            <a:solidFill>
              <a:srgbClr val="5B657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511778" y="1975104"/>
            <a:ext cx="292608" cy="292608"/>
          </a:xfrm>
          <a:prstGeom prst="rect">
            <a:avLst/>
          </a:prstGeom>
        </p:spPr>
      </p:pic>
      <p:sp>
        <p:nvSpPr>
          <p:cNvPr id="7" name="Text 4"/>
          <p:cNvSpPr txBox="1"/>
          <p:nvPr/>
        </p:nvSpPr>
        <p:spPr>
          <a:xfrm>
            <a:off x="548640" y="2542032"/>
            <a:ext cx="2218883" cy="320040"/>
          </a:xfrm>
          <a:prstGeom prst="rect">
            <a:avLst/>
          </a:prstGeom>
          <a:noFill/>
          <a:ln/>
        </p:spPr>
        <p:txBody>
          <a:bodyPr wrap="square" lIns="0" tIns="0" rIns="0" bIns="0" rtlCol="0" anchor="t"/>
          <a:lstStyle/>
          <a:p>
            <a:pPr marL="0" indent="0" algn="ctr">
              <a:buNone/>
            </a:pPr>
            <a:r>
              <a:rPr lang="en-US" sz="1400" b="1" dirty="0">
                <a:solidFill>
                  <a:srgbClr val="5B6578"/>
                </a:solidFill>
                <a:latin typeface="Calibri" pitchFamily="34" charset="0"/>
                <a:ea typeface="Calibri" pitchFamily="34" charset="-122"/>
                <a:cs typeface="Calibri" pitchFamily="34" charset="-120"/>
              </a:rPr>
              <a:t>2019–23</a:t>
            </a:r>
            <a:endParaRPr lang="en-US" sz="1400" dirty="0"/>
          </a:p>
        </p:txBody>
      </p:sp>
      <p:sp>
        <p:nvSpPr>
          <p:cNvPr id="8" name="Text 5"/>
          <p:cNvSpPr txBox="1"/>
          <p:nvPr/>
        </p:nvSpPr>
        <p:spPr>
          <a:xfrm>
            <a:off x="621792" y="285292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B.S. Electrical &amp; Electronics Eng.</a:t>
            </a:r>
            <a:endParaRPr lang="en-US" sz="1400" dirty="0"/>
          </a:p>
        </p:txBody>
      </p:sp>
      <p:sp>
        <p:nvSpPr>
          <p:cNvPr id="9" name="Text 6"/>
          <p:cNvSpPr txBox="1"/>
          <p:nvPr/>
        </p:nvSpPr>
        <p:spPr>
          <a:xfrm>
            <a:off x="640080" y="341985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HCMC Univ. of Technology, honors program · GPA 8.27/10</a:t>
            </a:r>
            <a:endParaRPr lang="en-US" sz="1200" dirty="0"/>
          </a:p>
        </p:txBody>
      </p:sp>
      <p:sp>
        <p:nvSpPr>
          <p:cNvPr id="10" name="Shape 7"/>
          <p:cNvSpPr/>
          <p:nvPr/>
        </p:nvSpPr>
        <p:spPr>
          <a:xfrm>
            <a:off x="3584357" y="1828800"/>
            <a:ext cx="585216" cy="585216"/>
          </a:xfrm>
          <a:prstGeom prst="ellipse">
            <a:avLst/>
          </a:prstGeom>
          <a:solidFill>
            <a:srgbClr val="5B6578"/>
          </a:solidFill>
          <a:ln w="12700">
            <a:solidFill>
              <a:srgbClr val="5B6578"/>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730661" y="1975104"/>
            <a:ext cx="292608" cy="292608"/>
          </a:xfrm>
          <a:prstGeom prst="rect">
            <a:avLst/>
          </a:prstGeom>
        </p:spPr>
      </p:pic>
      <p:sp>
        <p:nvSpPr>
          <p:cNvPr id="12" name="Text 8"/>
          <p:cNvSpPr txBox="1"/>
          <p:nvPr/>
        </p:nvSpPr>
        <p:spPr>
          <a:xfrm>
            <a:off x="2767523" y="2542032"/>
            <a:ext cx="2218883" cy="320040"/>
          </a:xfrm>
          <a:prstGeom prst="rect">
            <a:avLst/>
          </a:prstGeom>
          <a:noFill/>
          <a:ln/>
        </p:spPr>
        <p:txBody>
          <a:bodyPr wrap="square" lIns="0" tIns="0" rIns="0" bIns="0" rtlCol="0" anchor="t"/>
          <a:lstStyle/>
          <a:p>
            <a:pPr marL="0" indent="0" algn="ctr">
              <a:buNone/>
            </a:pPr>
            <a:r>
              <a:rPr lang="en-US" sz="1400" b="1" dirty="0">
                <a:solidFill>
                  <a:srgbClr val="5B6578"/>
                </a:solidFill>
                <a:latin typeface="Calibri" pitchFamily="34" charset="0"/>
                <a:ea typeface="Calibri" pitchFamily="34" charset="-122"/>
                <a:cs typeface="Calibri" pitchFamily="34" charset="-120"/>
              </a:rPr>
              <a:t>2022</a:t>
            </a:r>
            <a:endParaRPr lang="en-US" sz="1400" dirty="0"/>
          </a:p>
        </p:txBody>
      </p:sp>
      <p:sp>
        <p:nvSpPr>
          <p:cNvPr id="13" name="Text 9"/>
          <p:cNvSpPr txBox="1"/>
          <p:nvPr/>
        </p:nvSpPr>
        <p:spPr>
          <a:xfrm>
            <a:off x="2840675" y="285292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Embedded SW intern</a:t>
            </a:r>
            <a:endParaRPr lang="en-US" sz="1400" dirty="0"/>
          </a:p>
        </p:txBody>
      </p:sp>
      <p:sp>
        <p:nvSpPr>
          <p:cNvPr id="14" name="Text 10"/>
          <p:cNvSpPr txBox="1"/>
          <p:nvPr/>
        </p:nvSpPr>
        <p:spPr>
          <a:xfrm>
            <a:off x="2858963" y="341985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Drivers, firmware unit &amp; functional testing</a:t>
            </a:r>
            <a:endParaRPr lang="en-US" sz="1200" dirty="0"/>
          </a:p>
        </p:txBody>
      </p:sp>
      <p:sp>
        <p:nvSpPr>
          <p:cNvPr id="15" name="Shape 11"/>
          <p:cNvSpPr/>
          <p:nvPr/>
        </p:nvSpPr>
        <p:spPr>
          <a:xfrm>
            <a:off x="5803240" y="1828800"/>
            <a:ext cx="585216" cy="585216"/>
          </a:xfrm>
          <a:prstGeom prst="ellipse">
            <a:avLst/>
          </a:prstGeom>
          <a:solidFill>
            <a:srgbClr val="3567C8"/>
          </a:solidFill>
          <a:ln w="12700">
            <a:solidFill>
              <a:srgbClr val="3567C8"/>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5949544" y="1975104"/>
            <a:ext cx="292608" cy="292608"/>
          </a:xfrm>
          <a:prstGeom prst="rect">
            <a:avLst/>
          </a:prstGeom>
        </p:spPr>
      </p:pic>
      <p:sp>
        <p:nvSpPr>
          <p:cNvPr id="17" name="Text 12"/>
          <p:cNvSpPr txBox="1"/>
          <p:nvPr/>
        </p:nvSpPr>
        <p:spPr>
          <a:xfrm>
            <a:off x="4986406" y="2542032"/>
            <a:ext cx="2218883" cy="320040"/>
          </a:xfrm>
          <a:prstGeom prst="rect">
            <a:avLst/>
          </a:prstGeom>
          <a:noFill/>
          <a:ln/>
        </p:spPr>
        <p:txBody>
          <a:bodyPr wrap="square" lIns="0" tIns="0" rIns="0" bIns="0" rtlCol="0" anchor="t"/>
          <a:lstStyle/>
          <a:p>
            <a:pPr marL="0" indent="0" algn="ctr">
              <a:buNone/>
            </a:pPr>
            <a:r>
              <a:rPr lang="en-US" sz="1400" b="1" dirty="0">
                <a:solidFill>
                  <a:srgbClr val="3567C8"/>
                </a:solidFill>
                <a:latin typeface="Calibri" pitchFamily="34" charset="0"/>
                <a:ea typeface="Calibri" pitchFamily="34" charset="-122"/>
                <a:cs typeface="Calibri" pitchFamily="34" charset="-120"/>
              </a:rPr>
              <a:t>2022–24</a:t>
            </a:r>
            <a:endParaRPr lang="en-US" sz="1400" dirty="0"/>
          </a:p>
        </p:txBody>
      </p:sp>
      <p:sp>
        <p:nvSpPr>
          <p:cNvPr id="18" name="Text 13"/>
          <p:cNvSpPr txBox="1"/>
          <p:nvPr/>
        </p:nvSpPr>
        <p:spPr>
          <a:xfrm>
            <a:off x="5059558" y="285292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Embedded SW test engineer · Bosch</a:t>
            </a:r>
            <a:endParaRPr lang="en-US" sz="1400" dirty="0"/>
          </a:p>
        </p:txBody>
      </p:sp>
      <p:sp>
        <p:nvSpPr>
          <p:cNvPr id="19" name="Text 14"/>
          <p:cNvSpPr txBox="1"/>
          <p:nvPr/>
        </p:nvSpPr>
        <p:spPr>
          <a:xfrm>
            <a:off x="5077846" y="341985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Automotive ECU testing for OEMs · AUTOSAR, MISRA-C, ASPICE, CAPL</a:t>
            </a:r>
            <a:endParaRPr lang="en-US" sz="1200" dirty="0"/>
          </a:p>
        </p:txBody>
      </p:sp>
      <p:sp>
        <p:nvSpPr>
          <p:cNvPr id="20" name="Shape 15"/>
          <p:cNvSpPr/>
          <p:nvPr/>
        </p:nvSpPr>
        <p:spPr>
          <a:xfrm>
            <a:off x="8022123" y="1828800"/>
            <a:ext cx="585216" cy="585216"/>
          </a:xfrm>
          <a:prstGeom prst="ellipse">
            <a:avLst/>
          </a:prstGeom>
          <a:solidFill>
            <a:srgbClr val="0F8B8D"/>
          </a:solidFill>
          <a:ln w="12700">
            <a:solidFill>
              <a:srgbClr val="0F8B8D"/>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8168427" y="1975104"/>
            <a:ext cx="292608" cy="292608"/>
          </a:xfrm>
          <a:prstGeom prst="rect">
            <a:avLst/>
          </a:prstGeom>
        </p:spPr>
      </p:pic>
      <p:sp>
        <p:nvSpPr>
          <p:cNvPr id="22" name="Text 16"/>
          <p:cNvSpPr txBox="1"/>
          <p:nvPr/>
        </p:nvSpPr>
        <p:spPr>
          <a:xfrm>
            <a:off x="7205289" y="2542032"/>
            <a:ext cx="2218883" cy="320040"/>
          </a:xfrm>
          <a:prstGeom prst="rect">
            <a:avLst/>
          </a:prstGeom>
          <a:noFill/>
          <a:ln/>
        </p:spPr>
        <p:txBody>
          <a:bodyPr wrap="square" lIns="0" tIns="0" rIns="0" bIns="0" rtlCol="0" anchor="t"/>
          <a:lstStyle/>
          <a:p>
            <a:pPr marL="0" indent="0" algn="ctr">
              <a:buNone/>
            </a:pPr>
            <a:r>
              <a:rPr lang="en-US" sz="1400" b="1" dirty="0">
                <a:solidFill>
                  <a:srgbClr val="0F8B8D"/>
                </a:solidFill>
                <a:latin typeface="Calibri" pitchFamily="34" charset="0"/>
                <a:ea typeface="Calibri" pitchFamily="34" charset="-122"/>
                <a:cs typeface="Calibri" pitchFamily="34" charset="-120"/>
              </a:rPr>
              <a:t>2024–26</a:t>
            </a:r>
            <a:endParaRPr lang="en-US" sz="1400" dirty="0"/>
          </a:p>
        </p:txBody>
      </p:sp>
      <p:sp>
        <p:nvSpPr>
          <p:cNvPr id="23" name="Text 17"/>
          <p:cNvSpPr txBox="1"/>
          <p:nvPr/>
        </p:nvSpPr>
        <p:spPr>
          <a:xfrm>
            <a:off x="7278441" y="285292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M.S. Computer Science · KNU</a:t>
            </a:r>
            <a:endParaRPr lang="en-US" sz="1400" dirty="0"/>
          </a:p>
        </p:txBody>
      </p:sp>
      <p:sp>
        <p:nvSpPr>
          <p:cNvPr id="24" name="Text 18"/>
          <p:cNvSpPr txBox="1"/>
          <p:nvPr/>
        </p:nvSpPr>
        <p:spPr>
          <a:xfrm>
            <a:off x="7296729" y="341985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Software Safety Eng. Lab · GPA 4.25/4.30 · falsification &amp; property-based testing</a:t>
            </a:r>
            <a:endParaRPr lang="en-US" sz="1200" dirty="0"/>
          </a:p>
        </p:txBody>
      </p:sp>
      <p:sp>
        <p:nvSpPr>
          <p:cNvPr id="25" name="Shape 19"/>
          <p:cNvSpPr/>
          <p:nvPr/>
        </p:nvSpPr>
        <p:spPr>
          <a:xfrm>
            <a:off x="10241006" y="1828800"/>
            <a:ext cx="585216" cy="585216"/>
          </a:xfrm>
          <a:prstGeom prst="ellipse">
            <a:avLst/>
          </a:prstGeom>
          <a:solidFill>
            <a:srgbClr val="E39B2D"/>
          </a:solidFill>
          <a:ln w="12700">
            <a:solidFill>
              <a:srgbClr val="E39B2D"/>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10387310" y="1975104"/>
            <a:ext cx="292608" cy="292608"/>
          </a:xfrm>
          <a:prstGeom prst="rect">
            <a:avLst/>
          </a:prstGeom>
        </p:spPr>
      </p:pic>
      <p:sp>
        <p:nvSpPr>
          <p:cNvPr id="27" name="Text 20"/>
          <p:cNvSpPr txBox="1"/>
          <p:nvPr/>
        </p:nvSpPr>
        <p:spPr>
          <a:xfrm>
            <a:off x="9424172" y="2542032"/>
            <a:ext cx="2218883" cy="320040"/>
          </a:xfrm>
          <a:prstGeom prst="rect">
            <a:avLst/>
          </a:prstGeom>
          <a:noFill/>
          <a:ln/>
        </p:spPr>
        <p:txBody>
          <a:bodyPr wrap="square" lIns="0" tIns="0" rIns="0" bIns="0" rtlCol="0" anchor="t"/>
          <a:lstStyle/>
          <a:p>
            <a:pPr marL="0" indent="0" algn="ctr">
              <a:buNone/>
            </a:pPr>
            <a:r>
              <a:rPr lang="en-US" sz="1400" b="1" dirty="0">
                <a:solidFill>
                  <a:srgbClr val="E39B2D"/>
                </a:solidFill>
                <a:latin typeface="Calibri" pitchFamily="34" charset="0"/>
                <a:ea typeface="Calibri" pitchFamily="34" charset="-122"/>
                <a:cs typeface="Calibri" pitchFamily="34" charset="-120"/>
              </a:rPr>
              <a:t>2026–</a:t>
            </a:r>
            <a:endParaRPr lang="en-US" sz="1400" dirty="0"/>
          </a:p>
        </p:txBody>
      </p:sp>
      <p:sp>
        <p:nvSpPr>
          <p:cNvPr id="28" name="Text 21"/>
          <p:cNvSpPr txBox="1"/>
          <p:nvPr/>
        </p:nvSpPr>
        <p:spPr>
          <a:xfrm>
            <a:off x="9497324" y="2852928"/>
            <a:ext cx="2072579" cy="566928"/>
          </a:xfrm>
          <a:prstGeom prst="rect">
            <a:avLst/>
          </a:prstGeom>
          <a:noFill/>
          <a:ln/>
        </p:spPr>
        <p:txBody>
          <a:bodyPr wrap="square" lIns="0" tIns="0" rIns="0" bIns="0" rtlCol="0" anchor="t"/>
          <a:lstStyle/>
          <a:p>
            <a:pPr marL="0" indent="0" algn="ctr">
              <a:buNone/>
            </a:pPr>
            <a:r>
              <a:rPr lang="en-US" sz="1400" b="1" dirty="0">
                <a:solidFill>
                  <a:srgbClr val="1E2533"/>
                </a:solidFill>
                <a:latin typeface="Calibri" pitchFamily="34" charset="0"/>
                <a:ea typeface="Calibri" pitchFamily="34" charset="-122"/>
                <a:cs typeface="Calibri" pitchFamily="34" charset="-120"/>
              </a:rPr>
              <a:t>Software test engineer · industry</a:t>
            </a:r>
            <a:endParaRPr lang="en-US" sz="1400" dirty="0"/>
          </a:p>
        </p:txBody>
      </p:sp>
      <p:sp>
        <p:nvSpPr>
          <p:cNvPr id="29" name="Text 22"/>
          <p:cNvSpPr txBox="1"/>
          <p:nvPr/>
        </p:nvSpPr>
        <p:spPr>
          <a:xfrm>
            <a:off x="9515612" y="3419856"/>
            <a:ext cx="2036003" cy="868680"/>
          </a:xfrm>
          <a:prstGeom prst="rect">
            <a:avLst/>
          </a:prstGeom>
          <a:noFill/>
          <a:ln/>
        </p:spPr>
        <p:txBody>
          <a:bodyPr wrap="square" lIns="0" tIns="0" rIns="0" bIns="0" rtlCol="0" anchor="t"/>
          <a:lstStyle/>
          <a:p>
            <a:pPr marL="0" indent="0" algn="ctr">
              <a:buNone/>
            </a:pPr>
            <a:r>
              <a:rPr lang="en-US" sz="1200" dirty="0">
                <a:solidFill>
                  <a:srgbClr val="5B6578"/>
                </a:solidFill>
                <a:latin typeface="Calibri" pitchFamily="34" charset="0"/>
                <a:ea typeface="Calibri" pitchFamily="34" charset="-122"/>
                <a:cs typeface="Calibri" pitchFamily="34" charset="-120"/>
              </a:rPr>
              <a:t>Web/API/system testing · LLM, RAG &amp; MCP-based test generation</a:t>
            </a:r>
            <a:endParaRPr lang="en-US" sz="1200" dirty="0"/>
          </a:p>
        </p:txBody>
      </p:sp>
      <p:sp>
        <p:nvSpPr>
          <p:cNvPr id="30" name="Shape 23"/>
          <p:cNvSpPr/>
          <p:nvPr/>
        </p:nvSpPr>
        <p:spPr>
          <a:xfrm>
            <a:off x="548640" y="4617720"/>
            <a:ext cx="11094415" cy="1234440"/>
          </a:xfrm>
          <a:prstGeom prst="roundRect">
            <a:avLst>
              <a:gd name="adj" fmla="val 8889"/>
            </a:avLst>
          </a:prstGeom>
          <a:solidFill>
            <a:srgbClr val="F2F5F9"/>
          </a:solidFill>
          <a:ln w="12700">
            <a:solidFill>
              <a:srgbClr val="F2F5F9"/>
            </a:solidFill>
            <a:prstDash val="solid"/>
          </a:ln>
        </p:spPr>
        <p:txBody>
          <a:bodyPr/>
          <a:lstStyle/>
          <a:p>
            <a:endParaRPr lang="en-US"/>
          </a:p>
        </p:txBody>
      </p:sp>
      <p:sp>
        <p:nvSpPr>
          <p:cNvPr id="31" name="Text 24"/>
          <p:cNvSpPr txBox="1"/>
          <p:nvPr/>
        </p:nvSpPr>
        <p:spPr>
          <a:xfrm>
            <a:off x="822960" y="4782312"/>
            <a:ext cx="10545775" cy="914400"/>
          </a:xfrm>
          <a:prstGeom prst="rect">
            <a:avLst/>
          </a:prstGeom>
          <a:noFill/>
          <a:ln/>
        </p:spPr>
        <p:txBody>
          <a:bodyPr wrap="square" lIns="0" tIns="0" rIns="0" bIns="0" rtlCol="0" anchor="ctr"/>
          <a:lstStyle/>
          <a:p>
            <a:pPr marL="0" indent="0">
              <a:spcAft>
                <a:spcPts val="600"/>
              </a:spcAft>
              <a:buNone/>
            </a:pPr>
            <a:r>
              <a:rPr lang="en-US" sz="1400" b="1" dirty="0">
                <a:solidFill>
                  <a:srgbClr val="0F8B8D"/>
                </a:solidFill>
                <a:latin typeface="Calibri" pitchFamily="34" charset="0"/>
                <a:ea typeface="Calibri" pitchFamily="34" charset="-122"/>
                <a:cs typeface="Calibri" pitchFamily="34" charset="-120"/>
              </a:rPr>
              <a:t>Thesis  </a:t>
            </a:r>
            <a:r>
              <a:rPr lang="en-US" sz="1400" dirty="0">
                <a:solidFill>
                  <a:srgbClr val="1E2533"/>
                </a:solidFill>
                <a:latin typeface="Calibri" pitchFamily="34" charset="0"/>
                <a:ea typeface="Calibri" pitchFamily="34" charset="-122"/>
                <a:cs typeface="Calibri" pitchFamily="34" charset="-120"/>
              </a:rPr>
              <a:t>Towards Efficient Function Abstraction via Active Learning for Property Falsification (advisor: Prof. Yunja Choi)</a:t>
            </a:r>
            <a:endParaRPr lang="en-US" sz="1400" dirty="0"/>
          </a:p>
          <a:p>
            <a:pPr marL="0" indent="0">
              <a:spcAft>
                <a:spcPts val="600"/>
              </a:spcAft>
              <a:buNone/>
            </a:pPr>
            <a:r>
              <a:rPr lang="en-US" sz="1400" b="1" dirty="0">
                <a:solidFill>
                  <a:srgbClr val="0F8B8D"/>
                </a:solidFill>
                <a:latin typeface="Calibri" pitchFamily="34" charset="0"/>
                <a:ea typeface="Calibri" pitchFamily="34" charset="-122"/>
                <a:cs typeface="Calibri" pitchFamily="34" charset="-120"/>
              </a:rPr>
              <a:t>Papers  </a:t>
            </a:r>
            <a:r>
              <a:rPr lang="en-US" sz="1400" dirty="0">
                <a:solidFill>
                  <a:srgbClr val="1E2533"/>
                </a:solidFill>
                <a:latin typeface="Calibri" pitchFamily="34" charset="0"/>
                <a:ea typeface="Calibri" pitchFamily="34" charset="-122"/>
                <a:cs typeface="Calibri" pitchFamily="34" charset="-120"/>
              </a:rPr>
              <a:t>Test generation for property checking (KCC 2025); stateful system, stateless techniques: test generation for controller software (KCSE 2026), with S. Hong and Y. Choi</a:t>
            </a:r>
            <a:endParaRPr lang="en-US" sz="1400" dirty="0"/>
          </a:p>
        </p:txBody>
      </p:sp>
      <p:sp>
        <p:nvSpPr>
          <p:cNvPr id="32"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109728"/>
            <a:ext cx="7315200" cy="228600"/>
          </a:xfrm>
          <a:prstGeom prst="rect">
            <a:avLst/>
          </a:prstGeom>
          <a:noFill/>
          <a:ln/>
        </p:spPr>
        <p:txBody>
          <a:bodyPr wrap="square" lIns="0" tIns="0" rIns="0" bIns="0" rtlCol="0" anchor="t"/>
          <a:lstStyle/>
          <a:p>
            <a:pPr marL="0" indent="0">
              <a:buNone/>
            </a:pPr>
            <a:r>
              <a:rPr lang="en-US" sz="1100" b="1" kern="0" spc="100" dirty="0">
                <a:solidFill>
                  <a:srgbClr val="2E8B57"/>
                </a:solidFill>
                <a:latin typeface="Calibri" pitchFamily="34" charset="0"/>
                <a:ea typeface="Calibri" pitchFamily="34" charset="-122"/>
                <a:cs typeface="Calibri" pitchFamily="34" charset="-120"/>
              </a:rPr>
              <a:t>PART C · WHAT I BRING</a:t>
            </a:r>
            <a:endParaRPr lang="en-US" sz="1100" dirty="0"/>
          </a:p>
        </p:txBody>
      </p:sp>
      <p:sp>
        <p:nvSpPr>
          <p:cNvPr id="3"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What I bring, and why this team</a:t>
            </a:r>
            <a:endParaRPr lang="en-US" sz="3000" dirty="0"/>
          </a:p>
        </p:txBody>
      </p:sp>
      <p:sp>
        <p:nvSpPr>
          <p:cNvPr id="4" name="Shape 2"/>
          <p:cNvSpPr/>
          <p:nvPr/>
        </p:nvSpPr>
        <p:spPr>
          <a:xfrm>
            <a:off x="548640" y="1325880"/>
            <a:ext cx="3611880" cy="1920240"/>
          </a:xfrm>
          <a:prstGeom prst="roundRect">
            <a:avLst>
              <a:gd name="adj" fmla="val 5714"/>
            </a:avLst>
          </a:prstGeom>
          <a:solidFill>
            <a:srgbClr val="F2F5F9"/>
          </a:solidFill>
          <a:ln w="12700">
            <a:solidFill>
              <a:srgbClr val="F2F5F9"/>
            </a:solidFill>
            <a:prstDash val="solid"/>
          </a:ln>
        </p:spPr>
        <p:txBody>
          <a:bodyPr/>
          <a:lstStyle/>
          <a:p>
            <a:endParaRPr lang="en-US"/>
          </a:p>
        </p:txBody>
      </p:sp>
      <p:sp>
        <p:nvSpPr>
          <p:cNvPr id="5" name="Shape 3"/>
          <p:cNvSpPr/>
          <p:nvPr/>
        </p:nvSpPr>
        <p:spPr>
          <a:xfrm>
            <a:off x="777240" y="1554480"/>
            <a:ext cx="548640" cy="548640"/>
          </a:xfrm>
          <a:prstGeom prst="ellipse">
            <a:avLst/>
          </a:prstGeom>
          <a:solidFill>
            <a:srgbClr val="3567C8"/>
          </a:solidFill>
          <a:ln w="12700">
            <a:solidFill>
              <a:srgbClr val="3567C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914400" y="1691640"/>
            <a:ext cx="274320" cy="274320"/>
          </a:xfrm>
          <a:prstGeom prst="rect">
            <a:avLst/>
          </a:prstGeom>
        </p:spPr>
      </p:pic>
      <p:sp>
        <p:nvSpPr>
          <p:cNvPr id="7" name="Text 4"/>
          <p:cNvSpPr txBox="1"/>
          <p:nvPr/>
        </p:nvSpPr>
        <p:spPr>
          <a:xfrm>
            <a:off x="1463040" y="1527048"/>
            <a:ext cx="2560320" cy="594360"/>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Testing cyber-physical systems</a:t>
            </a:r>
            <a:endParaRPr lang="en-US" sz="1500" dirty="0"/>
          </a:p>
        </p:txBody>
      </p:sp>
      <p:sp>
        <p:nvSpPr>
          <p:cNvPr id="8" name="Text 5"/>
          <p:cNvSpPr txBox="1"/>
          <p:nvPr/>
        </p:nvSpPr>
        <p:spPr>
          <a:xfrm>
            <a:off x="777240" y="2221992"/>
            <a:ext cx="3200400" cy="960120"/>
          </a:xfrm>
          <a:prstGeom prst="rect">
            <a:avLst/>
          </a:prstGeom>
          <a:noFill/>
          <a:ln/>
        </p:spPr>
        <p:txBody>
          <a:bodyPr wrap="square" lIns="0" tIns="0" rIns="0" bIns="0" rtlCol="0" anchor="t"/>
          <a:lstStyle/>
          <a:p>
            <a:pPr marL="0" indent="0">
              <a:buNone/>
            </a:pPr>
            <a:r>
              <a:rPr lang="en-US" sz="1300" dirty="0">
                <a:solidFill>
                  <a:srgbClr val="1E2533"/>
                </a:solidFill>
                <a:latin typeface="Calibri" pitchFamily="34" charset="0"/>
                <a:ea typeface="Calibri" pitchFamily="34" charset="-122"/>
                <a:cs typeface="Calibri" pitchFamily="34" charset="-120"/>
              </a:rPr>
              <a:t>Automotive ECU testing (CAN, CAPL, ETAS INCA); robotics (ROS/ROS2) and embedded domains</a:t>
            </a:r>
            <a:endParaRPr lang="en-US" sz="1300" dirty="0"/>
          </a:p>
        </p:txBody>
      </p:sp>
      <p:sp>
        <p:nvSpPr>
          <p:cNvPr id="9" name="Shape 6"/>
          <p:cNvSpPr/>
          <p:nvPr/>
        </p:nvSpPr>
        <p:spPr>
          <a:xfrm>
            <a:off x="4297680" y="1325880"/>
            <a:ext cx="3611880" cy="1920240"/>
          </a:xfrm>
          <a:prstGeom prst="roundRect">
            <a:avLst>
              <a:gd name="adj" fmla="val 5714"/>
            </a:avLst>
          </a:prstGeom>
          <a:solidFill>
            <a:srgbClr val="F2F5F9"/>
          </a:solidFill>
          <a:ln w="12700">
            <a:solidFill>
              <a:srgbClr val="F2F5F9"/>
            </a:solidFill>
            <a:prstDash val="solid"/>
          </a:ln>
        </p:spPr>
        <p:txBody>
          <a:bodyPr/>
          <a:lstStyle/>
          <a:p>
            <a:endParaRPr lang="en-US"/>
          </a:p>
        </p:txBody>
      </p:sp>
      <p:sp>
        <p:nvSpPr>
          <p:cNvPr id="10" name="Shape 7"/>
          <p:cNvSpPr/>
          <p:nvPr/>
        </p:nvSpPr>
        <p:spPr>
          <a:xfrm>
            <a:off x="4526280" y="1554480"/>
            <a:ext cx="548640" cy="548640"/>
          </a:xfrm>
          <a:prstGeom prst="ellipse">
            <a:avLst/>
          </a:prstGeom>
          <a:solidFill>
            <a:srgbClr val="0F8B8D"/>
          </a:solidFill>
          <a:ln w="12700">
            <a:solidFill>
              <a:srgbClr val="0F8B8D"/>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663440" y="1691640"/>
            <a:ext cx="274320" cy="274320"/>
          </a:xfrm>
          <a:prstGeom prst="rect">
            <a:avLst/>
          </a:prstGeom>
        </p:spPr>
      </p:pic>
      <p:sp>
        <p:nvSpPr>
          <p:cNvPr id="12" name="Text 8"/>
          <p:cNvSpPr txBox="1"/>
          <p:nvPr/>
        </p:nvSpPr>
        <p:spPr>
          <a:xfrm>
            <a:off x="5212080" y="1527048"/>
            <a:ext cx="2560320" cy="594360"/>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Verification research</a:t>
            </a:r>
            <a:endParaRPr lang="en-US" sz="1500" dirty="0"/>
          </a:p>
        </p:txBody>
      </p:sp>
      <p:sp>
        <p:nvSpPr>
          <p:cNvPr id="13" name="Text 9"/>
          <p:cNvSpPr txBox="1"/>
          <p:nvPr/>
        </p:nvSpPr>
        <p:spPr>
          <a:xfrm>
            <a:off x="4526280" y="2221992"/>
            <a:ext cx="3200400" cy="960120"/>
          </a:xfrm>
          <a:prstGeom prst="rect">
            <a:avLst/>
          </a:prstGeom>
          <a:noFill/>
          <a:ln/>
        </p:spPr>
        <p:txBody>
          <a:bodyPr wrap="square" lIns="0" tIns="0" rIns="0" bIns="0" rtlCol="0" anchor="t"/>
          <a:lstStyle/>
          <a:p>
            <a:pPr marL="0" indent="0">
              <a:buNone/>
            </a:pPr>
            <a:r>
              <a:rPr lang="en-US" sz="1300" dirty="0">
                <a:solidFill>
                  <a:srgbClr val="1E2533"/>
                </a:solidFill>
                <a:latin typeface="Calibri" pitchFamily="34" charset="0"/>
                <a:ea typeface="Calibri" pitchFamily="34" charset="-122"/>
                <a:cs typeface="Calibri" pitchFamily="34" charset="-120"/>
              </a:rPr>
              <a:t>Falsification, function abstraction via active learning, property-based testing — close to robustness-guided falsification [14]</a:t>
            </a:r>
            <a:endParaRPr lang="en-US" sz="1300" dirty="0"/>
          </a:p>
        </p:txBody>
      </p:sp>
      <p:sp>
        <p:nvSpPr>
          <p:cNvPr id="14" name="Shape 10"/>
          <p:cNvSpPr/>
          <p:nvPr/>
        </p:nvSpPr>
        <p:spPr>
          <a:xfrm>
            <a:off x="548640" y="3383280"/>
            <a:ext cx="3611880" cy="1920240"/>
          </a:xfrm>
          <a:prstGeom prst="roundRect">
            <a:avLst>
              <a:gd name="adj" fmla="val 5714"/>
            </a:avLst>
          </a:prstGeom>
          <a:solidFill>
            <a:srgbClr val="F2F5F9"/>
          </a:solidFill>
          <a:ln w="12700">
            <a:solidFill>
              <a:srgbClr val="F2F5F9"/>
            </a:solidFill>
            <a:prstDash val="solid"/>
          </a:ln>
        </p:spPr>
        <p:txBody>
          <a:bodyPr/>
          <a:lstStyle/>
          <a:p>
            <a:endParaRPr lang="en-US"/>
          </a:p>
        </p:txBody>
      </p:sp>
      <p:sp>
        <p:nvSpPr>
          <p:cNvPr id="15" name="Shape 11"/>
          <p:cNvSpPr/>
          <p:nvPr/>
        </p:nvSpPr>
        <p:spPr>
          <a:xfrm>
            <a:off x="777240" y="3611880"/>
            <a:ext cx="548640" cy="548640"/>
          </a:xfrm>
          <a:prstGeom prst="ellipse">
            <a:avLst/>
          </a:prstGeom>
          <a:solidFill>
            <a:srgbClr val="E39B2D"/>
          </a:solidFill>
          <a:ln w="12700">
            <a:solidFill>
              <a:srgbClr val="E39B2D"/>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914400" y="3749040"/>
            <a:ext cx="274320" cy="274320"/>
          </a:xfrm>
          <a:prstGeom prst="rect">
            <a:avLst/>
          </a:prstGeom>
        </p:spPr>
      </p:pic>
      <p:sp>
        <p:nvSpPr>
          <p:cNvPr id="17" name="Text 12"/>
          <p:cNvSpPr txBox="1"/>
          <p:nvPr/>
        </p:nvSpPr>
        <p:spPr>
          <a:xfrm>
            <a:off x="1463040" y="3584448"/>
            <a:ext cx="2560320" cy="594360"/>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LLMs for quality engineering</a:t>
            </a:r>
            <a:endParaRPr lang="en-US" sz="1500" dirty="0"/>
          </a:p>
        </p:txBody>
      </p:sp>
      <p:sp>
        <p:nvSpPr>
          <p:cNvPr id="18" name="Text 13"/>
          <p:cNvSpPr txBox="1"/>
          <p:nvPr/>
        </p:nvSpPr>
        <p:spPr>
          <a:xfrm>
            <a:off x="777240" y="4279392"/>
            <a:ext cx="3200400" cy="960120"/>
          </a:xfrm>
          <a:prstGeom prst="rect">
            <a:avLst/>
          </a:prstGeom>
          <a:noFill/>
          <a:ln/>
        </p:spPr>
        <p:txBody>
          <a:bodyPr wrap="square" lIns="0" tIns="0" rIns="0" bIns="0" rtlCol="0" anchor="t"/>
          <a:lstStyle/>
          <a:p>
            <a:pPr marL="0" indent="0">
              <a:buNone/>
            </a:pPr>
            <a:r>
              <a:rPr lang="en-US" sz="1300" dirty="0">
                <a:solidFill>
                  <a:srgbClr val="1E2533"/>
                </a:solidFill>
                <a:latin typeface="Calibri" pitchFamily="34" charset="0"/>
                <a:ea typeface="Calibri" pitchFamily="34" charset="-122"/>
                <a:cs typeface="Calibri" pitchFamily="34" charset="-120"/>
              </a:rPr>
              <a:t>Built QA-Flow end to end: RAG, LLM agents, MCP-based workflows, Playwright</a:t>
            </a:r>
            <a:endParaRPr lang="en-US" sz="1300" dirty="0"/>
          </a:p>
        </p:txBody>
      </p:sp>
      <p:sp>
        <p:nvSpPr>
          <p:cNvPr id="19" name="Shape 14"/>
          <p:cNvSpPr/>
          <p:nvPr/>
        </p:nvSpPr>
        <p:spPr>
          <a:xfrm>
            <a:off x="4297680" y="3383280"/>
            <a:ext cx="3611880" cy="1920240"/>
          </a:xfrm>
          <a:prstGeom prst="roundRect">
            <a:avLst>
              <a:gd name="adj" fmla="val 5714"/>
            </a:avLst>
          </a:prstGeom>
          <a:solidFill>
            <a:srgbClr val="F2F5F9"/>
          </a:solidFill>
          <a:ln w="12700">
            <a:solidFill>
              <a:srgbClr val="F2F5F9"/>
            </a:solidFill>
            <a:prstDash val="solid"/>
          </a:ln>
        </p:spPr>
        <p:txBody>
          <a:bodyPr/>
          <a:lstStyle/>
          <a:p>
            <a:endParaRPr lang="en-US"/>
          </a:p>
        </p:txBody>
      </p:sp>
      <p:sp>
        <p:nvSpPr>
          <p:cNvPr id="20" name="Shape 15"/>
          <p:cNvSpPr/>
          <p:nvPr/>
        </p:nvSpPr>
        <p:spPr>
          <a:xfrm>
            <a:off x="4526280" y="3611880"/>
            <a:ext cx="548640" cy="548640"/>
          </a:xfrm>
          <a:prstGeom prst="ellipse">
            <a:avLst/>
          </a:prstGeom>
          <a:solidFill>
            <a:srgbClr val="6E56CF"/>
          </a:solidFill>
          <a:ln w="12700">
            <a:solidFill>
              <a:srgbClr val="6E56CF"/>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4663440" y="3749040"/>
            <a:ext cx="274320" cy="274320"/>
          </a:xfrm>
          <a:prstGeom prst="rect">
            <a:avLst/>
          </a:prstGeom>
        </p:spPr>
      </p:pic>
      <p:sp>
        <p:nvSpPr>
          <p:cNvPr id="22" name="Text 16"/>
          <p:cNvSpPr txBox="1"/>
          <p:nvPr/>
        </p:nvSpPr>
        <p:spPr>
          <a:xfrm>
            <a:off x="5212080" y="3584448"/>
            <a:ext cx="2560320" cy="594360"/>
          </a:xfrm>
          <a:prstGeom prst="rect">
            <a:avLst/>
          </a:prstGeom>
          <a:noFill/>
          <a:ln/>
        </p:spPr>
        <p:txBody>
          <a:bodyPr wrap="square" lIns="0" tIns="0" rIns="0" bIns="0" rtlCol="0" anchor="ctr"/>
          <a:lstStyle/>
          <a:p>
            <a:pPr marL="0" indent="0">
              <a:buNone/>
            </a:pPr>
            <a:r>
              <a:rPr lang="en-US" sz="1500" b="1" dirty="0">
                <a:solidFill>
                  <a:srgbClr val="13213C"/>
                </a:solidFill>
                <a:latin typeface="Calibri" pitchFamily="34" charset="0"/>
                <a:ea typeface="Calibri" pitchFamily="34" charset="-122"/>
                <a:cs typeface="Calibri" pitchFamily="34" charset="-120"/>
              </a:rPr>
              <a:t>Python &amp; empirical studies</a:t>
            </a:r>
            <a:endParaRPr lang="en-US" sz="1500" dirty="0"/>
          </a:p>
        </p:txBody>
      </p:sp>
      <p:sp>
        <p:nvSpPr>
          <p:cNvPr id="23" name="Text 17"/>
          <p:cNvSpPr txBox="1"/>
          <p:nvPr/>
        </p:nvSpPr>
        <p:spPr>
          <a:xfrm>
            <a:off x="4526280" y="4279392"/>
            <a:ext cx="3200400" cy="960120"/>
          </a:xfrm>
          <a:prstGeom prst="rect">
            <a:avLst/>
          </a:prstGeom>
          <a:noFill/>
          <a:ln/>
        </p:spPr>
        <p:txBody>
          <a:bodyPr wrap="square" lIns="0" tIns="0" rIns="0" bIns="0" rtlCol="0" anchor="t"/>
          <a:lstStyle/>
          <a:p>
            <a:pPr marL="0" indent="0">
              <a:buNone/>
            </a:pPr>
            <a:r>
              <a:rPr lang="en-US" sz="1300" dirty="0">
                <a:solidFill>
                  <a:srgbClr val="1E2533"/>
                </a:solidFill>
                <a:latin typeface="Calibri" pitchFamily="34" charset="0"/>
                <a:ea typeface="Calibri" pitchFamily="34" charset="-122"/>
                <a:cs typeface="Calibri" pitchFamily="34" charset="-120"/>
              </a:rPr>
              <a:t>Controlled experiments on test generators (KCC'25, KCSE'26); ground-truth check of QA-Flow in this talk</a:t>
            </a:r>
            <a:endParaRPr lang="en-US" sz="1300" dirty="0"/>
          </a:p>
        </p:txBody>
      </p:sp>
      <p:sp>
        <p:nvSpPr>
          <p:cNvPr id="24" name="Shape 18"/>
          <p:cNvSpPr/>
          <p:nvPr/>
        </p:nvSpPr>
        <p:spPr>
          <a:xfrm>
            <a:off x="8092440" y="1325880"/>
            <a:ext cx="3547872" cy="3977640"/>
          </a:xfrm>
          <a:prstGeom prst="roundRect">
            <a:avLst>
              <a:gd name="adj" fmla="val 3093"/>
            </a:avLst>
          </a:prstGeom>
          <a:solidFill>
            <a:srgbClr val="13213C"/>
          </a:solidFill>
          <a:ln w="12700">
            <a:solidFill>
              <a:srgbClr val="13213C"/>
            </a:solidFill>
            <a:prstDash val="solid"/>
          </a:ln>
        </p:spPr>
        <p:txBody>
          <a:bodyPr/>
          <a:lstStyle/>
          <a:p>
            <a:endParaRPr lang="en-US"/>
          </a:p>
        </p:txBody>
      </p:sp>
      <p:sp>
        <p:nvSpPr>
          <p:cNvPr id="25" name="Text 19"/>
          <p:cNvSpPr txBox="1"/>
          <p:nvPr/>
        </p:nvSpPr>
        <p:spPr>
          <a:xfrm>
            <a:off x="8321040" y="1508760"/>
            <a:ext cx="3108960" cy="36576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Why this team</a:t>
            </a:r>
            <a:endParaRPr lang="en-US" sz="1700" dirty="0"/>
          </a:p>
        </p:txBody>
      </p:sp>
      <p:sp>
        <p:nvSpPr>
          <p:cNvPr id="26" name="Text 20"/>
          <p:cNvSpPr txBox="1"/>
          <p:nvPr/>
        </p:nvSpPr>
        <p:spPr>
          <a:xfrm>
            <a:off x="8321040" y="1965960"/>
            <a:ext cx="3154680" cy="32004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Uncertainty-wise CPS testing (Simula)</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ADS testing &amp; falsification (NII)</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Industrial CPS oracles &amp; elevators (Mondragon)</a:t>
            </a:r>
            <a:endParaRPr lang="en-US" sz="1400" dirty="0"/>
          </a:p>
          <a:p>
            <a:pPr marL="177800" indent="-177800">
              <a:spcAft>
                <a:spcPts val="600"/>
              </a:spcAft>
              <a:buSzPct val="100000"/>
              <a:buChar char="•"/>
            </a:pPr>
            <a:r>
              <a:rPr lang="en-US" sz="1400" dirty="0">
                <a:solidFill>
                  <a:srgbClr val="CFE3F1"/>
                </a:solidFill>
                <a:latin typeface="Calibri" pitchFamily="34" charset="0"/>
                <a:ea typeface="Calibri" pitchFamily="34" charset="-122"/>
                <a:cs typeface="Calibri" pitchFamily="34" charset="-120"/>
              </a:rPr>
              <a:t>My work sits exactly where the three meet</a:t>
            </a:r>
            <a:endParaRPr lang="en-US" sz="1400" dirty="0"/>
          </a:p>
        </p:txBody>
      </p:sp>
      <p:sp>
        <p:nvSpPr>
          <p:cNvPr id="27" name="Text 21"/>
          <p:cNvSpPr txBox="1"/>
          <p:nvPr/>
        </p:nvSpPr>
        <p:spPr>
          <a:xfrm>
            <a:off x="548640" y="5760720"/>
            <a:ext cx="11094415" cy="66751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[14] Z. Zhang et al., “FalsifAI: Falsification of AI-enabled hybrid control systems guided by time-aware coverage criteria,” IEEE TSE, 2023.</a:t>
            </a:r>
            <a:endParaRPr lang="en-US" sz="900" dirty="0"/>
          </a:p>
        </p:txBody>
      </p:sp>
      <p:sp>
        <p:nvSpPr>
          <p:cNvPr id="28"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10515600" cy="1097280"/>
          </a:xfrm>
          <a:prstGeom prst="rect">
            <a:avLst/>
          </a:prstGeom>
          <a:noFill/>
          <a:ln/>
        </p:spPr>
        <p:txBody>
          <a:bodyPr wrap="square" lIns="0" tIns="0" rIns="0" bIns="0" rtlCol="0" anchor="t"/>
          <a:lstStyle/>
          <a:p>
            <a:pPr marL="0" indent="0" algn="l">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3" name="Text 1"/>
          <p:cNvSpPr txBox="1"/>
          <p:nvPr/>
        </p:nvSpPr>
        <p:spPr>
          <a:xfrm>
            <a:off x="548640" y="3108960"/>
            <a:ext cx="8686800" cy="173736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CFE3F1"/>
                </a:solidFill>
                <a:latin typeface="Calibri" pitchFamily="34" charset="0"/>
                <a:ea typeface="Calibri" pitchFamily="34" charset="-122"/>
                <a:cs typeface="Calibri" pitchFamily="34" charset="-120"/>
              </a:rPr>
              <a:t>QA-Flow: AI writes and runs tests end to end — and finds real bugs</a:t>
            </a:r>
            <a:endParaRPr lang="en-US" sz="1800" dirty="0"/>
          </a:p>
          <a:p>
            <a:pPr marL="177800" indent="-177800">
              <a:spcAft>
                <a:spcPts val="600"/>
              </a:spcAft>
              <a:buSzPct val="100000"/>
              <a:buChar char="•"/>
            </a:pPr>
            <a:r>
              <a:rPr lang="en-US" sz="1800" dirty="0">
                <a:solidFill>
                  <a:srgbClr val="CFE3F1"/>
                </a:solidFill>
                <a:latin typeface="Calibri" pitchFamily="34" charset="0"/>
                <a:ea typeface="Calibri" pitchFamily="34" charset="-122"/>
                <a:cs typeface="Calibri" pitchFamily="34" charset="-120"/>
              </a:rPr>
              <a:t>But its rules cannot spot the AI's own wrong tests</a:t>
            </a:r>
            <a:endParaRPr lang="en-US" sz="1800" dirty="0"/>
          </a:p>
          <a:p>
            <a:pPr marL="177800" indent="-177800">
              <a:spcAft>
                <a:spcPts val="600"/>
              </a:spcAft>
              <a:buSzPct val="100000"/>
              <a:buChar char="•"/>
            </a:pPr>
            <a:r>
              <a:rPr lang="en-US" sz="1800" dirty="0">
                <a:solidFill>
                  <a:srgbClr val="CFE3F1"/>
                </a:solidFill>
                <a:latin typeface="Calibri" pitchFamily="34" charset="0"/>
                <a:ea typeface="Calibri" pitchFamily="34" charset="-122"/>
                <a:cs typeface="Calibri" pitchFamily="34" charset="-120"/>
              </a:rPr>
              <a:t>PhD: measure when AI-generated tests can be trusted — O1 to O4</a:t>
            </a:r>
            <a:endParaRPr lang="en-US" sz="1800" dirty="0"/>
          </a:p>
        </p:txBody>
      </p:sp>
      <p:sp>
        <p:nvSpPr>
          <p:cNvPr id="4" name="Text 2"/>
          <p:cNvSpPr txBox="1"/>
          <p:nvPr/>
        </p:nvSpPr>
        <p:spPr>
          <a:xfrm>
            <a:off x="548640" y="4983480"/>
            <a:ext cx="5486400" cy="36576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zavinhle@gmail.com</a:t>
            </a:r>
            <a:endParaRPr lang="en-US" sz="1600" dirty="0"/>
          </a:p>
        </p:txBody>
      </p:sp>
      <p:pic>
        <p:nvPicPr>
          <p:cNvPr id="5" name="Image 0" descr="D:\git\phd\uq-testgen\deck\assets\strip.png"/>
          <p:cNvPicPr>
            <a:picLocks noChangeAspect="1"/>
          </p:cNvPicPr>
          <p:nvPr/>
        </p:nvPicPr>
        <p:blipFill>
          <a:blip r:embed="rId3"/>
          <a:stretch>
            <a:fillRect/>
          </a:stretch>
        </p:blipFill>
        <p:spPr>
          <a:xfrm>
            <a:off x="0" y="5641848"/>
            <a:ext cx="12191695" cy="12191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QA-Flow demo: planted defects, faults and gates</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675120" cy="3200400"/>
        </p:xfrm>
        <a:graphic>
          <a:graphicData uri="http://schemas.openxmlformats.org/drawingml/2006/table">
            <a:tbl>
              <a:tblPr/>
              <a:tblGrid>
                <a:gridCol w="32918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rPr>
                        <a:t>Planted defect (ShopLite)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Type</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300" b="1" dirty="0">
                          <a:solidFill>
                            <a:srgbClr val="FFFFFF"/>
                          </a:solidFill>
                        </a:rPr>
                        <a:t>Found by test(s)</a:t>
                      </a:r>
                      <a:endParaRPr lang="en-US" sz="13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1E2533"/>
                          </a:solidFill>
                        </a:rPr>
                        <a:t>SAVE10 subtracts €10 instead of 10 %</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web</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C8463D"/>
                          </a:solidFill>
                        </a:rPr>
                        <a:t>not found</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1E2533"/>
                          </a:solidFill>
                        </a:rPr>
                        <a:t>Unknown product → 500 instead of 404</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API</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TC-19.1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1E2533"/>
                          </a:solidFill>
                        </a:rPr>
                        <a:t>Quantity 0 / negative accepted</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API</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TC-09.2, TC-22.2, TC-24.2, TC-24.3, TC-25.1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384048">
                <a:tc>
                  <a:txBody>
                    <a:bodyPr/>
                    <a:lstStyle/>
                    <a:p>
                      <a:pPr marL="0" indent="0">
                        <a:buNone/>
                      </a:pPr>
                      <a:r>
                        <a:rPr lang="en-US" sz="1200" dirty="0">
                          <a:solidFill>
                            <a:srgbClr val="1E2533"/>
                          </a:solidFill>
                        </a:rPr>
                        <a:t>No Content-Security-Policy header</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TC-06.3, TC-29.1, TC-29.2, TC-30.1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200" dirty="0">
                          <a:solidFill>
                            <a:srgbClr val="1E2533"/>
                          </a:solidFill>
                        </a:rPr>
                        <a:t>Reflected XSS in search</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TC-06.3, TC-30.1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5"/>
                  </a:ext>
                </a:extLst>
              </a:tr>
              <a:tr h="384048">
                <a:tc>
                  <a:txBody>
                    <a:bodyPr/>
                    <a:lstStyle/>
                    <a:p>
                      <a:pPr marL="0" indent="0">
                        <a:buNone/>
                      </a:pPr>
                      <a:r>
                        <a:rPr lang="en-US" sz="1200" dirty="0">
                          <a:solidFill>
                            <a:srgbClr val="1E2533"/>
                          </a:solidFill>
                        </a:rPr>
                        <a:t>Login reveals registered emails</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200" dirty="0">
                          <a:solidFill>
                            <a:srgbClr val="1E2533"/>
                          </a:solidFill>
                        </a:rPr>
                        <a:t>TC-31.1, TC-32.1</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200" dirty="0">
                          <a:solidFill>
                            <a:srgbClr val="1E2533"/>
                          </a:solidFill>
                        </a:rPr>
                        <a:t>IDOR: other users' orders readable</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1E2533"/>
                          </a:solidFill>
                        </a:rPr>
                        <a:t>security</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200" dirty="0">
                          <a:solidFill>
                            <a:srgbClr val="C8463D"/>
                          </a:solidFill>
                        </a:rPr>
                        <a:t>not found</a:t>
                      </a:r>
                      <a:endParaRPr lang="en-US" sz="1200" dirty="0"/>
                    </a:p>
                  </a:txBody>
                  <a:tcPr marL="73152" marR="73152" marT="73152" marB="73152"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7"/>
                  </a:ext>
                </a:extLst>
              </a:tr>
            </a:tbl>
          </a:graphicData>
        </a:graphic>
      </p:graphicFrame>
      <p:sp>
        <p:nvSpPr>
          <p:cNvPr id="4" name="Shape 1"/>
          <p:cNvSpPr/>
          <p:nvPr/>
        </p:nvSpPr>
        <p:spPr>
          <a:xfrm>
            <a:off x="7498080" y="1325880"/>
            <a:ext cx="4142232" cy="4480560"/>
          </a:xfrm>
          <a:prstGeom prst="roundRect">
            <a:avLst>
              <a:gd name="adj" fmla="val 2649"/>
            </a:avLst>
          </a:prstGeom>
          <a:solidFill>
            <a:srgbClr val="F2F5F9"/>
          </a:solidFill>
          <a:ln w="12700">
            <a:solidFill>
              <a:srgbClr val="F2F5F9"/>
            </a:solidFill>
            <a:prstDash val="solid"/>
          </a:ln>
        </p:spPr>
        <p:txBody>
          <a:bodyPr/>
          <a:lstStyle/>
          <a:p>
            <a:endParaRPr lang="en-US"/>
          </a:p>
        </p:txBody>
      </p:sp>
      <p:sp>
        <p:nvSpPr>
          <p:cNvPr id="5" name="Text 2"/>
          <p:cNvSpPr txBox="1"/>
          <p:nvPr/>
        </p:nvSpPr>
        <p:spPr>
          <a:xfrm>
            <a:off x="7726680" y="1463040"/>
            <a:ext cx="3749040" cy="365760"/>
          </a:xfrm>
          <a:prstGeom prst="rect">
            <a:avLst/>
          </a:prstGeom>
          <a:noFill/>
          <a:ln/>
        </p:spPr>
        <p:txBody>
          <a:bodyPr wrap="square" lIns="0" tIns="0" rIns="0" bIns="0" rtlCol="0" anchor="t"/>
          <a:lstStyle/>
          <a:p>
            <a:pPr marL="0" indent="0">
              <a:buNone/>
            </a:pPr>
            <a:r>
              <a:rPr lang="en-US" sz="1600" b="1" dirty="0">
                <a:solidFill>
                  <a:srgbClr val="13213C"/>
                </a:solidFill>
                <a:latin typeface="Calibri" pitchFamily="34" charset="0"/>
                <a:ea typeface="Calibri" pitchFamily="34" charset="-122"/>
                <a:cs typeface="Calibri" pitchFamily="34" charset="-120"/>
              </a:rPr>
              <a:t>Run details</a:t>
            </a:r>
            <a:endParaRPr lang="en-US" sz="1600" dirty="0"/>
          </a:p>
        </p:txBody>
      </p:sp>
      <p:sp>
        <p:nvSpPr>
          <p:cNvPr id="6" name="Text 3"/>
          <p:cNvSpPr txBox="1"/>
          <p:nvPr/>
        </p:nvSpPr>
        <p:spPr>
          <a:xfrm>
            <a:off x="7726680" y="1874520"/>
            <a:ext cx="3749040" cy="38404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34 requirements, 62 tests (51 LLM-designed, 11 rule-derived)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Schema gate: 55 agent replies, 2 rejected, 0 repaired</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Grounding gate: 0 tests ungrounded → NEEDS REVIEW</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Fault gate: 13 broken builds; 13 passing tests never failed → NEEDS REVIEW</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Wrong tests among FAILs: TC-10.1, TC-11.1, TC-20.1, TC-27.1, TC-27.2, TC-28.1</a:t>
            </a:r>
            <a:endParaRPr lang="en-US" sz="1300" dirty="0"/>
          </a:p>
          <a:p>
            <a:pPr marL="177800" indent="-177800">
              <a:spcAft>
                <a:spcPts val="600"/>
              </a:spcAft>
              <a:buSzPct val="100000"/>
              <a:buChar char="•"/>
            </a:pPr>
            <a:r>
              <a:rPr lang="en-US" sz="1300" dirty="0">
                <a:solidFill>
                  <a:srgbClr val="1E2533"/>
                </a:solidFill>
                <a:latin typeface="Calibri" pitchFamily="34" charset="0"/>
                <a:ea typeface="Calibri" pitchFamily="34" charset="-122"/>
                <a:cs typeface="Calibri" pitchFamily="34" charset="-120"/>
              </a:rPr>
              <a:t>Total run time 23 min (gpt-5.6-luna)</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Threats to validity and mitigations</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572000"/>
        </p:xfrm>
        <a:graphic>
          <a:graphicData uri="http://schemas.openxmlformats.org/drawingml/2006/table">
            <a:tbl>
              <a:tblPr/>
              <a:tblGrid>
                <a:gridCol w="164592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4690872">
                  <a:extLst>
                    <a:ext uri="{9D8B030D-6E8A-4147-A177-3AD203B41FA5}">
                      <a16:colId xmlns:a16="http://schemas.microsoft.com/office/drawing/2014/main" val="20002"/>
                    </a:ext>
                  </a:extLst>
                </a:gridCol>
              </a:tblGrid>
              <a:tr h="914400">
                <a:tc>
                  <a:txBody>
                    <a:bodyPr/>
                    <a:lstStyle/>
                    <a:p>
                      <a:pPr marL="0" indent="0">
                        <a:buNone/>
                      </a:pPr>
                      <a:r>
                        <a:rPr lang="en-US" sz="1400" b="1" dirty="0">
                          <a:solidFill>
                            <a:srgbClr val="FFFFFF"/>
                          </a:solidFill>
                        </a:rPr>
                        <a:t>Threat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In the demos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tc>
                  <a:txBody>
                    <a:bodyPr/>
                    <a:lstStyle/>
                    <a:p>
                      <a:pPr marL="0" indent="0">
                        <a:buNone/>
                      </a:pPr>
                      <a:r>
                        <a:rPr lang="en-US" sz="1400" b="1" dirty="0">
                          <a:solidFill>
                            <a:srgbClr val="FFFFFF"/>
                          </a:solidFill>
                        </a:rPr>
                        <a:t>Mitigation in the PhD</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13213C"/>
                    </a:solidFill>
                  </a:tcPr>
                </a:tc>
                <a:extLst>
                  <a:ext uri="{0D108BD9-81ED-4DB2-BD59-A6C34878D82A}">
                    <a16:rowId xmlns:a16="http://schemas.microsoft.com/office/drawing/2014/main" val="10000"/>
                  </a:ext>
                </a:extLst>
              </a:tr>
              <a:tr h="914400">
                <a:tc>
                  <a:txBody>
                    <a:bodyPr/>
                    <a:lstStyle/>
                    <a:p>
                      <a:pPr marL="0" indent="0">
                        <a:buNone/>
                      </a:pPr>
                      <a:r>
                        <a:rPr lang="en-US" sz="1400" b="1" dirty="0">
                          <a:solidFill>
                            <a:srgbClr val="13213C"/>
                          </a:solidFill>
                        </a:rPr>
                        <a:t>Construct</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Wrong test = still fails after the planted defects are fixed; planted defects approximate real faults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Expert-validated oracles; real fault data from industrial partners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1"/>
                  </a:ext>
                </a:extLst>
              </a:tr>
              <a:tr h="914400">
                <a:tc>
                  <a:txBody>
                    <a:bodyPr/>
                    <a:lstStyle/>
                    <a:p>
                      <a:pPr marL="0" indent="0">
                        <a:buNone/>
                      </a:pPr>
                      <a:r>
                        <a:rPr lang="en-US" sz="1400" b="1" dirty="0">
                          <a:solidFill>
                            <a:srgbClr val="13213C"/>
                          </a:solidFill>
                        </a:rPr>
                        <a:t>Internal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Ground truth and prompts designed by me</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Independent labelling; several prompt variants; pre-registered designs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14400">
                <a:tc>
                  <a:txBody>
                    <a:bodyPr/>
                    <a:lstStyle/>
                    <a:p>
                      <a:pPr marL="0" indent="0">
                        <a:buNone/>
                      </a:pPr>
                      <a:r>
                        <a:rPr lang="en-US" sz="1400" b="1" dirty="0">
                          <a:solidFill>
                            <a:srgbClr val="13213C"/>
                          </a:solidFill>
                        </a:rPr>
                        <a:t>External</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One web shop, one AI model, 62 tests in one run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tc>
                  <a:txBody>
                    <a:bodyPr/>
                    <a:lstStyle/>
                    <a:p>
                      <a:pPr marL="0" indent="0">
                        <a:buNone/>
                      </a:pPr>
                      <a:r>
                        <a:rPr lang="en-US" sz="1400" dirty="0">
                          <a:solidFill>
                            <a:srgbClr val="1E2533"/>
                          </a:solidFill>
                        </a:rPr>
                        <a:t>Open-source ACPS, industrial cases, InnoGuard platform, open-weight models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2F5F9"/>
                    </a:solidFill>
                  </a:tcPr>
                </a:tc>
                <a:extLst>
                  <a:ext uri="{0D108BD9-81ED-4DB2-BD59-A6C34878D82A}">
                    <a16:rowId xmlns:a16="http://schemas.microsoft.com/office/drawing/2014/main" val="10003"/>
                  </a:ext>
                </a:extLst>
              </a:tr>
              <a:tr h="914400">
                <a:tc>
                  <a:txBody>
                    <a:bodyPr/>
                    <a:lstStyle/>
                    <a:p>
                      <a:pPr marL="0" indent="0">
                        <a:buNone/>
                      </a:pPr>
                      <a:r>
                        <a:rPr lang="en-US" sz="1400" b="1" dirty="0">
                          <a:solidFill>
                            <a:srgbClr val="13213C"/>
                          </a:solidFill>
                        </a:rPr>
                        <a:t>Conclusion</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6 wrong tests out of 18 FAILs: small numbers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tc>
                  <a:txBody>
                    <a:bodyPr/>
                    <a:lstStyle/>
                    <a:p>
                      <a:pPr marL="0" indent="0">
                        <a:buNone/>
                      </a:pPr>
                      <a:r>
                        <a:rPr lang="en-US" sz="1400" dirty="0">
                          <a:solidFill>
                            <a:srgbClr val="1E2533"/>
                          </a:solidFill>
                        </a:rPr>
                        <a:t>Repeated runs, larger benchmarks, effect sizes and confidence intervals</a:t>
                      </a:r>
                      <a:endParaRPr lang="en-US" sz="1400" dirty="0"/>
                    </a:p>
                  </a:txBody>
                  <a:tcPr marL="109728" marR="109728" marT="109728" marB="109728" anchor="ctr">
                    <a:lnL w="9525" cap="flat" cmpd="sng" algn="ctr">
                      <a:solidFill>
                        <a:srgbClr val="DDE3EC"/>
                      </a:solidFill>
                      <a:prstDash val="solid"/>
                      <a:round/>
                      <a:headEnd type="none" w="med" len="med"/>
                      <a:tailEnd type="none" w="med" len="med"/>
                    </a:lnL>
                    <a:lnR w="9525" cap="flat" cmpd="sng" algn="ctr">
                      <a:solidFill>
                        <a:srgbClr val="DDE3EC"/>
                      </a:solidFill>
                      <a:prstDash val="solid"/>
                      <a:round/>
                      <a:headEnd type="none" w="med" len="med"/>
                      <a:tailEnd type="none" w="med" len="med"/>
                    </a:lnR>
                    <a:lnT w="9525" cap="flat" cmpd="sng" algn="ctr">
                      <a:solidFill>
                        <a:srgbClr val="DDE3EC"/>
                      </a:solidFill>
                      <a:prstDash val="solid"/>
                      <a:round/>
                      <a:headEnd type="none" w="med" len="med"/>
                      <a:tailEnd type="none" w="med" len="med"/>
                    </a:lnT>
                    <a:lnB w="9525" cap="flat" cmpd="sng" algn="ctr">
                      <a:solidFill>
                        <a:srgbClr val="DD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Backup · Towards uncertainty of quantum ML models (O4)</a:t>
            </a:r>
            <a:endParaRPr lang="en-US" sz="3000" dirty="0"/>
          </a:p>
        </p:txBody>
      </p:sp>
      <p:sp>
        <p:nvSpPr>
          <p:cNvPr id="3" name="Text 1"/>
          <p:cNvSpPr txBox="1"/>
          <p:nvPr/>
        </p:nvSpPr>
        <p:spPr>
          <a:xfrm>
            <a:off x="548640" y="1371600"/>
            <a:ext cx="6766560" cy="4023360"/>
          </a:xfrm>
          <a:prstGeom prst="rect">
            <a:avLst/>
          </a:prstGeom>
          <a:noFill/>
          <a:ln/>
        </p:spPr>
        <p:txBody>
          <a:bodyPr wrap="square" lIns="0" tIns="0" rIns="0" bIns="0" rtlCol="0" anchor="t"/>
          <a:lstStyle/>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Starting point: </a:t>
            </a:r>
            <a:r>
              <a:rPr lang="en-US" sz="1600" dirty="0">
                <a:solidFill>
                  <a:srgbClr val="1E2533"/>
                </a:solidFill>
                <a:latin typeface="Calibri" pitchFamily="34" charset="0"/>
                <a:ea typeface="Calibri" pitchFamily="34" charset="-122"/>
                <a:cs typeface="Calibri" pitchFamily="34" charset="-120"/>
              </a:rPr>
              <a:t>QML is already used for test oracles of autonomous mobile robots and QoS prediction of elevator software [20, 21]</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Sources of uncertainty: </a:t>
            </a:r>
            <a:r>
              <a:rPr lang="en-US" sz="1600" dirty="0">
                <a:solidFill>
                  <a:srgbClr val="1E2533"/>
                </a:solidFill>
                <a:latin typeface="Calibri" pitchFamily="34" charset="0"/>
                <a:ea typeface="Calibri" pitchFamily="34" charset="-122"/>
                <a:cs typeface="Calibri" pitchFamily="34" charset="-120"/>
              </a:rPr>
              <a:t>shot noise, hardware noise and model (epistemic) uncertainty add to data uncertainty</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Transfer test: </a:t>
            </a:r>
            <a:r>
              <a:rPr lang="en-US" sz="1600" dirty="0">
                <a:solidFill>
                  <a:srgbClr val="1E2533"/>
                </a:solidFill>
                <a:latin typeface="Calibri" pitchFamily="34" charset="0"/>
                <a:ea typeface="Calibri" pitchFamily="34" charset="-122"/>
                <a:cs typeface="Calibri" pitchFamily="34" charset="-120"/>
              </a:rPr>
              <a:t>do sampling-based metrics still predict wrong oracle verdicts when the model is quantum? Repeated shots are natural samples</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Coverage &amp; mutation for quantum programs </a:t>
            </a:r>
            <a:r>
              <a:rPr lang="en-US" sz="1600" dirty="0">
                <a:solidFill>
                  <a:srgbClr val="1E2533"/>
                </a:solidFill>
                <a:latin typeface="Calibri" pitchFamily="34" charset="0"/>
                <a:ea typeface="Calibri" pitchFamily="34" charset="-122"/>
                <a:cs typeface="Calibri" pitchFamily="34" charset="-120"/>
              </a:rPr>
              <a:t>as ground-truth tools [19]</a:t>
            </a:r>
            <a:endParaRPr lang="en-US" sz="1600" dirty="0"/>
          </a:p>
          <a:p>
            <a:pPr marL="177800" indent="-177800">
              <a:buSzPct val="100000"/>
              <a:buChar char="•"/>
            </a:pPr>
            <a:r>
              <a:rPr lang="en-US" sz="1600" b="1" dirty="0">
                <a:solidFill>
                  <a:srgbClr val="1E2533"/>
                </a:solidFill>
                <a:latin typeface="Calibri" pitchFamily="34" charset="0"/>
                <a:ea typeface="Calibri" pitchFamily="34" charset="-122"/>
                <a:cs typeface="Calibri" pitchFamily="34" charset="-120"/>
              </a:rPr>
              <a:t>Road map: </a:t>
            </a:r>
            <a:r>
              <a:rPr lang="en-US" sz="1600" dirty="0">
                <a:solidFill>
                  <a:srgbClr val="1E2533"/>
                </a:solidFill>
                <a:latin typeface="Calibri" pitchFamily="34" charset="0"/>
                <a:ea typeface="Calibri" pitchFamily="34" charset="-122"/>
                <a:cs typeface="Calibri" pitchFamily="34" charset="-120"/>
              </a:rPr>
              <a:t>quantum AI for software engineering [22]</a:t>
            </a:r>
            <a:endParaRPr lang="en-US" sz="1600" dirty="0"/>
          </a:p>
        </p:txBody>
      </p:sp>
      <p:sp>
        <p:nvSpPr>
          <p:cNvPr id="4" name="Shape 2"/>
          <p:cNvSpPr/>
          <p:nvPr/>
        </p:nvSpPr>
        <p:spPr>
          <a:xfrm>
            <a:off x="8595360" y="1920240"/>
            <a:ext cx="2194560" cy="2194560"/>
          </a:xfrm>
          <a:prstGeom prst="ellipse">
            <a:avLst/>
          </a:prstGeom>
          <a:solidFill>
            <a:srgbClr val="6E56CF"/>
          </a:solidFill>
          <a:ln w="12700">
            <a:solidFill>
              <a:srgbClr val="6E56CF"/>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9144000" y="2468880"/>
            <a:ext cx="1097280" cy="1097280"/>
          </a:xfrm>
          <a:prstGeom prst="rect">
            <a:avLst/>
          </a:prstGeom>
        </p:spPr>
      </p:pic>
      <p:sp>
        <p:nvSpPr>
          <p:cNvPr id="6" name="Text 3"/>
          <p:cNvSpPr txBox="1"/>
          <p:nvPr/>
        </p:nvSpPr>
        <p:spPr>
          <a:xfrm>
            <a:off x="548640" y="5577840"/>
            <a:ext cx="11094415" cy="850392"/>
          </a:xfrm>
          <a:prstGeom prst="rect">
            <a:avLst/>
          </a:prstGeom>
          <a:noFill/>
          <a:ln/>
        </p:spPr>
        <p:txBody>
          <a:bodyPr wrap="square" lIns="0" tIns="0" rIns="0" bIns="0" rtlCol="0" anchor="b"/>
          <a:lstStyle/>
          <a:p>
            <a:pPr marL="0" indent="0">
              <a:buNone/>
            </a:pPr>
            <a:r>
              <a:rPr lang="en-US" sz="900" dirty="0">
                <a:solidFill>
                  <a:srgbClr val="5B6578"/>
                </a:solidFill>
                <a:latin typeface="Calibri" pitchFamily="34" charset="0"/>
                <a:ea typeface="Calibri" pitchFamily="34" charset="-122"/>
                <a:cs typeface="Calibri" pitchFamily="34" charset="-120"/>
              </a:rPr>
              <a:t>[19] S. Ali et al., “Assessing the effectiveness of input and output coverage criteria for testing quantum programs,” Proc. IEEE ICST, 2021.</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[20] X. Wang et al., “Quantum machine learning-based test oracle for autonomous mobile robots,” Proc. IEEE/ACM ASE, 2025.</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[21] X. Wang et al., “Application of quantum extreme learning machines for QoS prediction of elevators' software in an industrial context,” Companion Proc. ACM FSE, 2024.</a:t>
            </a:r>
            <a:endParaRPr lang="en-US" sz="900" dirty="0"/>
          </a:p>
          <a:p>
            <a:pPr marL="0" indent="0">
              <a:buNone/>
            </a:pPr>
            <a:r>
              <a:rPr lang="en-US" sz="900" dirty="0">
                <a:solidFill>
                  <a:srgbClr val="5B6578"/>
                </a:solidFill>
                <a:latin typeface="Calibri" pitchFamily="34" charset="0"/>
                <a:ea typeface="Calibri" pitchFamily="34" charset="-122"/>
                <a:cs typeface="Calibri" pitchFamily="34" charset="-120"/>
              </a:rPr>
              <a:t>[22] X. Wang et al., “Quantum artificial intelligence for software engineering: The road ahead,” ACM TOSEM, 2026.</a:t>
            </a:r>
            <a:endParaRPr lang="en-US" sz="9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References (1/2)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 M. Zhang, S. Ali, and T. Yue, "Uncertainty-wise test case generation and minimization for cyber-physical systems," J. Syst. Softw., vol. 153, pp. 1–21, 2019, doi: 10.1016/j.jss.2019.03.011.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 M. Zhang, S. Ali, T. Yue, R. Norgren, and O. Okariz, "Uncertainty-wise cyber-physical system test modeling," Softw. Syst. Model., vol. 18, no. 2, pp. 1379–1418, 2019, doi: 10.1007/s10270-017-0609-6.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 M. Zhang, B. Selic, S. Ali, T. Yue, O. Okariz, and R. Norgren, "Understanding uncertainty in cyber-physical systems: A conceptual model," in Proc. ECMFA, LNCS 9764, 2016, pp. 247–264, doi: 10.1007/978-3-319-42061-5_16.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[4] F. O. Catak, T. Yue, and S. Ali, "Uncertainty-aware prediction validator in deep learning models for cyber-physical system data," ACM TOSEM, vol. 31, no. 4, pp. 1–31, 2022, doi: 10.1145/3527451.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[5] L. Han, S. Ali, T. Yue, A. Arrieta, and M. Arratibel, "Uncertainty-aware robustness assessment of industrial elevator systems," ACM TOSEM, vol. 32, no. 4, pp. 1–51, 2023, doi: 10.1145/3576041.</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[6] P. Valle, A. Arrieta, L. Han, S. Ali, and T. Yue, "Defining and generating multi-level and uncertainty-wise test oracles for cyber-physical systems," Softw. Syst. Model., vol. 24, no. 3, pp. 679–704, 2025, doi: 10.1007/s10270-025-01271-8.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[7] P. Valle, C. Lu, S. Ali, and A. Arrieta, "Evaluating uncertainty and quality of vision-language-action-enabled robots," arXiv:2507.17049, 2025.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[8] J. Wu, C. Lu, A. Arrieta, T. Yue, and S. Ali, "Reality bites: Assessing the realism of driving scenarios with large language models," in Proc. IEEE/ACM FORGE, 2024, pp. 40–51, doi: 10.1145/3650105.3652296.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[9] H. Sartaj, J. Boudjadar, M. Frasheri, S. Ali, and P. G. Larsen, "Identifying uncertainty in self-adaptive robotics with large language models," IEEE Softw., vol. 43, no. 1, pp. 89–97, 2026, doi: 10.1109/MS.2025.3620578.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[10] C. Lu, P. Valle, J. Wu, E. Isaku, H. Sartaj, A. Arrieta, and S. Ali, "Foundation models for software engineering of cyber-physical systems: The road ahead," ACM TOSEM, vol. 35, no. 9, pp. 1–58, 2026, doi: 10.1145/3830403.</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[11] S. Ali, P. Arcaini, and A. Arrieta, "Foundation models for the digital twins creation of cyber-physical systems," in Proc. ISoLA 2024, LNCS, Springer, 2025, pp. 9–26, doi: 10.1007/978-3-031-75390-9_2.</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[12] A. Calò, P. Arcaini, S. Ali, F. Hauer, and F. Ishikawa, "Generating avoidable collision scenarios for testing autonomous driving systems," in Proc. IEEE ICST, 2020, pp. 375–386, doi: 10.1109/ICST46399.2020.00045.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[13] T. Laurent, S. Klikovits, P. Arcaini, F. Ishikawa, and A. Ventresque, "Parameter coverage for testing of autonomous driving systems under uncertainty," ACM TOSEM, vol. 32, no. 3, pp. 1–31, 2023, doi: 10.1145/3550270.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[14] Z. Zhang, D. Lyu, P. Arcaini, L. Ma, I. Hasuo, and J. Zhao, "FalsifAI: Falsification of AI-enabled hybrid control systems guided by time-aware coverage criteria," IEEE TSE, vol. 49, no. 4, pp. 1842–1859, 2023, doi: 10.1109/TSE.2022.3194640.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[15] Z. Zhang, D. Lyu, P. Arcaini, L. Ma, I. Hasuo, and J. Zhao, "Effective hybrid system falsification using Monte Carlo tree search guided by QB-robustness," in Proc. CAV, LNCS, 2021, pp. 595–618, doi: 10.1007/978-3-030-81685-8_29.</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[16] A. Arrieta, J. Ayerdi, M. Illarramendi, A. Agirre, G. Sagardui, and M. Arratibel, "Using machine learning to build test oracles: An industrial case study on elevators dispatching algorithms," in Proc. IEEE/ACM AST, 2021, pp. 30–39, doi: 10.1109/AST52587.2021.00012.</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000" b="1" dirty="0">
                <a:solidFill>
                  <a:srgbClr val="13213C"/>
                </a:solidFill>
                <a:latin typeface="Cambria" pitchFamily="34" charset="0"/>
                <a:ea typeface="Cambria" pitchFamily="34" charset="-122"/>
                <a:cs typeface="Cambria" pitchFamily="34" charset="-120"/>
              </a:rPr>
              <a:t>References (2/2)</a:t>
            </a:r>
            <a:endParaRPr lang="en-US" sz="3000" dirty="0"/>
          </a:p>
        </p:txBody>
      </p:sp>
      <p:sp>
        <p:nvSpPr>
          <p:cNvPr id="3" name="Text 1"/>
          <p:cNvSpPr txBox="1"/>
          <p:nvPr/>
        </p:nvSpPr>
        <p:spPr>
          <a:xfrm>
            <a:off x="548640" y="1234440"/>
            <a:ext cx="11094415" cy="5074920"/>
          </a:xfrm>
          <a:prstGeom prst="rect">
            <a:avLst/>
          </a:prstGeom>
          <a:noFill/>
          <a:ln/>
        </p:spPr>
        <p:txBody>
          <a:bodyPr wrap="square" lIns="0" tIns="0" rIns="0" bIns="0" rtlCol="0" anchor="t"/>
          <a:lstStyle/>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[17] J. Ayerdi, V. Terragni, A. Arrieta, P. Tonella, G. Sagardui, and M. Arratibel, "Generating metamorphic relations for cyber-physical systems with genetic programming: An industrial case study," in Proc. ESEC/FSE, 2021, pp. 1264–1274, doi: 10.1145/3468264.3473920.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[18] A. Arrieta, P. Valle, J. A. Agirre, and G. Sagardui, "Some seeds are strong: Seeding strategies for search-based test case selection," ACM TOSEM, vol. 32, no. 1, pp. 1–47, 2023, doi: 10.1145/3532182.</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[19] S. Ali, P. Arcaini, X. Wang, and T. Yue, "Assessing the effectiveness of input and output coverage criteria for testing quantum programs," in Proc. IEEE ICST, 2021, pp. 13–23, doi: 10.1109/ICST49551.2021.00014.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[20] X. Wang, Q. Xu, P. Arcaini, S. Ali, and T. Peyrucain, "Quantum machine learning-based test oracle for autonomous mobile robots," in Proc. IEEE/ACM ASE, 2025, pp. 3695–3706, doi: 10.1109/ASE63991.2025.00306.</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[21] X. Wang, S. Ali, A. Arrieta, P. Arcaini, and M. Arratibel, "Application of quantum extreme learning machines for QoS prediction of elevators' software in an industrial context," in Companion Proc. ACM FSE, 2024, pp. 399–410, doi: 10.1145/3663529.3663859.</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[22] X. Wang, S. Ali, and P. Arcaini, "Quantum artificial intelligence for software engineering: The road ahead," ACM TOSEM, vol. 35, no. 9, pp. 1–42, 2026, doi: 10.1145/3827610.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[23] L. Kuhn, Y. Gal, and S. Farquhar, "Semantic uncertainty: Linguistic invariances for uncertainty estimation in natural language generation," in Proc. ICLR, 2023. arXiv:2302.09664.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[24] S. Farquhar, J. Kossen, L. Kuhn, and Y. Gal, "Detecting hallucinations in large language models using semantic entropy," Nature, vol. 630, no. 8017, pp. 625–630, 2024, doi: 10.1038/s41586-024-07421-0.</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[25] P. Manakul, A. Liusie, and M. J. F. Gales, "SelfCheckGPT: Zero-resource black-box hallucination detection for generative large language models," in Proc. EMNLP, 2023, pp. 9004–9017, doi: 10.18653/v1/2023.emnlp-main.557.</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[26] Y. Huang, J. Song, Z. Wang, S. Zhao, H. Chen, F. Juefei-Xu, and L. Ma, "Look before you leap: An exploratory study of uncertainty analysis for large language models," IEEE TSE, vol. 51, no. 2, pp. 413–429, 2025, doi: 10.1109/TSE.2024.3519464.</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[27] J. Wang, Y. Huang, C. Chen, Z. Liu, S. Wang, and Q. Wang, "Software testing with large language models: Survey, landscape, and vision," IEEE TSE, vol. 50, no. 4, pp. 911–936, 2024, doi: 10.1109/TSE.2024.3368208.</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[28] M. Weiss and P. Tonella, "Fail-safe execution of deep learning based systems through uncertainty monitoring," in Proc. IEEE ICST, 2021, pp. 24–35, doi: 10.1109/ICST49551.2021.00015.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[29] E. Leurent, "An environment for autonomous driving decision-making," GitHub repository, 2018. https://github.com/Farama-Foundation/HighwayEnv</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[30] InnoGuard: Hybrid and Generative Intelligence for Trustworthy Autonomous Cyber-Physical Systems, Horizon Europe MSCA Doctoral Network, GA No. 101169233, 2024–2028. https://cordis.europa.eu/project/id/101169233</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[31] Z. V. Le, S. Hong, and Y. Choi, "Performance of test generation techniques on property checking: A case study," Korea Congress of Computing (KCC), 2025.</a:t>
            </a:r>
            <a:endParaRPr lang="en-US" sz="1000" dirty="0"/>
          </a:p>
          <a:p>
            <a:pPr marL="0" indent="0">
              <a:spcAft>
                <a:spcPts val="300"/>
              </a:spcAft>
              <a:buNone/>
            </a:pPr>
            <a:r>
              <a:rPr lang="en-US" sz="1000" dirty="0">
                <a:solidFill>
                  <a:srgbClr val="1E2533"/>
                </a:solidFill>
                <a:latin typeface="Calibri" pitchFamily="34" charset="0"/>
                <a:ea typeface="Calibri" pitchFamily="34" charset="-122"/>
                <a:cs typeface="Calibri" pitchFamily="34" charset="-120"/>
              </a:rPr>
              <a:t>[32] Z. V. Le, S. Hong, and Y. Choi, "Stateful system, stateless techniques: Initial assessment on test generation for property checking of controller software," Korea Conference on Software Engineering (KCSE), 2026.</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578"/>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theme/theme1.xml><?xml version="1.0" encoding="utf-8"?>
<a:theme xmlns:a="http://schemas.openxmlformats.org/drawingml/2006/main" name="InnoGuard Interview">
  <a:themeElements>
    <a:clrScheme name="InnoGuard Interview">
      <a:dk1>
        <a:srgbClr val="1E2533"/>
      </a:dk1>
      <a:lt1>
        <a:srgbClr val="FFFFFF"/>
      </a:lt1>
      <a:dk2>
        <a:srgbClr val="13213C"/>
      </a:dk2>
      <a:lt2>
        <a:srgbClr val="F2F5F9"/>
      </a:lt2>
      <a:accent1>
        <a:srgbClr val="0F8B8D"/>
      </a:accent1>
      <a:accent2>
        <a:srgbClr val="E39B2D"/>
      </a:accent2>
      <a:accent3>
        <a:srgbClr val="C8463D"/>
      </a:accent3>
      <a:accent4>
        <a:srgbClr val="3567C8"/>
      </a:accent4>
      <a:accent5>
        <a:srgbClr val="6E56CF"/>
      </a:accent5>
      <a:accent6>
        <a:srgbClr val="2E8B57"/>
      </a:accent6>
      <a:hlink>
        <a:srgbClr val="3567C8"/>
      </a:hlink>
      <a:folHlink>
        <a:srgbClr val="6E56CF"/>
      </a:folHlink>
    </a:clrScheme>
    <a:fontScheme name="InnoGuard Inter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6269</Words>
  <Application>Microsoft Office PowerPoint</Application>
  <PresentationFormat>Widescreen</PresentationFormat>
  <Paragraphs>395</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InnoGuard Interview</vt:lpstr>
      <vt:lpstr>When can we trust AI-generated tests? Uncertainty quantification for risk-based testing of autonomous CPS</vt:lpstr>
      <vt:lpstr>Turning specifications into tests by hand does not scale</vt:lpstr>
      <vt:lpstr>QA-Flow: From a requirements document to test report</vt:lpstr>
      <vt:lpstr>It finds the bugs — but 6 of its 18 FAILs are wrong tests</vt:lpstr>
      <vt:lpstr>Inside one wrong test: the SAVE10 discount code</vt:lpstr>
      <vt:lpstr>The rules check the form of a test, not its meaning</vt:lpstr>
      <vt:lpstr>When can we trust an AI-generated test?</vt:lpstr>
      <vt:lpstr>The position's four objectives, as research questions</vt:lpstr>
      <vt:lpstr>What Demo 1 cannot do yet becomes the research agenda</vt:lpstr>
      <vt:lpstr>Research questions and how I will answer them</vt:lpstr>
      <vt:lpstr>36-month plan with secondment and publications</vt:lpstr>
      <vt:lpstr>Expected contributions to InnoGuard</vt:lpstr>
      <vt:lpstr>From automotive test benches to AI-driven testing</vt:lpstr>
      <vt:lpstr>What I bring, and why this team</vt:lpstr>
      <vt:lpstr>Thank you</vt:lpstr>
      <vt:lpstr>Backup · QA-Flow demo: planted defects, faults and gates</vt:lpstr>
      <vt:lpstr>Backup · Threats to validity and mitigations</vt:lpstr>
      <vt:lpstr>Backup · Towards uncertainty of quantum ML models (O4)</vt:lpstr>
      <vt:lpstr>References (1/2)</vt:lpstr>
      <vt:lpstr>References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can we trust AI-generated tests? PhD research proposal</dc:title>
  <dc:subject>PptxGenJS Presentation</dc:subject>
  <dc:creator>Za Vinh Le</dc:creator>
  <cp:lastModifiedBy>Henry Le</cp:lastModifiedBy>
  <cp:revision>4</cp:revision>
  <dcterms:created xsi:type="dcterms:W3CDTF">2026-10-27T13:53:07Z</dcterms:created>
  <dcterms:modified xsi:type="dcterms:W3CDTF">2026-10-27T14:14:35Z</dcterms:modified>
</cp:coreProperties>
</file>
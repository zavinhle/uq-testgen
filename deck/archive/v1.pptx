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91" r:id="rId3"/>
    <p:sldId id="260" r:id="rId4"/>
    <p:sldId id="281" r:id="rId5"/>
    <p:sldId id="282" r:id="rId6"/>
    <p:sldId id="263" r:id="rId7"/>
    <p:sldId id="283" r:id="rId8"/>
    <p:sldId id="284" r:id="rId9"/>
    <p:sldId id="266" r:id="rId10"/>
    <p:sldId id="267" r:id="rId11"/>
    <p:sldId id="268" r:id="rId12"/>
    <p:sldId id="269" r:id="rId13"/>
    <p:sldId id="270" r:id="rId14"/>
    <p:sldId id="285" r:id="rId15"/>
    <p:sldId id="272" r:id="rId16"/>
    <p:sldId id="286" r:id="rId17"/>
    <p:sldId id="274" r:id="rId18"/>
    <p:sldId id="257" r:id="rId19"/>
    <p:sldId id="287" r:id="rId20"/>
    <p:sldId id="275" r:id="rId21"/>
    <p:sldId id="276" r:id="rId22"/>
    <p:sldId id="288"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48272FB-216D-E317-1B84-D4FCCF81914E}">
          <p14:sldIdLst>
            <p14:sldId id="256"/>
            <p14:sldId id="291"/>
            <p14:sldId id="260"/>
            <p14:sldId id="281"/>
            <p14:sldId id="282"/>
          </p14:sldIdLst>
        </p14:section>
        <p14:section name="Prototype" id="{58CE1AC8-0011-1B9C-4A87-D4BA97549BD7}">
          <p14:sldIdLst>
            <p14:sldId id="263"/>
            <p14:sldId id="283"/>
            <p14:sldId id="284"/>
            <p14:sldId id="266"/>
            <p14:sldId id="267"/>
            <p14:sldId id="268"/>
            <p14:sldId id="269"/>
            <p14:sldId id="270"/>
            <p14:sldId id="285"/>
            <p14:sldId id="272"/>
            <p14:sldId id="286"/>
            <p14:sldId id="274"/>
            <p14:sldId id="257"/>
            <p14:sldId id="287"/>
          </p14:sldIdLst>
        </p14:section>
        <p14:section name="Backup" id="{6DAB06F9-9983-1457-8AC4-5853A99829C2}">
          <p14:sldIdLst>
            <p14:sldId id="275"/>
            <p14:sldId id="276"/>
            <p14:sldId id="288"/>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24" autoAdjust="0"/>
    <p:restoredTop sz="94610"/>
  </p:normalViewPr>
  <p:slideViewPr>
    <p:cSldViewPr snapToGrid="0" snapToObjects="1">
      <p:cViewPr varScale="1">
        <p:scale>
          <a:sx n="71" d="100"/>
          <a:sy n="71" d="100"/>
        </p:scale>
        <p:origin x="60" y="7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AUROC for detecting incorrect tests (0.5 = random)</a:t>
            </a:r>
          </a:p>
        </c:rich>
      </c:tx>
      <c:overlay val="0"/>
    </c:title>
    <c:autoTitleDeleted val="0"/>
    <c:plotArea>
      <c:layout/>
      <c:barChart>
        <c:barDir val="col"/>
        <c:grouping val="clustered"/>
        <c:varyColors val="0"/>
        <c:ser>
          <c:idx val="0"/>
          <c:order val="0"/>
          <c:tx>
            <c:strRef>
              <c:f>Sheet1!$B$1</c:f>
              <c:strCache>
                <c:ptCount val="1"/>
                <c:pt idx="0">
                  <c:v>All tests (pooled)</c:v>
                </c:pt>
              </c:strCache>
            </c:strRef>
          </c:tx>
          <c:spPr>
            <a:solidFill>
              <a:srgbClr val="0F8B8D"/>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Sheet1!$B$2:$B$6</c:f>
              <c:numCache>
                <c:formatCode>General</c:formatCode>
                <c:ptCount val="5"/>
                <c:pt idx="0">
                  <c:v>0.74</c:v>
                </c:pt>
                <c:pt idx="1">
                  <c:v>0.67</c:v>
                </c:pt>
                <c:pt idx="2">
                  <c:v>0.9</c:v>
                </c:pt>
                <c:pt idx="3">
                  <c:v>0.46</c:v>
                </c:pt>
                <c:pt idx="4">
                  <c:v>0.89</c:v>
                </c:pt>
              </c:numCache>
            </c:numRef>
          </c:val>
          <c:extLst>
            <c:ext xmlns:c16="http://schemas.microsoft.com/office/drawing/2014/chart" uri="{C3380CC4-5D6E-409C-BE32-E72D297353CC}">
              <c16:uniqueId val="{00000000-B4B9-4E2D-8BAA-2AEB490CF4D9}"/>
            </c:ext>
          </c:extLst>
        </c:ser>
        <c:ser>
          <c:idx val="1"/>
          <c:order val="1"/>
          <c:tx>
            <c:strRef>
              <c:f>Sheet1!$C$1</c:f>
              <c:strCache>
                <c:ptCount val="1"/>
                <c:pt idx="0">
                  <c:v>Within one requirement × model</c:v>
                </c:pt>
              </c:strCache>
            </c:strRef>
          </c:tx>
          <c:spPr>
            <a:solidFill>
              <a:srgbClr val="CFE3F1"/>
            </a:solidFill>
            <a:effectLst/>
          </c:spPr>
          <c:invertIfNegative val="0"/>
          <c:dLbls>
            <c:numFmt formatCode="0.00" sourceLinked="0"/>
            <c:spPr>
              <a:noFill/>
              <a:ln>
                <a:noFill/>
              </a:ln>
              <a:effectLst/>
            </c:spPr>
            <c:txPr>
              <a:bodyPr/>
              <a:lstStyle/>
              <a:p>
                <a:pPr>
                  <a:defRPr sz="11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Verbalised conf.</c:v>
                </c:pt>
                <c:pt idx="1">
                  <c:v>Structural</c:v>
                </c:pt>
                <c:pt idx="2">
                  <c:v>Behavioural</c:v>
                </c:pt>
                <c:pt idx="3">
                  <c:v>Oracle disagr.</c:v>
                </c:pt>
                <c:pt idx="4">
                  <c:v>Combined</c:v>
                </c:pt>
              </c:strCache>
            </c:strRef>
          </c:cat>
          <c:val>
            <c:numRef>
              <c:f>Sheet1!$C$2:$C$6</c:f>
              <c:numCache>
                <c:formatCode>General</c:formatCode>
                <c:ptCount val="5"/>
                <c:pt idx="0">
                  <c:v>0.62</c:v>
                </c:pt>
                <c:pt idx="1">
                  <c:v>0.55000000000000004</c:v>
                </c:pt>
                <c:pt idx="2">
                  <c:v>0.71</c:v>
                </c:pt>
                <c:pt idx="3">
                  <c:v>0.49</c:v>
                </c:pt>
                <c:pt idx="4">
                  <c:v>0.71</c:v>
                </c:pt>
              </c:numCache>
            </c:numRef>
          </c:val>
          <c:extLst>
            <c:ext xmlns:c16="http://schemas.microsoft.com/office/drawing/2014/chart" uri="{C3380CC4-5D6E-409C-BE32-E72D297353CC}">
              <c16:uniqueId val="{00000001-B4B9-4E2D-8BAA-2AEB490CF4D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1E25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0" i="0" u="none" strike="noStrike">
                <a:solidFill>
                  <a:srgbClr val="13213C"/>
                </a:solidFill>
                <a:latin typeface="+mn-lt"/>
              </a:defRPr>
            </a:pPr>
            <a:r>
              <a:rPr lang="en-US" sz="1400" b="0" i="0" u="none" strike="noStrike">
                <a:solidFill>
                  <a:srgbClr val="13213C"/>
                </a:solidFill>
                <a:latin typeface="+mn-lt"/>
              </a:rPr>
              <a:t>Accept the least uncertain tests first</a:t>
            </a:r>
          </a:p>
        </c:rich>
      </c:tx>
      <c:overlay val="0"/>
    </c:title>
    <c:autoTitleDeleted val="0"/>
    <c:plotArea>
      <c:layout/>
      <c:scatterChart>
        <c:scatterStyle val="lineMarker"/>
        <c:varyColors val="0"/>
        <c:ser>
          <c:idx val="0"/>
          <c:order val="0"/>
          <c:tx>
            <c:strRef>
              <c:f>Sheet1!$B$1</c:f>
              <c:strCache>
                <c:ptCount val="1"/>
                <c:pt idx="0">
                  <c:v>Combined uncertainty</c:v>
                </c:pt>
              </c:strCache>
            </c:strRef>
          </c:tx>
          <c:spPr>
            <a:ln w="31750" cap="flat">
              <a:solidFill>
                <a:srgbClr val="0F8B8D"/>
              </a:solidFill>
              <a:prstDash val="solid"/>
              <a:round/>
            </a:ln>
            <a:effectLst/>
          </c:spPr>
          <c:marker>
            <c:symbol val="none"/>
          </c:marker>
          <c:xVal>
            <c:numRef>
              <c:f>Sheet1!$A$2:$A$72</c:f>
              <c:numCache>
                <c:formatCode>General</c:formatCode>
                <c:ptCount val="71"/>
                <c:pt idx="0">
                  <c:v>5.0000000000000001E-3</c:v>
                </c:pt>
                <c:pt idx="1">
                  <c:v>1.9E-2</c:v>
                </c:pt>
                <c:pt idx="2">
                  <c:v>3.3000000000000002E-2</c:v>
                </c:pt>
                <c:pt idx="3">
                  <c:v>4.8000000000000001E-2</c:v>
                </c:pt>
                <c:pt idx="4">
                  <c:v>6.2E-2</c:v>
                </c:pt>
                <c:pt idx="5">
                  <c:v>7.5999999999999998E-2</c:v>
                </c:pt>
                <c:pt idx="6">
                  <c:v>0.09</c:v>
                </c:pt>
                <c:pt idx="7">
                  <c:v>0.105</c:v>
                </c:pt>
                <c:pt idx="8">
                  <c:v>0.11899999999999999</c:v>
                </c:pt>
                <c:pt idx="9">
                  <c:v>0.13300000000000001</c:v>
                </c:pt>
                <c:pt idx="10">
                  <c:v>0.14799999999999999</c:v>
                </c:pt>
                <c:pt idx="11">
                  <c:v>0.16200000000000001</c:v>
                </c:pt>
                <c:pt idx="12">
                  <c:v>0.17599999999999999</c:v>
                </c:pt>
                <c:pt idx="13">
                  <c:v>0.19</c:v>
                </c:pt>
                <c:pt idx="14">
                  <c:v>0.20499999999999999</c:v>
                </c:pt>
                <c:pt idx="15">
                  <c:v>0.219</c:v>
                </c:pt>
                <c:pt idx="16">
                  <c:v>0.23300000000000001</c:v>
                </c:pt>
                <c:pt idx="17">
                  <c:v>0.248</c:v>
                </c:pt>
                <c:pt idx="18">
                  <c:v>0.26200000000000001</c:v>
                </c:pt>
                <c:pt idx="19">
                  <c:v>0.27600000000000002</c:v>
                </c:pt>
                <c:pt idx="20">
                  <c:v>0.28999999999999998</c:v>
                </c:pt>
                <c:pt idx="21">
                  <c:v>0.30499999999999999</c:v>
                </c:pt>
                <c:pt idx="22">
                  <c:v>0.31900000000000001</c:v>
                </c:pt>
                <c:pt idx="23">
                  <c:v>0.33300000000000002</c:v>
                </c:pt>
                <c:pt idx="24">
                  <c:v>0.34799999999999998</c:v>
                </c:pt>
                <c:pt idx="25">
                  <c:v>0.36199999999999999</c:v>
                </c:pt>
                <c:pt idx="26">
                  <c:v>0.376</c:v>
                </c:pt>
                <c:pt idx="27">
                  <c:v>0.39</c:v>
                </c:pt>
                <c:pt idx="28">
                  <c:v>0.40500000000000003</c:v>
                </c:pt>
                <c:pt idx="29">
                  <c:v>0.41899999999999998</c:v>
                </c:pt>
                <c:pt idx="30">
                  <c:v>0.433</c:v>
                </c:pt>
                <c:pt idx="31">
                  <c:v>0.44800000000000001</c:v>
                </c:pt>
                <c:pt idx="32">
                  <c:v>0.46200000000000002</c:v>
                </c:pt>
                <c:pt idx="33">
                  <c:v>0.47599999999999998</c:v>
                </c:pt>
                <c:pt idx="34">
                  <c:v>0.49</c:v>
                </c:pt>
                <c:pt idx="35">
                  <c:v>0.505</c:v>
                </c:pt>
                <c:pt idx="36">
                  <c:v>0.51900000000000002</c:v>
                </c:pt>
                <c:pt idx="37">
                  <c:v>0.53300000000000003</c:v>
                </c:pt>
                <c:pt idx="38">
                  <c:v>0.54800000000000004</c:v>
                </c:pt>
                <c:pt idx="39">
                  <c:v>0.56200000000000006</c:v>
                </c:pt>
                <c:pt idx="40">
                  <c:v>0.57599999999999996</c:v>
                </c:pt>
                <c:pt idx="41">
                  <c:v>0.59</c:v>
                </c:pt>
                <c:pt idx="42">
                  <c:v>0.60499999999999998</c:v>
                </c:pt>
                <c:pt idx="43">
                  <c:v>0.61899999999999999</c:v>
                </c:pt>
                <c:pt idx="44">
                  <c:v>0.63300000000000001</c:v>
                </c:pt>
                <c:pt idx="45">
                  <c:v>0.64800000000000002</c:v>
                </c:pt>
                <c:pt idx="46">
                  <c:v>0.66200000000000003</c:v>
                </c:pt>
                <c:pt idx="47">
                  <c:v>0.67600000000000005</c:v>
                </c:pt>
                <c:pt idx="48">
                  <c:v>0.69</c:v>
                </c:pt>
                <c:pt idx="49">
                  <c:v>0.70499999999999996</c:v>
                </c:pt>
                <c:pt idx="50">
                  <c:v>0.71899999999999997</c:v>
                </c:pt>
                <c:pt idx="51">
                  <c:v>0.73299999999999998</c:v>
                </c:pt>
                <c:pt idx="52">
                  <c:v>0.748</c:v>
                </c:pt>
                <c:pt idx="53">
                  <c:v>0.76200000000000001</c:v>
                </c:pt>
                <c:pt idx="54">
                  <c:v>0.77600000000000002</c:v>
                </c:pt>
                <c:pt idx="55">
                  <c:v>0.79</c:v>
                </c:pt>
                <c:pt idx="56">
                  <c:v>0.80500000000000005</c:v>
                </c:pt>
                <c:pt idx="57">
                  <c:v>0.81899999999999995</c:v>
                </c:pt>
                <c:pt idx="58">
                  <c:v>0.83299999999999996</c:v>
                </c:pt>
                <c:pt idx="59">
                  <c:v>0.84799999999999998</c:v>
                </c:pt>
                <c:pt idx="60">
                  <c:v>0.86199999999999999</c:v>
                </c:pt>
                <c:pt idx="61">
                  <c:v>0.876</c:v>
                </c:pt>
                <c:pt idx="62">
                  <c:v>0.89</c:v>
                </c:pt>
                <c:pt idx="63">
                  <c:v>0.90500000000000003</c:v>
                </c:pt>
                <c:pt idx="64">
                  <c:v>0.91900000000000004</c:v>
                </c:pt>
                <c:pt idx="65">
                  <c:v>0.93300000000000005</c:v>
                </c:pt>
                <c:pt idx="66">
                  <c:v>0.94799999999999995</c:v>
                </c:pt>
                <c:pt idx="67">
                  <c:v>0.96199999999999997</c:v>
                </c:pt>
                <c:pt idx="68">
                  <c:v>0.97599999999999998</c:v>
                </c:pt>
                <c:pt idx="69">
                  <c:v>0.99</c:v>
                </c:pt>
                <c:pt idx="70">
                  <c:v>1</c:v>
                </c:pt>
              </c:numCache>
            </c:numRef>
          </c:xVal>
          <c:yVal>
            <c:numRef>
              <c:f>Sheet1!$B$2:$B$72</c:f>
              <c:numCache>
                <c:formatCode>General</c:formatCode>
                <c:ptCount val="7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0.99299999999999999</c:v>
                </c:pt>
                <c:pt idx="49">
                  <c:v>0.98599999999999999</c:v>
                </c:pt>
                <c:pt idx="50">
                  <c:v>0.98699999999999999</c:v>
                </c:pt>
                <c:pt idx="51">
                  <c:v>0.98699999999999999</c:v>
                </c:pt>
                <c:pt idx="52">
                  <c:v>0.98699999999999999</c:v>
                </c:pt>
                <c:pt idx="53">
                  <c:v>0.98799999999999999</c:v>
                </c:pt>
                <c:pt idx="54">
                  <c:v>0.98799999999999999</c:v>
                </c:pt>
                <c:pt idx="55">
                  <c:v>0.98799999999999999</c:v>
                </c:pt>
                <c:pt idx="56">
                  <c:v>0.98199999999999998</c:v>
                </c:pt>
                <c:pt idx="57">
                  <c:v>0.97099999999999997</c:v>
                </c:pt>
                <c:pt idx="58">
                  <c:v>0.96</c:v>
                </c:pt>
                <c:pt idx="59">
                  <c:v>0.95499999999999996</c:v>
                </c:pt>
                <c:pt idx="60">
                  <c:v>0.95</c:v>
                </c:pt>
                <c:pt idx="61">
                  <c:v>0.94</c:v>
                </c:pt>
                <c:pt idx="62">
                  <c:v>0.94099999999999995</c:v>
                </c:pt>
                <c:pt idx="63">
                  <c:v>0.94199999999999995</c:v>
                </c:pt>
                <c:pt idx="64">
                  <c:v>0.94299999999999995</c:v>
                </c:pt>
                <c:pt idx="65">
                  <c:v>0.94399999999999995</c:v>
                </c:pt>
                <c:pt idx="66">
                  <c:v>0.94499999999999995</c:v>
                </c:pt>
                <c:pt idx="67">
                  <c:v>0.94099999999999995</c:v>
                </c:pt>
                <c:pt idx="68">
                  <c:v>0.93200000000000005</c:v>
                </c:pt>
                <c:pt idx="69">
                  <c:v>0.92800000000000005</c:v>
                </c:pt>
                <c:pt idx="70">
                  <c:v>0.91900000000000004</c:v>
                </c:pt>
              </c:numCache>
            </c:numRef>
          </c:yVal>
          <c:smooth val="0"/>
          <c:extLst>
            <c:ext xmlns:c16="http://schemas.microsoft.com/office/drawing/2014/chart" uri="{C3380CC4-5D6E-409C-BE32-E72D297353CC}">
              <c16:uniqueId val="{00000000-5AD6-4228-ACE9-96EA8E7C3D49}"/>
            </c:ext>
          </c:extLst>
        </c:ser>
        <c:dLbls>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1200" b="0" i="0" u="none" strike="noStrike">
                    <a:solidFill>
                      <a:srgbClr val="5B6578"/>
                    </a:solidFill>
                    <a:latin typeface="+mn-lt"/>
                  </a:defRPr>
                </a:pPr>
                <a:r>
                  <a:rPr lang="en-US" sz="1200" b="0" i="0" u="none" strike="noStrike">
                    <a:solidFill>
                      <a:srgbClr val="5B6578"/>
                    </a:solidFill>
                    <a:latin typeface="+mn-lt"/>
                  </a:rPr>
                  <a:t>Coverage (share auto-accepted)</a:t>
                </a:r>
              </a:p>
            </c:rich>
          </c:tx>
          <c:overlay val="0"/>
        </c:title>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crossBetween val="midCat"/>
        <c:majorUnit val="0.2"/>
      </c:valAx>
      <c:valAx>
        <c:axId val="2094734552"/>
        <c:scaling>
          <c:orientation val="minMax"/>
          <c:max val="1"/>
          <c:min val="0.85"/>
        </c:scaling>
        <c:delete val="0"/>
        <c:axPos val="l"/>
        <c:majorGridlines>
          <c:spPr>
            <a:ln w="9525" cap="flat">
              <a:solidFill>
                <a:srgbClr val="DDE3EC"/>
              </a:solidFill>
              <a:prstDash val="solid"/>
              <a:round/>
            </a:ln>
          </c:spPr>
        </c:majorGridlines>
        <c:title>
          <c:tx>
            <c:rich>
              <a:bodyPr/>
              <a:lstStyle/>
              <a:p>
                <a:pPr>
                  <a:defRPr sz="1200" b="0" i="0" u="none" strike="noStrike">
                    <a:solidFill>
                      <a:srgbClr val="5B6578"/>
                    </a:solidFill>
                    <a:latin typeface="+mn-lt"/>
                  </a:defRPr>
                </a:pPr>
                <a:r>
                  <a:rPr lang="en-US" sz="1200" b="0" i="0" u="none" strike="noStrike">
                    <a:solidFill>
                      <a:srgbClr val="5B6578"/>
                    </a:solidFill>
                    <a:latin typeface="+mn-lt"/>
                  </a:rPr>
                  <a:t>Precision of accepted tests</a:t>
                </a:r>
              </a:p>
            </c:rich>
          </c:tx>
          <c:overlay val="0"/>
        </c:title>
        <c:numFmt formatCode="0%"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midCat"/>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Share of correct tests</c:v>
                </c:pt>
              </c:strCache>
            </c:strRef>
          </c:tx>
          <c:spPr>
            <a:solidFill>
              <a:srgbClr val="0F8B8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Sheet1!$B$2:$B$8</c:f>
              <c:numCache>
                <c:formatCode>General</c:formatCode>
                <c:ptCount val="7"/>
                <c:pt idx="0">
                  <c:v>1</c:v>
                </c:pt>
                <c:pt idx="1">
                  <c:v>1</c:v>
                </c:pt>
                <c:pt idx="2">
                  <c:v>0.8</c:v>
                </c:pt>
                <c:pt idx="3">
                  <c:v>1</c:v>
                </c:pt>
                <c:pt idx="4">
                  <c:v>0.93</c:v>
                </c:pt>
                <c:pt idx="5">
                  <c:v>0.77</c:v>
                </c:pt>
                <c:pt idx="6">
                  <c:v>0.93</c:v>
                </c:pt>
              </c:numCache>
            </c:numRef>
          </c:val>
          <c:extLst>
            <c:ext xmlns:c16="http://schemas.microsoft.com/office/drawing/2014/chart" uri="{C3380CC4-5D6E-409C-BE32-E72D297353CC}">
              <c16:uniqueId val="{00000000-CA26-4935-A25D-F2FE72581020}"/>
            </c:ext>
          </c:extLst>
        </c:ser>
        <c:ser>
          <c:idx val="1"/>
          <c:order val="1"/>
          <c:tx>
            <c:strRef>
              <c:f>Sheet1!$C$1</c:f>
              <c:strCache>
                <c:ptCount val="1"/>
                <c:pt idx="0">
                  <c:v>Mean combined uncertainty</c:v>
                </c:pt>
              </c:strCache>
            </c:strRef>
          </c:tx>
          <c:spPr>
            <a:solidFill>
              <a:srgbClr val="E39B2D"/>
            </a:solidFill>
            <a:effectLst/>
          </c:spPr>
          <c:invertIfNegative val="0"/>
          <c:dLbls>
            <c:numFmt formatCode="0.00" sourceLinked="0"/>
            <c:spPr>
              <a:noFill/>
              <a:ln>
                <a:noFill/>
              </a:ln>
              <a:effectLst/>
            </c:spPr>
            <c:txPr>
              <a:bodyPr/>
              <a:lstStyle/>
              <a:p>
                <a:pPr>
                  <a:defRPr sz="1000" b="0" i="0" u="none" strike="noStrike">
                    <a:solidFill>
                      <a:srgbClr val="1E25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R1</c:v>
                </c:pt>
                <c:pt idx="1">
                  <c:v>R2</c:v>
                </c:pt>
                <c:pt idx="2">
                  <c:v>R3</c:v>
                </c:pt>
                <c:pt idx="3">
                  <c:v>R4</c:v>
                </c:pt>
                <c:pt idx="4">
                  <c:v>R5</c:v>
                </c:pt>
                <c:pt idx="5">
                  <c:v>R6</c:v>
                </c:pt>
                <c:pt idx="6">
                  <c:v>R7</c:v>
                </c:pt>
              </c:strCache>
            </c:strRef>
          </c:cat>
          <c:val>
            <c:numRef>
              <c:f>Sheet1!$C$2:$C$8</c:f>
              <c:numCache>
                <c:formatCode>General</c:formatCode>
                <c:ptCount val="7"/>
                <c:pt idx="0">
                  <c:v>0.02</c:v>
                </c:pt>
                <c:pt idx="1">
                  <c:v>0.04</c:v>
                </c:pt>
                <c:pt idx="2">
                  <c:v>0.33</c:v>
                </c:pt>
                <c:pt idx="3">
                  <c:v>0.13</c:v>
                </c:pt>
                <c:pt idx="4">
                  <c:v>7.0000000000000007E-2</c:v>
                </c:pt>
                <c:pt idx="5">
                  <c:v>0.19</c:v>
                </c:pt>
                <c:pt idx="6">
                  <c:v>0.15</c:v>
                </c:pt>
              </c:numCache>
            </c:numRef>
          </c:val>
          <c:extLst>
            <c:ext xmlns:c16="http://schemas.microsoft.com/office/drawing/2014/chart" uri="{C3380CC4-5D6E-409C-BE32-E72D297353CC}">
              <c16:uniqueId val="{00000001-CA26-4935-A25D-F2FE725810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DDE3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65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Thank you for the invitation. In the next 20 minutes I will argue that LLM-generated tests need a trust signal, show a working prototype that quantifies their uncertainty for an autonomous-driving function, and propose how I would turn its gaps into the four InnoGuard objectives over three years.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 Ali's group and colleagues already use foundation models across CPS engineering. LLM-based test generation is mainstream. The open problem is trust: a syntactically valid test can be irrelevant, can have a wrong oracle, or can be useless at finding faults. My own data shows the model says it is 97% sure while only 87% of its tests are correct — so self-reported confidence is not a usable trust signal.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Everything that follows — the prototype, its gaps and the plan — is organised around O1 to O4.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your work that this PhD builds on. First, uncertainty-wise testing of CPS, from the U-Taxonomy to uncertainty-aware oracles and, most recently, uncertainty and quality of VLA-enabled robots. Second, ADS scenario generation and robustness-guided falsification. Third, oracles and industrial CPS, especially the elevator case studies with Mondragon. To my knowledge none of these quantify the uncertainty of LLMs that generate the test artefacts themselves — that is the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ML literature I take two ideas: semantic entropy, which clusters sampled answers by meaning, and self-consistency, which needs only black-box access. The key adaptation: for an executable test the meaning is its behaviour on the system — so I cluster sampled tests by what they do in simulation. That is behavioural entropy.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tool I built for daily testing work: requirement documents go through retrieval into LLM agents that produce test cases and scripts, which are executed and reported. Trust is handled by rules: schema checks, grounding checks, a review flag for AI-only expectations and a fault-injection gate. These catch malformed output, but they are binary: once a test passes the gate it is trusted. The tool cannot tell which of the well-formed tests are wrong — that is the blind spot this research targets.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142503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re-targeted the tool to an autonomous-driving function. For a requirement, the LLM is sampled N times; each sample is a driving scenario, an STL-style oracle and a self-reported confidence. The rule gate from v1 stays. Valid tests run in highway-env against an adaptive cruise control with emergency braking. Then four uncertainty signals are computed — no ground truth needed — and drive a triage decision. Only in research mode do we compute ground truth by running every test against eight seeded faults.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32190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signals. Verbalised confidence is the baseline. Structural entropy clusters samples by what they look like. Behavioural entropy, my CPS-specific adaptation, clusters them by what they do when executed. Oracle disagreement cross-applies the oracles. I fixed the design on a development round and evaluated it on a fresh held-out round, to avoid tuning on the test data.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08592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video, about 1:44.] Requirement R6: the lead car changes lane and reveals a stopped car. Eight tests are sampled live. You can see each stage complete. The batch has low structural but some behavioural entropy. Five tests are auto-accepted, three go to review. The most uncertain test turns out to be the one that does not exercise the requirement. Finally the same test is replayed on a faulty variant and its oracle catches the fault.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59862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seven requirements of an ACC, three ChatGPT-class models, ten samples each — 210 tests. Each test runs on the correct controller and eight seeded faults, so 1,890 simulations. A test is correct only if it exercises the requirement and its oracle agrees with my reference formalisation on all nine versions. I designed the metrics on a development round and report a fresh held-out round.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420247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held-out round, behavioural entropy detects incorrect tests with AUROC 0.90, against 0.74 for the model's own confidence. At batch level, the more behaviourally diverse the samples, the fewer of them are correct: rho -0.85. But I want to be honest: within a single requirement the signal is weaker, 0.71. Much of what it captures is that some requirements are hard. Per-test discrimination is my first research gap.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634119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Turning uncertainty into decisions: accepting the least uncertain tests first keeps precision near 100% until about 70% coverage. With fixed thresholds, 162 of 210 tests are auto-accepted and 160 of them are correct; the review bucket is where the errors concentrate. These thresholds are heuristics, so calibrating them against safety risk is objective 2. I also log cost: N samples multiply the LLM cost, which is a non-functional trade-off for objective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542052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limitation of the demo maps onto one objective. The per-test signal is weak and black-box only — new metrics, O1. Thresholds are heuristic and ignore severity — risk methods, O2. The relation between uncertainty, effectiveness and cost is only hinted — a large empirical study, O3. And everything ran on three hosted models and one simulator — generalisation to industrial cases, the InnoGuard platform, newer models and quantum ML, O4.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80875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Evaluation will use open-source ACPS such as highway-env or more realistic simulators, industrial case studies through the network — for example the elevator systems studied with Mondragon — and the InnoGuard demonstration platform, always with fault-injection or expert ground truth and proper statistics.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63804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and an open ACPS benchmark, then the first metric suite. Year 2: the large empirical study on uncertainty versus quality and cost, risk methods, and the planned secondment at Mondragon to apply them to an industrial CPS. Year 3: evaluation on industrial cases and the InnoGuard platform, then the quantum ML extension with the adjacent project, and the thesis. Five planned papers; dates of the secondment are indicative and would follow the network's schedule.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572945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metrics, risk methods, empirical evidence and open artefacts,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39788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bring CPS testing practice, verification research and hands-on AI tooling, and the team brings the leading work on uncertainty-wise CPS testing, ADS testing and industrial oracles. I would be glad to turn this prototype into a PhD within InnoGuard.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40784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goes from hardware to automotive software testing at Bosch, where I tested ECU software against AUTOSAR and MISRA rules, to research on falsification and test generation for controller software at Kyungpook National University, and now to building LLM-based test generation in industry. The common thread: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38394599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Mapping the advert's preferred profile to evidence: CPS testing from Bosch; verification research from my master's — my falsification work is close in spirit to Prof. Arcaini's robustness-guided falsification; LLMs for testing from my current work; and Python plus empirical research, which this talk also demonstrates.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176271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model: the strongest model, gpt-6-astra, produced only correct tests, so uncertainty matters most for cheaper models. Per requirement: the cut-in (R3) and cut-out (R6) requirements are hardest, and they also have the highest uncertainty.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my reference formalisation and synthetic mutants define ground truth; the design was chosen on a development round; and the scale is small. Each has a concrete mitigation in the PhD plan.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the adjacent project on quantum ML: shot-based sampling gives a natural analogue to sampling an LLM, so the same disagreement-based metrics can be tested, with quantum noise as an extra uncertainty source.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17.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11.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4" name="Text 2"/>
          <p:cNvSpPr txBox="1"/>
          <p:nvPr/>
        </p:nvSpPr>
        <p:spPr>
          <a:xfrm>
            <a:off x="548640" y="3017520"/>
            <a:ext cx="8686800" cy="914400"/>
          </a:xfrm>
          <a:prstGeom prst="rect">
            <a:avLst/>
          </a:prstGeom>
          <a:noFill/>
          <a:ln/>
        </p:spPr>
        <p:txBody>
          <a:bodyPr wrap="square" lIns="0" tIns="0" rIns="0" bIns="0" rtlCol="0" anchor="t"/>
          <a:lstStyle/>
          <a:p>
            <a:pPr marL="0" indent="0">
              <a:buNone/>
            </a:pPr>
            <a:endParaRPr lang="en-US" sz="2000" dirty="0"/>
          </a:p>
        </p:txBody>
      </p:sp>
      <p:sp>
        <p:nvSpPr>
          <p:cNvPr id="5" name="Text 3"/>
          <p:cNvSpPr txBox="1"/>
          <p:nvPr/>
        </p:nvSpPr>
        <p:spPr>
          <a:xfrm>
            <a:off x="548640" y="4526280"/>
            <a:ext cx="8229600" cy="8229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p>
        </p:txBody>
      </p:sp>
      <p:pic>
        <p:nvPicPr>
          <p:cNvPr id="6" name="Image 0" descr="D:\hnp\uq-testgen\deck\assets\strip.png"/>
          <p:cNvPicPr>
            <a:picLocks noChangeAspect="1"/>
          </p:cNvPicPr>
          <p:nvPr/>
        </p:nvPicPr>
        <p:blipFill>
          <a:blip r:embed="rId3"/>
          <a:stretch>
            <a:fillRect/>
          </a:stretch>
        </p:blipFill>
        <p:spPr>
          <a:xfrm>
            <a:off x="0" y="5641848"/>
            <a:ext cx="12191695" cy="1219170"/>
          </a:xfrm>
          <a:prstGeom prst="rect">
            <a:avLst/>
          </a:prstGeom>
        </p:spPr>
      </p:pic>
      <p:sp>
        <p:nvSpPr>
          <p:cNvPr id="9" name="Title 8">
            <a:extLst>
              <a:ext uri="{FF2B5EF4-FFF2-40B4-BE49-F238E27FC236}">
                <a16:creationId xmlns:a16="http://schemas.microsoft.com/office/drawing/2014/main" id="{6E336074-7F4E-BBDB-1E9C-505A4CBC46A0}"/>
              </a:ext>
            </a:extLst>
          </p:cNvPr>
          <p:cNvSpPr>
            <a:spLocks noGrp="1"/>
          </p:cNvSpPr>
          <p:nvPr>
            <p:ph type="title" idx="100"/>
          </p:nvPr>
        </p:nvSpPr>
        <p:spPr/>
        <p:txBody>
          <a:bodyPr/>
          <a:lstStyle/>
          <a:p>
            <a:r>
              <a:rPr lang="en-US" dirty="0">
                <a:latin typeface="Calibri" pitchFamily="34" charset="0"/>
                <a:ea typeface="Calibri" pitchFamily="34" charset="-122"/>
                <a:cs typeface="Calibri" pitchFamily="34" charset="-120"/>
              </a:rPr>
              <a:t>When can we trust AI-generated tests ?</a:t>
            </a:r>
            <a:br>
              <a:rPr lang="en-US" dirty="0">
                <a:latin typeface="Calibri" pitchFamily="34" charset="0"/>
                <a:ea typeface="Calibri" pitchFamily="34" charset="-122"/>
                <a:cs typeface="Calibri" pitchFamily="34" charset="-120"/>
              </a:rPr>
            </a:br>
            <a:r>
              <a:rPr lang="en-US" dirty="0">
                <a:latin typeface="Calibri" pitchFamily="34" charset="0"/>
                <a:ea typeface="Calibri" pitchFamily="34" charset="-122"/>
                <a:cs typeface="Calibri" pitchFamily="34" charset="-120"/>
              </a:rPr>
              <a:t>Uncertainty quantification for risk-based testing of autonomous CPS</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LLMs now write tests for safety-relevant systems</a:t>
            </a:r>
            <a:endParaRPr lang="en-US" sz="3000" dirty="0"/>
          </a:p>
        </p:txBody>
      </p:sp>
      <p:sp>
        <p:nvSpPr>
          <p:cNvPr id="3" name="Text 1"/>
          <p:cNvSpPr txBox="1"/>
          <p:nvPr/>
        </p:nvSpPr>
        <p:spPr>
          <a:xfrm>
            <a:off x="546100" y="1447800"/>
            <a:ext cx="6223000" cy="1651000"/>
          </a:xfrm>
          <a:prstGeom prst="rect">
            <a:avLst/>
          </a:prstGeom>
          <a:noFill/>
          <a:ln/>
        </p:spPr>
        <p:txBody>
          <a:bodyPr wrap="square" lIns="0" tIns="0" rIns="0" bIns="0" rtlCol="0" anchor="t"/>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AI is already in CPS engineering: </a:t>
            </a:r>
            <a:r>
              <a:rPr lang="en-US" sz="1800" dirty="0">
                <a:solidFill>
                  <a:srgbClr val="1E2533"/>
                </a:solidFill>
                <a:latin typeface="Calibri" pitchFamily="34" charset="0"/>
                <a:ea typeface="Calibri" pitchFamily="34" charset="-122"/>
                <a:cs typeface="Calibri" pitchFamily="34" charset="-120"/>
              </a:rPr>
              <a:t>LLMs check driving scenarios, write oracles, build digital twins [8, 10]</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LLMs now write the tests themselves: </a:t>
            </a:r>
            <a:r>
              <a:rPr lang="en-US" sz="1800" dirty="0">
                <a:solidFill>
                  <a:srgbClr val="1E2533"/>
                </a:solidFill>
                <a:latin typeface="Calibri" pitchFamily="34" charset="0"/>
                <a:ea typeface="Calibri" pitchFamily="34" charset="-122"/>
                <a:cs typeface="Calibri" pitchFamily="34" charset="-120"/>
              </a:rPr>
              <a:t>a major topic in software testing research [27]</a:t>
            </a:r>
            <a:endParaRPr lang="en-US" sz="1800" dirty="0"/>
          </a:p>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A test can run cleanly and still be wrong </a:t>
            </a:r>
            <a:r>
              <a:rPr lang="en-US" sz="1800" dirty="0">
                <a:solidFill>
                  <a:srgbClr val="1E2533"/>
                </a:solidFill>
                <a:latin typeface="Calibri" pitchFamily="34" charset="0"/>
                <a:ea typeface="Calibri" pitchFamily="34" charset="-122"/>
                <a:cs typeface="Calibri" pitchFamily="34" charset="-120"/>
              </a:rPr>
              <a:t>in three ways:</a:t>
            </a:r>
            <a:endParaRPr lang="en-US" sz="1800" dirty="0"/>
          </a:p>
        </p:txBody>
      </p:sp>
      <p:sp>
        <p:nvSpPr>
          <p:cNvPr id="4" name="Shape 2"/>
          <p:cNvSpPr/>
          <p:nvPr/>
        </p:nvSpPr>
        <p:spPr>
          <a:xfrm>
            <a:off x="7086600" y="1417320"/>
            <a:ext cx="4553712" cy="4114800"/>
          </a:xfrm>
          <a:prstGeom prst="roundRect">
            <a:avLst>
              <a:gd name="adj" fmla="val 2667"/>
            </a:avLst>
          </a:prstGeom>
          <a:solidFill>
            <a:srgbClr val="13213C"/>
          </a:solidFill>
          <a:ln w="12700">
            <a:solidFill>
              <a:srgbClr val="13213C"/>
            </a:solidFill>
            <a:prstDash val="solid"/>
          </a:ln>
        </p:spPr>
        <p:txBody>
          <a:bodyPr/>
          <a:lstStyle/>
          <a:p>
            <a:endParaRPr lang="en-US"/>
          </a:p>
        </p:txBody>
      </p:sp>
      <p:sp>
        <p:nvSpPr>
          <p:cNvPr id="5" name="Text 3"/>
          <p:cNvSpPr txBox="1"/>
          <p:nvPr/>
        </p:nvSpPr>
        <p:spPr>
          <a:xfrm>
            <a:off x="7360920" y="1645920"/>
            <a:ext cx="4023360" cy="365760"/>
          </a:xfrm>
          <a:prstGeom prst="rect">
            <a:avLst/>
          </a:prstGeom>
          <a:noFill/>
          <a:ln/>
        </p:spPr>
        <p:txBody>
          <a:bodyPr wrap="square" lIns="0" tIns="0" rIns="0" bIns="0" rtlCol="0" anchor="t"/>
          <a:lstStyle/>
          <a:p>
            <a:pPr marL="0" indent="0">
              <a:buNone/>
            </a:pPr>
            <a:r>
              <a:rPr lang="en-US" sz="1400" b="1" dirty="0">
                <a:solidFill>
                  <a:srgbClr val="CFE3F1"/>
                </a:solidFill>
                <a:latin typeface="Calibri" pitchFamily="34" charset="0"/>
                <a:ea typeface="Calibri" pitchFamily="34" charset="-122"/>
                <a:cs typeface="Calibri" pitchFamily="34" charset="-120"/>
              </a:rPr>
              <a:t>In my experiment (gpt-5.6-luna, 70 tests)</a:t>
            </a:r>
            <a:endParaRPr lang="en-US" sz="1400" dirty="0"/>
          </a:p>
        </p:txBody>
      </p:sp>
      <p:sp>
        <p:nvSpPr>
          <p:cNvPr id="6" name="Text 4"/>
          <p:cNvSpPr txBox="1"/>
          <p:nvPr/>
        </p:nvSpPr>
        <p:spPr>
          <a:xfrm>
            <a:off x="7360920" y="2057400"/>
            <a:ext cx="4023360" cy="914400"/>
          </a:xfrm>
          <a:prstGeom prst="rect">
            <a:avLst/>
          </a:prstGeom>
          <a:noFill/>
          <a:ln/>
        </p:spPr>
        <p:txBody>
          <a:bodyPr wrap="square" lIns="0" tIns="0" rIns="0" bIns="0" rtlCol="0" anchor="t"/>
          <a:lstStyle/>
          <a:p>
            <a:pPr marL="0" indent="0">
              <a:buNone/>
            </a:pPr>
            <a:r>
              <a:rPr lang="en-US" sz="6000" b="1" dirty="0">
                <a:solidFill>
                  <a:srgbClr val="FFFFFF"/>
                </a:solidFill>
                <a:latin typeface="Cambria" pitchFamily="34" charset="0"/>
                <a:ea typeface="Cambria" pitchFamily="34" charset="-122"/>
                <a:cs typeface="Cambria" pitchFamily="34" charset="-120"/>
              </a:rPr>
              <a:t>97%</a:t>
            </a:r>
            <a:endParaRPr lang="en-US" sz="6000" dirty="0"/>
          </a:p>
        </p:txBody>
      </p:sp>
      <p:sp>
        <p:nvSpPr>
          <p:cNvPr id="7" name="Text 5"/>
          <p:cNvSpPr txBox="1"/>
          <p:nvPr/>
        </p:nvSpPr>
        <p:spPr>
          <a:xfrm>
            <a:off x="7360920" y="2971800"/>
            <a:ext cx="4023360" cy="36576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average self-reported confidence</a:t>
            </a:r>
            <a:endParaRPr lang="en-US" sz="1400" dirty="0"/>
          </a:p>
        </p:txBody>
      </p:sp>
      <p:sp>
        <p:nvSpPr>
          <p:cNvPr id="8" name="Text 6"/>
          <p:cNvSpPr txBox="1"/>
          <p:nvPr/>
        </p:nvSpPr>
        <p:spPr>
          <a:xfrm>
            <a:off x="7360920" y="3520440"/>
            <a:ext cx="4023360" cy="914400"/>
          </a:xfrm>
          <a:prstGeom prst="rect">
            <a:avLst/>
          </a:prstGeom>
          <a:noFill/>
          <a:ln/>
        </p:spPr>
        <p:txBody>
          <a:bodyPr wrap="square" lIns="0" tIns="0" rIns="0" bIns="0" rtlCol="0" anchor="t"/>
          <a:lstStyle/>
          <a:p>
            <a:pPr marL="0" indent="0">
              <a:buNone/>
            </a:pPr>
            <a:r>
              <a:rPr lang="en-US" sz="6000" b="1" dirty="0">
                <a:solidFill>
                  <a:srgbClr val="E39B2D"/>
                </a:solidFill>
                <a:latin typeface="Cambria" pitchFamily="34" charset="0"/>
                <a:ea typeface="Cambria" pitchFamily="34" charset="-122"/>
                <a:cs typeface="Cambria" pitchFamily="34" charset="-120"/>
              </a:rPr>
              <a:t>87%</a:t>
            </a:r>
            <a:endParaRPr lang="en-US" sz="6000" dirty="0"/>
          </a:p>
        </p:txBody>
      </p:sp>
      <p:sp>
        <p:nvSpPr>
          <p:cNvPr id="9" name="Text 7"/>
          <p:cNvSpPr txBox="1"/>
          <p:nvPr/>
        </p:nvSpPr>
        <p:spPr>
          <a:xfrm>
            <a:off x="7360920" y="4434840"/>
            <a:ext cx="4023360" cy="640080"/>
          </a:xfrm>
          <a:prstGeom prst="rect">
            <a:avLst/>
          </a:prstGeom>
          <a:noFill/>
          <a:ln/>
        </p:spPr>
        <p:txBody>
          <a:bodyPr wrap="square" lIns="0" tIns="0" rIns="0" bIns="0" rtlCol="0" anchor="t"/>
          <a:lstStyle/>
          <a:p>
            <a:pPr marL="0" indent="0">
              <a:buNone/>
            </a:pPr>
            <a:r>
              <a:rPr lang="en-US" sz="1400" dirty="0">
                <a:solidFill>
                  <a:srgbClr val="CFE3F1"/>
                </a:solidFill>
                <a:latin typeface="Calibri" pitchFamily="34" charset="0"/>
                <a:ea typeface="Calibri" pitchFamily="34" charset="-122"/>
                <a:cs typeface="Calibri" pitchFamily="34" charset="-120"/>
              </a:rPr>
              <a:t>of its tests are actually correct</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
        <p:nvSpPr>
          <p:cNvPr id="901" name="Footnote References"/>
          <p:cNvSpPr txBox="1"/>
          <p:nvPr/>
        </p:nvSpPr>
        <p:spPr>
          <a:xfrm>
            <a:off x="546100" y="5816600"/>
            <a:ext cx="11099800" cy="5588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[8] J. Wu et al., “Reality bites: Assessing the realism of driving scenarios with large language models,” Proc. IEEE/ACM FORGE, 2024.</a:t>
            </a:r>
          </a:p>
          <a:p>
            <a:pPr marL="0" indent="0">
              <a:lnSpc>
                <a:spcPct val="100000"/>
              </a:lnSpc>
              <a:buNone/>
            </a:pPr>
            <a:r>
              <a:rPr lang="en-US" sz="900" dirty="0">
                <a:solidFill>
                  <a:srgbClr val="5B6578"/>
                </a:solidFill>
                <a:latin typeface="Calibri" pitchFamily="34" charset="0"/>
              </a:rPr>
              <a:t>[10] C. Lu et al., “Foundation models for software engineering of cyber-physical systems: The road ahead,” ACM TOSEM, 2026.</a:t>
            </a:r>
          </a:p>
          <a:p>
            <a:pPr marL="0" indent="0">
              <a:lnSpc>
                <a:spcPct val="100000"/>
              </a:lnSpc>
              <a:buNone/>
            </a:pPr>
            <a:r>
              <a:rPr lang="en-US" sz="900" dirty="0">
                <a:solidFill>
                  <a:srgbClr val="5B6578"/>
                </a:solidFill>
                <a:latin typeface="Calibri" pitchFamily="34" charset="0"/>
              </a:rPr>
              <a:t>[27] J. Wang et al., “Software testing with large language models: Survey, landscape, and vision,” IEEE TSE, 2024.</a:t>
            </a:r>
          </a:p>
        </p:txBody>
      </p:sp>
      <p:sp>
        <p:nvSpPr>
          <p:cNvPr id="960" name="Failure card 1"/>
          <p:cNvSpPr/>
          <p:nvPr/>
        </p:nvSpPr>
        <p:spPr>
          <a:xfrm>
            <a:off x="5461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Wrong scenario</a:t>
            </a:r>
          </a:p>
        </p:txBody>
      </p:sp>
      <p:sp>
        <p:nvSpPr>
          <p:cNvPr id="970" name="Card bar 1"/>
          <p:cNvSpPr/>
          <p:nvPr/>
        </p:nvSpPr>
        <p:spPr>
          <a:xfrm>
            <a:off x="548640" y="3124200"/>
            <a:ext cx="48260" cy="635001"/>
          </a:xfrm>
          <a:prstGeom prst="rect">
            <a:avLst/>
          </a:prstGeom>
          <a:solidFill>
            <a:srgbClr val="C8463D"/>
          </a:solidFill>
          <a:ln>
            <a:noFill/>
          </a:ln>
        </p:spPr>
        <p:txBody>
          <a:bodyPr/>
          <a:lstStyle/>
          <a:p>
            <a:endParaRPr lang="en-US"/>
          </a:p>
        </p:txBody>
      </p:sp>
      <p:sp>
        <p:nvSpPr>
          <p:cNvPr id="961" name="Failure card 2"/>
          <p:cNvSpPr/>
          <p:nvPr/>
        </p:nvSpPr>
        <p:spPr>
          <a:xfrm>
            <a:off x="26670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Wrong oracle</a:t>
            </a:r>
          </a:p>
        </p:txBody>
      </p:sp>
      <p:sp>
        <p:nvSpPr>
          <p:cNvPr id="971" name="Card bar 2"/>
          <p:cNvSpPr/>
          <p:nvPr/>
        </p:nvSpPr>
        <p:spPr>
          <a:xfrm>
            <a:off x="2667000" y="3124200"/>
            <a:ext cx="50800" cy="635001"/>
          </a:xfrm>
          <a:prstGeom prst="rect">
            <a:avLst/>
          </a:prstGeom>
          <a:solidFill>
            <a:srgbClr val="C8463D"/>
          </a:solidFill>
          <a:ln>
            <a:noFill/>
          </a:ln>
        </p:spPr>
        <p:txBody>
          <a:bodyPr/>
          <a:lstStyle/>
          <a:p>
            <a:endParaRPr lang="en-US"/>
          </a:p>
        </p:txBody>
      </p:sp>
      <p:sp>
        <p:nvSpPr>
          <p:cNvPr id="962" name="Failure card 3"/>
          <p:cNvSpPr/>
          <p:nvPr/>
        </p:nvSpPr>
        <p:spPr>
          <a:xfrm>
            <a:off x="4787900" y="3124200"/>
            <a:ext cx="1981200" cy="635001"/>
          </a:xfrm>
          <a:prstGeom prst="roundRect">
            <a:avLst>
              <a:gd name="adj" fmla="val 8000"/>
            </a:avLst>
          </a:prstGeom>
          <a:solidFill>
            <a:srgbClr val="F2F5F9"/>
          </a:solidFill>
          <a:ln>
            <a:noFill/>
          </a:ln>
        </p:spPr>
        <p:txBody>
          <a:bodyPr wrap="square" lIns="152400" tIns="152400" rIns="127000" bIns="101600" anchor="t">
            <a:noAutofit/>
          </a:bodyPr>
          <a:lstStyle/>
          <a:p>
            <a:pPr>
              <a:spcAft>
                <a:spcPts val="400"/>
              </a:spcAft>
              <a:buNone/>
            </a:pPr>
            <a:r>
              <a:rPr lang="en-US" sz="1500" b="1" dirty="0">
                <a:solidFill>
                  <a:srgbClr val="C8463D"/>
                </a:solidFill>
                <a:latin typeface="Calibri" pitchFamily="34" charset="0"/>
                <a:ea typeface="Calibri" pitchFamily="34" charset="-122"/>
                <a:cs typeface="Calibri" pitchFamily="34" charset="-120"/>
              </a:rPr>
              <a:t>Catches no fault</a:t>
            </a:r>
          </a:p>
        </p:txBody>
      </p:sp>
      <p:sp>
        <p:nvSpPr>
          <p:cNvPr id="972" name="Card bar 3"/>
          <p:cNvSpPr/>
          <p:nvPr/>
        </p:nvSpPr>
        <p:spPr>
          <a:xfrm>
            <a:off x="4787900" y="3124200"/>
            <a:ext cx="50800" cy="635001"/>
          </a:xfrm>
          <a:prstGeom prst="rect">
            <a:avLst/>
          </a:prstGeom>
          <a:solidFill>
            <a:srgbClr val="C8463D"/>
          </a:solidFill>
          <a:ln>
            <a:noFill/>
          </a:ln>
        </p:spPr>
        <p:txBody>
          <a:bodyPr/>
          <a:lstStyle/>
          <a:p>
            <a:endParaRPr lang="en-US"/>
          </a:p>
        </p:txBody>
      </p:sp>
      <p:sp>
        <p:nvSpPr>
          <p:cNvPr id="980" name="Safety bullet"/>
          <p:cNvSpPr txBox="1"/>
          <p:nvPr/>
        </p:nvSpPr>
        <p:spPr>
          <a:xfrm>
            <a:off x="546100" y="4181566"/>
            <a:ext cx="6223000" cy="558800"/>
          </a:xfrm>
          <a:prstGeom prst="rect">
            <a:avLst/>
          </a:prstGeom>
          <a:noFill/>
        </p:spPr>
        <p:txBody>
          <a:bodyPr wrap="square" lIns="0" tIns="0" rIns="0" bIns="0" anchor="t">
            <a:noAutofit/>
          </a:bodyPr>
          <a:lstStyle/>
          <a:p>
            <a:pPr marL="177800" indent="-177800">
              <a:buSzPct val="100000"/>
              <a:buChar char="•"/>
            </a:pPr>
            <a:r>
              <a:rPr lang="en-US" sz="1800" b="1" dirty="0">
                <a:solidFill>
                  <a:srgbClr val="1E2533"/>
                </a:solidFill>
                <a:latin typeface="Calibri" pitchFamily="34" charset="0"/>
                <a:ea typeface="Calibri" pitchFamily="34" charset="-122"/>
                <a:cs typeface="Calibri" pitchFamily="34" charset="-120"/>
              </a:rPr>
              <a:t>In ACPS a wrong test is a safety risk: </a:t>
            </a:r>
            <a:r>
              <a:rPr lang="en-US" sz="1800" dirty="0">
                <a:solidFill>
                  <a:srgbClr val="1E2533"/>
                </a:solidFill>
                <a:latin typeface="Calibri" pitchFamily="34" charset="0"/>
                <a:ea typeface="Calibri" pitchFamily="34" charset="-122"/>
                <a:cs typeface="Calibri" pitchFamily="34" charset="-120"/>
              </a:rPr>
              <a:t>false confidence in an emergency-braking or cut-in function</a:t>
            </a:r>
            <a:endParaRPr lang="en-US" sz="1800" dirty="0"/>
          </a:p>
        </p:txBody>
      </p:sp>
    </p:spTree>
    <p:extLst>
      <p:ext uri="{BB962C8B-B14F-4D97-AF65-F5344CB8AC3E}">
        <p14:creationId xmlns:p14="http://schemas.microsoft.com/office/powerpoint/2010/main" val="860259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3" name="Shape 1"/>
          <p:cNvSpPr/>
          <p:nvPr/>
        </p:nvSpPr>
        <p:spPr>
          <a:xfrm>
            <a:off x="548640"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73736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94410" y="1908810"/>
            <a:ext cx="342900" cy="342900"/>
          </a:xfrm>
          <a:prstGeom prst="rect">
            <a:avLst/>
          </a:prstGeom>
        </p:spPr>
      </p:pic>
      <p:sp>
        <p:nvSpPr>
          <p:cNvPr id="6" name="Text 3"/>
          <p:cNvSpPr txBox="1"/>
          <p:nvPr/>
        </p:nvSpPr>
        <p:spPr>
          <a:xfrm>
            <a:off x="1645920" y="181051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7" name="Text 4"/>
          <p:cNvSpPr txBox="1"/>
          <p:nvPr/>
        </p:nvSpPr>
        <p:spPr>
          <a:xfrm>
            <a:off x="822960"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8" name="Text 5"/>
          <p:cNvSpPr txBox="1"/>
          <p:nvPr/>
        </p:nvSpPr>
        <p:spPr>
          <a:xfrm>
            <a:off x="822960"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9" name="Shape 6"/>
          <p:cNvSpPr/>
          <p:nvPr/>
        </p:nvSpPr>
        <p:spPr>
          <a:xfrm>
            <a:off x="3364992"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3639312" y="173736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810762" y="1908810"/>
            <a:ext cx="342900" cy="342900"/>
          </a:xfrm>
          <a:prstGeom prst="rect">
            <a:avLst/>
          </a:prstGeom>
        </p:spPr>
      </p:pic>
      <p:sp>
        <p:nvSpPr>
          <p:cNvPr id="12" name="Text 8"/>
          <p:cNvSpPr txBox="1"/>
          <p:nvPr/>
        </p:nvSpPr>
        <p:spPr>
          <a:xfrm>
            <a:off x="4462272" y="181051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3" name="Text 9"/>
          <p:cNvSpPr txBox="1"/>
          <p:nvPr/>
        </p:nvSpPr>
        <p:spPr>
          <a:xfrm>
            <a:off x="3639312"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4" name="Text 10"/>
          <p:cNvSpPr txBox="1"/>
          <p:nvPr/>
        </p:nvSpPr>
        <p:spPr>
          <a:xfrm>
            <a:off x="3639312"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5" name="Shape 11"/>
          <p:cNvSpPr/>
          <p:nvPr/>
        </p:nvSpPr>
        <p:spPr>
          <a:xfrm>
            <a:off x="6181344"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6" name="Shape 12"/>
          <p:cNvSpPr/>
          <p:nvPr/>
        </p:nvSpPr>
        <p:spPr>
          <a:xfrm>
            <a:off x="6455664" y="173736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627114" y="1908810"/>
            <a:ext cx="342900" cy="342900"/>
          </a:xfrm>
          <a:prstGeom prst="rect">
            <a:avLst/>
          </a:prstGeom>
        </p:spPr>
      </p:pic>
      <p:sp>
        <p:nvSpPr>
          <p:cNvPr id="18" name="Text 13"/>
          <p:cNvSpPr txBox="1"/>
          <p:nvPr/>
        </p:nvSpPr>
        <p:spPr>
          <a:xfrm>
            <a:off x="7278624" y="181051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19" name="Text 14"/>
          <p:cNvSpPr txBox="1"/>
          <p:nvPr/>
        </p:nvSpPr>
        <p:spPr>
          <a:xfrm>
            <a:off x="6455664"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0" name="Text 15"/>
          <p:cNvSpPr txBox="1"/>
          <p:nvPr/>
        </p:nvSpPr>
        <p:spPr>
          <a:xfrm>
            <a:off x="6455664"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1" name="Shape 16"/>
          <p:cNvSpPr/>
          <p:nvPr/>
        </p:nvSpPr>
        <p:spPr>
          <a:xfrm>
            <a:off x="8997696" y="146304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9272016" y="173736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443466" y="1908810"/>
            <a:ext cx="342900" cy="342900"/>
          </a:xfrm>
          <a:prstGeom prst="rect">
            <a:avLst/>
          </a:prstGeom>
        </p:spPr>
      </p:pic>
      <p:sp>
        <p:nvSpPr>
          <p:cNvPr id="24" name="Text 18"/>
          <p:cNvSpPr txBox="1"/>
          <p:nvPr/>
        </p:nvSpPr>
        <p:spPr>
          <a:xfrm>
            <a:off x="10094976" y="181051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5" name="Text 19"/>
          <p:cNvSpPr txBox="1"/>
          <p:nvPr/>
        </p:nvSpPr>
        <p:spPr>
          <a:xfrm>
            <a:off x="9272016" y="265176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6" name="Text 20"/>
          <p:cNvSpPr txBox="1"/>
          <p:nvPr/>
        </p:nvSpPr>
        <p:spPr>
          <a:xfrm>
            <a:off x="9272016" y="333756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7" name="Text 21"/>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InnoGuard: Hybrid and Generative Intelligence for Trustworthy Autonomous CPS, MSCA Doctoral Network, 2024–2028 [30]</a:t>
            </a:r>
            <a:endParaRPr lang="en-US" sz="10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Building on uncertainty-wise CPS testing</a:t>
            </a:r>
            <a:endParaRPr lang="en-US" sz="3000" dirty="0"/>
          </a:p>
        </p:txBody>
      </p:sp>
      <p:sp>
        <p:nvSpPr>
          <p:cNvPr id="3" name="Shape 1"/>
          <p:cNvSpPr/>
          <p:nvPr/>
        </p:nvSpPr>
        <p:spPr>
          <a:xfrm>
            <a:off x="54864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777240" y="160020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737360"/>
            <a:ext cx="274320" cy="274320"/>
          </a:xfrm>
          <a:prstGeom prst="rect">
            <a:avLst/>
          </a:prstGeom>
        </p:spPr>
      </p:pic>
      <p:sp>
        <p:nvSpPr>
          <p:cNvPr id="6" name="Text 3"/>
          <p:cNvSpPr txBox="1"/>
          <p:nvPr/>
        </p:nvSpPr>
        <p:spPr>
          <a:xfrm>
            <a:off x="146304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Uncertainty in CPS &amp; DL</a:t>
            </a:r>
            <a:endParaRPr lang="en-US" sz="1600" dirty="0"/>
          </a:p>
        </p:txBody>
      </p:sp>
      <p:sp>
        <p:nvSpPr>
          <p:cNvPr id="7" name="Text 4"/>
          <p:cNvSpPr txBox="1"/>
          <p:nvPr/>
        </p:nvSpPr>
        <p:spPr>
          <a:xfrm>
            <a:off x="77724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U-Taxonomy &amp; uncertainty-wise test modelling and generation [3, 2, 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Uncertainty-aware prediction validator for DL in CPS [4]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Uncertainty-wise multi-level oracles; elevator robustness under uncertainty [6, 5]</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Uncertainty &amp; quality of VLA-enabled robots [7]</a:t>
            </a:r>
            <a:endParaRPr lang="en-US" sz="1300" dirty="0"/>
          </a:p>
        </p:txBody>
      </p:sp>
      <p:sp>
        <p:nvSpPr>
          <p:cNvPr id="8" name="Shape 5"/>
          <p:cNvSpPr/>
          <p:nvPr/>
        </p:nvSpPr>
        <p:spPr>
          <a:xfrm>
            <a:off x="429768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4526280" y="160020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663440" y="1737360"/>
            <a:ext cx="274320" cy="274320"/>
          </a:xfrm>
          <a:prstGeom prst="rect">
            <a:avLst/>
          </a:prstGeom>
        </p:spPr>
      </p:pic>
      <p:sp>
        <p:nvSpPr>
          <p:cNvPr id="11" name="Text 7"/>
          <p:cNvSpPr txBox="1"/>
          <p:nvPr/>
        </p:nvSpPr>
        <p:spPr>
          <a:xfrm>
            <a:off x="521208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ADS testing &amp; falsification</a:t>
            </a:r>
            <a:endParaRPr lang="en-US" sz="1600" dirty="0"/>
          </a:p>
        </p:txBody>
      </p:sp>
      <p:sp>
        <p:nvSpPr>
          <p:cNvPr id="12" name="Text 8"/>
          <p:cNvSpPr txBox="1"/>
          <p:nvPr/>
        </p:nvSpPr>
        <p:spPr>
          <a:xfrm>
            <a:off x="452628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Avoidable-collision scenario generation [12]</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Parameter coverage for ADS testing under uncertainty [13]</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Robustness-guided falsification of AI-enabled hybrid systems [15, 14]</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LLMs assessing driving-scenario realism [8]</a:t>
            </a:r>
            <a:endParaRPr lang="en-US" sz="1300" dirty="0"/>
          </a:p>
        </p:txBody>
      </p:sp>
      <p:sp>
        <p:nvSpPr>
          <p:cNvPr id="13" name="Shape 9"/>
          <p:cNvSpPr/>
          <p:nvPr/>
        </p:nvSpPr>
        <p:spPr>
          <a:xfrm>
            <a:off x="8046720" y="1417320"/>
            <a:ext cx="3566160" cy="2895600"/>
          </a:xfrm>
          <a:prstGeom prst="roundRect">
            <a:avLst>
              <a:gd name="adj" fmla="val 3077"/>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75320" y="160020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8412480" y="1737360"/>
            <a:ext cx="274320" cy="274320"/>
          </a:xfrm>
          <a:prstGeom prst="rect">
            <a:avLst/>
          </a:prstGeom>
        </p:spPr>
      </p:pic>
      <p:sp>
        <p:nvSpPr>
          <p:cNvPr id="16" name="Text 11"/>
          <p:cNvSpPr txBox="1"/>
          <p:nvPr/>
        </p:nvSpPr>
        <p:spPr>
          <a:xfrm>
            <a:off x="8961120" y="1627632"/>
            <a:ext cx="2514600" cy="54864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Oracles &amp; industrial CPS</a:t>
            </a:r>
            <a:endParaRPr lang="en-US" sz="1600" dirty="0"/>
          </a:p>
        </p:txBody>
      </p:sp>
      <p:sp>
        <p:nvSpPr>
          <p:cNvPr id="17" name="Text 12"/>
          <p:cNvSpPr txBox="1"/>
          <p:nvPr/>
        </p:nvSpPr>
        <p:spPr>
          <a:xfrm>
            <a:off x="8275320" y="2377440"/>
            <a:ext cx="3154680" cy="18796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ML-based test oracles for elevator dispatching [16]</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Generated metamorphic relations for CPS [17]</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Seeding strategies for search-based test selection [18]</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Foundation models for CPS engineering: road ahead [10, 11]</a:t>
            </a:r>
            <a:endParaRPr lang="en-US" sz="1300" dirty="0"/>
          </a:p>
        </p:txBody>
      </p:sp>
      <p:sp>
        <p:nvSpPr>
          <p:cNvPr id="18" name="Shape 13"/>
          <p:cNvSpPr/>
          <p:nvPr/>
        </p:nvSpPr>
        <p:spPr>
          <a:xfrm>
            <a:off x="548640" y="4419600"/>
            <a:ext cx="11094415" cy="502920"/>
          </a:xfrm>
          <a:prstGeom prst="roundRect">
            <a:avLst>
              <a:gd name="adj" fmla="val 21818"/>
            </a:avLst>
          </a:prstGeom>
          <a:solidFill>
            <a:srgbClr val="FFF4E0"/>
          </a:solidFill>
          <a:ln w="12700">
            <a:solidFill>
              <a:srgbClr val="FFF4E0"/>
            </a:solidFill>
            <a:prstDash val="solid"/>
          </a:ln>
        </p:spPr>
        <p:txBody>
          <a:bodyPr/>
          <a:lstStyle/>
          <a:p>
            <a:endParaRPr lang="en-US"/>
          </a:p>
        </p:txBody>
      </p:sp>
      <p:sp>
        <p:nvSpPr>
          <p:cNvPr id="19" name="Text 14"/>
          <p:cNvSpPr txBox="1"/>
          <p:nvPr/>
        </p:nvSpPr>
        <p:spPr>
          <a:xfrm>
            <a:off x="777240" y="4445000"/>
            <a:ext cx="10637215" cy="457200"/>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has been studied for CPS, DNNs and robot foundation models — not yet for LLMs that generate or assess test artefacts.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
        <p:nvSpPr>
          <p:cNvPr id="901" name="Footnote References"/>
          <p:cNvSpPr txBox="1"/>
          <p:nvPr/>
        </p:nvSpPr>
        <p:spPr>
          <a:xfrm>
            <a:off x="546100" y="5003800"/>
            <a:ext cx="11099800" cy="1397000"/>
          </a:xfrm>
          <a:prstGeom prst="rect">
            <a:avLst/>
          </a:prstGeom>
          <a:noFill/>
        </p:spPr>
        <p:txBody>
          <a:bodyPr wrap="square" lIns="0" tIns="0" rIns="0" bIns="0" anchor="b">
            <a:noAutofit/>
          </a:bodyPr>
          <a:lstStyle/>
          <a:p>
            <a:pPr marL="0" indent="0">
              <a:lnSpc>
                <a:spcPct val="100000"/>
              </a:lnSpc>
              <a:buNone/>
            </a:pPr>
            <a:r>
              <a:rPr lang="en-US" sz="800" dirty="0">
                <a:solidFill>
                  <a:srgbClr val="5B6578"/>
                </a:solidFill>
                <a:latin typeface="Calibri" pitchFamily="34" charset="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LNCS 9764,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LNCS, Springer,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LNCS,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[18] A. Arrieta et al., “Some seeds are strong: Seeding strategies for search-based test case selection,” ACM TOSEM, 2023.</a:t>
            </a:r>
          </a:p>
        </p:txBody>
      </p:sp>
    </p:spTree>
    <p:extLst>
      <p:ext uri="{BB962C8B-B14F-4D97-AF65-F5344CB8AC3E}">
        <p14:creationId xmlns:p14="http://schemas.microsoft.com/office/powerpoint/2010/main" val="2731806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Uncertainty of LLM outputs: what transfers to test artefacts</a:t>
            </a:r>
            <a:endParaRPr lang="en-US" sz="3000" dirty="0"/>
          </a:p>
        </p:txBody>
      </p:sp>
      <p:graphicFrame>
        <p:nvGraphicFramePr>
          <p:cNvPr id="8" name="Table 0"/>
          <p:cNvGraphicFramePr>
            <a:graphicFrameLocks noGrp="1"/>
          </p:cNvGraphicFramePr>
          <p:nvPr/>
        </p:nvGraphicFramePr>
        <p:xfrm>
          <a:off x="548640" y="1417320"/>
          <a:ext cx="11091672" cy="2870200"/>
        </p:xfrm>
        <a:graphic>
          <a:graphicData uri="http://schemas.openxmlformats.org/drawingml/2006/table">
            <a:tbl>
              <a:tblPr/>
              <a:tblGrid>
                <a:gridCol w="23774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59352">
                  <a:extLst>
                    <a:ext uri="{9D8B030D-6E8A-4147-A177-3AD203B41FA5}">
                      <a16:colId xmlns:a16="http://schemas.microsoft.com/office/drawing/2014/main" val="20002"/>
                    </a:ext>
                  </a:extLst>
                </a:gridCol>
              </a:tblGrid>
              <a:tr h="457200">
                <a:tc>
                  <a:txBody>
                    <a:bodyPr/>
                    <a:lstStyle/>
                    <a:p>
                      <a:pPr marL="0" indent="0">
                        <a:buNone/>
                      </a:pPr>
                      <a:r>
                        <a:rPr lang="en-US" sz="1400" b="1" dirty="0">
                          <a:solidFill>
                            <a:srgbClr val="FFFFFF"/>
                          </a:solidFill>
                        </a:rPr>
                        <a:t>Idea</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Evidence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 take for test artefacts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84200">
                <a:tc>
                  <a:txBody>
                    <a:bodyPr/>
                    <a:lstStyle/>
                    <a:p>
                      <a:pPr marL="0" indent="0">
                        <a:buNone/>
                      </a:pPr>
                      <a:r>
                        <a:rPr lang="en-US" sz="1400" b="1" dirty="0">
                          <a:solidFill>
                            <a:srgbClr val="13213C"/>
                          </a:solidFill>
                        </a:rPr>
                        <a:t>Semantic entropy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Cluster sampled answers by meaning; entropy over clusters [23, 24]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Meaning of a test = what it does when executed → behavioural clusters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584200">
                <a:tc>
                  <a:txBody>
                    <a:bodyPr/>
                    <a:lstStyle/>
                    <a:p>
                      <a:pPr marL="0" indent="0">
                        <a:buNone/>
                      </a:pPr>
                      <a:r>
                        <a:rPr lang="en-US" sz="1400" b="1" dirty="0">
                          <a:solidFill>
                            <a:srgbClr val="13213C"/>
                          </a:solidFill>
                        </a:rPr>
                        <a:t>Self-consistency</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Disagreement among sampled outputs flags hallucination [25]</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Black-box: works with ChatGPT-class models without log-probs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4200">
                <a:tc>
                  <a:txBody>
                    <a:bodyPr/>
                    <a:lstStyle/>
                    <a:p>
                      <a:pPr marL="0" indent="0">
                        <a:buNone/>
                      </a:pPr>
                      <a:r>
                        <a:rPr lang="en-US" sz="1400" b="1" dirty="0">
                          <a:solidFill>
                            <a:srgbClr val="13213C"/>
                          </a:solidFill>
                        </a:rPr>
                        <a:t>UQ for LLMs in SE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Exploratory study of LLM uncertainty, incl. code tasks [26]</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Measures ≠ correctness of executable, safety-relevant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584200">
                <a:tc>
                  <a:txBody>
                    <a:bodyPr/>
                    <a:lstStyle/>
                    <a:p>
                      <a:pPr marL="0" indent="0">
                        <a:buNone/>
                      </a:pPr>
                      <a:r>
                        <a:rPr lang="en-US" sz="1400" b="1" dirty="0">
                          <a:solidFill>
                            <a:srgbClr val="13213C"/>
                          </a:solidFill>
                        </a:rPr>
                        <a:t>UQ for DL supervision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Uncertainty monitors for fail-safe DL systems [28, 4]</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Risk-based reject option → triage of generated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Shape 1"/>
          <p:cNvSpPr/>
          <p:nvPr/>
        </p:nvSpPr>
        <p:spPr>
          <a:xfrm>
            <a:off x="548640" y="4394200"/>
            <a:ext cx="11094415" cy="822960"/>
          </a:xfrm>
          <a:prstGeom prst="roundRect">
            <a:avLst>
              <a:gd name="adj" fmla="val 13333"/>
            </a:avLst>
          </a:prstGeom>
          <a:solidFill>
            <a:srgbClr val="E6F3F3"/>
          </a:solidFill>
          <a:ln w="12700">
            <a:solidFill>
              <a:srgbClr val="E6F3F3"/>
            </a:solidFill>
            <a:prstDash val="solid"/>
          </a:ln>
        </p:spPr>
        <p:txBody>
          <a:bodyPr/>
          <a:lstStyle/>
          <a:p>
            <a:endParaRPr lang="en-US"/>
          </a:p>
        </p:txBody>
      </p:sp>
      <p:sp>
        <p:nvSpPr>
          <p:cNvPr id="5" name="Text 2"/>
          <p:cNvSpPr txBox="1"/>
          <p:nvPr/>
        </p:nvSpPr>
        <p:spPr>
          <a:xfrm>
            <a:off x="777240" y="4439920"/>
            <a:ext cx="10637215" cy="73152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Key idea  </a:t>
            </a:r>
            <a:r>
              <a:rPr lang="en-US" sz="1500" dirty="0">
                <a:solidFill>
                  <a:srgbClr val="1E2533"/>
                </a:solidFill>
                <a:latin typeface="Calibri" pitchFamily="34" charset="0"/>
                <a:ea typeface="Calibri" pitchFamily="34" charset="-122"/>
                <a:cs typeface="Calibri" pitchFamily="34" charset="-120"/>
              </a:rPr>
              <a:t>For an executable test, two samples mean the same thing if they make the system behave the same way. That gives a CPS-specific variant of semantic entropy: behavioural entropy.</a:t>
            </a:r>
            <a:endParaRPr lang="en-US" sz="15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
        <p:nvSpPr>
          <p:cNvPr id="901" name="Footnote References"/>
          <p:cNvSpPr txBox="1"/>
          <p:nvPr/>
        </p:nvSpPr>
        <p:spPr>
          <a:xfrm>
            <a:off x="546100" y="5359400"/>
            <a:ext cx="11099800" cy="10414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[4] F. O. Catak et al., “Uncertainty-aware prediction validator in deep learning models for cyber-physical system data,” ACM TOSEM, 2022.</a:t>
            </a:r>
          </a:p>
          <a:p>
            <a:pPr marL="0" indent="0">
              <a:lnSpc>
                <a:spcPct val="100000"/>
              </a:lnSpc>
              <a:buNone/>
            </a:pPr>
            <a:r>
              <a:rPr lang="en-US" sz="900" dirty="0">
                <a:solidFill>
                  <a:srgbClr val="5B6578"/>
                </a:solidFill>
                <a:latin typeface="Calibri" pitchFamily="34" charset="0"/>
              </a:rPr>
              <a:t>[23] L. Kuhn et al., “Semantic uncertainty: Linguistic invariances for uncertainty estimation in natural language generation,” Proc. ICLR, 2023.</a:t>
            </a:r>
          </a:p>
          <a:p>
            <a:pPr marL="0" indent="0">
              <a:lnSpc>
                <a:spcPct val="100000"/>
              </a:lnSpc>
              <a:buNone/>
            </a:pPr>
            <a:r>
              <a:rPr lang="en-US" sz="900" dirty="0">
                <a:solidFill>
                  <a:srgbClr val="5B6578"/>
                </a:solidFill>
                <a:latin typeface="Calibri" pitchFamily="34" charset="0"/>
              </a:rPr>
              <a:t>[24] S. Farquhar et al., “Detecting hallucinations in large language models using semantic entropy,” Nature, 2024.</a:t>
            </a:r>
          </a:p>
          <a:p>
            <a:pPr marL="0" indent="0">
              <a:lnSpc>
                <a:spcPct val="100000"/>
              </a:lnSpc>
              <a:buNone/>
            </a:pPr>
            <a:r>
              <a:rPr lang="en-US" sz="900" dirty="0">
                <a:solidFill>
                  <a:srgbClr val="5B6578"/>
                </a:solidFill>
                <a:latin typeface="Calibri" pitchFamily="34" charset="0"/>
              </a:rPr>
              <a:t>[25] P. Manakul et al., “SelfCheckGPT: Zero-resource black-box hallucination detection for generative large language models,” Proc. EMNLP, 2023.</a:t>
            </a:r>
          </a:p>
          <a:p>
            <a:pPr marL="0" indent="0">
              <a:lnSpc>
                <a:spcPct val="100000"/>
              </a:lnSpc>
              <a:buNone/>
            </a:pPr>
            <a:r>
              <a:rPr lang="en-US" sz="900" dirty="0">
                <a:solidFill>
                  <a:srgbClr val="5B6578"/>
                </a:solidFill>
                <a:latin typeface="Calibri" pitchFamily="34" charset="0"/>
              </a:rPr>
              <a:t>[26] Y. Huang et al., “Look before you leap: An exploratory study of uncertainty analysis for large language models,” IEEE TSE, 2025.</a:t>
            </a:r>
          </a:p>
          <a:p>
            <a:pPr marL="0" indent="0">
              <a:lnSpc>
                <a:spcPct val="100000"/>
              </a:lnSpc>
              <a:buNone/>
            </a:pPr>
            <a:r>
              <a:rPr lang="en-US" sz="900" dirty="0">
                <a:solidFill>
                  <a:srgbClr val="5B6578"/>
                </a:solidFill>
                <a:latin typeface="Calibri" pitchFamily="34" charset="0"/>
              </a:rPr>
              <a:t>[28] M. Weiss and P. Tonella, “Fail-safe execution of deep learning based systems through uncertainty monitoring,” Proc. IEEE ICST, 2021.</a:t>
            </a:r>
          </a:p>
        </p:txBody>
      </p:sp>
    </p:spTree>
    <p:extLst>
      <p:ext uri="{BB962C8B-B14F-4D97-AF65-F5344CB8AC3E}">
        <p14:creationId xmlns:p14="http://schemas.microsoft.com/office/powerpoint/2010/main" val="1697618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My starting point: an LLM test generator that trusts blindly</a:t>
            </a:r>
            <a:endParaRPr lang="en-US" sz="3000" dirty="0"/>
          </a:p>
        </p:txBody>
      </p:sp>
      <p:sp>
        <p:nvSpPr>
          <p:cNvPr id="3" name="Shape 1"/>
          <p:cNvSpPr/>
          <p:nvPr/>
        </p:nvSpPr>
        <p:spPr>
          <a:xfrm>
            <a:off x="1153135"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1313155" y="1623060"/>
            <a:ext cx="320040" cy="320040"/>
          </a:xfrm>
          <a:prstGeom prst="rect">
            <a:avLst/>
          </a:prstGeom>
        </p:spPr>
      </p:pic>
      <p:sp>
        <p:nvSpPr>
          <p:cNvPr id="5" name="Text 2"/>
          <p:cNvSpPr txBox="1"/>
          <p:nvPr/>
        </p:nvSpPr>
        <p:spPr>
          <a:xfrm>
            <a:off x="548640"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6" name="Shape 3"/>
          <p:cNvSpPr/>
          <p:nvPr/>
        </p:nvSpPr>
        <p:spPr>
          <a:xfrm>
            <a:off x="1930375"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7" name="Shape 4"/>
          <p:cNvSpPr/>
          <p:nvPr/>
        </p:nvSpPr>
        <p:spPr>
          <a:xfrm>
            <a:off x="3002204"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162224" y="1623060"/>
            <a:ext cx="320040" cy="320040"/>
          </a:xfrm>
          <a:prstGeom prst="rect">
            <a:avLst/>
          </a:prstGeom>
        </p:spPr>
      </p:pic>
      <p:sp>
        <p:nvSpPr>
          <p:cNvPr id="9" name="Text 5"/>
          <p:cNvSpPr txBox="1"/>
          <p:nvPr/>
        </p:nvSpPr>
        <p:spPr>
          <a:xfrm>
            <a:off x="2397709"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0" name="Shape 6"/>
          <p:cNvSpPr/>
          <p:nvPr/>
        </p:nvSpPr>
        <p:spPr>
          <a:xfrm>
            <a:off x="3779444"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1" name="Shape 7"/>
          <p:cNvSpPr/>
          <p:nvPr/>
        </p:nvSpPr>
        <p:spPr>
          <a:xfrm>
            <a:off x="4851273"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5011293" y="1623060"/>
            <a:ext cx="320040" cy="320040"/>
          </a:xfrm>
          <a:prstGeom prst="rect">
            <a:avLst/>
          </a:prstGeom>
        </p:spPr>
      </p:pic>
      <p:sp>
        <p:nvSpPr>
          <p:cNvPr id="13" name="Text 8"/>
          <p:cNvSpPr txBox="1"/>
          <p:nvPr/>
        </p:nvSpPr>
        <p:spPr>
          <a:xfrm>
            <a:off x="424677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4" name="Shape 9"/>
          <p:cNvSpPr/>
          <p:nvPr/>
        </p:nvSpPr>
        <p:spPr>
          <a:xfrm>
            <a:off x="5628513"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5" name="Shape 10"/>
          <p:cNvSpPr/>
          <p:nvPr/>
        </p:nvSpPr>
        <p:spPr>
          <a:xfrm>
            <a:off x="6700342"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6860362" y="1623060"/>
            <a:ext cx="320040" cy="320040"/>
          </a:xfrm>
          <a:prstGeom prst="rect">
            <a:avLst/>
          </a:prstGeom>
        </p:spPr>
      </p:pic>
      <p:sp>
        <p:nvSpPr>
          <p:cNvPr id="17" name="Text 11"/>
          <p:cNvSpPr txBox="1"/>
          <p:nvPr/>
        </p:nvSpPr>
        <p:spPr>
          <a:xfrm>
            <a:off x="6095848"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18" name="Shape 12"/>
          <p:cNvSpPr/>
          <p:nvPr/>
        </p:nvSpPr>
        <p:spPr>
          <a:xfrm>
            <a:off x="7477582"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3"/>
          <p:cNvSpPr/>
          <p:nvPr/>
        </p:nvSpPr>
        <p:spPr>
          <a:xfrm>
            <a:off x="854941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0" name="Image 4" descr="preencoded.png"/>
          <p:cNvPicPr>
            <a:picLocks noChangeAspect="1"/>
          </p:cNvPicPr>
          <p:nvPr/>
        </p:nvPicPr>
        <p:blipFill>
          <a:blip r:embed="rId7"/>
          <a:stretch>
            <a:fillRect/>
          </a:stretch>
        </p:blipFill>
        <p:spPr>
          <a:xfrm>
            <a:off x="8709431" y="1623060"/>
            <a:ext cx="320040" cy="320040"/>
          </a:xfrm>
          <a:prstGeom prst="rect">
            <a:avLst/>
          </a:prstGeom>
        </p:spPr>
      </p:pic>
      <p:sp>
        <p:nvSpPr>
          <p:cNvPr id="21" name="Text 14"/>
          <p:cNvSpPr txBox="1"/>
          <p:nvPr/>
        </p:nvSpPr>
        <p:spPr>
          <a:xfrm>
            <a:off x="7944917"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2" name="Shape 15"/>
          <p:cNvSpPr/>
          <p:nvPr/>
        </p:nvSpPr>
        <p:spPr>
          <a:xfrm>
            <a:off x="9326651" y="167335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3" name="Shape 16"/>
          <p:cNvSpPr/>
          <p:nvPr/>
        </p:nvSpPr>
        <p:spPr>
          <a:xfrm>
            <a:off x="10398481" y="14630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24" name="Image 5" descr="preencoded.png"/>
          <p:cNvPicPr>
            <a:picLocks noChangeAspect="1"/>
          </p:cNvPicPr>
          <p:nvPr/>
        </p:nvPicPr>
        <p:blipFill>
          <a:blip r:embed="rId8"/>
          <a:stretch>
            <a:fillRect/>
          </a:stretch>
        </p:blipFill>
        <p:spPr>
          <a:xfrm>
            <a:off x="10558501" y="1623060"/>
            <a:ext cx="320040" cy="320040"/>
          </a:xfrm>
          <a:prstGeom prst="rect">
            <a:avLst/>
          </a:prstGeom>
        </p:spPr>
      </p:pic>
      <p:sp>
        <p:nvSpPr>
          <p:cNvPr id="25" name="Text 17"/>
          <p:cNvSpPr txBox="1"/>
          <p:nvPr/>
        </p:nvSpPr>
        <p:spPr>
          <a:xfrm>
            <a:off x="9793986" y="2194560"/>
            <a:ext cx="1849069" cy="36576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26" name="Shape 18"/>
          <p:cNvSpPr/>
          <p:nvPr/>
        </p:nvSpPr>
        <p:spPr>
          <a:xfrm>
            <a:off x="548640" y="2834640"/>
            <a:ext cx="5440680" cy="3063240"/>
          </a:xfrm>
          <a:prstGeom prst="roundRect">
            <a:avLst>
              <a:gd name="adj" fmla="val 3582"/>
            </a:avLst>
          </a:prstGeom>
          <a:solidFill>
            <a:srgbClr val="F2F5F9"/>
          </a:solidFill>
          <a:ln w="12700">
            <a:solidFill>
              <a:srgbClr val="F2F5F9"/>
            </a:solidFill>
            <a:prstDash val="solid"/>
          </a:ln>
        </p:spPr>
        <p:txBody>
          <a:bodyPr/>
          <a:lstStyle/>
          <a:p>
            <a:endParaRPr lang="en-US"/>
          </a:p>
        </p:txBody>
      </p:sp>
      <p:sp>
        <p:nvSpPr>
          <p:cNvPr id="27" name="Text 19"/>
          <p:cNvSpPr txBox="1"/>
          <p:nvPr/>
        </p:nvSpPr>
        <p:spPr>
          <a:xfrm>
            <a:off x="822960" y="299923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today: hand-written rules</a:t>
            </a:r>
            <a:endParaRPr lang="en-US" sz="1700" dirty="0"/>
          </a:p>
        </p:txBody>
      </p:sp>
      <p:sp>
        <p:nvSpPr>
          <p:cNvPr id="28" name="Text 20"/>
          <p:cNvSpPr txBox="1"/>
          <p:nvPr/>
        </p:nvSpPr>
        <p:spPr>
          <a:xfrm>
            <a:off x="822960"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Schema validation and JSON repair of LLM output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Grounding checks: references and quotes must exist in the source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AI-only expectations are parked as NEEDS_REVIEW</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gate: a test must fail on a corrupted system</a:t>
            </a:r>
            <a:endParaRPr lang="en-US" sz="1400" dirty="0"/>
          </a:p>
        </p:txBody>
      </p:sp>
      <p:sp>
        <p:nvSpPr>
          <p:cNvPr id="29" name="Shape 21"/>
          <p:cNvSpPr/>
          <p:nvPr/>
        </p:nvSpPr>
        <p:spPr>
          <a:xfrm>
            <a:off x="6199632" y="2834640"/>
            <a:ext cx="5440680" cy="3063240"/>
          </a:xfrm>
          <a:prstGeom prst="roundRect">
            <a:avLst>
              <a:gd name="adj" fmla="val 3582"/>
            </a:avLst>
          </a:prstGeom>
          <a:solidFill>
            <a:srgbClr val="FDECEA"/>
          </a:solidFill>
          <a:ln w="12700">
            <a:solidFill>
              <a:srgbClr val="FDECEA"/>
            </a:solidFill>
            <a:prstDash val="solid"/>
          </a:ln>
        </p:spPr>
        <p:txBody>
          <a:bodyPr/>
          <a:lstStyle/>
          <a:p>
            <a:endParaRPr lang="en-US"/>
          </a:p>
        </p:txBody>
      </p:sp>
      <p:sp>
        <p:nvSpPr>
          <p:cNvPr id="30" name="Text 22"/>
          <p:cNvSpPr txBox="1"/>
          <p:nvPr/>
        </p:nvSpPr>
        <p:spPr>
          <a:xfrm>
            <a:off x="6473952" y="2999232"/>
            <a:ext cx="4937760" cy="36576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The blind spot</a:t>
            </a:r>
            <a:endParaRPr lang="en-US" sz="1700" dirty="0"/>
          </a:p>
        </p:txBody>
      </p:sp>
      <p:sp>
        <p:nvSpPr>
          <p:cNvPr id="31" name="Text 23"/>
          <p:cNvSpPr txBox="1"/>
          <p:nvPr/>
        </p:nvSpPr>
        <p:spPr>
          <a:xfrm>
            <a:off x="6473952" y="347472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Rules are binary and uncalibrated: pass the gate = trusted</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A valid, grounded test can still miss the requirement or carry a wrong oracle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signal says which tests a human must look at</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No link between confidence and safety risk</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extLst>
      <p:ext uri="{BB962C8B-B14F-4D97-AF65-F5344CB8AC3E}">
        <p14:creationId xmlns:p14="http://schemas.microsoft.com/office/powerpoint/2010/main" val="43875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UQ-TestGen: an uncertainty-aware end-to-end pipeline</a:t>
            </a:r>
            <a:endParaRPr lang="en-US" sz="3000" dirty="0"/>
          </a:p>
        </p:txBody>
      </p:sp>
      <p:sp>
        <p:nvSpPr>
          <p:cNvPr id="3" name="Shape 1"/>
          <p:cNvSpPr/>
          <p:nvPr/>
        </p:nvSpPr>
        <p:spPr>
          <a:xfrm>
            <a:off x="603504"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1039346"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190222" y="1687068"/>
            <a:ext cx="301752" cy="301752"/>
          </a:xfrm>
          <a:prstGeom prst="rect">
            <a:avLst/>
          </a:prstGeom>
        </p:spPr>
      </p:pic>
      <p:sp>
        <p:nvSpPr>
          <p:cNvPr id="6" name="Text 3"/>
          <p:cNvSpPr txBox="1"/>
          <p:nvPr/>
        </p:nvSpPr>
        <p:spPr>
          <a:xfrm>
            <a:off x="640080"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Requirement</a:t>
            </a:r>
            <a:endParaRPr lang="en-US" sz="1500" dirty="0"/>
          </a:p>
        </p:txBody>
      </p:sp>
      <p:sp>
        <p:nvSpPr>
          <p:cNvPr id="7" name="Text 4"/>
          <p:cNvSpPr txBox="1"/>
          <p:nvPr/>
        </p:nvSpPr>
        <p:spPr>
          <a:xfrm>
            <a:off x="658368"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natural language</a:t>
            </a:r>
            <a:endParaRPr lang="en-US" sz="1200" dirty="0"/>
          </a:p>
        </p:txBody>
      </p:sp>
      <p:sp>
        <p:nvSpPr>
          <p:cNvPr id="8" name="Shape 5"/>
          <p:cNvSpPr/>
          <p:nvPr/>
        </p:nvSpPr>
        <p:spPr>
          <a:xfrm>
            <a:off x="218842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2624263"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2775139" y="1687068"/>
            <a:ext cx="301752" cy="301752"/>
          </a:xfrm>
          <a:prstGeom prst="rect">
            <a:avLst/>
          </a:prstGeom>
        </p:spPr>
      </p:pic>
      <p:sp>
        <p:nvSpPr>
          <p:cNvPr id="11" name="Text 7"/>
          <p:cNvSpPr txBox="1"/>
          <p:nvPr/>
        </p:nvSpPr>
        <p:spPr>
          <a:xfrm>
            <a:off x="222499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N samples</a:t>
            </a:r>
            <a:endParaRPr lang="en-US" sz="1500" dirty="0"/>
          </a:p>
        </p:txBody>
      </p:sp>
      <p:sp>
        <p:nvSpPr>
          <p:cNvPr id="12" name="Text 8"/>
          <p:cNvSpPr txBox="1"/>
          <p:nvPr/>
        </p:nvSpPr>
        <p:spPr>
          <a:xfrm>
            <a:off x="224328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LLM: scenario + oracle + confidence</a:t>
            </a:r>
            <a:endParaRPr lang="en-US" sz="1200" dirty="0"/>
          </a:p>
        </p:txBody>
      </p:sp>
      <p:sp>
        <p:nvSpPr>
          <p:cNvPr id="13" name="Shape 9"/>
          <p:cNvSpPr/>
          <p:nvPr/>
        </p:nvSpPr>
        <p:spPr>
          <a:xfrm>
            <a:off x="3773337"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4209179" y="1536192"/>
            <a:ext cx="603504" cy="603504"/>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360055" y="1687068"/>
            <a:ext cx="301752" cy="301752"/>
          </a:xfrm>
          <a:prstGeom prst="rect">
            <a:avLst/>
          </a:prstGeom>
        </p:spPr>
      </p:pic>
      <p:sp>
        <p:nvSpPr>
          <p:cNvPr id="16" name="Text 11"/>
          <p:cNvSpPr txBox="1"/>
          <p:nvPr/>
        </p:nvSpPr>
        <p:spPr>
          <a:xfrm>
            <a:off x="3809913"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Rule gate</a:t>
            </a:r>
            <a:endParaRPr lang="en-US" sz="1500" dirty="0"/>
          </a:p>
        </p:txBody>
      </p:sp>
      <p:sp>
        <p:nvSpPr>
          <p:cNvPr id="17" name="Text 12"/>
          <p:cNvSpPr txBox="1"/>
          <p:nvPr/>
        </p:nvSpPr>
        <p:spPr>
          <a:xfrm>
            <a:off x="3828201"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schema &amp; physics (v1)</a:t>
            </a:r>
            <a:endParaRPr lang="en-US" sz="1200" dirty="0"/>
          </a:p>
        </p:txBody>
      </p:sp>
      <p:sp>
        <p:nvSpPr>
          <p:cNvPr id="18" name="Shape 13"/>
          <p:cNvSpPr/>
          <p:nvPr/>
        </p:nvSpPr>
        <p:spPr>
          <a:xfrm>
            <a:off x="535825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5794096" y="1536192"/>
            <a:ext cx="603504" cy="603504"/>
          </a:xfrm>
          <a:prstGeom prst="ellipse">
            <a:avLst/>
          </a:prstGeom>
          <a:solidFill>
            <a:srgbClr val="3567C8"/>
          </a:solidFill>
          <a:ln w="12700">
            <a:solidFill>
              <a:srgbClr val="3567C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5944972" y="1687068"/>
            <a:ext cx="301752" cy="301752"/>
          </a:xfrm>
          <a:prstGeom prst="rect">
            <a:avLst/>
          </a:prstGeom>
        </p:spPr>
      </p:pic>
      <p:sp>
        <p:nvSpPr>
          <p:cNvPr id="21" name="Text 15"/>
          <p:cNvSpPr txBox="1"/>
          <p:nvPr/>
        </p:nvSpPr>
        <p:spPr>
          <a:xfrm>
            <a:off x="539482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Simulate</a:t>
            </a:r>
            <a:endParaRPr lang="en-US" sz="1500" dirty="0"/>
          </a:p>
        </p:txBody>
      </p:sp>
      <p:sp>
        <p:nvSpPr>
          <p:cNvPr id="22" name="Text 16"/>
          <p:cNvSpPr txBox="1"/>
          <p:nvPr/>
        </p:nvSpPr>
        <p:spPr>
          <a:xfrm>
            <a:off x="541311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highway-env, ACC/AEB SUT</a:t>
            </a:r>
            <a:endParaRPr lang="en-US" sz="1200" dirty="0"/>
          </a:p>
        </p:txBody>
      </p:sp>
      <p:sp>
        <p:nvSpPr>
          <p:cNvPr id="23" name="Shape 17"/>
          <p:cNvSpPr/>
          <p:nvPr/>
        </p:nvSpPr>
        <p:spPr>
          <a:xfrm>
            <a:off x="6943170"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4" name="Shape 18"/>
          <p:cNvSpPr/>
          <p:nvPr/>
        </p:nvSpPr>
        <p:spPr>
          <a:xfrm>
            <a:off x="7379012"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7529888" y="1687068"/>
            <a:ext cx="301752" cy="301752"/>
          </a:xfrm>
          <a:prstGeom prst="rect">
            <a:avLst/>
          </a:prstGeom>
        </p:spPr>
      </p:pic>
      <p:sp>
        <p:nvSpPr>
          <p:cNvPr id="26" name="Text 19"/>
          <p:cNvSpPr txBox="1"/>
          <p:nvPr/>
        </p:nvSpPr>
        <p:spPr>
          <a:xfrm>
            <a:off x="6979746"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Quantify</a:t>
            </a:r>
            <a:endParaRPr lang="en-US" sz="1500" dirty="0"/>
          </a:p>
        </p:txBody>
      </p:sp>
      <p:sp>
        <p:nvSpPr>
          <p:cNvPr id="27" name="Text 20"/>
          <p:cNvSpPr txBox="1"/>
          <p:nvPr/>
        </p:nvSpPr>
        <p:spPr>
          <a:xfrm>
            <a:off x="6998034"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4 uncertainty signals</a:t>
            </a:r>
            <a:endParaRPr lang="en-US" sz="1200" dirty="0"/>
          </a:p>
        </p:txBody>
      </p:sp>
      <p:sp>
        <p:nvSpPr>
          <p:cNvPr id="28" name="Shape 21"/>
          <p:cNvSpPr/>
          <p:nvPr/>
        </p:nvSpPr>
        <p:spPr>
          <a:xfrm>
            <a:off x="8528086"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29" name="Shape 22"/>
          <p:cNvSpPr/>
          <p:nvPr/>
        </p:nvSpPr>
        <p:spPr>
          <a:xfrm>
            <a:off x="8963929" y="1536192"/>
            <a:ext cx="603504" cy="603504"/>
          </a:xfrm>
          <a:prstGeom prst="ellipse">
            <a:avLst/>
          </a:prstGeom>
          <a:solidFill>
            <a:srgbClr val="0F8B8D"/>
          </a:solidFill>
          <a:ln w="12700">
            <a:solidFill>
              <a:srgbClr val="0F8B8D"/>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9114805" y="1687068"/>
            <a:ext cx="301752" cy="301752"/>
          </a:xfrm>
          <a:prstGeom prst="rect">
            <a:avLst/>
          </a:prstGeom>
        </p:spPr>
      </p:pic>
      <p:sp>
        <p:nvSpPr>
          <p:cNvPr id="31" name="Text 23"/>
          <p:cNvSpPr txBox="1"/>
          <p:nvPr/>
        </p:nvSpPr>
        <p:spPr>
          <a:xfrm>
            <a:off x="8564662"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Triage</a:t>
            </a:r>
            <a:endParaRPr lang="en-US" sz="1500" dirty="0"/>
          </a:p>
        </p:txBody>
      </p:sp>
      <p:sp>
        <p:nvSpPr>
          <p:cNvPr id="32" name="Text 24"/>
          <p:cNvSpPr txBox="1"/>
          <p:nvPr/>
        </p:nvSpPr>
        <p:spPr>
          <a:xfrm>
            <a:off x="8582950"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accept / review / reject</a:t>
            </a:r>
            <a:endParaRPr lang="en-US" sz="1200" dirty="0"/>
          </a:p>
        </p:txBody>
      </p:sp>
      <p:sp>
        <p:nvSpPr>
          <p:cNvPr id="33" name="Shape 25"/>
          <p:cNvSpPr/>
          <p:nvPr/>
        </p:nvSpPr>
        <p:spPr>
          <a:xfrm>
            <a:off x="10113003" y="1371600"/>
            <a:ext cx="1475188" cy="1965960"/>
          </a:xfrm>
          <a:prstGeom prst="roundRect">
            <a:avLst>
              <a:gd name="adj" fmla="val 7438"/>
            </a:avLst>
          </a:prstGeom>
          <a:solidFill>
            <a:srgbClr val="F2F5F9"/>
          </a:solidFill>
          <a:ln w="12700">
            <a:solidFill>
              <a:srgbClr val="F2F5F9"/>
            </a:solidFill>
            <a:prstDash val="solid"/>
          </a:ln>
        </p:spPr>
        <p:txBody>
          <a:bodyPr/>
          <a:lstStyle/>
          <a:p>
            <a:endParaRPr lang="en-US"/>
          </a:p>
        </p:txBody>
      </p:sp>
      <p:sp>
        <p:nvSpPr>
          <p:cNvPr id="34" name="Shape 26"/>
          <p:cNvSpPr/>
          <p:nvPr/>
        </p:nvSpPr>
        <p:spPr>
          <a:xfrm>
            <a:off x="10548845" y="1536192"/>
            <a:ext cx="603504" cy="603504"/>
          </a:xfrm>
          <a:prstGeom prst="ellipse">
            <a:avLst/>
          </a:prstGeom>
          <a:solidFill>
            <a:srgbClr val="E39B2D"/>
          </a:solidFill>
          <a:ln w="12700">
            <a:solidFill>
              <a:srgbClr val="E39B2D"/>
            </a:solidFill>
            <a:prstDash val="solid"/>
          </a:ln>
        </p:spPr>
        <p:txBody>
          <a:bodyPr/>
          <a:lstStyle/>
          <a:p>
            <a:endParaRPr lang="en-US"/>
          </a:p>
        </p:txBody>
      </p:sp>
      <p:pic>
        <p:nvPicPr>
          <p:cNvPr id="35" name="Image 6" descr="preencoded.png"/>
          <p:cNvPicPr>
            <a:picLocks noChangeAspect="1"/>
          </p:cNvPicPr>
          <p:nvPr/>
        </p:nvPicPr>
        <p:blipFill>
          <a:blip r:embed="rId9"/>
          <a:stretch>
            <a:fillRect/>
          </a:stretch>
        </p:blipFill>
        <p:spPr>
          <a:xfrm>
            <a:off x="10699721" y="1687068"/>
            <a:ext cx="301752" cy="301752"/>
          </a:xfrm>
          <a:prstGeom prst="rect">
            <a:avLst/>
          </a:prstGeom>
        </p:spPr>
      </p:pic>
      <p:sp>
        <p:nvSpPr>
          <p:cNvPr id="36" name="Text 27"/>
          <p:cNvSpPr txBox="1"/>
          <p:nvPr/>
        </p:nvSpPr>
        <p:spPr>
          <a:xfrm>
            <a:off x="10149579" y="2240280"/>
            <a:ext cx="1402036" cy="36576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Ground truth</a:t>
            </a:r>
            <a:endParaRPr lang="en-US" sz="1500" dirty="0"/>
          </a:p>
        </p:txBody>
      </p:sp>
      <p:sp>
        <p:nvSpPr>
          <p:cNvPr id="37" name="Text 28"/>
          <p:cNvSpPr txBox="1"/>
          <p:nvPr/>
        </p:nvSpPr>
        <p:spPr>
          <a:xfrm>
            <a:off x="10167867" y="2606040"/>
            <a:ext cx="1365460" cy="68580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8 seeded faults (research)</a:t>
            </a:r>
            <a:endParaRPr lang="en-US" sz="1200" dirty="0"/>
          </a:p>
        </p:txBody>
      </p:sp>
      <p:pic>
        <p:nvPicPr>
          <p:cNvPr id="38" name="Image 7" descr="D:\hnp\uq-testgen\deck\assets\frame_c.png"/>
          <p:cNvPicPr>
            <a:picLocks noChangeAspect="1"/>
          </p:cNvPicPr>
          <p:nvPr/>
        </p:nvPicPr>
        <p:blipFill>
          <a:blip r:embed="rId10"/>
          <a:stretch>
            <a:fillRect/>
          </a:stretch>
        </p:blipFill>
        <p:spPr>
          <a:xfrm>
            <a:off x="548640" y="3611880"/>
            <a:ext cx="6675120" cy="1084707"/>
          </a:xfrm>
          <a:prstGeom prst="rect">
            <a:avLst/>
          </a:prstGeom>
        </p:spPr>
      </p:pic>
      <p:sp>
        <p:nvSpPr>
          <p:cNvPr id="39" name="Text 29"/>
          <p:cNvSpPr txBox="1"/>
          <p:nvPr/>
        </p:nvSpPr>
        <p:spPr>
          <a:xfrm>
            <a:off x="548640" y="4754880"/>
            <a:ext cx="6675120" cy="54864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System under test: adaptive cruise control with emergency braking and lane keeping in highway-env [29]. Green = ego, blue = scripted traffic.</a:t>
            </a:r>
            <a:endParaRPr lang="en-US" sz="1200" dirty="0"/>
          </a:p>
        </p:txBody>
      </p:sp>
      <p:sp>
        <p:nvSpPr>
          <p:cNvPr id="40" name="Shape 30"/>
          <p:cNvSpPr/>
          <p:nvPr/>
        </p:nvSpPr>
        <p:spPr>
          <a:xfrm>
            <a:off x="7498080" y="3611880"/>
            <a:ext cx="4142232" cy="2286000"/>
          </a:xfrm>
          <a:prstGeom prst="roundRect">
            <a:avLst>
              <a:gd name="adj" fmla="val 4800"/>
            </a:avLst>
          </a:prstGeom>
          <a:solidFill>
            <a:srgbClr val="E6F3F3"/>
          </a:solidFill>
          <a:ln w="12700">
            <a:solidFill>
              <a:srgbClr val="E6F3F3"/>
            </a:solidFill>
            <a:prstDash val="solid"/>
          </a:ln>
        </p:spPr>
        <p:txBody>
          <a:bodyPr/>
          <a:lstStyle/>
          <a:p>
            <a:endParaRPr lang="en-US"/>
          </a:p>
        </p:txBody>
      </p:sp>
      <p:sp>
        <p:nvSpPr>
          <p:cNvPr id="41" name="Text 31"/>
          <p:cNvSpPr txBox="1"/>
          <p:nvPr/>
        </p:nvSpPr>
        <p:spPr>
          <a:xfrm>
            <a:off x="7726680" y="3730752"/>
            <a:ext cx="3749040" cy="365760"/>
          </a:xfrm>
          <a:prstGeom prst="rect">
            <a:avLst/>
          </a:prstGeom>
          <a:noFill/>
          <a:ln/>
        </p:spPr>
        <p:txBody>
          <a:bodyPr wrap="square" lIns="0" tIns="0" rIns="0" bIns="0" rtlCol="0" anchor="t"/>
          <a:lstStyle/>
          <a:p>
            <a:pPr marL="0" indent="0">
              <a:buNone/>
            </a:pPr>
            <a:r>
              <a:rPr lang="en-US" sz="1600" b="1" dirty="0">
                <a:solidFill>
                  <a:srgbClr val="0F8B8D"/>
                </a:solidFill>
                <a:latin typeface="Calibri" pitchFamily="34" charset="0"/>
                <a:ea typeface="Calibri" pitchFamily="34" charset="-122"/>
                <a:cs typeface="Calibri" pitchFamily="34" charset="-120"/>
              </a:rPr>
              <a:t>What is new vs. v1</a:t>
            </a:r>
            <a:endParaRPr lang="en-US" sz="1600" dirty="0"/>
          </a:p>
        </p:txBody>
      </p:sp>
      <p:sp>
        <p:nvSpPr>
          <p:cNvPr id="42" name="Text 32"/>
          <p:cNvSpPr txBox="1"/>
          <p:nvPr/>
        </p:nvSpPr>
        <p:spPr>
          <a:xfrm>
            <a:off x="7726680" y="4160520"/>
            <a:ext cx="3749040" cy="1691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Sample N tests instead of one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Uncertainty without ground truth</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Risk-based triage replaces the binary gate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Fault-injection ground truth to evaluate the signals</a:t>
            </a:r>
            <a:endParaRPr lang="en-US" sz="1400" dirty="0"/>
          </a:p>
        </p:txBody>
      </p:sp>
      <p:sp>
        <p:nvSpPr>
          <p:cNvPr id="4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
        <p:nvSpPr>
          <p:cNvPr id="901" name="Footnote References"/>
          <p:cNvSpPr txBox="1"/>
          <p:nvPr/>
        </p:nvSpPr>
        <p:spPr>
          <a:xfrm>
            <a:off x="546100" y="6197600"/>
            <a:ext cx="11099800" cy="2032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[29] E. Leurent, “An environment for autonomous driving decision-making,” GitHub repository (HighwayEnv), 2018.</a:t>
            </a:r>
          </a:p>
        </p:txBody>
      </p:sp>
    </p:spTree>
    <p:extLst>
      <p:ext uri="{BB962C8B-B14F-4D97-AF65-F5344CB8AC3E}">
        <p14:creationId xmlns:p14="http://schemas.microsoft.com/office/powerpoint/2010/main" val="378598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Four uncertainty signals — no ground truth needed</a:t>
            </a:r>
            <a:endParaRPr lang="en-US" sz="3000" dirty="0"/>
          </a:p>
        </p:txBody>
      </p:sp>
      <p:sp>
        <p:nvSpPr>
          <p:cNvPr id="3" name="Shape 1"/>
          <p:cNvSpPr/>
          <p:nvPr/>
        </p:nvSpPr>
        <p:spPr>
          <a:xfrm>
            <a:off x="54864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459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Verbalised confidence</a:t>
            </a:r>
            <a:endParaRPr lang="en-US" sz="1800" dirty="0"/>
          </a:p>
        </p:txBody>
      </p:sp>
      <p:sp>
        <p:nvSpPr>
          <p:cNvPr id="7" name="Text 4"/>
          <p:cNvSpPr txBox="1"/>
          <p:nvPr/>
        </p:nvSpPr>
        <p:spPr>
          <a:xfrm>
            <a:off x="1645920" y="2029968"/>
            <a:ext cx="4114800" cy="365760"/>
          </a:xfrm>
          <a:prstGeom prst="rect">
            <a:avLst/>
          </a:prstGeom>
          <a:noFill/>
          <a:ln/>
        </p:spPr>
        <p:txBody>
          <a:bodyPr wrap="square" lIns="0" tIns="0" rIns="0" bIns="0" rtlCol="0" anchor="t"/>
          <a:lstStyle/>
          <a:p>
            <a:pPr marL="0" indent="0">
              <a:buNone/>
            </a:pPr>
            <a:r>
              <a:rPr lang="en-US" sz="1400" b="1" dirty="0">
                <a:solidFill>
                  <a:srgbClr val="1E2533"/>
                </a:solidFill>
                <a:latin typeface="Courier New" pitchFamily="34" charset="0"/>
                <a:ea typeface="Courier New" pitchFamily="34" charset="-122"/>
                <a:cs typeface="Courier New" pitchFamily="34" charset="-120"/>
              </a:rPr>
              <a:t>U = 1 − c</a:t>
            </a:r>
            <a:endParaRPr lang="en-US" sz="1400" dirty="0"/>
          </a:p>
        </p:txBody>
      </p:sp>
      <p:sp>
        <p:nvSpPr>
          <p:cNvPr id="8" name="Text 5"/>
          <p:cNvSpPr txBox="1"/>
          <p:nvPr/>
        </p:nvSpPr>
        <p:spPr>
          <a:xfrm>
            <a:off x="164592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The LLM's own probability that the test is correct. Baseline.</a:t>
            </a:r>
            <a:endParaRPr lang="en-US" sz="1400" dirty="0"/>
          </a:p>
        </p:txBody>
      </p:sp>
      <p:sp>
        <p:nvSpPr>
          <p:cNvPr id="9" name="Shape 6"/>
          <p:cNvSpPr/>
          <p:nvPr/>
        </p:nvSpPr>
        <p:spPr>
          <a:xfrm>
            <a:off x="6172200" y="1371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6446520" y="164592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606540" y="1805940"/>
            <a:ext cx="320040" cy="320040"/>
          </a:xfrm>
          <a:prstGeom prst="rect">
            <a:avLst/>
          </a:prstGeom>
        </p:spPr>
      </p:pic>
      <p:sp>
        <p:nvSpPr>
          <p:cNvPr id="12" name="Text 8"/>
          <p:cNvSpPr txBox="1"/>
          <p:nvPr/>
        </p:nvSpPr>
        <p:spPr>
          <a:xfrm>
            <a:off x="7269480" y="160020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Structural entropy</a:t>
            </a:r>
            <a:endParaRPr lang="en-US" sz="1800" dirty="0"/>
          </a:p>
        </p:txBody>
      </p:sp>
      <p:sp>
        <p:nvSpPr>
          <p:cNvPr id="13" name="Text 9"/>
          <p:cNvSpPr txBox="1"/>
          <p:nvPr/>
        </p:nvSpPr>
        <p:spPr>
          <a:xfrm>
            <a:off x="7269480" y="2029968"/>
            <a:ext cx="4114800" cy="365760"/>
          </a:xfrm>
          <a:prstGeom prst="rect">
            <a:avLst/>
          </a:prstGeom>
          <a:noFill/>
          <a:ln/>
        </p:spPr>
        <p:txBody>
          <a:bodyPr wrap="square" lIns="0" tIns="0" rIns="0" bIns="0" rtlCol="0" anchor="t"/>
          <a:lstStyle/>
          <a:p>
            <a:pPr marL="0" indent="0">
              <a:buNone/>
            </a:pPr>
            <a:r>
              <a:rPr lang="en-US" sz="1400" b="1" dirty="0">
                <a:solidFill>
                  <a:srgbClr val="3567C8"/>
                </a:solidFill>
                <a:latin typeface="Courier New" pitchFamily="34" charset="0"/>
                <a:ea typeface="Courier New" pitchFamily="34" charset="-122"/>
                <a:cs typeface="Courier New" pitchFamily="34" charset="-120"/>
              </a:rPr>
              <a:t>U = −log p(cluster) / log N</a:t>
            </a:r>
            <a:endParaRPr lang="en-US" sz="1400" dirty="0"/>
          </a:p>
        </p:txBody>
      </p:sp>
      <p:sp>
        <p:nvSpPr>
          <p:cNvPr id="14" name="Text 10"/>
          <p:cNvSpPr txBox="1"/>
          <p:nvPr/>
        </p:nvSpPr>
        <p:spPr>
          <a:xfrm>
            <a:off x="7269480" y="242316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oracle templates, event types and traffic layout — semantic entropy on the artefact [23].</a:t>
            </a:r>
            <a:endParaRPr lang="en-US" sz="1400" dirty="0"/>
          </a:p>
        </p:txBody>
      </p:sp>
      <p:sp>
        <p:nvSpPr>
          <p:cNvPr id="15" name="Shape 11"/>
          <p:cNvSpPr/>
          <p:nvPr/>
        </p:nvSpPr>
        <p:spPr>
          <a:xfrm>
            <a:off x="548640" y="3566160"/>
            <a:ext cx="5440680" cy="2011680"/>
          </a:xfrm>
          <a:prstGeom prst="roundRect">
            <a:avLst>
              <a:gd name="adj" fmla="val 5455"/>
            </a:avLst>
          </a:prstGeom>
          <a:solidFill>
            <a:srgbClr val="E6F3F3"/>
          </a:solidFill>
          <a:ln w="12700">
            <a:solidFill>
              <a:srgbClr val="E6F3F3"/>
            </a:solidFill>
            <a:prstDash val="solid"/>
          </a:ln>
        </p:spPr>
        <p:txBody>
          <a:bodyPr/>
          <a:lstStyle/>
          <a:p>
            <a:endParaRPr lang="en-US"/>
          </a:p>
        </p:txBody>
      </p:sp>
      <p:sp>
        <p:nvSpPr>
          <p:cNvPr id="16" name="Shape 12"/>
          <p:cNvSpPr/>
          <p:nvPr/>
        </p:nvSpPr>
        <p:spPr>
          <a:xfrm>
            <a:off x="822960" y="384048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982980" y="4000500"/>
            <a:ext cx="320040" cy="320040"/>
          </a:xfrm>
          <a:prstGeom prst="rect">
            <a:avLst/>
          </a:prstGeom>
        </p:spPr>
      </p:pic>
      <p:sp>
        <p:nvSpPr>
          <p:cNvPr id="18" name="Text 13"/>
          <p:cNvSpPr txBox="1"/>
          <p:nvPr/>
        </p:nvSpPr>
        <p:spPr>
          <a:xfrm>
            <a:off x="164592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Behavioural entropy (new)</a:t>
            </a:r>
            <a:endParaRPr lang="en-US" sz="1800" dirty="0"/>
          </a:p>
        </p:txBody>
      </p:sp>
      <p:sp>
        <p:nvSpPr>
          <p:cNvPr id="19" name="Text 14"/>
          <p:cNvSpPr txBox="1"/>
          <p:nvPr/>
        </p:nvSpPr>
        <p:spPr>
          <a:xfrm>
            <a:off x="1645920" y="4224528"/>
            <a:ext cx="4114800" cy="365760"/>
          </a:xfrm>
          <a:prstGeom prst="rect">
            <a:avLst/>
          </a:prstGeom>
          <a:noFill/>
          <a:ln/>
        </p:spPr>
        <p:txBody>
          <a:bodyPr wrap="square" lIns="0" tIns="0" rIns="0" bIns="0" rtlCol="0" anchor="t"/>
          <a:lstStyle/>
          <a:p>
            <a:pPr marL="0" indent="0">
              <a:buNone/>
            </a:pPr>
            <a:r>
              <a:rPr lang="en-US" sz="1400" b="1" dirty="0">
                <a:solidFill>
                  <a:srgbClr val="0F8B8D"/>
                </a:solidFill>
                <a:latin typeface="Courier New" pitchFamily="34" charset="0"/>
                <a:ea typeface="Courier New" pitchFamily="34" charset="-122"/>
                <a:cs typeface="Courier New" pitchFamily="34" charset="-120"/>
              </a:rPr>
              <a:t>U = −log p(behaviour) / log N</a:t>
            </a:r>
            <a:endParaRPr lang="en-US" sz="1400" dirty="0"/>
          </a:p>
        </p:txBody>
      </p:sp>
      <p:sp>
        <p:nvSpPr>
          <p:cNvPr id="20" name="Text 15"/>
          <p:cNvSpPr txBox="1"/>
          <p:nvPr/>
        </p:nvSpPr>
        <p:spPr>
          <a:xfrm>
            <a:off x="164592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Cluster samples by what they do on the SUT: own verdict, collision, emergency braking, minimum-gap band.</a:t>
            </a:r>
            <a:endParaRPr lang="en-US" sz="1400" dirty="0"/>
          </a:p>
        </p:txBody>
      </p:sp>
      <p:sp>
        <p:nvSpPr>
          <p:cNvPr id="21" name="Shape 16"/>
          <p:cNvSpPr/>
          <p:nvPr/>
        </p:nvSpPr>
        <p:spPr>
          <a:xfrm>
            <a:off x="6172200" y="356616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6446520" y="384048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606540" y="4000500"/>
            <a:ext cx="320040" cy="320040"/>
          </a:xfrm>
          <a:prstGeom prst="rect">
            <a:avLst/>
          </a:prstGeom>
        </p:spPr>
      </p:pic>
      <p:sp>
        <p:nvSpPr>
          <p:cNvPr id="24" name="Text 18"/>
          <p:cNvSpPr txBox="1"/>
          <p:nvPr/>
        </p:nvSpPr>
        <p:spPr>
          <a:xfrm>
            <a:off x="7269480" y="3794760"/>
            <a:ext cx="4114800" cy="4114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Oracle disagreement</a:t>
            </a:r>
            <a:endParaRPr lang="en-US" sz="1800" dirty="0"/>
          </a:p>
        </p:txBody>
      </p:sp>
      <p:sp>
        <p:nvSpPr>
          <p:cNvPr id="25" name="Text 19"/>
          <p:cNvSpPr txBox="1"/>
          <p:nvPr/>
        </p:nvSpPr>
        <p:spPr>
          <a:xfrm>
            <a:off x="7269480" y="4224528"/>
            <a:ext cx="4114800" cy="365760"/>
          </a:xfrm>
          <a:prstGeom prst="rect">
            <a:avLst/>
          </a:prstGeom>
          <a:noFill/>
          <a:ln/>
        </p:spPr>
        <p:txBody>
          <a:bodyPr wrap="square" lIns="0" tIns="0" rIns="0" bIns="0" rtlCol="0" anchor="t"/>
          <a:lstStyle/>
          <a:p>
            <a:pPr marL="0" indent="0">
              <a:buNone/>
            </a:pPr>
            <a:r>
              <a:rPr lang="en-US" sz="1400" b="1" dirty="0">
                <a:solidFill>
                  <a:srgbClr val="6E56CF"/>
                </a:solidFill>
                <a:latin typeface="Courier New" pitchFamily="34" charset="0"/>
                <a:ea typeface="Courier New" pitchFamily="34" charset="-122"/>
                <a:cs typeface="Courier New" pitchFamily="34" charset="-120"/>
              </a:rPr>
              <a:t>U = disagreeing peers / (N − 1)</a:t>
            </a:r>
            <a:endParaRPr lang="en-US" sz="1400" dirty="0"/>
          </a:p>
        </p:txBody>
      </p:sp>
      <p:sp>
        <p:nvSpPr>
          <p:cNvPr id="26" name="Text 20"/>
          <p:cNvSpPr txBox="1"/>
          <p:nvPr/>
        </p:nvSpPr>
        <p:spPr>
          <a:xfrm>
            <a:off x="7269480" y="4617720"/>
            <a:ext cx="4160520" cy="8686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Apply every peer's oracle to this sample's trace; disagreement means an ambiguous requirement.</a:t>
            </a:r>
            <a:endParaRPr lang="en-US" sz="1400" dirty="0"/>
          </a:p>
        </p:txBody>
      </p:sp>
      <p:sp>
        <p:nvSpPr>
          <p:cNvPr id="27" name="Text 21"/>
          <p:cNvSpPr txBox="1"/>
          <p:nvPr/>
        </p:nvSpPr>
        <p:spPr>
          <a:xfrm>
            <a:off x="548640" y="5833872"/>
            <a:ext cx="11094415" cy="365760"/>
          </a:xfrm>
          <a:prstGeom prst="rect">
            <a:avLst/>
          </a:prstGeom>
          <a:noFill/>
          <a:ln/>
        </p:spPr>
        <p:txBody>
          <a:bodyPr wrap="square" lIns="0" tIns="0" rIns="0" bIns="0" rtlCol="0" anchor="t"/>
          <a:lstStyle/>
          <a:p>
            <a:pPr marL="0" indent="0">
              <a:buNone/>
            </a:pPr>
            <a:r>
              <a:rPr lang="en-US" sz="1200" i="1" dirty="0">
                <a:solidFill>
                  <a:srgbClr val="5B6578"/>
                </a:solidFill>
                <a:latin typeface="Calibri" pitchFamily="34" charset="0"/>
                <a:ea typeface="Calibri" pitchFamily="34" charset="-122"/>
                <a:cs typeface="Calibri" pitchFamily="34" charset="-120"/>
              </a:rPr>
              <a:t>Combined score = mean(structural, behavioural); oracle disagreement was uninformative on a development round and is reported only.</a:t>
            </a:r>
            <a:endParaRPr lang="en-US" sz="12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
        <p:nvSpPr>
          <p:cNvPr id="901" name="Footnote References"/>
          <p:cNvSpPr txBox="1"/>
          <p:nvPr/>
        </p:nvSpPr>
        <p:spPr>
          <a:xfrm>
            <a:off x="546100" y="6223000"/>
            <a:ext cx="11099800" cy="1651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[23] L. Kuhn et al., “Semantic uncertainty: Linguistic invariances for uncertainty estimation in natural language generation,” Proc. ICLR, 2023.</a:t>
            </a:r>
          </a:p>
        </p:txBody>
      </p:sp>
    </p:spTree>
    <p:extLst>
      <p:ext uri="{BB962C8B-B14F-4D97-AF65-F5344CB8AC3E}">
        <p14:creationId xmlns:p14="http://schemas.microsoft.com/office/powerpoint/2010/main" val="4078584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Demo: one requirement, end to end, live LLM</a:t>
            </a:r>
            <a:endParaRPr lang="en-US" sz="3000" dirty="0"/>
          </a:p>
        </p:txBody>
      </p:sp>
      <p:pic>
        <p:nvPicPr>
          <p:cNvPr id="3"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48640" y="1280160"/>
            <a:ext cx="7589520" cy="4743450"/>
          </a:xfrm>
          <a:prstGeom prst="rect">
            <a:avLst/>
          </a:prstGeom>
        </p:spPr>
      </p:pic>
      <p:sp>
        <p:nvSpPr>
          <p:cNvPr id="4" name="Shape 1"/>
          <p:cNvSpPr/>
          <p:nvPr/>
        </p:nvSpPr>
        <p:spPr>
          <a:xfrm>
            <a:off x="8412480" y="1270221"/>
            <a:ext cx="3230575" cy="4743450"/>
          </a:xfrm>
          <a:prstGeom prst="roundRect">
            <a:avLst>
              <a:gd name="adj" fmla="val 339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641080" y="1463040"/>
            <a:ext cx="24688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What you see</a:t>
            </a:r>
            <a:endParaRPr lang="en-US" sz="1600" dirty="0"/>
          </a:p>
        </p:txBody>
      </p:sp>
      <p:sp>
        <p:nvSpPr>
          <p:cNvPr id="6" name="Text 3"/>
          <p:cNvSpPr txBox="1"/>
          <p:nvPr/>
        </p:nvSpPr>
        <p:spPr>
          <a:xfrm>
            <a:off x="8641080" y="1920240"/>
            <a:ext cx="2514600" cy="392049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R6: a cut-out reveals a stopped car</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8 samples from gpt-5.6-luna</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Live stages: generate → gate → simulate → quantify → triage → ground truth</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Most uncertain test = the irrelevant one</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Replay on a seeded fault: the oracle catches it</a:t>
            </a:r>
            <a:endParaRPr lang="en-US" sz="1300" dirty="0"/>
          </a:p>
        </p:txBody>
      </p:sp>
      <p:sp>
        <p:nvSpPr>
          <p:cNvPr id="7" name="Text 4"/>
          <p:cNvSpPr txBox="1"/>
          <p:nvPr/>
        </p:nvSpPr>
        <p:spPr>
          <a:xfrm>
            <a:off x="548640" y="6096762"/>
            <a:ext cx="7589520" cy="274320"/>
          </a:xfrm>
          <a:prstGeom prst="rect">
            <a:avLst/>
          </a:prstGeom>
          <a:noFill/>
          <a:ln/>
        </p:spPr>
        <p:txBody>
          <a:bodyPr wrap="square" lIns="0" tIns="0" rIns="0" bIns="0" rtlCol="0" anchor="t"/>
          <a:lstStyle/>
          <a:p>
            <a:pPr marL="0" indent="0">
              <a:buNone/>
            </a:pPr>
            <a:r>
              <a:rPr lang="en-US" sz="1100" i="1" dirty="0">
                <a:solidFill>
                  <a:srgbClr val="5B6578"/>
                </a:solidFill>
                <a:latin typeface="Calibri" pitchFamily="34" charset="0"/>
                <a:ea typeface="Calibri" pitchFamily="34" charset="-122"/>
                <a:cs typeface="Calibri" pitchFamily="34" charset="-120"/>
              </a:rPr>
              <a:t>1 min 44 s · recorded from the running prototype</a:t>
            </a:r>
            <a:endParaRPr lang="en-US" sz="11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extLst>
      <p:ext uri="{BB962C8B-B14F-4D97-AF65-F5344CB8AC3E}">
        <p14:creationId xmlns:p14="http://schemas.microsoft.com/office/powerpoint/2010/main" val="390807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Experiment: 210 generated tests, 1,890 simulations</a:t>
            </a:r>
            <a:endParaRPr lang="en-US" sz="3000" dirty="0"/>
          </a:p>
        </p:txBody>
      </p:sp>
      <p:sp>
        <p:nvSpPr>
          <p:cNvPr id="3" name="Shape 1"/>
          <p:cNvSpPr/>
          <p:nvPr/>
        </p:nvSpPr>
        <p:spPr>
          <a:xfrm>
            <a:off x="548640"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822960"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7</a:t>
            </a:r>
            <a:endParaRPr lang="en-US" sz="4800" dirty="0"/>
          </a:p>
        </p:txBody>
      </p:sp>
      <p:sp>
        <p:nvSpPr>
          <p:cNvPr id="5" name="Text 3"/>
          <p:cNvSpPr txBox="1"/>
          <p:nvPr/>
        </p:nvSpPr>
        <p:spPr>
          <a:xfrm>
            <a:off x="822960"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ACC requirements</a:t>
            </a:r>
            <a:endParaRPr lang="en-US" sz="1500" dirty="0"/>
          </a:p>
        </p:txBody>
      </p:sp>
      <p:sp>
        <p:nvSpPr>
          <p:cNvPr id="6" name="Text 4"/>
          <p:cNvSpPr txBox="1"/>
          <p:nvPr/>
        </p:nvSpPr>
        <p:spPr>
          <a:xfrm>
            <a:off x="822960"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time gap, braking, cut-in, set speed, stop &amp; go, cut-out, comfort</a:t>
            </a:r>
            <a:endParaRPr lang="en-US" sz="1200" dirty="0"/>
          </a:p>
        </p:txBody>
      </p:sp>
      <p:sp>
        <p:nvSpPr>
          <p:cNvPr id="7" name="Shape 5"/>
          <p:cNvSpPr/>
          <p:nvPr/>
        </p:nvSpPr>
        <p:spPr>
          <a:xfrm>
            <a:off x="3364992"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3639312"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3</a:t>
            </a:r>
            <a:endParaRPr lang="en-US" sz="4800" dirty="0"/>
          </a:p>
        </p:txBody>
      </p:sp>
      <p:sp>
        <p:nvSpPr>
          <p:cNvPr id="9" name="Text 7"/>
          <p:cNvSpPr txBox="1"/>
          <p:nvPr/>
        </p:nvSpPr>
        <p:spPr>
          <a:xfrm>
            <a:off x="3639312"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LLMs via ChatGPT login</a:t>
            </a:r>
            <a:endParaRPr lang="en-US" sz="1500" dirty="0"/>
          </a:p>
        </p:txBody>
      </p:sp>
      <p:sp>
        <p:nvSpPr>
          <p:cNvPr id="10" name="Text 8"/>
          <p:cNvSpPr txBox="1"/>
          <p:nvPr/>
        </p:nvSpPr>
        <p:spPr>
          <a:xfrm>
            <a:off x="3639312"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gpt-5.6-luna · gpt-5.6-terra · gpt-6-astra</a:t>
            </a:r>
            <a:endParaRPr lang="en-US" sz="1200" dirty="0"/>
          </a:p>
        </p:txBody>
      </p:sp>
      <p:sp>
        <p:nvSpPr>
          <p:cNvPr id="11" name="Shape 9"/>
          <p:cNvSpPr/>
          <p:nvPr/>
        </p:nvSpPr>
        <p:spPr>
          <a:xfrm>
            <a:off x="6181344"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6455664"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10</a:t>
            </a:r>
            <a:endParaRPr lang="en-US" sz="4800" dirty="0"/>
          </a:p>
        </p:txBody>
      </p:sp>
      <p:sp>
        <p:nvSpPr>
          <p:cNvPr id="13" name="Text 11"/>
          <p:cNvSpPr txBox="1"/>
          <p:nvPr/>
        </p:nvSpPr>
        <p:spPr>
          <a:xfrm>
            <a:off x="6455664"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samples per requirement</a:t>
            </a:r>
            <a:endParaRPr lang="en-US" sz="1500" dirty="0"/>
          </a:p>
        </p:txBody>
      </p:sp>
      <p:sp>
        <p:nvSpPr>
          <p:cNvPr id="14" name="Text 12"/>
          <p:cNvSpPr txBox="1"/>
          <p:nvPr/>
        </p:nvSpPr>
        <p:spPr>
          <a:xfrm>
            <a:off x="6455664"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independent sessions, N = 10</a:t>
            </a:r>
            <a:endParaRPr lang="en-US" sz="1200" dirty="0"/>
          </a:p>
        </p:txBody>
      </p:sp>
      <p:sp>
        <p:nvSpPr>
          <p:cNvPr id="15" name="Shape 13"/>
          <p:cNvSpPr/>
          <p:nvPr/>
        </p:nvSpPr>
        <p:spPr>
          <a:xfrm>
            <a:off x="8997696" y="1371600"/>
            <a:ext cx="2633472" cy="2148840"/>
          </a:xfrm>
          <a:prstGeom prst="roundRect">
            <a:avLst>
              <a:gd name="adj" fmla="val 5106"/>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9272016" y="1463040"/>
            <a:ext cx="2194560" cy="86868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8</a:t>
            </a:r>
            <a:endParaRPr lang="en-US" sz="4800" dirty="0"/>
          </a:p>
        </p:txBody>
      </p:sp>
      <p:sp>
        <p:nvSpPr>
          <p:cNvPr id="17" name="Text 15"/>
          <p:cNvSpPr txBox="1"/>
          <p:nvPr/>
        </p:nvSpPr>
        <p:spPr>
          <a:xfrm>
            <a:off x="9272016" y="2331720"/>
            <a:ext cx="2194560" cy="36576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seeded controller faults</a:t>
            </a:r>
            <a:endParaRPr lang="en-US" sz="1500" dirty="0"/>
          </a:p>
        </p:txBody>
      </p:sp>
      <p:sp>
        <p:nvSpPr>
          <p:cNvPr id="18" name="Text 16"/>
          <p:cNvSpPr txBox="1"/>
          <p:nvPr/>
        </p:nvSpPr>
        <p:spPr>
          <a:xfrm>
            <a:off x="9272016" y="2697480"/>
            <a:ext cx="2194560" cy="731520"/>
          </a:xfrm>
          <a:prstGeom prst="rect">
            <a:avLst/>
          </a:prstGeom>
          <a:noFill/>
          <a:ln/>
        </p:spPr>
        <p:txBody>
          <a:bodyPr wrap="square" lIns="0" tIns="0" rIns="0" bIns="0" rtlCol="0" anchor="t"/>
          <a:lstStyle/>
          <a:p>
            <a:pPr marL="0" indent="0">
              <a:buNone/>
            </a:pPr>
            <a:r>
              <a:rPr lang="en-US" sz="1200" dirty="0">
                <a:solidFill>
                  <a:srgbClr val="5B6578"/>
                </a:solidFill>
                <a:latin typeface="Calibri" pitchFamily="34" charset="0"/>
                <a:ea typeface="Calibri" pitchFamily="34" charset="-122"/>
                <a:cs typeface="Calibri" pitchFamily="34" charset="-120"/>
              </a:rPr>
              <a:t>gap, AEB, perception, actuator, logic</a:t>
            </a:r>
            <a:endParaRPr lang="en-US" sz="1200" dirty="0"/>
          </a:p>
        </p:txBody>
      </p:sp>
      <p:sp>
        <p:nvSpPr>
          <p:cNvPr id="19" name="Text 17"/>
          <p:cNvSpPr txBox="1"/>
          <p:nvPr/>
        </p:nvSpPr>
        <p:spPr>
          <a:xfrm>
            <a:off x="548640" y="3794760"/>
            <a:ext cx="548640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Ground truth per generated test</a:t>
            </a:r>
            <a:endParaRPr lang="en-US" sz="1700" dirty="0"/>
          </a:p>
        </p:txBody>
      </p:sp>
      <p:sp>
        <p:nvSpPr>
          <p:cNvPr id="20" name="Text 18"/>
          <p:cNvSpPr txBox="1"/>
          <p:nvPr/>
        </p:nvSpPr>
        <p:spPr>
          <a:xfrm>
            <a:off x="548640" y="4206240"/>
            <a:ext cx="11094415" cy="1737360"/>
          </a:xfrm>
          <a:prstGeom prst="rect">
            <a:avLst/>
          </a:prstGeom>
          <a:noFill/>
          <a:ln/>
        </p:spPr>
        <p:txBody>
          <a:bodyPr wrap="square" lIns="0" tIns="0" rIns="0" bIns="0" rtlCol="0" anchor="t"/>
          <a:lstStyle/>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Correct: </a:t>
            </a:r>
            <a:r>
              <a:rPr lang="en-US" sz="1400" dirty="0">
                <a:solidFill>
                  <a:srgbClr val="1E2533"/>
                </a:solidFill>
                <a:latin typeface="Calibri" pitchFamily="34" charset="0"/>
                <a:ea typeface="Calibri" pitchFamily="34" charset="-122"/>
                <a:cs typeface="Calibri" pitchFamily="34" charset="-120"/>
              </a:rPr>
              <a:t>scenario exercises the requirement inside its ODD, and its oracle agrees with the reference formalisation on the correct SUT and all 8 faulty versions</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Effective: </a:t>
            </a:r>
            <a:r>
              <a:rPr lang="en-US" sz="1400" dirty="0">
                <a:solidFill>
                  <a:srgbClr val="1E2533"/>
                </a:solidFill>
                <a:latin typeface="Calibri" pitchFamily="34" charset="0"/>
                <a:ea typeface="Calibri" pitchFamily="34" charset="-122"/>
                <a:cs typeface="Calibri" pitchFamily="34" charset="-120"/>
              </a:rPr>
              <a:t>mutation score of the test's own oracle</a:t>
            </a:r>
            <a:endParaRPr lang="en-US" sz="1400" dirty="0"/>
          </a:p>
          <a:p>
            <a:pPr marL="177800" indent="-177800">
              <a:buSzPct val="100000"/>
              <a:buChar char="•"/>
            </a:pPr>
            <a:r>
              <a:rPr lang="en-US" sz="1400" b="1" dirty="0">
                <a:solidFill>
                  <a:srgbClr val="1E2533"/>
                </a:solidFill>
                <a:latin typeface="Calibri" pitchFamily="34" charset="0"/>
                <a:ea typeface="Calibri" pitchFamily="34" charset="-122"/>
                <a:cs typeface="Calibri" pitchFamily="34" charset="-120"/>
              </a:rPr>
              <a:t>Method: </a:t>
            </a:r>
            <a:r>
              <a:rPr lang="en-US" sz="1400" dirty="0">
                <a:solidFill>
                  <a:srgbClr val="1E2533"/>
                </a:solidFill>
                <a:latin typeface="Calibri" pitchFamily="34" charset="0"/>
                <a:ea typeface="Calibri" pitchFamily="34" charset="-122"/>
                <a:cs typeface="Calibri" pitchFamily="34" charset="-120"/>
              </a:rPr>
              <a:t>metric design fixed on a development round (5 requirements); all numbers here from a fresh held-out round</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3548662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Behavioural entropy beats the LLM's self-confidence</a:t>
            </a:r>
            <a:endParaRPr lang="en-US" sz="3000" dirty="0"/>
          </a:p>
        </p:txBody>
      </p:sp>
      <p:graphicFrame>
        <p:nvGraphicFramePr>
          <p:cNvPr id="3" name="Chart 0"/>
          <p:cNvGraphicFramePr/>
          <p:nvPr/>
        </p:nvGraphicFramePr>
        <p:xfrm>
          <a:off x="548640" y="1325880"/>
          <a:ext cx="69494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772400" y="1325880"/>
            <a:ext cx="3867912" cy="4480560"/>
          </a:xfrm>
          <a:prstGeom prst="roundRect">
            <a:avLst>
              <a:gd name="adj" fmla="val 2837"/>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8046720" y="1463040"/>
            <a:ext cx="3383280" cy="822960"/>
          </a:xfrm>
          <a:prstGeom prst="rect">
            <a:avLst/>
          </a:prstGeom>
          <a:noFill/>
          <a:ln/>
        </p:spPr>
        <p:txBody>
          <a:bodyPr wrap="square" lIns="0" tIns="0" rIns="0" bIns="0" rtlCol="0" anchor="t"/>
          <a:lstStyle/>
          <a:p>
            <a:pPr marL="0" indent="0">
              <a:buNone/>
            </a:pPr>
            <a:r>
              <a:rPr lang="en-US" sz="4800" b="1" dirty="0">
                <a:solidFill>
                  <a:srgbClr val="0F8B8D"/>
                </a:solidFill>
                <a:latin typeface="Cambria" pitchFamily="34" charset="0"/>
                <a:ea typeface="Cambria" pitchFamily="34" charset="-122"/>
                <a:cs typeface="Cambria" pitchFamily="34" charset="-120"/>
              </a:rPr>
              <a:t>0.90</a:t>
            </a:r>
            <a:endParaRPr lang="en-US" sz="4800" dirty="0"/>
          </a:p>
        </p:txBody>
      </p:sp>
      <p:sp>
        <p:nvSpPr>
          <p:cNvPr id="6" name="Text 3"/>
          <p:cNvSpPr txBox="1"/>
          <p:nvPr/>
        </p:nvSpPr>
        <p:spPr>
          <a:xfrm>
            <a:off x="8046720" y="2286000"/>
            <a:ext cx="3383280" cy="6400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AUROC of behavioural entropy vs. 0.74 for the LLM's own confidence</a:t>
            </a:r>
            <a:endParaRPr lang="en-US" sz="1400" dirty="0"/>
          </a:p>
        </p:txBody>
      </p:sp>
      <p:sp>
        <p:nvSpPr>
          <p:cNvPr id="7" name="Text 4"/>
          <p:cNvSpPr txBox="1"/>
          <p:nvPr/>
        </p:nvSpPr>
        <p:spPr>
          <a:xfrm>
            <a:off x="8046720" y="3063240"/>
            <a:ext cx="342900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Ranks the 17 incorrect tests (of 210) mostly at the top</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Batch level: behavioural entropy vs. share of correct tests, Spearman ρ = -0.85</a:t>
            </a:r>
            <a:endParaRPr lang="en-US" sz="1300" dirty="0"/>
          </a:p>
          <a:p>
            <a:pPr marL="177800" indent="-177800">
              <a:buSzPct val="100000"/>
              <a:buChar char="•"/>
            </a:pPr>
            <a:r>
              <a:rPr lang="en-US" sz="1300" b="1" dirty="0">
                <a:solidFill>
                  <a:srgbClr val="1E2533"/>
                </a:solidFill>
                <a:latin typeface="Calibri" pitchFamily="34" charset="0"/>
                <a:ea typeface="Calibri" pitchFamily="34" charset="-122"/>
                <a:cs typeface="Calibri" pitchFamily="34" charset="-120"/>
              </a:rPr>
              <a:t>Honest caveat: </a:t>
            </a:r>
            <a:r>
              <a:rPr lang="en-US" sz="1300" dirty="0">
                <a:solidFill>
                  <a:srgbClr val="1E2533"/>
                </a:solidFill>
                <a:latin typeface="Calibri" pitchFamily="34" charset="0"/>
                <a:ea typeface="Calibri" pitchFamily="34" charset="-122"/>
                <a:cs typeface="Calibri" pitchFamily="34" charset="-120"/>
              </a:rPr>
              <a:t>within one requirement the signal drops to 0.71 — it mostly flags hard requirements</a:t>
            </a:r>
            <a:endParaRPr lang="en-US" sz="1300" dirty="0"/>
          </a:p>
        </p:txBody>
      </p:sp>
      <p:sp>
        <p:nvSpPr>
          <p:cNvPr id="8" name="Text 5"/>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Held-out round, 210 tests; within-batch AUROC averaged over the 6 batches that contain incorrect tests.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extLst>
      <p:ext uri="{BB962C8B-B14F-4D97-AF65-F5344CB8AC3E}">
        <p14:creationId xmlns:p14="http://schemas.microsoft.com/office/powerpoint/2010/main" val="1539069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Risk-based triage: 77% auto-accepted at 98.8% precision</a:t>
            </a:r>
            <a:endParaRPr lang="en-US" sz="3000" dirty="0"/>
          </a:p>
        </p:txBody>
      </p:sp>
      <p:graphicFrame>
        <p:nvGraphicFramePr>
          <p:cNvPr id="3" name="Chart 0"/>
          <p:cNvGraphicFramePr/>
          <p:nvPr/>
        </p:nvGraphicFramePr>
        <p:xfrm>
          <a:off x="548640" y="1325880"/>
          <a:ext cx="585216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720840" y="1325880"/>
            <a:ext cx="4919472" cy="1078992"/>
          </a:xfrm>
          <a:prstGeom prst="roundRect">
            <a:avLst>
              <a:gd name="adj" fmla="val 10169"/>
            </a:avLst>
          </a:prstGeom>
          <a:solidFill>
            <a:srgbClr val="E7F4EC"/>
          </a:solidFill>
          <a:ln w="12700">
            <a:solidFill>
              <a:srgbClr val="E7F4EC"/>
            </a:solidFill>
            <a:prstDash val="solid"/>
          </a:ln>
        </p:spPr>
        <p:txBody>
          <a:bodyPr/>
          <a:lstStyle/>
          <a:p>
            <a:endParaRPr lang="en-US"/>
          </a:p>
        </p:txBody>
      </p:sp>
      <p:sp>
        <p:nvSpPr>
          <p:cNvPr id="5" name="Text 2"/>
          <p:cNvSpPr txBox="1"/>
          <p:nvPr/>
        </p:nvSpPr>
        <p:spPr>
          <a:xfrm>
            <a:off x="6949440" y="1435608"/>
            <a:ext cx="1097280" cy="822960"/>
          </a:xfrm>
          <a:prstGeom prst="rect">
            <a:avLst/>
          </a:prstGeom>
          <a:noFill/>
          <a:ln/>
        </p:spPr>
        <p:txBody>
          <a:bodyPr wrap="square" lIns="0" tIns="0" rIns="0" bIns="0" rtlCol="0" anchor="ctr"/>
          <a:lstStyle/>
          <a:p>
            <a:pPr marL="0" indent="0">
              <a:buNone/>
            </a:pPr>
            <a:r>
              <a:rPr lang="en-US" sz="4000" b="1" dirty="0">
                <a:solidFill>
                  <a:srgbClr val="2E8B57"/>
                </a:solidFill>
                <a:latin typeface="Cambria" pitchFamily="34" charset="0"/>
                <a:ea typeface="Cambria" pitchFamily="34" charset="-122"/>
                <a:cs typeface="Cambria" pitchFamily="34" charset="-120"/>
              </a:rPr>
              <a:t>162</a:t>
            </a:r>
            <a:endParaRPr lang="en-US" sz="4000" dirty="0"/>
          </a:p>
        </p:txBody>
      </p:sp>
      <p:sp>
        <p:nvSpPr>
          <p:cNvPr id="6" name="Text 3"/>
          <p:cNvSpPr txBox="1"/>
          <p:nvPr/>
        </p:nvSpPr>
        <p:spPr>
          <a:xfrm>
            <a:off x="8092440" y="1463040"/>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Auto-accept</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160 correct · precision 99%</a:t>
            </a:r>
            <a:endParaRPr lang="en-US" sz="1600" dirty="0"/>
          </a:p>
        </p:txBody>
      </p:sp>
      <p:sp>
        <p:nvSpPr>
          <p:cNvPr id="7" name="Shape 4"/>
          <p:cNvSpPr/>
          <p:nvPr/>
        </p:nvSpPr>
        <p:spPr>
          <a:xfrm>
            <a:off x="6720840" y="2532888"/>
            <a:ext cx="4919472" cy="1078992"/>
          </a:xfrm>
          <a:prstGeom prst="roundRect">
            <a:avLst>
              <a:gd name="adj" fmla="val 10169"/>
            </a:avLst>
          </a:prstGeom>
          <a:solidFill>
            <a:srgbClr val="FFF4E0"/>
          </a:solidFill>
          <a:ln w="12700">
            <a:solidFill>
              <a:srgbClr val="FFF4E0"/>
            </a:solidFill>
            <a:prstDash val="solid"/>
          </a:ln>
        </p:spPr>
        <p:txBody>
          <a:bodyPr/>
          <a:lstStyle/>
          <a:p>
            <a:endParaRPr lang="en-US"/>
          </a:p>
        </p:txBody>
      </p:sp>
      <p:sp>
        <p:nvSpPr>
          <p:cNvPr id="8" name="Text 5"/>
          <p:cNvSpPr txBox="1"/>
          <p:nvPr/>
        </p:nvSpPr>
        <p:spPr>
          <a:xfrm>
            <a:off x="6949440" y="2642616"/>
            <a:ext cx="1097280" cy="822960"/>
          </a:xfrm>
          <a:prstGeom prst="rect">
            <a:avLst/>
          </a:prstGeom>
          <a:noFill/>
          <a:ln/>
        </p:spPr>
        <p:txBody>
          <a:bodyPr wrap="square" lIns="0" tIns="0" rIns="0" bIns="0" rtlCol="0" anchor="ctr"/>
          <a:lstStyle/>
          <a:p>
            <a:pPr marL="0" indent="0">
              <a:buNone/>
            </a:pPr>
            <a:r>
              <a:rPr lang="en-US" sz="4000" b="1" dirty="0">
                <a:solidFill>
                  <a:srgbClr val="E39B2D"/>
                </a:solidFill>
                <a:latin typeface="Cambria" pitchFamily="34" charset="0"/>
                <a:ea typeface="Cambria" pitchFamily="34" charset="-122"/>
                <a:cs typeface="Cambria" pitchFamily="34" charset="-120"/>
              </a:rPr>
              <a:t>39</a:t>
            </a:r>
            <a:endParaRPr lang="en-US" sz="4000" dirty="0"/>
          </a:p>
        </p:txBody>
      </p:sp>
      <p:sp>
        <p:nvSpPr>
          <p:cNvPr id="9" name="Text 6"/>
          <p:cNvSpPr txBox="1"/>
          <p:nvPr/>
        </p:nvSpPr>
        <p:spPr>
          <a:xfrm>
            <a:off x="8092440" y="2670048"/>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Human review</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30 correct · precision 77%</a:t>
            </a:r>
            <a:endParaRPr lang="en-US" sz="1600" dirty="0"/>
          </a:p>
        </p:txBody>
      </p:sp>
      <p:sp>
        <p:nvSpPr>
          <p:cNvPr id="10" name="Shape 7"/>
          <p:cNvSpPr/>
          <p:nvPr/>
        </p:nvSpPr>
        <p:spPr>
          <a:xfrm>
            <a:off x="6720840" y="3739896"/>
            <a:ext cx="4919472" cy="1078992"/>
          </a:xfrm>
          <a:prstGeom prst="roundRect">
            <a:avLst>
              <a:gd name="adj" fmla="val 10169"/>
            </a:avLst>
          </a:prstGeom>
          <a:solidFill>
            <a:srgbClr val="FDECEA"/>
          </a:solidFill>
          <a:ln w="12700">
            <a:solidFill>
              <a:srgbClr val="FDECEA"/>
            </a:solidFill>
            <a:prstDash val="solid"/>
          </a:ln>
        </p:spPr>
        <p:txBody>
          <a:bodyPr/>
          <a:lstStyle/>
          <a:p>
            <a:endParaRPr lang="en-US"/>
          </a:p>
        </p:txBody>
      </p:sp>
      <p:sp>
        <p:nvSpPr>
          <p:cNvPr id="11" name="Text 8"/>
          <p:cNvSpPr txBox="1"/>
          <p:nvPr/>
        </p:nvSpPr>
        <p:spPr>
          <a:xfrm>
            <a:off x="6949440" y="3849624"/>
            <a:ext cx="1097280" cy="822960"/>
          </a:xfrm>
          <a:prstGeom prst="rect">
            <a:avLst/>
          </a:prstGeom>
          <a:noFill/>
          <a:ln/>
        </p:spPr>
        <p:txBody>
          <a:bodyPr wrap="square" lIns="0" tIns="0" rIns="0" bIns="0" rtlCol="0" anchor="ctr"/>
          <a:lstStyle/>
          <a:p>
            <a:pPr marL="0" indent="0">
              <a:buNone/>
            </a:pPr>
            <a:r>
              <a:rPr lang="en-US" sz="4000" b="1" dirty="0">
                <a:solidFill>
                  <a:srgbClr val="C8463D"/>
                </a:solidFill>
                <a:latin typeface="Cambria" pitchFamily="34" charset="0"/>
                <a:ea typeface="Cambria" pitchFamily="34" charset="-122"/>
                <a:cs typeface="Cambria" pitchFamily="34" charset="-120"/>
              </a:rPr>
              <a:t>9</a:t>
            </a:r>
            <a:endParaRPr lang="en-US" sz="4000" dirty="0"/>
          </a:p>
        </p:txBody>
      </p:sp>
      <p:sp>
        <p:nvSpPr>
          <p:cNvPr id="12" name="Text 9"/>
          <p:cNvSpPr txBox="1"/>
          <p:nvPr/>
        </p:nvSpPr>
        <p:spPr>
          <a:xfrm>
            <a:off x="8092440" y="3877056"/>
            <a:ext cx="3429000" cy="822960"/>
          </a:xfrm>
          <a:prstGeom prst="rect">
            <a:avLst/>
          </a:prstGeom>
          <a:noFill/>
          <a:ln/>
        </p:spPr>
        <p:txBody>
          <a:bodyPr wrap="square" lIns="0" tIns="0" rIns="0" bIns="0" rtlCol="0" anchor="ctr"/>
          <a:lstStyle/>
          <a:p>
            <a:pPr marL="0" indent="0">
              <a:buNone/>
            </a:pPr>
            <a:r>
              <a:rPr lang="en-US" sz="1600" b="1" dirty="0">
                <a:solidFill>
                  <a:srgbClr val="13213C"/>
                </a:solidFill>
                <a:latin typeface="Calibri" pitchFamily="34" charset="0"/>
                <a:ea typeface="Calibri" pitchFamily="34" charset="-122"/>
                <a:cs typeface="Calibri" pitchFamily="34" charset="-120"/>
              </a:rPr>
              <a:t>Reject / regenerate</a:t>
            </a:r>
            <a:endParaRPr lang="en-US" sz="1600" dirty="0"/>
          </a:p>
          <a:p>
            <a:pPr marL="0" indent="0">
              <a:buNone/>
            </a:pPr>
            <a:r>
              <a:rPr lang="en-US" sz="1400" dirty="0">
                <a:solidFill>
                  <a:srgbClr val="1E2533"/>
                </a:solidFill>
                <a:latin typeface="Calibri" pitchFamily="34" charset="0"/>
                <a:ea typeface="Calibri" pitchFamily="34" charset="-122"/>
                <a:cs typeface="Calibri" pitchFamily="34" charset="-120"/>
              </a:rPr>
              <a:t>3 correct · precision 33%</a:t>
            </a:r>
            <a:endParaRPr lang="en-US" sz="1600" dirty="0"/>
          </a:p>
        </p:txBody>
      </p:sp>
      <p:sp>
        <p:nvSpPr>
          <p:cNvPr id="13" name="Shape 10"/>
          <p:cNvSpPr/>
          <p:nvPr/>
        </p:nvSpPr>
        <p:spPr>
          <a:xfrm>
            <a:off x="6720840" y="4983480"/>
            <a:ext cx="4919472" cy="822960"/>
          </a:xfrm>
          <a:prstGeom prst="roundRect">
            <a:avLst>
              <a:gd name="adj" fmla="val 13333"/>
            </a:avLst>
          </a:prstGeom>
          <a:solidFill>
            <a:srgbClr val="F2F5F9"/>
          </a:solidFill>
          <a:ln w="12700">
            <a:solidFill>
              <a:srgbClr val="F2F5F9"/>
            </a:solidFill>
            <a:prstDash val="solid"/>
          </a:ln>
        </p:spPr>
        <p:txBody>
          <a:bodyPr/>
          <a:lstStyle/>
          <a:p>
            <a:endParaRPr lang="en-US"/>
          </a:p>
        </p:txBody>
      </p:sp>
      <p:sp>
        <p:nvSpPr>
          <p:cNvPr id="14" name="Text 11"/>
          <p:cNvSpPr txBox="1"/>
          <p:nvPr/>
        </p:nvSpPr>
        <p:spPr>
          <a:xfrm>
            <a:off x="6949440" y="5029200"/>
            <a:ext cx="4526280" cy="731520"/>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Cost: ~16 s and ~2900 tokens per sample; ~1.0 s to simulate one test on 9 versions.</a:t>
            </a:r>
            <a:endParaRPr lang="en-US" sz="1300" dirty="0"/>
          </a:p>
        </p:txBody>
      </p:sp>
      <p:sp>
        <p:nvSpPr>
          <p:cNvPr id="15" name="Text 12"/>
          <p:cNvSpPr txBox="1"/>
          <p:nvPr/>
        </p:nvSpPr>
        <p:spPr>
          <a:xfrm>
            <a:off x="548640" y="6144768"/>
            <a:ext cx="11094415" cy="274320"/>
          </a:xfrm>
          <a:prstGeom prst="rect">
            <a:avLst/>
          </a:prstGeom>
          <a:noFill/>
          <a:ln/>
        </p:spPr>
        <p:txBody>
          <a:bodyPr wrap="square" lIns="0" tIns="0" rIns="0" bIns="0" rtlCol="0" anchor="t"/>
          <a:lstStyle/>
          <a:p>
            <a:pPr marL="0" indent="0">
              <a:buNone/>
            </a:pPr>
            <a:r>
              <a:rPr lang="en-US" sz="1000" i="1" dirty="0">
                <a:solidFill>
                  <a:srgbClr val="5B6578"/>
                </a:solidFill>
                <a:latin typeface="Calibri" pitchFamily="34" charset="0"/>
                <a:ea typeface="Calibri" pitchFamily="34" charset="-122"/>
                <a:cs typeface="Calibri" pitchFamily="34" charset="-120"/>
              </a:rPr>
              <a:t>Accepting all tests gives 92% correct. Thresholds (accept ≤ 0.25 &lt; review &lt; 0.55 ≤ reject) are heuristic; calibrating them against risk is objective O2.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extLst>
      <p:ext uri="{BB962C8B-B14F-4D97-AF65-F5344CB8AC3E}">
        <p14:creationId xmlns:p14="http://schemas.microsoft.com/office/powerpoint/2010/main" val="2464745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the demo cannot do yet becomes the research agenda</a:t>
            </a:r>
            <a:endParaRPr lang="en-US" sz="3000" dirty="0"/>
          </a:p>
        </p:txBody>
      </p:sp>
      <p:graphicFrame>
        <p:nvGraphicFramePr>
          <p:cNvPr id="16" name="Table 0"/>
          <p:cNvGraphicFramePr>
            <a:graphicFrameLocks noGrp="1"/>
          </p:cNvGraphicFramePr>
          <p:nvPr/>
        </p:nvGraphicFramePr>
        <p:xfrm>
          <a:off x="548640" y="1371600"/>
          <a:ext cx="11091672" cy="4800600"/>
        </p:xfrm>
        <a:graphic>
          <a:graphicData uri="http://schemas.openxmlformats.org/drawingml/2006/table">
            <a:tbl>
              <a:tblPr/>
              <a:tblGrid>
                <a:gridCol w="4937760">
                  <a:extLst>
                    <a:ext uri="{9D8B030D-6E8A-4147-A177-3AD203B41FA5}">
                      <a16:colId xmlns:a16="http://schemas.microsoft.com/office/drawing/2014/main" val="20000"/>
                    </a:ext>
                  </a:extLst>
                </a:gridCol>
                <a:gridCol w="5239512">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960120">
                <a:tc>
                  <a:txBody>
                    <a:bodyPr/>
                    <a:lstStyle/>
                    <a:p>
                      <a:pPr marL="0" indent="0">
                        <a:buNone/>
                      </a:pPr>
                      <a:r>
                        <a:rPr lang="en-US" sz="1400" b="1" dirty="0">
                          <a:solidFill>
                            <a:srgbClr val="FFFFFF"/>
                          </a:solidFill>
                        </a:rPr>
                        <a:t>Gap seen in the demo</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Research direction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000000"/>
                          </a:solidFill>
                        </a:rPr>
                        <a:t>Per-test signal is weak within a requirement (AUROC 0.71); black-box only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White-box (log-prob) and trajectory-level metrics; semantic oracle equivalence; calibration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000000"/>
                          </a:solidFill>
                        </a:rPr>
                        <a:t>Thresholds are heuristic; risk ignores the severity of the requirement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Risk = uncertainty × consequence; conformal / selective guarantees; cost-aware review budget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000000"/>
                          </a:solidFill>
                        </a:rPr>
                        <a:t>Uncertainty vs. effectiveness only hinted (ρ = -0.28 with mutation score); cost of N samples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Large study: correctness, fault detection, flakiness, latency and token cost vs. uncertainty</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400" dirty="0">
                          <a:solidFill>
                            <a:srgbClr val="000000"/>
                          </a:solidFill>
                        </a:rPr>
                        <a:t>3 hosted LLMs, 1 simulator, 1 SUT, seeded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Open-source ACPS + industrial cases + InnoGuard platform; newer models; quantum ML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extLst>
      <p:ext uri="{BB962C8B-B14F-4D97-AF65-F5344CB8AC3E}">
        <p14:creationId xmlns:p14="http://schemas.microsoft.com/office/powerpoint/2010/main" val="311681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3" name="Shape 1"/>
          <p:cNvSpPr/>
          <p:nvPr/>
        </p:nvSpPr>
        <p:spPr>
          <a:xfrm>
            <a:off x="548640" y="1325880"/>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4" name="Text 2"/>
          <p:cNvSpPr txBox="1"/>
          <p:nvPr/>
        </p:nvSpPr>
        <p:spPr>
          <a:xfrm>
            <a:off x="777240" y="1490472"/>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5" name="Text 3"/>
          <p:cNvSpPr txBox="1"/>
          <p:nvPr/>
        </p:nvSpPr>
        <p:spPr>
          <a:xfrm>
            <a:off x="1783080" y="1435608"/>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6" name="Text 4"/>
          <p:cNvSpPr txBox="1"/>
          <p:nvPr/>
        </p:nvSpPr>
        <p:spPr>
          <a:xfrm>
            <a:off x="6537960" y="1435608"/>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7" name="Shape 5"/>
          <p:cNvSpPr/>
          <p:nvPr/>
        </p:nvSpPr>
        <p:spPr>
          <a:xfrm>
            <a:off x="548640" y="2496312"/>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8" name="Text 6"/>
          <p:cNvSpPr txBox="1"/>
          <p:nvPr/>
        </p:nvSpPr>
        <p:spPr>
          <a:xfrm>
            <a:off x="777240" y="2660904"/>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9" name="Text 7"/>
          <p:cNvSpPr txBox="1"/>
          <p:nvPr/>
        </p:nvSpPr>
        <p:spPr>
          <a:xfrm>
            <a:off x="1783080" y="2606040"/>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0" name="Text 8"/>
          <p:cNvSpPr txBox="1"/>
          <p:nvPr/>
        </p:nvSpPr>
        <p:spPr>
          <a:xfrm>
            <a:off x="6537960" y="2606040"/>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1" name="Shape 9"/>
          <p:cNvSpPr/>
          <p:nvPr/>
        </p:nvSpPr>
        <p:spPr>
          <a:xfrm>
            <a:off x="548640" y="3666744"/>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2" name="Text 10"/>
          <p:cNvSpPr txBox="1"/>
          <p:nvPr/>
        </p:nvSpPr>
        <p:spPr>
          <a:xfrm>
            <a:off x="777240" y="3831336"/>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3" name="Text 11"/>
          <p:cNvSpPr txBox="1"/>
          <p:nvPr/>
        </p:nvSpPr>
        <p:spPr>
          <a:xfrm>
            <a:off x="1783080" y="3776472"/>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4" name="Text 12"/>
          <p:cNvSpPr txBox="1"/>
          <p:nvPr/>
        </p:nvSpPr>
        <p:spPr>
          <a:xfrm>
            <a:off x="6537960" y="3776472"/>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5" name="Shape 13"/>
          <p:cNvSpPr/>
          <p:nvPr/>
        </p:nvSpPr>
        <p:spPr>
          <a:xfrm>
            <a:off x="548640" y="4837176"/>
            <a:ext cx="11094415" cy="1024128"/>
          </a:xfrm>
          <a:prstGeom prst="roundRect">
            <a:avLst>
              <a:gd name="adj" fmla="val 10714"/>
            </a:avLst>
          </a:prstGeom>
          <a:solidFill>
            <a:srgbClr val="F2F5F9"/>
          </a:solidFill>
          <a:ln w="12700">
            <a:solidFill>
              <a:srgbClr val="F2F5F9"/>
            </a:solidFill>
            <a:prstDash val="solid"/>
          </a:ln>
        </p:spPr>
        <p:txBody>
          <a:bodyPr/>
          <a:lstStyle/>
          <a:p>
            <a:endParaRPr lang="en-US"/>
          </a:p>
        </p:txBody>
      </p:sp>
      <p:sp>
        <p:nvSpPr>
          <p:cNvPr id="16" name="Text 14"/>
          <p:cNvSpPr txBox="1"/>
          <p:nvPr/>
        </p:nvSpPr>
        <p:spPr>
          <a:xfrm>
            <a:off x="777240" y="5001768"/>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7" name="Text 15"/>
          <p:cNvSpPr txBox="1"/>
          <p:nvPr/>
        </p:nvSpPr>
        <p:spPr>
          <a:xfrm>
            <a:off x="1783080" y="4946904"/>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8" name="Text 16"/>
          <p:cNvSpPr txBox="1"/>
          <p:nvPr/>
        </p:nvSpPr>
        <p:spPr>
          <a:xfrm>
            <a:off x="6537960" y="4946904"/>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
        <p:nvSpPr>
          <p:cNvPr id="901" name="Footnote References"/>
          <p:cNvSpPr txBox="1"/>
          <p:nvPr/>
        </p:nvSpPr>
        <p:spPr>
          <a:xfrm>
            <a:off x="546100" y="6045200"/>
            <a:ext cx="11099800" cy="3429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[20] X. Wang et al., “Quantum machine learning-based test oracle for autonomous mobile robots,” Proc. IEEE/ACM ASE, 2025.</a:t>
            </a:r>
          </a:p>
          <a:p>
            <a:pPr marL="0" indent="0">
              <a:lnSpc>
                <a:spcPct val="100000"/>
              </a:lnSpc>
              <a:buNone/>
            </a:pPr>
            <a:r>
              <a:rPr lang="en-US" sz="900" dirty="0">
                <a:solidFill>
                  <a:srgbClr val="5B6578"/>
                </a:solidFill>
                <a:latin typeface="Calibri" pitchFamily="34" charset="0"/>
              </a:rPr>
              <a:t>[21] X. Wang et al., “Application of quantum extreme learning machines for QoS prediction of elevators' software in an industrial context,” Companion Proc. ACM FSE, 2024.</a:t>
            </a:r>
          </a:p>
        </p:txBody>
      </p:sp>
    </p:spTree>
    <p:extLst>
      <p:ext uri="{BB962C8B-B14F-4D97-AF65-F5344CB8AC3E}">
        <p14:creationId xmlns:p14="http://schemas.microsoft.com/office/powerpoint/2010/main" val="1719630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3" name="Shape 1"/>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4" name="Text 2"/>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5" name="Shape 3"/>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6" name="Text 4"/>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7" name="Shape 5"/>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8" name="Text 6"/>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9" name="Text 7"/>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0" name="Shape 8"/>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1" name="Text 9"/>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2" name="Shape 10"/>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3" name="Text 11"/>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4" name="Shape 12"/>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5" name="Text 13"/>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6" name="Shape 14"/>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7" name="Text 15"/>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8" name="Shape 16"/>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19" name="Text 17"/>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0" name="Shape 18"/>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1" name="Text 19"/>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2" name="Shape 20"/>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3" name="Text 21"/>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4" name="Shape 22"/>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5" name="Shape 23"/>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6" name="Text 24"/>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7" name="Shape 25"/>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8" name="Text 26"/>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29" name="Shape 27"/>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0" name="Text 28"/>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1" name="Shape 29"/>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2" name="Text 30"/>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3" name="Shape 31"/>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4" name="Text 32"/>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5" name="Text 33"/>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6"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15</a:t>
            </a:fld>
            <a:endParaRPr lang="en-US"/>
          </a:p>
        </p:txBody>
      </p:sp>
    </p:spTree>
    <p:extLst>
      <p:ext uri="{BB962C8B-B14F-4D97-AF65-F5344CB8AC3E}">
        <p14:creationId xmlns:p14="http://schemas.microsoft.com/office/powerpoint/2010/main" val="3974412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3" name="Shape 1"/>
          <p:cNvSpPr/>
          <p:nvPr/>
        </p:nvSpPr>
        <p:spPr>
          <a:xfrm>
            <a:off x="548640" y="148132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08660" y="1641348"/>
            <a:ext cx="320040" cy="320040"/>
          </a:xfrm>
          <a:prstGeom prst="rect">
            <a:avLst/>
          </a:prstGeom>
        </p:spPr>
      </p:pic>
      <p:sp>
        <p:nvSpPr>
          <p:cNvPr id="5" name="Text 2"/>
          <p:cNvSpPr txBox="1"/>
          <p:nvPr/>
        </p:nvSpPr>
        <p:spPr>
          <a:xfrm>
            <a:off x="1417320" y="144475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6" name="Text 3"/>
          <p:cNvSpPr txBox="1"/>
          <p:nvPr/>
        </p:nvSpPr>
        <p:spPr>
          <a:xfrm>
            <a:off x="3200400" y="144475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 artefacts, incl. behavioural entropy for executable CPS tests</a:t>
            </a:r>
            <a:endParaRPr lang="en-US" sz="1400" dirty="0"/>
          </a:p>
        </p:txBody>
      </p:sp>
      <p:sp>
        <p:nvSpPr>
          <p:cNvPr id="7" name="Shape 4"/>
          <p:cNvSpPr/>
          <p:nvPr/>
        </p:nvSpPr>
        <p:spPr>
          <a:xfrm>
            <a:off x="548640" y="2505456"/>
            <a:ext cx="640080" cy="640080"/>
          </a:xfrm>
          <a:prstGeom prst="ellipse">
            <a:avLst/>
          </a:prstGeom>
          <a:solidFill>
            <a:srgbClr val="3567C8"/>
          </a:solidFill>
          <a:ln w="12700">
            <a:solidFill>
              <a:srgbClr val="3567C8"/>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08660" y="2665476"/>
            <a:ext cx="320040" cy="320040"/>
          </a:xfrm>
          <a:prstGeom prst="rect">
            <a:avLst/>
          </a:prstGeom>
        </p:spPr>
      </p:pic>
      <p:sp>
        <p:nvSpPr>
          <p:cNvPr id="9" name="Text 5"/>
          <p:cNvSpPr txBox="1"/>
          <p:nvPr/>
        </p:nvSpPr>
        <p:spPr>
          <a:xfrm>
            <a:off x="1417320" y="2468880"/>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0" name="Text 6"/>
          <p:cNvSpPr txBox="1"/>
          <p:nvPr/>
        </p:nvSpPr>
        <p:spPr>
          <a:xfrm>
            <a:off x="3200400" y="2468880"/>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1" name="Shape 7"/>
          <p:cNvSpPr/>
          <p:nvPr/>
        </p:nvSpPr>
        <p:spPr>
          <a:xfrm>
            <a:off x="548640" y="3529584"/>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08660" y="3689604"/>
            <a:ext cx="320040" cy="320040"/>
          </a:xfrm>
          <a:prstGeom prst="rect">
            <a:avLst/>
          </a:prstGeom>
        </p:spPr>
      </p:pic>
      <p:sp>
        <p:nvSpPr>
          <p:cNvPr id="13" name="Text 8"/>
          <p:cNvSpPr txBox="1"/>
          <p:nvPr/>
        </p:nvSpPr>
        <p:spPr>
          <a:xfrm>
            <a:off x="1417320" y="349300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4" name="Text 9"/>
          <p:cNvSpPr txBox="1"/>
          <p:nvPr/>
        </p:nvSpPr>
        <p:spPr>
          <a:xfrm>
            <a:off x="3200400" y="349300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5" name="Shape 10"/>
          <p:cNvSpPr/>
          <p:nvPr/>
        </p:nvSpPr>
        <p:spPr>
          <a:xfrm>
            <a:off x="548640" y="4553712"/>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708660" y="4713732"/>
            <a:ext cx="320040" cy="320040"/>
          </a:xfrm>
          <a:prstGeom prst="rect">
            <a:avLst/>
          </a:prstGeom>
        </p:spPr>
      </p:pic>
      <p:sp>
        <p:nvSpPr>
          <p:cNvPr id="17" name="Text 11"/>
          <p:cNvSpPr txBox="1"/>
          <p:nvPr/>
        </p:nvSpPr>
        <p:spPr>
          <a:xfrm>
            <a:off x="1417320" y="4517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8" name="Text 12"/>
          <p:cNvSpPr txBox="1"/>
          <p:nvPr/>
        </p:nvSpPr>
        <p:spPr>
          <a:xfrm>
            <a:off x="3200400" y="4517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Open benchmark, tool and replication packages; integration with the InnoGuard platform</a:t>
            </a:r>
            <a:endParaRPr lang="en-US" sz="1400" dirty="0"/>
          </a:p>
        </p:txBody>
      </p:sp>
      <p:sp>
        <p:nvSpPr>
          <p:cNvPr id="19" name="Shape 13"/>
          <p:cNvSpPr/>
          <p:nvPr/>
        </p:nvSpPr>
        <p:spPr>
          <a:xfrm>
            <a:off x="7406640" y="1371600"/>
            <a:ext cx="4233672" cy="4023360"/>
          </a:xfrm>
          <a:prstGeom prst="roundRect">
            <a:avLst>
              <a:gd name="adj" fmla="val 2727"/>
            </a:avLst>
          </a:prstGeom>
          <a:solidFill>
            <a:srgbClr val="F2F5F9"/>
          </a:solidFill>
          <a:ln w="12700">
            <a:solidFill>
              <a:srgbClr val="F2F5F9"/>
            </a:solidFill>
            <a:prstDash val="solid"/>
          </a:ln>
        </p:spPr>
        <p:txBody>
          <a:bodyPr/>
          <a:lstStyle/>
          <a:p>
            <a:endParaRPr lang="en-US"/>
          </a:p>
        </p:txBody>
      </p:sp>
      <p:sp>
        <p:nvSpPr>
          <p:cNvPr id="20" name="Text 14"/>
          <p:cNvSpPr txBox="1"/>
          <p:nvPr/>
        </p:nvSpPr>
        <p:spPr>
          <a:xfrm>
            <a:off x="7635240" y="153619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1" name="Text 15"/>
          <p:cNvSpPr txBox="1"/>
          <p:nvPr/>
        </p:nvSpPr>
        <p:spPr>
          <a:xfrm>
            <a:off x="7635240" y="1965960"/>
            <a:ext cx="3840480" cy="3291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
        <p:nvSpPr>
          <p:cNvPr id="901" name="Footnote References"/>
          <p:cNvSpPr txBox="1"/>
          <p:nvPr/>
        </p:nvSpPr>
        <p:spPr>
          <a:xfrm>
            <a:off x="546100" y="6045200"/>
            <a:ext cx="11099800" cy="3429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[10] C. Lu et al., “Foundation models for software engineering of cyber-physical systems: The road ahead,” ACM TOSEM, 2026.</a:t>
            </a:r>
          </a:p>
          <a:p>
            <a:pPr marL="0" indent="0">
              <a:lnSpc>
                <a:spcPct val="100000"/>
              </a:lnSpc>
              <a:buNone/>
            </a:pPr>
            <a:r>
              <a:rPr lang="en-US" sz="900" dirty="0">
                <a:solidFill>
                  <a:srgbClr val="5B6578"/>
                </a:solidFill>
                <a:latin typeface="Calibri" pitchFamily="34" charset="0"/>
              </a:rPr>
              <a:t>[11] S. Ali et al., “Foundation models for the digital twins creation of cyber-physical systems,” Proc. ISoLA 2024, LNCS, Springer, 2025.</a:t>
            </a:r>
          </a:p>
        </p:txBody>
      </p:sp>
    </p:spTree>
    <p:extLst>
      <p:ext uri="{BB962C8B-B14F-4D97-AF65-F5344CB8AC3E}">
        <p14:creationId xmlns:p14="http://schemas.microsoft.com/office/powerpoint/2010/main" val="2597912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mbria" pitchFamily="34" charset="0"/>
                <a:ea typeface="Cambria" pitchFamily="34" charset="-122"/>
                <a:cs typeface="Cambria" pitchFamily="34" charset="-120"/>
              </a:rPr>
              <a:t>Why me, why this team</a:t>
            </a:r>
            <a:endParaRPr lang="en-US" sz="4000" dirty="0"/>
          </a:p>
        </p:txBody>
      </p:sp>
      <p:sp>
        <p:nvSpPr>
          <p:cNvPr id="3" name="Shape 1"/>
          <p:cNvSpPr/>
          <p:nvPr/>
        </p:nvSpPr>
        <p:spPr>
          <a:xfrm>
            <a:off x="548640" y="342900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690372" y="3570732"/>
            <a:ext cx="283464" cy="283464"/>
          </a:xfrm>
          <a:prstGeom prst="rect">
            <a:avLst/>
          </a:prstGeom>
        </p:spPr>
      </p:pic>
      <p:sp>
        <p:nvSpPr>
          <p:cNvPr id="5" name="Text 2"/>
          <p:cNvSpPr txBox="1"/>
          <p:nvPr/>
        </p:nvSpPr>
        <p:spPr>
          <a:xfrm>
            <a:off x="1325880" y="342900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CPS tester by training  </a:t>
            </a:r>
            <a:r>
              <a:rPr lang="en-US" sz="1600" dirty="0">
                <a:solidFill>
                  <a:srgbClr val="CFE3F1"/>
                </a:solidFill>
                <a:latin typeface="Calibri" pitchFamily="34" charset="0"/>
                <a:ea typeface="Calibri" pitchFamily="34" charset="-122"/>
                <a:cs typeface="Calibri" pitchFamily="34" charset="-120"/>
              </a:rPr>
              <a:t>automotive ECU testing, standards and test benches</a:t>
            </a:r>
            <a:endParaRPr lang="en-US" sz="1600" dirty="0"/>
          </a:p>
        </p:txBody>
      </p:sp>
      <p:sp>
        <p:nvSpPr>
          <p:cNvPr id="6" name="Shape 3"/>
          <p:cNvSpPr/>
          <p:nvPr/>
        </p:nvSpPr>
        <p:spPr>
          <a:xfrm>
            <a:off x="548640" y="429768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690372" y="4439412"/>
            <a:ext cx="283464" cy="283464"/>
          </a:xfrm>
          <a:prstGeom prst="rect">
            <a:avLst/>
          </a:prstGeom>
        </p:spPr>
      </p:pic>
      <p:sp>
        <p:nvSpPr>
          <p:cNvPr id="8" name="Text 4"/>
          <p:cNvSpPr txBox="1"/>
          <p:nvPr/>
        </p:nvSpPr>
        <p:spPr>
          <a:xfrm>
            <a:off x="1325880" y="429768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Verification researcher  </a:t>
            </a:r>
            <a:r>
              <a:rPr lang="en-US" sz="1600" dirty="0">
                <a:solidFill>
                  <a:srgbClr val="CFE3F1"/>
                </a:solidFill>
                <a:latin typeface="Calibri" pitchFamily="34" charset="0"/>
                <a:ea typeface="Calibri" pitchFamily="34" charset="-122"/>
                <a:cs typeface="Calibri" pitchFamily="34" charset="-120"/>
              </a:rPr>
              <a:t>falsification and test generation for controller software</a:t>
            </a:r>
            <a:endParaRPr lang="en-US" sz="1600" dirty="0"/>
          </a:p>
        </p:txBody>
      </p:sp>
      <p:sp>
        <p:nvSpPr>
          <p:cNvPr id="9" name="Shape 5"/>
          <p:cNvSpPr/>
          <p:nvPr/>
        </p:nvSpPr>
        <p:spPr>
          <a:xfrm>
            <a:off x="548640" y="5166360"/>
            <a:ext cx="566928" cy="566928"/>
          </a:xfrm>
          <a:prstGeom prst="ellipse">
            <a:avLst/>
          </a:prstGeom>
          <a:solidFill>
            <a:srgbClr val="0F8B8D"/>
          </a:solidFill>
          <a:ln w="12700">
            <a:solidFill>
              <a:srgbClr val="0F8B8D"/>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90372" y="5308092"/>
            <a:ext cx="283464" cy="283464"/>
          </a:xfrm>
          <a:prstGeom prst="rect">
            <a:avLst/>
          </a:prstGeom>
        </p:spPr>
      </p:pic>
      <p:sp>
        <p:nvSpPr>
          <p:cNvPr id="11" name="Text 6"/>
          <p:cNvSpPr txBox="1"/>
          <p:nvPr/>
        </p:nvSpPr>
        <p:spPr>
          <a:xfrm>
            <a:off x="1325880" y="5166360"/>
            <a:ext cx="7132320" cy="56692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Builder of AI testing tools  </a:t>
            </a:r>
            <a:r>
              <a:rPr lang="en-US" sz="1600" dirty="0">
                <a:solidFill>
                  <a:srgbClr val="CFE3F1"/>
                </a:solidFill>
                <a:latin typeface="Calibri" pitchFamily="34" charset="0"/>
                <a:ea typeface="Calibri" pitchFamily="34" charset="-122"/>
                <a:cs typeface="Calibri" pitchFamily="34" charset="-120"/>
              </a:rPr>
              <a:t>a working uncertainty-aware prototype, today</a:t>
            </a:r>
            <a:endParaRPr lang="en-US" sz="1600" dirty="0"/>
          </a:p>
        </p:txBody>
      </p:sp>
      <p:sp>
        <p:nvSpPr>
          <p:cNvPr id="12" name="Text 7"/>
          <p:cNvSpPr txBox="1"/>
          <p:nvPr/>
        </p:nvSpPr>
        <p:spPr>
          <a:xfrm>
            <a:off x="8412480" y="3429000"/>
            <a:ext cx="3200400" cy="1097280"/>
          </a:xfrm>
          <a:prstGeom prst="rect">
            <a:avLst/>
          </a:prstGeom>
          <a:noFill/>
          <a:ln/>
        </p:spPr>
        <p:txBody>
          <a:bodyPr wrap="square" lIns="0" tIns="0" rIns="0" bIns="0" rtlCol="0" anchor="t"/>
          <a:lstStyle/>
          <a:p>
            <a:pPr marL="0" indent="0" algn="r">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a:p>
            <a:pPr marL="0" indent="0" algn="r">
              <a:buNone/>
            </a:pPr>
            <a:r>
              <a:rPr lang="en-US" sz="1600" dirty="0">
                <a:solidFill>
                  <a:srgbClr val="CFE3F1"/>
                </a:solidFill>
                <a:latin typeface="Calibri" pitchFamily="34" charset="0"/>
                <a:ea typeface="Calibri" pitchFamily="34" charset="-122"/>
                <a:cs typeface="Calibri" pitchFamily="34" charset="-120"/>
              </a:rPr>
              <a:t>zavinhle@gmail.com</a:t>
            </a:r>
            <a:endParaRPr lang="en-US" sz="2800" dirty="0"/>
          </a:p>
        </p:txBody>
      </p:sp>
    </p:spTree>
    <p:extLst>
      <p:ext uri="{BB962C8B-B14F-4D97-AF65-F5344CB8AC3E}">
        <p14:creationId xmlns:p14="http://schemas.microsoft.com/office/powerpoint/2010/main" val="66563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3" name="Shape 1"/>
          <p:cNvSpPr/>
          <p:nvPr/>
        </p:nvSpPr>
        <p:spPr>
          <a:xfrm>
            <a:off x="1658082" y="2258568"/>
            <a:ext cx="8875532" cy="0"/>
          </a:xfrm>
          <a:prstGeom prst="line">
            <a:avLst/>
          </a:prstGeom>
          <a:noFill/>
          <a:ln w="25400">
            <a:solidFill>
              <a:srgbClr val="DDE3EC"/>
            </a:solidFill>
            <a:prstDash val="solid"/>
          </a:ln>
        </p:spPr>
        <p:txBody>
          <a:bodyPr/>
          <a:lstStyle/>
          <a:p>
            <a:endParaRPr lang="en-US"/>
          </a:p>
        </p:txBody>
      </p:sp>
      <p:sp>
        <p:nvSpPr>
          <p:cNvPr id="4" name="Shape 2"/>
          <p:cNvSpPr/>
          <p:nvPr/>
        </p:nvSpPr>
        <p:spPr>
          <a:xfrm>
            <a:off x="1365474"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511778" y="2112264"/>
            <a:ext cx="292608" cy="292608"/>
          </a:xfrm>
          <a:prstGeom prst="rect">
            <a:avLst/>
          </a:prstGeom>
        </p:spPr>
      </p:pic>
      <p:sp>
        <p:nvSpPr>
          <p:cNvPr id="6" name="Text 3"/>
          <p:cNvSpPr txBox="1"/>
          <p:nvPr/>
        </p:nvSpPr>
        <p:spPr>
          <a:xfrm>
            <a:off x="548640"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7" name="Text 4"/>
          <p:cNvSpPr txBox="1"/>
          <p:nvPr/>
        </p:nvSpPr>
        <p:spPr>
          <a:xfrm>
            <a:off x="621792"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8" name="Text 5"/>
          <p:cNvSpPr txBox="1"/>
          <p:nvPr/>
        </p:nvSpPr>
        <p:spPr>
          <a:xfrm>
            <a:off x="640080"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9" name="Shape 6"/>
          <p:cNvSpPr/>
          <p:nvPr/>
        </p:nvSpPr>
        <p:spPr>
          <a:xfrm>
            <a:off x="3584357" y="196596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30661" y="2112264"/>
            <a:ext cx="292608" cy="292608"/>
          </a:xfrm>
          <a:prstGeom prst="rect">
            <a:avLst/>
          </a:prstGeom>
        </p:spPr>
      </p:pic>
      <p:sp>
        <p:nvSpPr>
          <p:cNvPr id="11" name="Text 7"/>
          <p:cNvSpPr txBox="1"/>
          <p:nvPr/>
        </p:nvSpPr>
        <p:spPr>
          <a:xfrm>
            <a:off x="2767523" y="267919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2" name="Text 8"/>
          <p:cNvSpPr txBox="1"/>
          <p:nvPr/>
        </p:nvSpPr>
        <p:spPr>
          <a:xfrm>
            <a:off x="2840675"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3" name="Text 9"/>
          <p:cNvSpPr txBox="1"/>
          <p:nvPr/>
        </p:nvSpPr>
        <p:spPr>
          <a:xfrm>
            <a:off x="2858963"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4" name="Shape 10"/>
          <p:cNvSpPr/>
          <p:nvPr/>
        </p:nvSpPr>
        <p:spPr>
          <a:xfrm>
            <a:off x="5803240" y="196596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49544" y="2112264"/>
            <a:ext cx="292608" cy="292608"/>
          </a:xfrm>
          <a:prstGeom prst="rect">
            <a:avLst/>
          </a:prstGeom>
        </p:spPr>
      </p:pic>
      <p:sp>
        <p:nvSpPr>
          <p:cNvPr id="16" name="Text 11"/>
          <p:cNvSpPr txBox="1"/>
          <p:nvPr/>
        </p:nvSpPr>
        <p:spPr>
          <a:xfrm>
            <a:off x="4986406" y="267919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7" name="Text 12"/>
          <p:cNvSpPr txBox="1"/>
          <p:nvPr/>
        </p:nvSpPr>
        <p:spPr>
          <a:xfrm>
            <a:off x="5059558"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8" name="Text 13"/>
          <p:cNvSpPr txBox="1"/>
          <p:nvPr/>
        </p:nvSpPr>
        <p:spPr>
          <a:xfrm>
            <a:off x="5077846"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19" name="Shape 14"/>
          <p:cNvSpPr/>
          <p:nvPr/>
        </p:nvSpPr>
        <p:spPr>
          <a:xfrm>
            <a:off x="8022123" y="196596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68427" y="2112264"/>
            <a:ext cx="292608" cy="292608"/>
          </a:xfrm>
          <a:prstGeom prst="rect">
            <a:avLst/>
          </a:prstGeom>
        </p:spPr>
      </p:pic>
      <p:sp>
        <p:nvSpPr>
          <p:cNvPr id="21" name="Text 15"/>
          <p:cNvSpPr txBox="1"/>
          <p:nvPr/>
        </p:nvSpPr>
        <p:spPr>
          <a:xfrm>
            <a:off x="7205289" y="267919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2" name="Text 16"/>
          <p:cNvSpPr txBox="1"/>
          <p:nvPr/>
        </p:nvSpPr>
        <p:spPr>
          <a:xfrm>
            <a:off x="7278441"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3" name="Text 17"/>
          <p:cNvSpPr txBox="1"/>
          <p:nvPr/>
        </p:nvSpPr>
        <p:spPr>
          <a:xfrm>
            <a:off x="7296729"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4" name="Shape 18"/>
          <p:cNvSpPr/>
          <p:nvPr/>
        </p:nvSpPr>
        <p:spPr>
          <a:xfrm>
            <a:off x="10241006" y="196596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87310" y="2112264"/>
            <a:ext cx="292608" cy="292608"/>
          </a:xfrm>
          <a:prstGeom prst="rect">
            <a:avLst/>
          </a:prstGeom>
        </p:spPr>
      </p:pic>
      <p:sp>
        <p:nvSpPr>
          <p:cNvPr id="26" name="Text 19"/>
          <p:cNvSpPr txBox="1"/>
          <p:nvPr/>
        </p:nvSpPr>
        <p:spPr>
          <a:xfrm>
            <a:off x="9424172" y="267919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7" name="Text 20"/>
          <p:cNvSpPr txBox="1"/>
          <p:nvPr/>
        </p:nvSpPr>
        <p:spPr>
          <a:xfrm>
            <a:off x="9497324" y="299008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8" name="Text 21"/>
          <p:cNvSpPr txBox="1"/>
          <p:nvPr/>
        </p:nvSpPr>
        <p:spPr>
          <a:xfrm>
            <a:off x="9515612" y="355701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29" name="Shape 22"/>
          <p:cNvSpPr/>
          <p:nvPr/>
        </p:nvSpPr>
        <p:spPr>
          <a:xfrm>
            <a:off x="548640" y="475488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0" name="Text 23"/>
          <p:cNvSpPr txBox="1"/>
          <p:nvPr/>
        </p:nvSpPr>
        <p:spPr>
          <a:xfrm>
            <a:off x="822960" y="491947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1"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3344914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to the preferred profile</a:t>
            </a:r>
            <a:endParaRPr lang="en-US" sz="3000" dirty="0"/>
          </a:p>
        </p:txBody>
      </p:sp>
      <p:sp>
        <p:nvSpPr>
          <p:cNvPr id="3" name="Shape 1"/>
          <p:cNvSpPr/>
          <p:nvPr/>
        </p:nvSpPr>
        <p:spPr>
          <a:xfrm>
            <a:off x="54864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4" name="Shape 2"/>
          <p:cNvSpPr/>
          <p:nvPr/>
        </p:nvSpPr>
        <p:spPr>
          <a:xfrm>
            <a:off x="822960" y="169164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82980" y="1851660"/>
            <a:ext cx="320040" cy="320040"/>
          </a:xfrm>
          <a:prstGeom prst="rect">
            <a:avLst/>
          </a:prstGeom>
        </p:spPr>
      </p:pic>
      <p:sp>
        <p:nvSpPr>
          <p:cNvPr id="6" name="Text 3"/>
          <p:cNvSpPr txBox="1"/>
          <p:nvPr/>
        </p:nvSpPr>
        <p:spPr>
          <a:xfrm>
            <a:off x="164592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Testing cyber-physical systems</a:t>
            </a:r>
            <a:endParaRPr lang="en-US" sz="1800" dirty="0"/>
          </a:p>
        </p:txBody>
      </p:sp>
      <p:sp>
        <p:nvSpPr>
          <p:cNvPr id="7" name="Text 4"/>
          <p:cNvSpPr txBox="1"/>
          <p:nvPr/>
        </p:nvSpPr>
        <p:spPr>
          <a:xfrm>
            <a:off x="164592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Functional and system testing of automotive ECUs (CAN, CAPL, ETAS INCA); robotics (ROS/ROS2) and embedded domains</a:t>
            </a:r>
            <a:endParaRPr lang="en-US" sz="1400" dirty="0"/>
          </a:p>
        </p:txBody>
      </p:sp>
      <p:sp>
        <p:nvSpPr>
          <p:cNvPr id="8" name="Shape 5"/>
          <p:cNvSpPr/>
          <p:nvPr/>
        </p:nvSpPr>
        <p:spPr>
          <a:xfrm>
            <a:off x="6172200" y="141732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9" name="Shape 6"/>
          <p:cNvSpPr/>
          <p:nvPr/>
        </p:nvSpPr>
        <p:spPr>
          <a:xfrm>
            <a:off x="6446520" y="1691640"/>
            <a:ext cx="640080" cy="640080"/>
          </a:xfrm>
          <a:prstGeom prst="ellipse">
            <a:avLst/>
          </a:prstGeom>
          <a:solidFill>
            <a:srgbClr val="0F8B8D"/>
          </a:solidFill>
          <a:ln w="12700">
            <a:solidFill>
              <a:srgbClr val="0F8B8D"/>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06540" y="1851660"/>
            <a:ext cx="320040" cy="320040"/>
          </a:xfrm>
          <a:prstGeom prst="rect">
            <a:avLst/>
          </a:prstGeom>
        </p:spPr>
      </p:pic>
      <p:sp>
        <p:nvSpPr>
          <p:cNvPr id="11" name="Text 7"/>
          <p:cNvSpPr txBox="1"/>
          <p:nvPr/>
        </p:nvSpPr>
        <p:spPr>
          <a:xfrm>
            <a:off x="7269480" y="170992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Verification research</a:t>
            </a:r>
            <a:endParaRPr lang="en-US" sz="1800" dirty="0"/>
          </a:p>
        </p:txBody>
      </p:sp>
      <p:sp>
        <p:nvSpPr>
          <p:cNvPr id="12" name="Text 8"/>
          <p:cNvSpPr txBox="1"/>
          <p:nvPr/>
        </p:nvSpPr>
        <p:spPr>
          <a:xfrm>
            <a:off x="7269480" y="219456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Falsification of safety and security properties, function abstraction via active learning, property-based testing — robustness-guided search like FalsifAI [14]</a:t>
            </a:r>
            <a:endParaRPr lang="en-US" sz="1400" dirty="0"/>
          </a:p>
        </p:txBody>
      </p:sp>
      <p:sp>
        <p:nvSpPr>
          <p:cNvPr id="13" name="Shape 9"/>
          <p:cNvSpPr/>
          <p:nvPr/>
        </p:nvSpPr>
        <p:spPr>
          <a:xfrm>
            <a:off x="54864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4" name="Shape 10"/>
          <p:cNvSpPr/>
          <p:nvPr/>
        </p:nvSpPr>
        <p:spPr>
          <a:xfrm>
            <a:off x="822960" y="3931920"/>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982980" y="4091940"/>
            <a:ext cx="320040" cy="320040"/>
          </a:xfrm>
          <a:prstGeom prst="rect">
            <a:avLst/>
          </a:prstGeom>
        </p:spPr>
      </p:pic>
      <p:sp>
        <p:nvSpPr>
          <p:cNvPr id="16" name="Text 11"/>
          <p:cNvSpPr txBox="1"/>
          <p:nvPr/>
        </p:nvSpPr>
        <p:spPr>
          <a:xfrm>
            <a:off x="164592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LLMs for quality engineering</a:t>
            </a:r>
            <a:endParaRPr lang="en-US" sz="1800" dirty="0"/>
          </a:p>
        </p:txBody>
      </p:sp>
      <p:sp>
        <p:nvSpPr>
          <p:cNvPr id="17" name="Text 12"/>
          <p:cNvSpPr txBox="1"/>
          <p:nvPr/>
        </p:nvSpPr>
        <p:spPr>
          <a:xfrm>
            <a:off x="164592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LLM-assisted test-case generation, RAG over requirements, MCP-based agentic test workflows used in daily industrial testing</a:t>
            </a:r>
            <a:endParaRPr lang="en-US" sz="1400" dirty="0"/>
          </a:p>
        </p:txBody>
      </p:sp>
      <p:sp>
        <p:nvSpPr>
          <p:cNvPr id="18" name="Shape 13"/>
          <p:cNvSpPr/>
          <p:nvPr/>
        </p:nvSpPr>
        <p:spPr>
          <a:xfrm>
            <a:off x="6172200" y="3657600"/>
            <a:ext cx="5440680" cy="2011680"/>
          </a:xfrm>
          <a:prstGeom prst="roundRect">
            <a:avLst>
              <a:gd name="adj" fmla="val 5455"/>
            </a:avLst>
          </a:prstGeom>
          <a:solidFill>
            <a:srgbClr val="F2F5F9"/>
          </a:solidFill>
          <a:ln w="12700">
            <a:solidFill>
              <a:srgbClr val="F2F5F9"/>
            </a:solidFill>
            <a:prstDash val="solid"/>
          </a:ln>
        </p:spPr>
        <p:txBody>
          <a:bodyPr/>
          <a:lstStyle/>
          <a:p>
            <a:endParaRPr lang="en-US"/>
          </a:p>
        </p:txBody>
      </p:sp>
      <p:sp>
        <p:nvSpPr>
          <p:cNvPr id="19" name="Shape 14"/>
          <p:cNvSpPr/>
          <p:nvPr/>
        </p:nvSpPr>
        <p:spPr>
          <a:xfrm>
            <a:off x="6446520" y="3931920"/>
            <a:ext cx="640080" cy="640080"/>
          </a:xfrm>
          <a:prstGeom prst="ellipse">
            <a:avLst/>
          </a:prstGeom>
          <a:solidFill>
            <a:srgbClr val="6E56CF"/>
          </a:solidFill>
          <a:ln w="12700">
            <a:solidFill>
              <a:srgbClr val="6E56CF"/>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606540" y="4091940"/>
            <a:ext cx="320040" cy="320040"/>
          </a:xfrm>
          <a:prstGeom prst="rect">
            <a:avLst/>
          </a:prstGeom>
        </p:spPr>
      </p:pic>
      <p:sp>
        <p:nvSpPr>
          <p:cNvPr id="21" name="Text 15"/>
          <p:cNvSpPr txBox="1"/>
          <p:nvPr/>
        </p:nvSpPr>
        <p:spPr>
          <a:xfrm>
            <a:off x="7269480" y="3950208"/>
            <a:ext cx="4114800" cy="45720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Python &amp; empirical studies</a:t>
            </a:r>
            <a:endParaRPr lang="en-US" sz="1800" dirty="0"/>
          </a:p>
        </p:txBody>
      </p:sp>
      <p:sp>
        <p:nvSpPr>
          <p:cNvPr id="22" name="Text 16"/>
          <p:cNvSpPr txBox="1"/>
          <p:nvPr/>
        </p:nvSpPr>
        <p:spPr>
          <a:xfrm>
            <a:off x="7269480" y="4434840"/>
            <a:ext cx="4114800" cy="109728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Python, C/C++, TypeScript; controlled experiments on test generators (KCC'25, KCSE'26); the prototype and experiment in this talk</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
        <p:nvSpPr>
          <p:cNvPr id="901" name="Footnote References"/>
          <p:cNvSpPr txBox="1"/>
          <p:nvPr/>
        </p:nvSpPr>
        <p:spPr>
          <a:xfrm>
            <a:off x="546100" y="6197600"/>
            <a:ext cx="11099800" cy="1905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[14] Z. Zhang et al., “FalsifAI: Falsification of AI-enabled hybrid control systems guided by time-aware coverage criteria,” IEEE TSE, 2023.</a:t>
            </a:r>
          </a:p>
        </p:txBody>
      </p:sp>
    </p:spTree>
    <p:extLst>
      <p:ext uri="{BB962C8B-B14F-4D97-AF65-F5344CB8AC3E}">
        <p14:creationId xmlns:p14="http://schemas.microsoft.com/office/powerpoint/2010/main" val="3158118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Results per model and requirement</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1536192"/>
        </p:xfrm>
        <a:graphic>
          <a:graphicData uri="http://schemas.openxmlformats.org/drawingml/2006/table">
            <a:tbl>
              <a:tblPr/>
              <a:tblGrid>
                <a:gridCol w="23774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399032">
                  <a:extLst>
                    <a:ext uri="{9D8B030D-6E8A-4147-A177-3AD203B41FA5}">
                      <a16:colId xmlns:a16="http://schemas.microsoft.com/office/drawing/2014/main" val="20006"/>
                    </a:ext>
                  </a:extLst>
                </a:gridCol>
              </a:tblGrid>
              <a:tr h="384048">
                <a:tc>
                  <a:txBody>
                    <a:bodyPr/>
                    <a:lstStyle/>
                    <a:p>
                      <a:pPr marL="0" indent="0">
                        <a:buNone/>
                      </a:pPr>
                      <a:r>
                        <a:rPr lang="en-US" sz="1300" b="1" dirty="0">
                          <a:solidFill>
                            <a:srgbClr val="FFFFFF"/>
                          </a:solidFill>
                        </a:rPr>
                        <a:t>Model</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Valid</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Correct</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Mutation score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Self-confidence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Latency</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Tokens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000000"/>
                          </a:solidFill>
                        </a:rPr>
                        <a:t>gpt-5.6-luna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87%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22%</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13.9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2546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000000"/>
                          </a:solidFill>
                        </a:rPr>
                        <a:t>gpt-5.6-terra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89%</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94%</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16.9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2526</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000000"/>
                          </a:solidFill>
                        </a:rPr>
                        <a:t>gpt-6-astra</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100%</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27%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97%</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16.5 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300" dirty="0">
                          <a:solidFill>
                            <a:srgbClr val="000000"/>
                          </a:solidFill>
                        </a:rPr>
                        <a:t>3501</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bl>
          </a:graphicData>
        </a:graphic>
      </p:graphicFrame>
      <p:graphicFrame>
        <p:nvGraphicFramePr>
          <p:cNvPr id="4" name="Chart 0"/>
          <p:cNvGraphicFramePr/>
          <p:nvPr/>
        </p:nvGraphicFramePr>
        <p:xfrm>
          <a:off x="548640" y="3108960"/>
          <a:ext cx="11094415"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this prototype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Correctness = agreement with my reference formalisation; mutants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Metric design chosen on a development round; heuristic thresholds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Held-out evaluation; pre-registered designs; calibration on separate data</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SUT, one simulator, 7 requirements, 3 hosted LLMs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17 incorrect tests in 6 batches; small N per batch</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Larger N, repeated runs,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417320"/>
            <a:ext cx="6766560" cy="438912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behavioural /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201168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560320"/>
            <a:ext cx="1097280" cy="1097280"/>
          </a:xfrm>
          <a:prstGeom prst="rect">
            <a:avLst/>
          </a:prstGeom>
        </p:spPr>
      </p:pic>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22</a:t>
            </a:fld>
            <a:endParaRPr lang="en-US"/>
          </a:p>
        </p:txBody>
      </p:sp>
      <p:sp>
        <p:nvSpPr>
          <p:cNvPr id="901" name="Footnote References"/>
          <p:cNvSpPr txBox="1"/>
          <p:nvPr/>
        </p:nvSpPr>
        <p:spPr>
          <a:xfrm>
            <a:off x="546100" y="5816600"/>
            <a:ext cx="11099800" cy="584200"/>
          </a:xfrm>
          <a:prstGeom prst="rect">
            <a:avLst/>
          </a:prstGeom>
          <a:noFill/>
        </p:spPr>
        <p:txBody>
          <a:bodyPr wrap="square" lIns="0" tIns="0" rIns="0" bIns="0" anchor="b">
            <a:noAutofit/>
          </a:bodyPr>
          <a:lstStyle/>
          <a:p>
            <a:pPr marL="0" indent="0">
              <a:lnSpc>
                <a:spcPct val="100000"/>
              </a:lnSpc>
              <a:buNone/>
            </a:pPr>
            <a:r>
              <a:rPr lang="en-US" sz="900" dirty="0">
                <a:solidFill>
                  <a:srgbClr val="5B6578"/>
                </a:solidFill>
                <a:latin typeface="Calibri" pitchFamily="34" charset="0"/>
              </a:rPr>
              <a:t>[19] S. Ali et al., “Assessing the effectiveness of input and output coverage criteria for testing quantum programs,” Proc. IEEE ICST, 2021.</a:t>
            </a:r>
          </a:p>
          <a:p>
            <a:pPr marL="0" indent="0">
              <a:lnSpc>
                <a:spcPct val="100000"/>
              </a:lnSpc>
              <a:buNone/>
            </a:pPr>
            <a:r>
              <a:rPr lang="en-US" sz="900" dirty="0">
                <a:solidFill>
                  <a:srgbClr val="5B6578"/>
                </a:solidFill>
                <a:latin typeface="Calibri" pitchFamily="34" charset="0"/>
              </a:rPr>
              <a:t>[20] X. Wang et al., “Quantum machine learning-based test oracle for autonomous mobile robots,” Proc. IEEE/ACM ASE, 2025.</a:t>
            </a:r>
          </a:p>
          <a:p>
            <a:pPr marL="0" indent="0">
              <a:lnSpc>
                <a:spcPct val="100000"/>
              </a:lnSpc>
              <a:buNone/>
            </a:pPr>
            <a:r>
              <a:rPr lang="en-US" sz="900" dirty="0">
                <a:solidFill>
                  <a:srgbClr val="5B6578"/>
                </a:solidFill>
                <a:latin typeface="Calibri" pitchFamily="34" charset="0"/>
              </a:rPr>
              <a:t>[21] X. Wang et al., “Application of quantum extreme learning machines for QoS prediction of elevators' software in an industrial context,” Companion Proc. ACM FSE, 2024.</a:t>
            </a:r>
          </a:p>
          <a:p>
            <a:pPr marL="0" indent="0">
              <a:lnSpc>
                <a:spcPct val="100000"/>
              </a:lnSpc>
              <a:buNone/>
            </a:pPr>
            <a:r>
              <a:rPr lang="en-US" sz="900" dirty="0">
                <a:solidFill>
                  <a:srgbClr val="5B6578"/>
                </a:solidFill>
                <a:latin typeface="Calibri" pitchFamily="34" charset="0"/>
              </a:rPr>
              <a:t>[22] X. Wang et al., “Quantum artificial intelligence for software engineering: The road ahead,” ACM TOSEM, 2026.</a:t>
            </a:r>
          </a:p>
        </p:txBody>
      </p:sp>
    </p:spTree>
    <p:extLst>
      <p:ext uri="{BB962C8B-B14F-4D97-AF65-F5344CB8AC3E}">
        <p14:creationId xmlns:p14="http://schemas.microsoft.com/office/powerpoint/2010/main" val="3360036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7"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1DE26674-F490-438C-832F-B23DDC4811B1}">
  <we:reference id="wa200010725" version="1.0.0.1" store="en-US" storeType="OMEX"/>
  <we:alternateReferences>
    <we:reference id="wa200010725" version="1.0.0.1" store="wa200010725" storeType="OMEX"/>
  </we:alternateReferences>
  <we:properties>
    <we:property name="claude.fileId" value="&quot;7df24f7c-ee5b-4da9-a131-f01e8237247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7AEDEF7C-A630-4BF2-BBFE-392809D5FE89}">
  <we:reference id="cba9fc06-6fc9-492e-9525-923870a3b909" version="2.0.0.1" store="EXCatalog" storeType="EXCatalog"/>
  <we:alternateReferences>
    <we:reference id="WA200010215" version="2.0.0.1"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755</TotalTime>
  <Words>6667</Words>
  <Application>Microsoft Office PowerPoint</Application>
  <PresentationFormat>Widescreen</PresentationFormat>
  <Paragraphs>432</Paragraphs>
  <Slides>24</Slides>
  <Notes>24</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InnoGuard Interview</vt:lpstr>
      <vt:lpstr>When can we trust AI-generated tests ? Uncertainty quantification for risk-based testing of autonomous CPS </vt:lpstr>
      <vt:lpstr>LLMs now write tests for safety-relevant systems</vt:lpstr>
      <vt:lpstr>The position's four objectives, as research questions</vt:lpstr>
      <vt:lpstr>Building on uncertainty-wise CPS testing</vt:lpstr>
      <vt:lpstr>Uncertainty of LLM outputs: what transfers to test artefacts</vt:lpstr>
      <vt:lpstr>My starting point: an LLM test generator that trusts blindly</vt:lpstr>
      <vt:lpstr>UQ-TestGen: an uncertainty-aware end-to-end pipeline</vt:lpstr>
      <vt:lpstr>Four uncertainty signals — no ground truth needed</vt:lpstr>
      <vt:lpstr>Demo: one requirement, end to end, live LLM</vt:lpstr>
      <vt:lpstr>Experiment: 210 generated tests, 1,890 simulations</vt:lpstr>
      <vt:lpstr>Behavioural entropy beats the LLM's self-confidence</vt:lpstr>
      <vt:lpstr>Risk-based triage: 77% auto-accepted at 98.8% precision</vt:lpstr>
      <vt:lpstr>What the demo cannot do yet becomes the research agenda</vt:lpstr>
      <vt:lpstr>Research questions and how I will answer them</vt:lpstr>
      <vt:lpstr>36-month plan with secondment and publications</vt:lpstr>
      <vt:lpstr>Expected contributions to InnoGuard</vt:lpstr>
      <vt:lpstr>Why me, why this team</vt:lpstr>
      <vt:lpstr>From automotive test benches to AI-driven testing</vt:lpstr>
      <vt:lpstr>What I bring to the preferred profile</vt:lpstr>
      <vt:lpstr>Backup · Results per model and requirement</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Za Vinh Le</cp:lastModifiedBy>
  <cp:revision>8</cp:revision>
  <dcterms:created xsi:type="dcterms:W3CDTF">2026-10-26T09:38:12Z</dcterms:created>
  <dcterms:modified xsi:type="dcterms:W3CDTF">2026-10-27T07:47:38Z</dcterms:modified>
</cp:coreProperties>
</file>
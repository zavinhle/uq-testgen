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305e304-301c-663b-addf-ff3c36055c4e}">
          <p14:sldIdLst>
            <p14:sldId id="256"/>
          </p14:sldIdLst>
        </p14:section>
        <p14:section name="A · Motivation 1 → Demo 1" id="{51f4555b-2e9b-b37f-f95d-99b3bb1a1a45}">
          <p14:sldIdLst>
            <p14:sldId id="257"/>
            <p14:sldId id="258"/>
            <p14:sldId id="259"/>
            <p14:sldId id="260"/>
          </p14:sldIdLst>
        </p14:section>
        <p14:section name="B · Motivation 2 → Demo 2" id="{979fb365-d613-4f6d-c4d8-b904d5a7c81a}">
          <p14:sldIdLst>
            <p14:sldId id="261"/>
            <p14:sldId id="262"/>
            <p14:sldId id="263"/>
            <p14:sldId id="264"/>
            <p14:sldId id="265"/>
            <p14:sldId id="266"/>
            <p14:sldId id="267"/>
          </p14:sldIdLst>
        </p14:section>
        <p14:section name="C · Gaps → research plan" id="{c3ffaf4f-2113-2b44-7d68-e2766d32b68e}">
          <p14:sldIdLst>
            <p14:sldId id="268"/>
            <p14:sldId id="269"/>
            <p14:sldId id="270"/>
            <p14:sldId id="271"/>
            <p14:sldId id="272"/>
          </p14:sldIdLst>
        </p14:section>
        <p14:section name="D · What I can contribute" id="{1d9c255b-85b6-59f0-52f8-6a3d4c8591eb}">
          <p14:sldIdLst>
            <p14:sldId id="273"/>
            <p14:sldId id="274"/>
            <p14:sldId id="275"/>
          </p14:sldIdLst>
        </p14:section>
        <p14:section name="Backup" id="{82de53cf-558f-a358-169f-e736ddca1049}">
          <p14:sldIdLst>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C"/>
                </a:solidFill>
                <a:latin typeface="+mn-lt"/>
              </a:defRPr>
            </a:pPr>
            <a:r>
              <a:rPr sz="1400" b="0" i="0" u="none" strike="noStrike">
                <a:solidFill>
                  <a:srgbClr val="13213C"/>
                </a:solidFill>
                <a:latin typeface="+mn-lt"/>
              </a:rPr>
              <a:t>What the vote did with all 210 tests</a:t>
            </a:r>
          </a:p>
        </c:rich>
      </c:tx>
      <c:layout/>
      <c:overlay val="0"/>
    </c:title>
    <c:autoTitleDeleted val="0"/>
    <c:plotArea>
      <c:layout/>
      <c:barChart>
        <c:barDir val="col"/>
        <c:grouping val="stacked"/>
        <c:varyColors val="0"/>
        <c:ser>
          <c:idx val="0"/>
          <c:order val="0"/>
          <c:tx>
            <c:strRef>
              <c:f>Sheet1!$B$1</c:f>
              <c:strCache>
                <c:ptCount val="1"/>
                <c:pt idx="0">
                  <c:v>Test was correct</c:v>
                </c:pt>
              </c:strCache>
            </c:strRef>
          </c:tx>
          <c:spPr>
            <a:solidFill>
              <a:srgbClr val="2E8B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Accept</c:v>
                  </c:pt>
                  <c:pt idx="1">
                    <c:v>Human review</c:v>
                  </c:pt>
                  <c:pt idx="2">
                    <c:v>Reject</c:v>
                  </c:pt>
                </c:lvl>
              </c:multiLvlStrCache>
            </c:multiLvlStrRef>
          </c:cat>
          <c:val>
            <c:numRef>
              <c:f>Sheet1!$B$2:$B$4</c:f>
              <c:numCache>
                <c:formatCode>General</c:formatCode>
                <c:ptCount val="3"/>
                <c:pt idx="0">
                  <c:v>171</c:v>
                </c:pt>
                <c:pt idx="1">
                  <c:v>19</c:v>
                </c:pt>
                <c:pt idx="2">
                  <c:v>3</c:v>
                </c:pt>
              </c:numCache>
            </c:numRef>
          </c:val>
        </c:ser>
        <c:ser>
          <c:idx val="1"/>
          <c:order val="1"/>
          <c:tx>
            <c:strRef>
              <c:f>Sheet1!$C$1</c:f>
              <c:strCache>
                <c:ptCount val="1"/>
                <c:pt idx="0">
                  <c:v>Test was wrong</c:v>
                </c:pt>
              </c:strCache>
            </c:strRef>
          </c:tx>
          <c:spPr>
            <a:solidFill>
              <a:srgbClr val="C8463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Accept</c:v>
                  </c:pt>
                  <c:pt idx="1">
                    <c:v>Human review</c:v>
                  </c:pt>
                  <c:pt idx="2">
                    <c:v>Reject</c:v>
                  </c:pt>
                </c:lvl>
              </c:multiLvlStrCache>
            </c:multiLvlStrRef>
          </c:cat>
          <c:val>
            <c:numRef>
              <c:f>Sheet1!$C$2:$C$4</c:f>
              <c:numCache>
                <c:formatCode>General</c:formatCode>
                <c:ptCount val="3"/>
                <c:pt idx="0">
                  <c:v>2</c:v>
                </c:pt>
                <c:pt idx="1">
                  <c:v>11</c:v>
                </c:pt>
                <c:pt idx="2">
                  <c:v>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C"/>
                </a:solidFill>
                <a:latin typeface="+mn-lt"/>
              </a:defRPr>
            </a:pPr>
            <a:r>
              <a:rPr sz="1400" b="0" i="0" u="none" strike="noStrike">
                <a:solidFill>
                  <a:srgbClr val="13213C"/>
                </a:solidFill>
                <a:latin typeface="+mn-lt"/>
              </a:rPr>
              <a:t>AUROC for detecting incorrect tests (0.5 = random)</a:t>
            </a:r>
          </a:p>
        </c:rich>
      </c:tx>
      <c:layout/>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Verbalised conf.</c:v>
                  </c:pt>
                  <c:pt idx="1">
                    <c:v>Structural</c:v>
                  </c:pt>
                  <c:pt idx="2">
                    <c:v>Oracle disagr.</c:v>
                  </c:pt>
                  <c:pt idx="3">
                    <c:v>Combined (struct.+behav.)</c:v>
                  </c:pt>
                  <c:pt idx="4">
                    <c:v>Agreement / behavioural</c:v>
                  </c:pt>
                </c:lvl>
              </c:multiLvlStrCache>
            </c:multiLvlStrRef>
          </c:cat>
          <c:val>
            <c:numRef>
              <c:f>Sheet1!$B$2:$B$6</c:f>
              <c:numCache>
                <c:formatCode>General</c:formatCode>
                <c:ptCount val="5"/>
                <c:pt idx="0">
                  <c:v>0.74</c:v>
                </c:pt>
                <c:pt idx="1">
                  <c:v>0.67</c:v>
                </c:pt>
                <c:pt idx="2">
                  <c:v>0.46</c:v>
                </c:pt>
                <c:pt idx="3">
                  <c:v>0.89</c:v>
                </c:pt>
                <c:pt idx="4">
                  <c:v>0.9</c:v>
                </c:pt>
              </c:numCache>
            </c:numRef>
          </c:val>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Verbalised conf.</c:v>
                  </c:pt>
                  <c:pt idx="1">
                    <c:v>Structural</c:v>
                  </c:pt>
                  <c:pt idx="2">
                    <c:v>Oracle disagr.</c:v>
                  </c:pt>
                  <c:pt idx="3">
                    <c:v>Combined (struct.+behav.)</c:v>
                  </c:pt>
                  <c:pt idx="4">
                    <c:v>Agreement / behavioural</c:v>
                  </c:pt>
                </c:lvl>
              </c:multiLvlStrCache>
            </c:multiLvlStrRef>
          </c:cat>
          <c:val>
            <c:numRef>
              <c:f>Sheet1!$C$2:$C$6</c:f>
              <c:numCache>
                <c:formatCode>General</c:formatCode>
                <c:ptCount val="5"/>
                <c:pt idx="0">
                  <c:v>0.62</c:v>
                </c:pt>
                <c:pt idx="1">
                  <c:v>0.55</c:v>
                </c:pt>
                <c:pt idx="2">
                  <c:v>0.49</c:v>
                </c:pt>
                <c:pt idx="3">
                  <c:v>0.71</c:v>
                </c:pt>
                <c:pt idx="4">
                  <c:v>0.71</c:v>
                </c:pt>
              </c:numCache>
            </c:numRef>
          </c:val>
        </c:ser>
        <c:dLbls>
          <c:numFmt formatCode="0.00" sourceLinked="0"/>
          <c:txPr>
            <a:bodyPr/>
            <a:lstStyle/>
            <a:p>
              <a:pPr>
                <a:defRPr b="0" i="0" strike="noStrike" sz="1100" u="none">
                  <a:solidFill>
                    <a:srgbClr val="1E25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R1</c:v>
                  </c:pt>
                  <c:pt idx="1">
                    <c:v>R2</c:v>
                  </c:pt>
                  <c:pt idx="2">
                    <c:v>R3</c:v>
                  </c:pt>
                  <c:pt idx="3">
                    <c:v>R4</c:v>
                  </c:pt>
                  <c:pt idx="4">
                    <c:v>R5</c:v>
                  </c:pt>
                  <c:pt idx="5">
                    <c:v>R6</c:v>
                  </c:pt>
                  <c:pt idx="6">
                    <c:v>R7</c:v>
                  </c:pt>
                </c:lvl>
              </c:multiLvlStrCache>
            </c:multiLvlStrRef>
          </c:cat>
          <c:val>
            <c:numRef>
              <c:f>Sheet1!$B$2:$B$8</c:f>
              <c:numCache>
                <c:formatCode>General</c:formatCode>
                <c:ptCount val="7"/>
                <c:pt idx="0">
                  <c:v>1</c:v>
                </c:pt>
                <c:pt idx="1">
                  <c:v>1</c:v>
                </c:pt>
                <c:pt idx="2">
                  <c:v>0.8</c:v>
                </c:pt>
                <c:pt idx="3">
                  <c:v>1</c:v>
                </c:pt>
                <c:pt idx="4">
                  <c:v>0.93</c:v>
                </c:pt>
                <c:pt idx="5">
                  <c:v>0.77</c:v>
                </c:pt>
                <c:pt idx="6">
                  <c:v>0.93</c:v>
                </c:pt>
              </c:numCache>
            </c:numRef>
          </c:val>
        </c:ser>
        <c:ser>
          <c:idx val="1"/>
          <c:order val="1"/>
          <c:tx>
            <c:strRef>
              <c:f>Sheet1!$C$1</c:f>
              <c:strCache>
                <c:ptCount val="1"/>
                <c:pt idx="0">
                  <c:v>Mean combined uncertainty</c:v>
                </c:pt>
              </c:strCache>
            </c:strRef>
          </c:tx>
          <c:spPr>
            <a:solidFill>
              <a:srgbClr val="E39B2D"/>
            </a:solidFill>
            <a:effectLst/>
          </c:spPr>
          <c:invertIfNegative val="0"/>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cat>
            <c:multiLvlStrRef>
              <c:f>Sheet1!$A$2:$A$8</c:f>
              <c:multiLvlStrCache>
                <c:ptCount val="7"/>
                <c:lvl>
                  <c:pt idx="0">
                    <c:v>R1</c:v>
                  </c:pt>
                  <c:pt idx="1">
                    <c:v>R2</c:v>
                  </c:pt>
                  <c:pt idx="2">
                    <c:v>R3</c:v>
                  </c:pt>
                  <c:pt idx="3">
                    <c:v>R4</c:v>
                  </c:pt>
                  <c:pt idx="4">
                    <c:v>R5</c:v>
                  </c:pt>
                  <c:pt idx="5">
                    <c:v>R6</c:v>
                  </c:pt>
                  <c:pt idx="6">
                    <c:v>R7</c:v>
                  </c:pt>
                </c:lvl>
              </c:multiLvlStrCache>
            </c:multiLvlStrRef>
          </c:cat>
          <c:val>
            <c:numRef>
              <c:f>Sheet1!$C$2:$C$8</c:f>
              <c:numCache>
                <c:formatCode>General</c:formatCode>
                <c:ptCount val="7"/>
                <c:pt idx="0">
                  <c:v>0.02</c:v>
                </c:pt>
                <c:pt idx="1">
                  <c:v>0.04</c:v>
                </c:pt>
                <c:pt idx="2">
                  <c:v>0.33</c:v>
                </c:pt>
                <c:pt idx="3">
                  <c:v>0.13</c:v>
                </c:pt>
                <c:pt idx="4">
                  <c:v>0.07</c:v>
                </c:pt>
                <c:pt idx="5">
                  <c:v>0.19</c:v>
                </c:pt>
                <c:pt idx="6">
                  <c:v>0.15</c:v>
                </c:pt>
              </c:numCache>
            </c:numRef>
          </c:val>
        </c:ser>
        <c:dLbls>
          <c:numFmt formatCode="0.00" sourceLinked="0"/>
          <c:txPr>
            <a:bodyPr/>
            <a:lstStyle/>
            <a:p>
              <a:pPr>
                <a:defRPr b="0" i="0" strike="noStrike" sz="1000" u="none">
                  <a:solidFill>
                    <a:srgbClr val="1E25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invitation. My talk has four parts: first the tool I started from and its demo, then why its trust rules are not enough and how I quantify uncertainty instead, with a second demo; then the gaps that become my PhD plan along the four objectives; and finally what I bring.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motivation comes from my daily work as a tester. For every release we read the specification, write test cases, write scripts, run them and file bugs — and when the specification changes, we do it again. The bottleneck is test design, not execution. LLMs can now read specifications and write tests, so I asked: can one pipeline go from the document to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QA-Flow, the tool I started from. Its six stages: the requirements document plus a discovery of the running application; retrieval over the documents; three LLM agents; a closed step language that code compiles into Playwright scripts; execution of web, API and security tests; and a report. Trust is handled by four hand-written rules. The demo application, ShopLite, contains seven planted defects so we know what should be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The document goes in, the application is discovered and the documents are indexed. The analyst agent extracts atomic requirements as verbatim quotes, the designer writes tests per requirement using retrieved context, code compiles them into Playwright, they run, and the fault-injection gate re-runs passing tests on broken builds. The report shows traceability and drafted bug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QA-Flow extracted 34 requirements and ran 62 tests, and it found 5 of the 7 planted defects. But when I re-ran every failing test on a build with the planted defects fixed, 6 of the 18 FAILs still failed: the bug was in the AI's test, not in the shop. Every one of them passed all four trust rules. So the rules cannot tell a wrong test from a real defect. That is my second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motivation: in autonomous CPS the stakes are higher. Foundation models are already used across CPS engineering, and LLMs write the tests themselves. A test can run cleanly and still be wrong in three ways: the wrong scenario, the wrong oracle, or a test that catches no fault. Demo 1 showed that rules cannot see this, and the model's own confidence does not help either: it says 97% while only 87% of its tests are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builds on your work: uncertainty-wise CPS testing from the U-Taxonomy to uncertainty-aware oracles and VLA robots; ADS scenario generation and robustness-guided falsification; ML oracles and metamorphic testing for industrial elevators; and from ML, semantic entropy and self-consistency for LLM outputs. The gap: nobody quantifies the uncertainty of LLMs that generate executable test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idea of Demo 2 in five steps. One: a requirement in plain English. Two: instead of asking the AI once, I ask it for the same test ten times, in independent sessions. Three: I run all ten tests in a driving simulator, against a cruise-control car. Four: I group the tests by what actually happened, for example 'no crash and a big gap', or 'crash'. Five: the groups vote. If most tests behaved the same, the AI is consistent and I accept them. If a test behaves unlike the others, a human looks at it, and a test that is completely alone is rejected. Why does this work? If the AI really knows how to test something, its answers agree. If it is guessing, they scatter. This is the same idea as semantic entropy for chatbots; my twist is that for a test, the meaning is what it does when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example. The requirement: a car cuts in ahead; we must not crash, and six seconds later we must again keep a safe distance, about 28 metres at 100 km/h. The AI wrote ten tests. I ran them and grouped them by what happened. Four tests: the car drives safely and keeps a big gap. Three: safe, but closer. Then three tests that are each alone: emergency brake then crash, a crash, and an emergency brake without a crash. The vote: no group has 60 percent, so the AI is not consistent here and nothing is accepted automatically. The two big groups go to a human, and the three lonely tests are rejected. The last column is the truth, which I checked afterwards with deliberately broken controllers: both crash tests really were wrong. It is not perfect: group A still hides two wrong tests, which a human would catch in review, and the emergency-brake test was correct but rejected because it was unusual. That is exactly where my PhD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about 1:46.] Requirement R6: the car ahead moves to another lane and reveals a stopped car. The AI writes eight tests live. Each one runs in the simulator, and the dashboard groups them by what happened. Here seven of eight tests behaved the same way: no crash, emergency brake, the check passes. Seven out of eight is 88 percent, so they are accepted. One test behaved differently and stood alone, so it is rejected. Afterwards I checked the truth with eight broken controllers: all seven accepted tests were correct. The lonely test was actually correct too, just unusual. That is the price of a simple vote, and it is one of my research questions. At the end, an accepted test is replayed on a broken controller, and its check catches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vote actually work? I generated 210 tests with three AI models for seven cruise-control requirements, and checked every test against eight deliberately broken controllers to know which tests were really correct. Then I asked: which signal spots the wrong tests? Asking the AI how sure it is scores 0.74. Checking whether its ten tests agree scores 0.90. In plain words: if you pick one wrong and one correct test at random, nine times out of ten the wrong one has the lower agreement. Honest limit: inside a single requirement the score drops to 0.71, so today it mostly tells you which requirements are hard. Making it sharper per test is my first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vote decide for all 210 tests? 173 are accepted automatically, and 171 of those are really correct, that is 98.8 percent. 30 go to a human, and this is where the mistakes gather: 11 of them are wrong. 7 are rejected. If you simply trusted every test you would get 92% correct, so the vote is better and, more importantly, it tells the human which tests to look at. The thresholds are hand-picked, and connecting them to safety risk is my second objective. Cost: about 16 seconds and 2900 tokens per AI answer, and about one second to simulate a test on nine controller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The gaps from both demos map onto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maps onto an objective. From Demo 1: rules cannot tell a wrong test from a real defect, which calls for uncertainty on every generated artefact. From Demo 2: the per-test signal is weak and black-box only — new metrics, O1. Heuristic thresholds that ignore severity — risk methods, O2. The relation between uncertainty, effectiveness and cost — a large study, O3. And generalisation beyond one app, one simulator and hosted models — O4.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evaluated on open-source ACPS, industrial cases through the network such as the Mondragon elevator systems, and the InnoGuard platform, with fault-injection or expert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 open benchmark that includes both QA-Flow-style web/API artefacts and ACPS tests, and the first metric suite. Year 2: the empirical study, risk methods and the planned secondment at Mondragon. Year 3: industrial and InnoGuard-platform evaluation, the quantum ML extension, and the thesis. Secondment dates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 metrics, risk methods, empirical evidence and open artefacts — published at the main SE venues and developed jointly across the network, with the Mondragon secondment as the industrial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from hardware to automotive software testing at Bosch, then research on falsification and test generation for controller software at Kyungpook National University, and now LLM-based testing in industry — which is where QA-Flow comes from. The common thread is making automated testing of safety-relevant software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bring maps onto the preferred profile: CPS testing practice, verification research, hands-on LLM tooling — both tools in this talk — and empirical studies. And why this team: uncertainty-wise CPS testing at Simula, ADS testing and falsification with Prof. Arcaini, industrial oracles at Mondragon. My two demos sit exactly where these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QA-Flow automates testing end to end but trusts by rules, and the rules are fooled by wrong tests; UQ-TestGen shows uncertainty can tell which generated tests to trust; and the PhD turns that into metrics, risk methods, evidence and transfer, along O1 to O4. Thank you —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the QA-Flow run behind Demo 1: which planted defects were found by which tests, and how many outputs each trust rule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the formal version: the vote is behavioural entropy. The surprisal form and the agreement form are both monotone in the size of the test's behaviour group, so they rank tests identically. Structural entropy groups tests by what they look like; oracle disagreement cross-applies the tests' checks; verbalised confidence is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signals: agreement and behavioural entropy are identical at 0.90 pooled and 0.71 within a batch; the combined score adds structural entropy and does not help. Verbalised confidence 0.74, oracle disagreement is near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gpt-6-astra produced only correct tests, so uncertainty matters most for cheaper models. Per requirement: cut-in (R3) and cut-out (R6) are hardest and also have the highest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faults define ground truth; the metric design was chosen on a development round; and the scale is small. Each has a mitigation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shot-based sampling is a natural analogue to sampling an LLM, so the same disagreement-based metrics can be tested, with quantum noise as an extra source of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09728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000" b="1" dirty="0">
                <a:solidFill>
                  <a:srgbClr val="13213C"/>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indent="0" marL="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indent="0" marL="0">
              <a:buNone/>
            </a:pPr>
            <a:r>
              <a:rPr lang="en-US" sz="1400" b="1" spc="100" kern="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3" name="Text 0"/>
          <p:cNvSpPr/>
          <p:nvPr>
            <p:ph idx="100" type="title" hasCustomPrompt="1"/>
          </p:nvPr>
        </p:nvSpPr>
        <p:spPr>
          <a:xfrm>
            <a:off x="548640" y="1828800"/>
            <a:ext cx="10515600" cy="109728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When can we trust AI-generated tests?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Uncertainty quantification for risk-based testing of autonomous CPS</a:t>
            </a:r>
            <a:endParaRPr lang="en-US" sz="4000" dirty="0"/>
          </a:p>
        </p:txBody>
      </p:sp>
      <p:sp>
        <p:nvSpPr>
          <p:cNvPr id="4" name="Text 2"/>
          <p:cNvSpPr txBox="1"/>
          <p:nvPr/>
        </p:nvSpPr>
        <p:spPr>
          <a:xfrm>
            <a:off x="548640" y="4526280"/>
            <a:ext cx="822960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p:txBody>
      </p:sp>
      <p:pic>
        <p:nvPicPr>
          <p:cNvPr id="5" name="Image 0" descr="D:\git\phd\uq-testgen\deck\assets\strip.png">    </p:cNvPr>
          <p:cNvPicPr>
            <a:picLocks noChangeAspect="1"/>
          </p:cNvPicPr>
          <p:nvPr/>
        </p:nvPicPr>
        <p:blipFill>
          <a:blip r:embed="rId1"/>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MOTIVATION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Turning specifications into tests by hand does not scale</a:t>
            </a:r>
            <a:endParaRPr lang="en-US" sz="3000" dirty="0"/>
          </a:p>
        </p:txBody>
      </p:sp>
      <p:sp>
        <p:nvSpPr>
          <p:cNvPr id="4" name="Shape 2"/>
          <p:cNvSpPr/>
          <p:nvPr/>
        </p:nvSpPr>
        <p:spPr>
          <a:xfrm>
            <a:off x="1338042" y="1417320"/>
            <a:ext cx="640080" cy="640080"/>
          </a:xfrm>
          <a:prstGeom prst="ellipse">
            <a:avLst/>
          </a:prstGeom>
          <a:solidFill>
            <a:srgbClr val="5B6578"/>
          </a:solidFill>
          <a:ln w="12700">
            <a:solidFill>
              <a:srgbClr val="5B6578"/>
            </a:solidFill>
            <a:prstDash val="solid"/>
          </a:ln>
        </p:spPr>
      </p:sp>
      <p:pic>
        <p:nvPicPr>
          <p:cNvPr id="5" name="Image 0" descr="preencoded.png">    </p:cNvPr>
          <p:cNvPicPr>
            <a:picLocks noChangeAspect="1"/>
          </p:cNvPicPr>
          <p:nvPr/>
        </p:nvPicPr>
        <p:blipFill>
          <a:blip r:embed="rId1"/>
          <a:stretch>
            <a:fillRect/>
          </a:stretch>
        </p:blipFill>
        <p:spPr>
          <a:xfrm>
            <a:off x="1498062" y="1577340"/>
            <a:ext cx="320040" cy="320040"/>
          </a:xfrm>
          <a:prstGeom prst="rect">
            <a:avLst/>
          </a:prstGeom>
        </p:spPr>
      </p:pic>
      <p:sp>
        <p:nvSpPr>
          <p:cNvPr id="6" name="Text 3"/>
          <p:cNvSpPr txBox="1"/>
          <p:nvPr/>
        </p:nvSpPr>
        <p:spPr>
          <a:xfrm>
            <a:off x="548640"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Read the spec</a:t>
            </a:r>
            <a:endParaRPr lang="en-US" sz="1500" dirty="0"/>
          </a:p>
        </p:txBody>
      </p:sp>
      <p:sp>
        <p:nvSpPr>
          <p:cNvPr id="7" name="Text 4"/>
          <p:cNvSpPr txBox="1"/>
          <p:nvPr/>
        </p:nvSpPr>
        <p:spPr>
          <a:xfrm>
            <a:off x="548640"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8" name="Shape 5"/>
          <p:cNvSpPr/>
          <p:nvPr/>
        </p:nvSpPr>
        <p:spPr>
          <a:xfrm>
            <a:off x="2115282" y="1627632"/>
            <a:ext cx="1304483" cy="219456"/>
          </a:xfrm>
          <a:prstGeom prst="rightArrow">
            <a:avLst/>
          </a:prstGeom>
          <a:solidFill>
            <a:srgbClr val="DDE3EC"/>
          </a:solidFill>
          <a:ln w="12700">
            <a:solidFill>
              <a:srgbClr val="DDE3EC"/>
            </a:solidFill>
            <a:prstDash val="solid"/>
          </a:ln>
        </p:spPr>
      </p:sp>
      <p:sp>
        <p:nvSpPr>
          <p:cNvPr id="9" name="Shape 6"/>
          <p:cNvSpPr/>
          <p:nvPr/>
        </p:nvSpPr>
        <p:spPr>
          <a:xfrm>
            <a:off x="3556925" y="1417320"/>
            <a:ext cx="640080" cy="640080"/>
          </a:xfrm>
          <a:prstGeom prst="ellipse">
            <a:avLst/>
          </a:prstGeom>
          <a:solidFill>
            <a:srgbClr val="5B6578"/>
          </a:solidFill>
          <a:ln w="12700">
            <a:solidFill>
              <a:srgbClr val="5B6578"/>
            </a:solidFill>
            <a:prstDash val="solid"/>
          </a:ln>
        </p:spPr>
      </p:sp>
      <p:pic>
        <p:nvPicPr>
          <p:cNvPr id="10" name="Image 1" descr="preencoded.png">    </p:cNvPr>
          <p:cNvPicPr>
            <a:picLocks noChangeAspect="1"/>
          </p:cNvPicPr>
          <p:nvPr/>
        </p:nvPicPr>
        <p:blipFill>
          <a:blip r:embed="rId2"/>
          <a:stretch>
            <a:fillRect/>
          </a:stretch>
        </p:blipFill>
        <p:spPr>
          <a:xfrm>
            <a:off x="3716945" y="1577340"/>
            <a:ext cx="320040" cy="320040"/>
          </a:xfrm>
          <a:prstGeom prst="rect">
            <a:avLst/>
          </a:prstGeom>
        </p:spPr>
      </p:pic>
      <p:sp>
        <p:nvSpPr>
          <p:cNvPr id="11" name="Text 7"/>
          <p:cNvSpPr txBox="1"/>
          <p:nvPr/>
        </p:nvSpPr>
        <p:spPr>
          <a:xfrm>
            <a:off x="2767523"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Write test cases</a:t>
            </a:r>
            <a:endParaRPr lang="en-US" sz="1500" dirty="0"/>
          </a:p>
        </p:txBody>
      </p:sp>
      <p:sp>
        <p:nvSpPr>
          <p:cNvPr id="12" name="Text 8"/>
          <p:cNvSpPr txBox="1"/>
          <p:nvPr/>
        </p:nvSpPr>
        <p:spPr>
          <a:xfrm>
            <a:off x="2767523"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3" name="Shape 9"/>
          <p:cNvSpPr/>
          <p:nvPr/>
        </p:nvSpPr>
        <p:spPr>
          <a:xfrm>
            <a:off x="4334165" y="1627632"/>
            <a:ext cx="1304483" cy="219456"/>
          </a:xfrm>
          <a:prstGeom prst="rightArrow">
            <a:avLst/>
          </a:prstGeom>
          <a:solidFill>
            <a:srgbClr val="DDE3EC"/>
          </a:solidFill>
          <a:ln w="12700">
            <a:solidFill>
              <a:srgbClr val="DDE3EC"/>
            </a:solidFill>
            <a:prstDash val="solid"/>
          </a:ln>
        </p:spPr>
      </p:sp>
      <p:sp>
        <p:nvSpPr>
          <p:cNvPr id="14" name="Shape 10"/>
          <p:cNvSpPr/>
          <p:nvPr/>
        </p:nvSpPr>
        <p:spPr>
          <a:xfrm>
            <a:off x="5775808" y="1417320"/>
            <a:ext cx="640080" cy="640080"/>
          </a:xfrm>
          <a:prstGeom prst="ellipse">
            <a:avLst/>
          </a:prstGeom>
          <a:solidFill>
            <a:srgbClr val="5B6578"/>
          </a:solidFill>
          <a:ln w="12700">
            <a:solidFill>
              <a:srgbClr val="5B6578"/>
            </a:solidFill>
            <a:prstDash val="solid"/>
          </a:ln>
        </p:spPr>
      </p:sp>
      <p:pic>
        <p:nvPicPr>
          <p:cNvPr id="15" name="Image 2" descr="preencoded.png">    </p:cNvPr>
          <p:cNvPicPr>
            <a:picLocks noChangeAspect="1"/>
          </p:cNvPicPr>
          <p:nvPr/>
        </p:nvPicPr>
        <p:blipFill>
          <a:blip r:embed="rId3"/>
          <a:stretch>
            <a:fillRect/>
          </a:stretch>
        </p:blipFill>
        <p:spPr>
          <a:xfrm>
            <a:off x="5935828" y="1577340"/>
            <a:ext cx="320040" cy="320040"/>
          </a:xfrm>
          <a:prstGeom prst="rect">
            <a:avLst/>
          </a:prstGeom>
        </p:spPr>
      </p:pic>
      <p:sp>
        <p:nvSpPr>
          <p:cNvPr id="16" name="Text 11"/>
          <p:cNvSpPr txBox="1"/>
          <p:nvPr/>
        </p:nvSpPr>
        <p:spPr>
          <a:xfrm>
            <a:off x="4986406"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Write scripts</a:t>
            </a:r>
            <a:endParaRPr lang="en-US" sz="1500" dirty="0"/>
          </a:p>
        </p:txBody>
      </p:sp>
      <p:sp>
        <p:nvSpPr>
          <p:cNvPr id="17" name="Text 12"/>
          <p:cNvSpPr txBox="1"/>
          <p:nvPr/>
        </p:nvSpPr>
        <p:spPr>
          <a:xfrm>
            <a:off x="4986406"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8" name="Shape 13"/>
          <p:cNvSpPr/>
          <p:nvPr/>
        </p:nvSpPr>
        <p:spPr>
          <a:xfrm>
            <a:off x="6553048" y="1627632"/>
            <a:ext cx="1304483" cy="219456"/>
          </a:xfrm>
          <a:prstGeom prst="rightArrow">
            <a:avLst/>
          </a:prstGeom>
          <a:solidFill>
            <a:srgbClr val="DDE3EC"/>
          </a:solidFill>
          <a:ln w="12700">
            <a:solidFill>
              <a:srgbClr val="DDE3EC"/>
            </a:solidFill>
            <a:prstDash val="solid"/>
          </a:ln>
        </p:spPr>
      </p:sp>
      <p:sp>
        <p:nvSpPr>
          <p:cNvPr id="19" name="Shape 14"/>
          <p:cNvSpPr/>
          <p:nvPr/>
        </p:nvSpPr>
        <p:spPr>
          <a:xfrm>
            <a:off x="7994691" y="1417320"/>
            <a:ext cx="640080" cy="640080"/>
          </a:xfrm>
          <a:prstGeom prst="ellipse">
            <a:avLst/>
          </a:prstGeom>
          <a:solidFill>
            <a:srgbClr val="5B6578"/>
          </a:solidFill>
          <a:ln w="12700">
            <a:solidFill>
              <a:srgbClr val="5B6578"/>
            </a:solidFill>
            <a:prstDash val="solid"/>
          </a:ln>
        </p:spPr>
      </p:sp>
      <p:pic>
        <p:nvPicPr>
          <p:cNvPr id="20" name="Image 3" descr="preencoded.png">    </p:cNvPr>
          <p:cNvPicPr>
            <a:picLocks noChangeAspect="1"/>
          </p:cNvPicPr>
          <p:nvPr/>
        </p:nvPicPr>
        <p:blipFill>
          <a:blip r:embed="rId4"/>
          <a:stretch>
            <a:fillRect/>
          </a:stretch>
        </p:blipFill>
        <p:spPr>
          <a:xfrm>
            <a:off x="8154711" y="1577340"/>
            <a:ext cx="320040" cy="320040"/>
          </a:xfrm>
          <a:prstGeom prst="rect">
            <a:avLst/>
          </a:prstGeom>
        </p:spPr>
      </p:pic>
      <p:sp>
        <p:nvSpPr>
          <p:cNvPr id="21" name="Text 15"/>
          <p:cNvSpPr txBox="1"/>
          <p:nvPr/>
        </p:nvSpPr>
        <p:spPr>
          <a:xfrm>
            <a:off x="7205289"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Run &amp; triage</a:t>
            </a:r>
            <a:endParaRPr lang="en-US" sz="1500" dirty="0"/>
          </a:p>
        </p:txBody>
      </p:sp>
      <p:sp>
        <p:nvSpPr>
          <p:cNvPr id="22" name="Text 16"/>
          <p:cNvSpPr txBox="1"/>
          <p:nvPr/>
        </p:nvSpPr>
        <p:spPr>
          <a:xfrm>
            <a:off x="7205289"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3" name="Shape 17"/>
          <p:cNvSpPr/>
          <p:nvPr/>
        </p:nvSpPr>
        <p:spPr>
          <a:xfrm>
            <a:off x="8771931" y="1627632"/>
            <a:ext cx="1304483" cy="219456"/>
          </a:xfrm>
          <a:prstGeom prst="rightArrow">
            <a:avLst/>
          </a:prstGeom>
          <a:solidFill>
            <a:srgbClr val="DDE3EC"/>
          </a:solidFill>
          <a:ln w="12700">
            <a:solidFill>
              <a:srgbClr val="DDE3EC"/>
            </a:solidFill>
            <a:prstDash val="solid"/>
          </a:ln>
        </p:spPr>
      </p:sp>
      <p:sp>
        <p:nvSpPr>
          <p:cNvPr id="24" name="Shape 18"/>
          <p:cNvSpPr/>
          <p:nvPr/>
        </p:nvSpPr>
        <p:spPr>
          <a:xfrm>
            <a:off x="10213574" y="1417320"/>
            <a:ext cx="640080" cy="640080"/>
          </a:xfrm>
          <a:prstGeom prst="ellipse">
            <a:avLst/>
          </a:prstGeom>
          <a:solidFill>
            <a:srgbClr val="5B6578"/>
          </a:solidFill>
          <a:ln w="12700">
            <a:solidFill>
              <a:srgbClr val="5B6578"/>
            </a:solidFill>
            <a:prstDash val="solid"/>
          </a:ln>
        </p:spPr>
      </p:sp>
      <p:pic>
        <p:nvPicPr>
          <p:cNvPr id="25" name="Image 4" descr="preencoded.png">    </p:cNvPr>
          <p:cNvPicPr>
            <a:picLocks noChangeAspect="1"/>
          </p:cNvPicPr>
          <p:nvPr/>
        </p:nvPicPr>
        <p:blipFill>
          <a:blip r:embed="rId5"/>
          <a:stretch>
            <a:fillRect/>
          </a:stretch>
        </p:blipFill>
        <p:spPr>
          <a:xfrm>
            <a:off x="10373594" y="1577340"/>
            <a:ext cx="320040" cy="320040"/>
          </a:xfrm>
          <a:prstGeom prst="rect">
            <a:avLst/>
          </a:prstGeom>
        </p:spPr>
      </p:pic>
      <p:sp>
        <p:nvSpPr>
          <p:cNvPr id="26" name="Text 19"/>
          <p:cNvSpPr txBox="1"/>
          <p:nvPr/>
        </p:nvSpPr>
        <p:spPr>
          <a:xfrm>
            <a:off x="9424172" y="2148840"/>
            <a:ext cx="2218883" cy="320040"/>
          </a:xfrm>
          <a:prstGeom prst="rect">
            <a:avLst/>
          </a:prstGeom>
          <a:noFill/>
          <a:ln/>
        </p:spPr>
        <p:txBody>
          <a:bodyPr wrap="square" lIns="0" tIns="0" rIns="0" bIns="0" rtlCol="0" anchor="t"/>
          <a:lstStyle/>
          <a:p>
            <a:pPr algn="ctr" indent="0" marL="0">
              <a:buNone/>
            </a:pPr>
            <a:r>
              <a:rPr lang="en-US" sz="1500" b="1" dirty="0">
                <a:solidFill>
                  <a:srgbClr val="13213C"/>
                </a:solidFill>
                <a:latin typeface="Calibri" pitchFamily="34" charset="0"/>
                <a:ea typeface="Calibri" pitchFamily="34" charset="-122"/>
                <a:cs typeface="Calibri" pitchFamily="34" charset="-120"/>
              </a:rPr>
              <a:t>Report bugs</a:t>
            </a:r>
            <a:endParaRPr lang="en-US" sz="1500" dirty="0"/>
          </a:p>
        </p:txBody>
      </p:sp>
      <p:sp>
        <p:nvSpPr>
          <p:cNvPr id="27" name="Text 20"/>
          <p:cNvSpPr txBox="1"/>
          <p:nvPr/>
        </p:nvSpPr>
        <p:spPr>
          <a:xfrm>
            <a:off x="9424172" y="2468880"/>
            <a:ext cx="2218883" cy="274320"/>
          </a:xfrm>
          <a:prstGeom prst="rect">
            <a:avLst/>
          </a:prstGeom>
          <a:noFill/>
          <a:ln/>
        </p:spPr>
        <p:txBody>
          <a:bodyPr wrap="square" lIns="0" tIns="0" rIns="0" bIns="0" rtlCol="0" anchor="t"/>
          <a:lstStyle/>
          <a:p>
            <a:pPr algn="ctr" indent="0" marL="0">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8" name="Text 21"/>
          <p:cNvSpPr txBox="1"/>
          <p:nvPr/>
        </p:nvSpPr>
        <p:spPr>
          <a:xfrm>
            <a:off x="548640" y="3063240"/>
            <a:ext cx="6492240" cy="2377440"/>
          </a:xfrm>
          <a:prstGeom prst="rect">
            <a:avLst/>
          </a:prstGeom>
          <a:noFill/>
          <a:ln/>
        </p:spPr>
        <p:txBody>
          <a:bodyPr wrap="square" lIns="0" tIns="0" rIns="0" bIns="0" rtlCol="0" anchor="t"/>
          <a:lstStyle/>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Every release, every spec change: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test cases and scripts are re-written for web, API and security testing</a:t>
            </a:r>
            <a:endParaRPr lang="en-US" sz="1700" dirty="0"/>
          </a:p>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Test design is the bottleneck,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not test execution</a:t>
            </a:r>
            <a:endParaRPr lang="en-US" sz="1700" dirty="0"/>
          </a:p>
          <a:p>
            <a:pPr marL="177800" indent="-177800">
              <a:buSzPct val="100000"/>
              <a:buChar char="•"/>
            </a:pPr>
            <a:r>
              <a:rPr lang="en-US" sz="1700" b="1" dirty="0">
                <a:solidFill>
                  <a:srgbClr val="1E2533"/>
                </a:solidFill>
                <a:latin typeface="Calibri" pitchFamily="34" charset="0"/>
                <a:ea typeface="Calibri" pitchFamily="34" charset="-122"/>
                <a:cs typeface="Calibri" pitchFamily="34" charset="-120"/>
              </a:rPr>
              <a:t>LLMs can now read specifications and write tests [27], </a:t>
            </a:r>
            <a:pPr indent="0" marL="0">
              <a:spcAft>
                <a:spcPts val="600"/>
              </a:spcAft>
              <a:buNone/>
            </a:pPr>
            <a:r>
              <a:rPr lang="en-US" sz="1700" dirty="0">
                <a:solidFill>
                  <a:srgbClr val="1E2533"/>
                </a:solidFill>
                <a:latin typeface="Calibri" pitchFamily="34" charset="0"/>
                <a:ea typeface="Calibri" pitchFamily="34" charset="-122"/>
                <a:cs typeface="Calibri" pitchFamily="34" charset="-120"/>
              </a:rPr>
              <a:t>which makes end-to-end automation possible</a:t>
            </a:r>
            <a:endParaRPr lang="en-US" sz="1700" dirty="0"/>
          </a:p>
        </p:txBody>
      </p:sp>
      <p:sp>
        <p:nvSpPr>
          <p:cNvPr id="29" name="Shape 22"/>
          <p:cNvSpPr/>
          <p:nvPr/>
        </p:nvSpPr>
        <p:spPr>
          <a:xfrm>
            <a:off x="7315200" y="3063240"/>
            <a:ext cx="4325112" cy="2240280"/>
          </a:xfrm>
          <a:prstGeom prst="roundRect">
            <a:avLst>
              <a:gd name="adj" fmla="val 4898"/>
            </a:avLst>
          </a:prstGeom>
          <a:solidFill>
            <a:srgbClr val="EEF0FE"/>
          </a:solidFill>
          <a:ln w="12700">
            <a:solidFill>
              <a:srgbClr val="EEF0FE"/>
            </a:solidFill>
            <a:prstDash val="solid"/>
          </a:ln>
        </p:spPr>
      </p:sp>
      <p:sp>
        <p:nvSpPr>
          <p:cNvPr id="30" name="Text 23"/>
          <p:cNvSpPr txBox="1"/>
          <p:nvPr/>
        </p:nvSpPr>
        <p:spPr>
          <a:xfrm>
            <a:off x="7589520" y="3246120"/>
            <a:ext cx="3840480" cy="365760"/>
          </a:xfrm>
          <a:prstGeom prst="rect">
            <a:avLst/>
          </a:prstGeom>
          <a:noFill/>
          <a:ln/>
        </p:spPr>
        <p:txBody>
          <a:bodyPr wrap="square" lIns="0" tIns="0" rIns="0" bIns="0" rtlCol="0" anchor="t"/>
          <a:lstStyle/>
          <a:p>
            <a:pPr indent="0" marL="0">
              <a:buNone/>
            </a:pPr>
            <a:r>
              <a:rPr lang="en-US" sz="1600" b="1" dirty="0">
                <a:solidFill>
                  <a:srgbClr val="4F46E5"/>
                </a:solidFill>
                <a:latin typeface="Calibri" pitchFamily="34" charset="0"/>
                <a:ea typeface="Calibri" pitchFamily="34" charset="-122"/>
                <a:cs typeface="Calibri" pitchFamily="34" charset="-120"/>
              </a:rPr>
              <a:t>Goal of my tool</a:t>
            </a:r>
            <a:endParaRPr lang="en-US" sz="1600" dirty="0"/>
          </a:p>
        </p:txBody>
      </p:sp>
      <p:sp>
        <p:nvSpPr>
          <p:cNvPr id="31" name="Text 24"/>
          <p:cNvSpPr txBox="1"/>
          <p:nvPr/>
        </p:nvSpPr>
        <p:spPr>
          <a:xfrm>
            <a:off x="7589520" y="3657600"/>
            <a:ext cx="3840480" cy="1554480"/>
          </a:xfrm>
          <a:prstGeom prst="rect">
            <a:avLst/>
          </a:prstGeom>
          <a:noFill/>
          <a:ln/>
        </p:spPr>
        <p:txBody>
          <a:bodyPr wrap="square" lIns="0" tIns="0" rIns="0" bIns="0" rtlCol="0" anchor="t"/>
          <a:lstStyle/>
          <a:p>
            <a:pPr indent="0" marL="0">
              <a:buNone/>
            </a:pPr>
            <a:r>
              <a:rPr lang="en-US" sz="1500" dirty="0">
                <a:solidFill>
                  <a:srgbClr val="1E2533"/>
                </a:solidFill>
                <a:latin typeface="Calibri" pitchFamily="34" charset="0"/>
                <a:ea typeface="Calibri" pitchFamily="34" charset="-122"/>
                <a:cs typeface="Calibri" pitchFamily="34" charset="-120"/>
              </a:rPr>
              <a:t>One pipeline from a requirements document to executed web, API and security tests and a pass/fail report — with the LLM doing the test design.</a:t>
            </a:r>
            <a:endParaRPr lang="en-US" sz="1500" dirty="0"/>
          </a:p>
        </p:txBody>
      </p:sp>
      <p:sp>
        <p:nvSpPr>
          <p:cNvPr id="32" name="Text 25"/>
          <p:cNvSpPr txBox="1"/>
          <p:nvPr/>
        </p:nvSpPr>
        <p:spPr>
          <a:xfrm>
            <a:off x="548640" y="5897880"/>
            <a:ext cx="11094415" cy="5303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QA-Flow: from a requirements document to a pass/fail report</a:t>
            </a:r>
            <a:endParaRPr lang="en-US" sz="3000" dirty="0"/>
          </a:p>
        </p:txBody>
      </p:sp>
      <p:sp>
        <p:nvSpPr>
          <p:cNvPr id="4" name="Shape 2"/>
          <p:cNvSpPr/>
          <p:nvPr/>
        </p:nvSpPr>
        <p:spPr>
          <a:xfrm>
            <a:off x="1153135" y="1325880"/>
            <a:ext cx="640080" cy="64008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1313155" y="1485900"/>
            <a:ext cx="320040" cy="320040"/>
          </a:xfrm>
          <a:prstGeom prst="rect">
            <a:avLst/>
          </a:prstGeom>
        </p:spPr>
      </p:pic>
      <p:sp>
        <p:nvSpPr>
          <p:cNvPr id="6" name="Text 3"/>
          <p:cNvSpPr txBox="1"/>
          <p:nvPr/>
        </p:nvSpPr>
        <p:spPr>
          <a:xfrm>
            <a:off x="548640"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7" name="Text 4"/>
          <p:cNvSpPr txBox="1"/>
          <p:nvPr/>
        </p:nvSpPr>
        <p:spPr>
          <a:xfrm>
            <a:off x="548640"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SRS + discovered app</a:t>
            </a:r>
            <a:endParaRPr lang="en-US" sz="1200" dirty="0"/>
          </a:p>
        </p:txBody>
      </p:sp>
      <p:sp>
        <p:nvSpPr>
          <p:cNvPr id="8" name="Shape 5"/>
          <p:cNvSpPr/>
          <p:nvPr/>
        </p:nvSpPr>
        <p:spPr>
          <a:xfrm>
            <a:off x="1930375" y="1536192"/>
            <a:ext cx="934669" cy="219456"/>
          </a:xfrm>
          <a:prstGeom prst="rightArrow">
            <a:avLst/>
          </a:prstGeom>
          <a:solidFill>
            <a:srgbClr val="DDE3EC"/>
          </a:solidFill>
          <a:ln w="12700">
            <a:solidFill>
              <a:srgbClr val="DDE3EC"/>
            </a:solidFill>
            <a:prstDash val="solid"/>
          </a:ln>
        </p:spPr>
      </p:sp>
      <p:sp>
        <p:nvSpPr>
          <p:cNvPr id="9" name="Shape 6"/>
          <p:cNvSpPr/>
          <p:nvPr/>
        </p:nvSpPr>
        <p:spPr>
          <a:xfrm>
            <a:off x="3002204" y="1325880"/>
            <a:ext cx="640080" cy="64008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2"/>
          <a:stretch>
            <a:fillRect/>
          </a:stretch>
        </p:blipFill>
        <p:spPr>
          <a:xfrm>
            <a:off x="3162224" y="1485900"/>
            <a:ext cx="320040" cy="320040"/>
          </a:xfrm>
          <a:prstGeom prst="rect">
            <a:avLst/>
          </a:prstGeom>
        </p:spPr>
      </p:pic>
      <p:sp>
        <p:nvSpPr>
          <p:cNvPr id="11" name="Text 7"/>
          <p:cNvSpPr txBox="1"/>
          <p:nvPr/>
        </p:nvSpPr>
        <p:spPr>
          <a:xfrm>
            <a:off x="2397709"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2" name="Text 8"/>
          <p:cNvSpPr txBox="1"/>
          <p:nvPr/>
        </p:nvSpPr>
        <p:spPr>
          <a:xfrm>
            <a:off x="2397709"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chunks + BM25</a:t>
            </a:r>
            <a:endParaRPr lang="en-US" sz="1200" dirty="0"/>
          </a:p>
        </p:txBody>
      </p:sp>
      <p:sp>
        <p:nvSpPr>
          <p:cNvPr id="13" name="Shape 9"/>
          <p:cNvSpPr/>
          <p:nvPr/>
        </p:nvSpPr>
        <p:spPr>
          <a:xfrm>
            <a:off x="3779444" y="1536192"/>
            <a:ext cx="934669" cy="219456"/>
          </a:xfrm>
          <a:prstGeom prst="rightArrow">
            <a:avLst/>
          </a:prstGeom>
          <a:solidFill>
            <a:srgbClr val="DDE3EC"/>
          </a:solidFill>
          <a:ln w="12700">
            <a:solidFill>
              <a:srgbClr val="DDE3EC"/>
            </a:solidFill>
            <a:prstDash val="solid"/>
          </a:ln>
        </p:spPr>
      </p:sp>
      <p:sp>
        <p:nvSpPr>
          <p:cNvPr id="14" name="Shape 10"/>
          <p:cNvSpPr/>
          <p:nvPr/>
        </p:nvSpPr>
        <p:spPr>
          <a:xfrm>
            <a:off x="4851273" y="1325880"/>
            <a:ext cx="640080" cy="640080"/>
          </a:xfrm>
          <a:prstGeom prst="ellipse">
            <a:avLst/>
          </a:prstGeom>
          <a:solidFill>
            <a:srgbClr val="4F46E5"/>
          </a:solidFill>
          <a:ln w="12700">
            <a:solidFill>
              <a:srgbClr val="4F46E5"/>
            </a:solidFill>
            <a:prstDash val="solid"/>
          </a:ln>
        </p:spPr>
      </p:sp>
      <p:pic>
        <p:nvPicPr>
          <p:cNvPr id="15" name="Image 2" descr="preencoded.png">    </p:cNvPr>
          <p:cNvPicPr>
            <a:picLocks noChangeAspect="1"/>
          </p:cNvPicPr>
          <p:nvPr/>
        </p:nvPicPr>
        <p:blipFill>
          <a:blip r:embed="rId3"/>
          <a:stretch>
            <a:fillRect/>
          </a:stretch>
        </p:blipFill>
        <p:spPr>
          <a:xfrm>
            <a:off x="5011293" y="1485900"/>
            <a:ext cx="320040" cy="320040"/>
          </a:xfrm>
          <a:prstGeom prst="rect">
            <a:avLst/>
          </a:prstGeom>
        </p:spPr>
      </p:pic>
      <p:sp>
        <p:nvSpPr>
          <p:cNvPr id="16" name="Text 11"/>
          <p:cNvSpPr txBox="1"/>
          <p:nvPr/>
        </p:nvSpPr>
        <p:spPr>
          <a:xfrm>
            <a:off x="4246778"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7" name="Text 12"/>
          <p:cNvSpPr txBox="1"/>
          <p:nvPr/>
        </p:nvSpPr>
        <p:spPr>
          <a:xfrm>
            <a:off x="4246778"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analyst · designer · bug writer</a:t>
            </a:r>
            <a:endParaRPr lang="en-US" sz="1200" dirty="0"/>
          </a:p>
        </p:txBody>
      </p:sp>
      <p:sp>
        <p:nvSpPr>
          <p:cNvPr id="18" name="Shape 13"/>
          <p:cNvSpPr/>
          <p:nvPr/>
        </p:nvSpPr>
        <p:spPr>
          <a:xfrm>
            <a:off x="5628513" y="1536192"/>
            <a:ext cx="934669" cy="219456"/>
          </a:xfrm>
          <a:prstGeom prst="rightArrow">
            <a:avLst/>
          </a:prstGeom>
          <a:solidFill>
            <a:srgbClr val="DDE3EC"/>
          </a:solidFill>
          <a:ln w="12700">
            <a:solidFill>
              <a:srgbClr val="DDE3EC"/>
            </a:solidFill>
            <a:prstDash val="solid"/>
          </a:ln>
        </p:spPr>
      </p:sp>
      <p:sp>
        <p:nvSpPr>
          <p:cNvPr id="19" name="Shape 14"/>
          <p:cNvSpPr/>
          <p:nvPr/>
        </p:nvSpPr>
        <p:spPr>
          <a:xfrm>
            <a:off x="6700342" y="1325880"/>
            <a:ext cx="640080" cy="640080"/>
          </a:xfrm>
          <a:prstGeom prst="ellipse">
            <a:avLst/>
          </a:prstGeom>
          <a:solidFill>
            <a:srgbClr val="4F46E5"/>
          </a:solidFill>
          <a:ln w="12700">
            <a:solidFill>
              <a:srgbClr val="4F46E5"/>
            </a:solidFill>
            <a:prstDash val="solid"/>
          </a:ln>
        </p:spPr>
      </p:sp>
      <p:pic>
        <p:nvPicPr>
          <p:cNvPr id="20" name="Image 3" descr="preencoded.png">    </p:cNvPr>
          <p:cNvPicPr>
            <a:picLocks noChangeAspect="1"/>
          </p:cNvPicPr>
          <p:nvPr/>
        </p:nvPicPr>
        <p:blipFill>
          <a:blip r:embed="rId4"/>
          <a:stretch>
            <a:fillRect/>
          </a:stretch>
        </p:blipFill>
        <p:spPr>
          <a:xfrm>
            <a:off x="6860362" y="1485900"/>
            <a:ext cx="320040" cy="320040"/>
          </a:xfrm>
          <a:prstGeom prst="rect">
            <a:avLst/>
          </a:prstGeom>
        </p:spPr>
      </p:pic>
      <p:sp>
        <p:nvSpPr>
          <p:cNvPr id="21" name="Text 15"/>
          <p:cNvSpPr txBox="1"/>
          <p:nvPr/>
        </p:nvSpPr>
        <p:spPr>
          <a:xfrm>
            <a:off x="6095848"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22" name="Text 16"/>
          <p:cNvSpPr txBox="1"/>
          <p:nvPr/>
        </p:nvSpPr>
        <p:spPr>
          <a:xfrm>
            <a:off x="6095848"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step DSL → Playwright</a:t>
            </a:r>
            <a:endParaRPr lang="en-US" sz="1200" dirty="0"/>
          </a:p>
        </p:txBody>
      </p:sp>
      <p:sp>
        <p:nvSpPr>
          <p:cNvPr id="23" name="Shape 17"/>
          <p:cNvSpPr/>
          <p:nvPr/>
        </p:nvSpPr>
        <p:spPr>
          <a:xfrm>
            <a:off x="7477582" y="1536192"/>
            <a:ext cx="934669" cy="219456"/>
          </a:xfrm>
          <a:prstGeom prst="rightArrow">
            <a:avLst/>
          </a:prstGeom>
          <a:solidFill>
            <a:srgbClr val="DDE3EC"/>
          </a:solidFill>
          <a:ln w="12700">
            <a:solidFill>
              <a:srgbClr val="DDE3EC"/>
            </a:solidFill>
            <a:prstDash val="solid"/>
          </a:ln>
        </p:spPr>
      </p:sp>
      <p:sp>
        <p:nvSpPr>
          <p:cNvPr id="24" name="Shape 18"/>
          <p:cNvSpPr/>
          <p:nvPr/>
        </p:nvSpPr>
        <p:spPr>
          <a:xfrm>
            <a:off x="8549411" y="1325880"/>
            <a:ext cx="640080" cy="640080"/>
          </a:xfrm>
          <a:prstGeom prst="ellipse">
            <a:avLst/>
          </a:prstGeom>
          <a:solidFill>
            <a:srgbClr val="4F46E5"/>
          </a:solidFill>
          <a:ln w="12700">
            <a:solidFill>
              <a:srgbClr val="4F46E5"/>
            </a:solidFill>
            <a:prstDash val="solid"/>
          </a:ln>
        </p:spPr>
      </p:sp>
      <p:pic>
        <p:nvPicPr>
          <p:cNvPr id="25" name="Image 4" descr="preencoded.png">    </p:cNvPr>
          <p:cNvPicPr>
            <a:picLocks noChangeAspect="1"/>
          </p:cNvPicPr>
          <p:nvPr/>
        </p:nvPicPr>
        <p:blipFill>
          <a:blip r:embed="rId5"/>
          <a:stretch>
            <a:fillRect/>
          </a:stretch>
        </p:blipFill>
        <p:spPr>
          <a:xfrm>
            <a:off x="8709431" y="1485900"/>
            <a:ext cx="320040" cy="320040"/>
          </a:xfrm>
          <a:prstGeom prst="rect">
            <a:avLst/>
          </a:prstGeom>
        </p:spPr>
      </p:pic>
      <p:sp>
        <p:nvSpPr>
          <p:cNvPr id="26" name="Text 19"/>
          <p:cNvSpPr txBox="1"/>
          <p:nvPr/>
        </p:nvSpPr>
        <p:spPr>
          <a:xfrm>
            <a:off x="7944917"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7" name="Text 20"/>
          <p:cNvSpPr txBox="1"/>
          <p:nvPr/>
        </p:nvSpPr>
        <p:spPr>
          <a:xfrm>
            <a:off x="7944917"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web · API · security</a:t>
            </a:r>
            <a:endParaRPr lang="en-US" sz="1200" dirty="0"/>
          </a:p>
        </p:txBody>
      </p:sp>
      <p:sp>
        <p:nvSpPr>
          <p:cNvPr id="28" name="Shape 21"/>
          <p:cNvSpPr/>
          <p:nvPr/>
        </p:nvSpPr>
        <p:spPr>
          <a:xfrm>
            <a:off x="9326651" y="1536192"/>
            <a:ext cx="934669" cy="219456"/>
          </a:xfrm>
          <a:prstGeom prst="rightArrow">
            <a:avLst/>
          </a:prstGeom>
          <a:solidFill>
            <a:srgbClr val="DDE3EC"/>
          </a:solidFill>
          <a:ln w="12700">
            <a:solidFill>
              <a:srgbClr val="DDE3EC"/>
            </a:solidFill>
            <a:prstDash val="solid"/>
          </a:ln>
        </p:spPr>
      </p:sp>
      <p:sp>
        <p:nvSpPr>
          <p:cNvPr id="29" name="Shape 22"/>
          <p:cNvSpPr/>
          <p:nvPr/>
        </p:nvSpPr>
        <p:spPr>
          <a:xfrm>
            <a:off x="10398481" y="1325880"/>
            <a:ext cx="640080" cy="640080"/>
          </a:xfrm>
          <a:prstGeom prst="ellipse">
            <a:avLst/>
          </a:prstGeom>
          <a:solidFill>
            <a:srgbClr val="4F46E5"/>
          </a:solidFill>
          <a:ln w="12700">
            <a:solidFill>
              <a:srgbClr val="4F46E5"/>
            </a:solidFill>
            <a:prstDash val="solid"/>
          </a:ln>
        </p:spPr>
      </p:sp>
      <p:pic>
        <p:nvPicPr>
          <p:cNvPr id="30" name="Image 5" descr="preencoded.png">    </p:cNvPr>
          <p:cNvPicPr>
            <a:picLocks noChangeAspect="1"/>
          </p:cNvPicPr>
          <p:nvPr/>
        </p:nvPicPr>
        <p:blipFill>
          <a:blip r:embed="rId6"/>
          <a:stretch>
            <a:fillRect/>
          </a:stretch>
        </p:blipFill>
        <p:spPr>
          <a:xfrm>
            <a:off x="10558501" y="1485900"/>
            <a:ext cx="320040" cy="320040"/>
          </a:xfrm>
          <a:prstGeom prst="rect">
            <a:avLst/>
          </a:prstGeom>
        </p:spPr>
      </p:pic>
      <p:sp>
        <p:nvSpPr>
          <p:cNvPr id="31" name="Text 23"/>
          <p:cNvSpPr txBox="1"/>
          <p:nvPr/>
        </p:nvSpPr>
        <p:spPr>
          <a:xfrm>
            <a:off x="9793986" y="2057400"/>
            <a:ext cx="1849069" cy="320040"/>
          </a:xfrm>
          <a:prstGeom prst="rect">
            <a:avLst/>
          </a:prstGeom>
          <a:noFill/>
          <a:ln/>
        </p:spPr>
        <p:txBody>
          <a:bodyPr wrap="square" lIns="0" tIns="0" rIns="0" bIns="0" rtlCol="0" anchor="t"/>
          <a:lstStyle/>
          <a:p>
            <a:pPr algn="ctr" indent="0" marL="0">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32" name="Text 24"/>
          <p:cNvSpPr txBox="1"/>
          <p:nvPr/>
        </p:nvSpPr>
        <p:spPr>
          <a:xfrm>
            <a:off x="9793986" y="2377440"/>
            <a:ext cx="1849069" cy="27432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traceability + bugs</a:t>
            </a:r>
            <a:endParaRPr lang="en-US" sz="1200" dirty="0"/>
          </a:p>
        </p:txBody>
      </p:sp>
      <p:sp>
        <p:nvSpPr>
          <p:cNvPr id="33" name="Shape 25"/>
          <p:cNvSpPr/>
          <p:nvPr/>
        </p:nvSpPr>
        <p:spPr>
          <a:xfrm>
            <a:off x="548640" y="2926080"/>
            <a:ext cx="5440680" cy="2926080"/>
          </a:xfrm>
          <a:prstGeom prst="roundRect">
            <a:avLst>
              <a:gd name="adj" fmla="val 3750"/>
            </a:avLst>
          </a:prstGeom>
          <a:solidFill>
            <a:srgbClr val="F2F5F9"/>
          </a:solidFill>
          <a:ln w="12700">
            <a:solidFill>
              <a:srgbClr val="F2F5F9"/>
            </a:solidFill>
            <a:prstDash val="solid"/>
          </a:ln>
        </p:spPr>
      </p:sp>
      <p:sp>
        <p:nvSpPr>
          <p:cNvPr id="34" name="Text 26"/>
          <p:cNvSpPr txBox="1"/>
          <p:nvPr/>
        </p:nvSpPr>
        <p:spPr>
          <a:xfrm>
            <a:off x="822960" y="3090672"/>
            <a:ext cx="4937760" cy="365760"/>
          </a:xfrm>
          <a:prstGeom prst="rect">
            <a:avLst/>
          </a:prstGeom>
          <a:noFill/>
          <a:ln/>
        </p:spPr>
        <p:txBody>
          <a:bodyPr wrap="square" lIns="0" tIns="0" rIns="0" bIns="0" rtlCol="0" anchor="t"/>
          <a:lstStyle/>
          <a:p>
            <a:pPr indent="0" marL="0">
              <a:buNone/>
            </a:pPr>
            <a:r>
              <a:rPr lang="en-US" sz="1700" b="1" dirty="0">
                <a:solidFill>
                  <a:srgbClr val="13213C"/>
                </a:solidFill>
                <a:latin typeface="Calibri" pitchFamily="34" charset="0"/>
                <a:ea typeface="Calibri" pitchFamily="34" charset="-122"/>
                <a:cs typeface="Calibri" pitchFamily="34" charset="-120"/>
              </a:rPr>
              <a:t>Trust: hand-written rules</a:t>
            </a:r>
            <a:endParaRPr lang="en-US" sz="1700" dirty="0"/>
          </a:p>
        </p:txBody>
      </p:sp>
      <p:sp>
        <p:nvSpPr>
          <p:cNvPr id="35" name="Text 27"/>
          <p:cNvSpPr txBox="1"/>
          <p:nvPr/>
        </p:nvSpPr>
        <p:spPr>
          <a:xfrm>
            <a:off x="822960"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Schema validation and JSON repair of every agent reply</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Grounding: refs must exist, quotes must be verbatim</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AI-only tests are parked as NEEDS REVIEW</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Fault-injection gate: every passing test is re-run on 13 broken builds</a:t>
            </a:r>
            <a:endParaRPr lang="en-US" sz="1500" dirty="0"/>
          </a:p>
        </p:txBody>
      </p:sp>
      <p:sp>
        <p:nvSpPr>
          <p:cNvPr id="36" name="Shape 28"/>
          <p:cNvSpPr/>
          <p:nvPr/>
        </p:nvSpPr>
        <p:spPr>
          <a:xfrm>
            <a:off x="6199632" y="2926080"/>
            <a:ext cx="5440680" cy="2926080"/>
          </a:xfrm>
          <a:prstGeom prst="roundRect">
            <a:avLst>
              <a:gd name="adj" fmla="val 3750"/>
            </a:avLst>
          </a:prstGeom>
          <a:solidFill>
            <a:srgbClr val="EEF0FE"/>
          </a:solidFill>
          <a:ln w="12700">
            <a:solidFill>
              <a:srgbClr val="EEF0FE"/>
            </a:solidFill>
            <a:prstDash val="solid"/>
          </a:ln>
        </p:spPr>
      </p:sp>
      <p:sp>
        <p:nvSpPr>
          <p:cNvPr id="37" name="Text 29"/>
          <p:cNvSpPr txBox="1"/>
          <p:nvPr/>
        </p:nvSpPr>
        <p:spPr>
          <a:xfrm>
            <a:off x="6473952" y="3090672"/>
            <a:ext cx="4937760" cy="365760"/>
          </a:xfrm>
          <a:prstGeom prst="rect">
            <a:avLst/>
          </a:prstGeom>
          <a:noFill/>
          <a:ln/>
        </p:spPr>
        <p:txBody>
          <a:bodyPr wrap="square" lIns="0" tIns="0" rIns="0" bIns="0" rtlCol="0" anchor="t"/>
          <a:lstStyle/>
          <a:p>
            <a:pPr indent="0" marL="0">
              <a:buNone/>
            </a:pPr>
            <a:r>
              <a:rPr lang="en-US" sz="1700" b="1" dirty="0">
                <a:solidFill>
                  <a:srgbClr val="4F46E5"/>
                </a:solidFill>
                <a:latin typeface="Calibri" pitchFamily="34" charset="0"/>
                <a:ea typeface="Calibri" pitchFamily="34" charset="-122"/>
                <a:cs typeface="Calibri" pitchFamily="34" charset="-120"/>
              </a:rPr>
              <a:t>Demo application: ShopLite</a:t>
            </a:r>
            <a:endParaRPr lang="en-US" sz="1700" dirty="0"/>
          </a:p>
        </p:txBody>
      </p:sp>
      <p:sp>
        <p:nvSpPr>
          <p:cNvPr id="38" name="Text 30"/>
          <p:cNvSpPr txBox="1"/>
          <p:nvPr/>
        </p:nvSpPr>
        <p:spPr>
          <a:xfrm>
            <a:off x="6473952"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Web shop + REST API + OpenAPI spec + requirements document</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7 planted defects: 1 web, 2 API, 4 security (XSS, IDOR, CSP, user enumeration)</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Security tests run only against this local demo app</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LLM: gpt-5.6-luna through the Codex CLI</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Demo 1: QA-Flow end to end on ShopLite</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7589520" cy="4743450"/>
          </a:xfrm>
          <a:prstGeom prst="rect">
            <a:avLst/>
          </a:prstGeom>
        </p:spPr>
      </p:pic>
      <p:sp>
        <p:nvSpPr>
          <p:cNvPr id="5" name="Shape 2"/>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sp>
      <p:sp>
        <p:nvSpPr>
          <p:cNvPr id="6" name="Text 3"/>
          <p:cNvSpPr txBox="1"/>
          <p:nvPr/>
        </p:nvSpPr>
        <p:spPr>
          <a:xfrm>
            <a:off x="8641080" y="1463040"/>
            <a:ext cx="24688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7" name="Text 4"/>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Six stages run live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Analyst extracts requirements as verbatim quotes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Designer writes web, API and security tests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Code compiles them to Playwright</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Gate re-runs tests on 13 broken builds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Report with drafted bugs</a:t>
            </a:r>
            <a:endParaRPr lang="en-US" sz="1300" dirty="0"/>
          </a:p>
        </p:txBody>
      </p:sp>
      <p:sp>
        <p:nvSpPr>
          <p:cNvPr id="8" name="Text 5"/>
          <p:cNvSpPr txBox="1"/>
          <p:nvPr/>
        </p:nvSpPr>
        <p:spPr>
          <a:xfrm>
            <a:off x="548640" y="6096762"/>
            <a:ext cx="7589520" cy="274320"/>
          </a:xfrm>
          <a:prstGeom prst="rect">
            <a:avLst/>
          </a:prstGeom>
          <a:noFill/>
          <a:ln/>
        </p:spPr>
        <p:txBody>
          <a:bodyPr wrap="square" lIns="0" tIns="0" rIns="0" bIns="0" rtlCol="0" anchor="t"/>
          <a:lstStyle/>
          <a:p>
            <a:pPr indent="0" marL="0">
              <a:buNone/>
            </a:pPr>
            <a:r>
              <a:rPr lang="en-US" sz="1100" i="1" dirty="0">
                <a:solidFill>
                  <a:srgbClr val="5B6578"/>
                </a:solidFill>
                <a:latin typeface="Calibri" pitchFamily="34" charset="0"/>
                <a:ea typeface="Calibri" pitchFamily="34" charset="-122"/>
                <a:cs typeface="Calibri" pitchFamily="34" charset="-120"/>
              </a:rPr>
              <a:t>1 min 35 s · recorded from the running tool (long waits sped up)</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PART A · DEMO 1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It finds the bugs — but 6 of its 18 FAILs are wrong tests</a:t>
            </a:r>
            <a:endParaRPr lang="en-US" sz="3000" dirty="0"/>
          </a:p>
        </p:txBody>
      </p:sp>
      <p:sp>
        <p:nvSpPr>
          <p:cNvPr id="4" name="Shape 2"/>
          <p:cNvSpPr/>
          <p:nvPr/>
        </p:nvSpPr>
        <p:spPr>
          <a:xfrm>
            <a:off x="548640" y="1325880"/>
            <a:ext cx="2633472" cy="1783080"/>
          </a:xfrm>
          <a:prstGeom prst="roundRect">
            <a:avLst>
              <a:gd name="adj" fmla="val 6154"/>
            </a:avLst>
          </a:prstGeom>
          <a:solidFill>
            <a:srgbClr val="F2F5F9"/>
          </a:solidFill>
          <a:ln w="12700">
            <a:solidFill>
              <a:srgbClr val="F2F5F9"/>
            </a:solidFill>
            <a:prstDash val="solid"/>
          </a:ln>
        </p:spPr>
      </p:sp>
      <p:sp>
        <p:nvSpPr>
          <p:cNvPr id="5" name="Text 3"/>
          <p:cNvSpPr txBox="1"/>
          <p:nvPr/>
        </p:nvSpPr>
        <p:spPr>
          <a:xfrm>
            <a:off x="777240" y="1417320"/>
            <a:ext cx="2286000" cy="73152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34</a:t>
            </a:r>
            <a:endParaRPr lang="en-US" sz="4000" dirty="0"/>
          </a:p>
        </p:txBody>
      </p:sp>
      <p:sp>
        <p:nvSpPr>
          <p:cNvPr id="6" name="Text 4"/>
          <p:cNvSpPr txBox="1"/>
          <p:nvPr/>
        </p:nvSpPr>
        <p:spPr>
          <a:xfrm>
            <a:off x="777240"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requirements</a:t>
            </a:r>
            <a:endParaRPr lang="en-US" sz="1500" dirty="0"/>
          </a:p>
        </p:txBody>
      </p:sp>
      <p:sp>
        <p:nvSpPr>
          <p:cNvPr id="7" name="Text 5"/>
          <p:cNvSpPr txBox="1"/>
          <p:nvPr/>
        </p:nvSpPr>
        <p:spPr>
          <a:xfrm>
            <a:off x="777240"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extracted from the SRS</a:t>
            </a:r>
            <a:endParaRPr lang="en-US" sz="1100" dirty="0"/>
          </a:p>
        </p:txBody>
      </p:sp>
      <p:sp>
        <p:nvSpPr>
          <p:cNvPr id="8" name="Shape 6"/>
          <p:cNvSpPr/>
          <p:nvPr/>
        </p:nvSpPr>
        <p:spPr>
          <a:xfrm>
            <a:off x="3364992" y="1325880"/>
            <a:ext cx="2633472" cy="1783080"/>
          </a:xfrm>
          <a:prstGeom prst="roundRect">
            <a:avLst>
              <a:gd name="adj" fmla="val 6154"/>
            </a:avLst>
          </a:prstGeom>
          <a:solidFill>
            <a:srgbClr val="F2F5F9"/>
          </a:solidFill>
          <a:ln w="12700">
            <a:solidFill>
              <a:srgbClr val="F2F5F9"/>
            </a:solidFill>
            <a:prstDash val="solid"/>
          </a:ln>
        </p:spPr>
      </p:sp>
      <p:sp>
        <p:nvSpPr>
          <p:cNvPr id="9" name="Text 7"/>
          <p:cNvSpPr txBox="1"/>
          <p:nvPr/>
        </p:nvSpPr>
        <p:spPr>
          <a:xfrm>
            <a:off x="3593592" y="1417320"/>
            <a:ext cx="2286000" cy="731520"/>
          </a:xfrm>
          <a:prstGeom prst="rect">
            <a:avLst/>
          </a:prstGeom>
          <a:noFill/>
          <a:ln/>
        </p:spPr>
        <p:txBody>
          <a:bodyPr wrap="square" lIns="0" tIns="0" rIns="0" bIns="0" rtlCol="0" anchor="ctr"/>
          <a:lstStyle/>
          <a:p>
            <a:pPr indent="0" marL="0">
              <a:buNone/>
            </a:pPr>
            <a:r>
              <a:rPr lang="en-US" sz="4000" b="1" dirty="0">
                <a:solidFill>
                  <a:srgbClr val="4F46E5"/>
                </a:solidFill>
                <a:latin typeface="Cambria" pitchFamily="34" charset="0"/>
                <a:ea typeface="Cambria" pitchFamily="34" charset="-122"/>
                <a:cs typeface="Cambria" pitchFamily="34" charset="-120"/>
              </a:rPr>
              <a:t>62</a:t>
            </a:r>
            <a:endParaRPr lang="en-US" sz="4000" dirty="0"/>
          </a:p>
        </p:txBody>
      </p:sp>
      <p:sp>
        <p:nvSpPr>
          <p:cNvPr id="10" name="Text 8"/>
          <p:cNvSpPr txBox="1"/>
          <p:nvPr/>
        </p:nvSpPr>
        <p:spPr>
          <a:xfrm>
            <a:off x="3593592"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tests</a:t>
            </a:r>
            <a:endParaRPr lang="en-US" sz="1500" dirty="0"/>
          </a:p>
        </p:txBody>
      </p:sp>
      <p:sp>
        <p:nvSpPr>
          <p:cNvPr id="11" name="Text 9"/>
          <p:cNvSpPr txBox="1"/>
          <p:nvPr/>
        </p:nvSpPr>
        <p:spPr>
          <a:xfrm>
            <a:off x="3593592"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web 23 · API 26 · security 13</a:t>
            </a:r>
            <a:endParaRPr lang="en-US" sz="1100" dirty="0"/>
          </a:p>
        </p:txBody>
      </p:sp>
      <p:sp>
        <p:nvSpPr>
          <p:cNvPr id="12" name="Shape 10"/>
          <p:cNvSpPr/>
          <p:nvPr/>
        </p:nvSpPr>
        <p:spPr>
          <a:xfrm>
            <a:off x="6181344" y="1325880"/>
            <a:ext cx="2633472" cy="1783080"/>
          </a:xfrm>
          <a:prstGeom prst="roundRect">
            <a:avLst>
              <a:gd name="adj" fmla="val 6154"/>
            </a:avLst>
          </a:prstGeom>
          <a:solidFill>
            <a:srgbClr val="F2F5F9"/>
          </a:solidFill>
          <a:ln w="12700">
            <a:solidFill>
              <a:srgbClr val="F2F5F9"/>
            </a:solidFill>
            <a:prstDash val="solid"/>
          </a:ln>
        </p:spPr>
      </p:sp>
      <p:sp>
        <p:nvSpPr>
          <p:cNvPr id="13" name="Text 11"/>
          <p:cNvSpPr txBox="1"/>
          <p:nvPr/>
        </p:nvSpPr>
        <p:spPr>
          <a:xfrm>
            <a:off x="6409944" y="1417320"/>
            <a:ext cx="2286000" cy="731520"/>
          </a:xfrm>
          <a:prstGeom prst="rect">
            <a:avLst/>
          </a:prstGeom>
          <a:noFill/>
          <a:ln/>
        </p:spPr>
        <p:txBody>
          <a:bodyPr wrap="square" lIns="0" tIns="0" rIns="0" bIns="0" rtlCol="0" anchor="ctr"/>
          <a:lstStyle/>
          <a:p>
            <a:pPr indent="0" marL="0">
              <a:buNone/>
            </a:pPr>
            <a:r>
              <a:rPr lang="en-US" sz="3000" b="1" dirty="0">
                <a:solidFill>
                  <a:srgbClr val="4F46E5"/>
                </a:solidFill>
                <a:latin typeface="Cambria" pitchFamily="34" charset="0"/>
                <a:ea typeface="Cambria" pitchFamily="34" charset="-122"/>
                <a:cs typeface="Cambria" pitchFamily="34" charset="-120"/>
              </a:rPr>
              <a:t>31 / 18 / 13</a:t>
            </a:r>
            <a:endParaRPr lang="en-US" sz="3000" dirty="0"/>
          </a:p>
        </p:txBody>
      </p:sp>
      <p:sp>
        <p:nvSpPr>
          <p:cNvPr id="14" name="Text 12"/>
          <p:cNvSpPr txBox="1"/>
          <p:nvPr/>
        </p:nvSpPr>
        <p:spPr>
          <a:xfrm>
            <a:off x="6409944"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PASS / FAIL / REVIEW</a:t>
            </a:r>
            <a:endParaRPr lang="en-US" sz="1500" dirty="0"/>
          </a:p>
        </p:txBody>
      </p:sp>
      <p:sp>
        <p:nvSpPr>
          <p:cNvPr id="15" name="Text 13"/>
          <p:cNvSpPr txBox="1"/>
          <p:nvPr/>
        </p:nvSpPr>
        <p:spPr>
          <a:xfrm>
            <a:off x="6409944"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verdicts by the rules</a:t>
            </a:r>
            <a:endParaRPr lang="en-US" sz="1100" dirty="0"/>
          </a:p>
        </p:txBody>
      </p:sp>
      <p:sp>
        <p:nvSpPr>
          <p:cNvPr id="16" name="Shape 14"/>
          <p:cNvSpPr/>
          <p:nvPr/>
        </p:nvSpPr>
        <p:spPr>
          <a:xfrm>
            <a:off x="8997696" y="1325880"/>
            <a:ext cx="2633472" cy="1783080"/>
          </a:xfrm>
          <a:prstGeom prst="roundRect">
            <a:avLst>
              <a:gd name="adj" fmla="val 6154"/>
            </a:avLst>
          </a:prstGeom>
          <a:solidFill>
            <a:srgbClr val="F2F5F9"/>
          </a:solidFill>
          <a:ln w="12700">
            <a:solidFill>
              <a:srgbClr val="F2F5F9"/>
            </a:solidFill>
            <a:prstDash val="solid"/>
          </a:ln>
        </p:spPr>
      </p:sp>
      <p:sp>
        <p:nvSpPr>
          <p:cNvPr id="17" name="Text 15"/>
          <p:cNvSpPr txBox="1"/>
          <p:nvPr/>
        </p:nvSpPr>
        <p:spPr>
          <a:xfrm>
            <a:off x="9226296" y="1417320"/>
            <a:ext cx="2286000" cy="731520"/>
          </a:xfrm>
          <a:prstGeom prst="rect">
            <a:avLst/>
          </a:prstGeom>
          <a:noFill/>
          <a:ln/>
        </p:spPr>
        <p:txBody>
          <a:bodyPr wrap="square" lIns="0" tIns="0" rIns="0" bIns="0" rtlCol="0" anchor="ctr"/>
          <a:lstStyle/>
          <a:p>
            <a:pPr indent="0" marL="0">
              <a:buNone/>
            </a:pPr>
            <a:r>
              <a:rPr lang="en-US" sz="4000" b="1" dirty="0">
                <a:solidFill>
                  <a:srgbClr val="2E8B57"/>
                </a:solidFill>
                <a:latin typeface="Cambria" pitchFamily="34" charset="0"/>
                <a:ea typeface="Cambria" pitchFamily="34" charset="-122"/>
                <a:cs typeface="Cambria" pitchFamily="34" charset="-120"/>
              </a:rPr>
              <a:t>5/7</a:t>
            </a:r>
            <a:endParaRPr lang="en-US" sz="4000" dirty="0"/>
          </a:p>
        </p:txBody>
      </p:sp>
      <p:sp>
        <p:nvSpPr>
          <p:cNvPr id="18" name="Text 16"/>
          <p:cNvSpPr txBox="1"/>
          <p:nvPr/>
        </p:nvSpPr>
        <p:spPr>
          <a:xfrm>
            <a:off x="9226296" y="2176272"/>
            <a:ext cx="2286000" cy="320040"/>
          </a:xfrm>
          <a:prstGeom prst="rect">
            <a:avLst/>
          </a:prstGeom>
          <a:noFill/>
          <a:ln/>
        </p:spPr>
        <p:txBody>
          <a:bodyPr wrap="square" lIns="0" tIns="0" rIns="0" bIns="0" rtlCol="0" anchor="t"/>
          <a:lstStyle/>
          <a:p>
            <a:pPr indent="0" marL="0">
              <a:buNone/>
            </a:pPr>
            <a:r>
              <a:rPr lang="en-US" sz="1500" b="1" dirty="0">
                <a:solidFill>
                  <a:srgbClr val="13213C"/>
                </a:solidFill>
                <a:latin typeface="Calibri" pitchFamily="34" charset="0"/>
                <a:ea typeface="Calibri" pitchFamily="34" charset="-122"/>
                <a:cs typeface="Calibri" pitchFamily="34" charset="-120"/>
              </a:rPr>
              <a:t>planted defects found</a:t>
            </a:r>
            <a:endParaRPr lang="en-US" sz="1500" dirty="0"/>
          </a:p>
        </p:txBody>
      </p:sp>
      <p:sp>
        <p:nvSpPr>
          <p:cNvPr id="19" name="Text 17"/>
          <p:cNvSpPr txBox="1"/>
          <p:nvPr/>
        </p:nvSpPr>
        <p:spPr>
          <a:xfrm>
            <a:off x="9226296" y="2496312"/>
            <a:ext cx="2286000" cy="54864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missed: SAVE10 subtracts €10 instead of 10 %; IDOR: other users' orders readable</a:t>
            </a:r>
            <a:endParaRPr lang="en-US" sz="1100" dirty="0"/>
          </a:p>
        </p:txBody>
      </p:sp>
      <p:sp>
        <p:nvSpPr>
          <p:cNvPr id="20" name="Shape 18"/>
          <p:cNvSpPr/>
          <p:nvPr/>
        </p:nvSpPr>
        <p:spPr>
          <a:xfrm>
            <a:off x="548640" y="3337560"/>
            <a:ext cx="5440680" cy="2606040"/>
          </a:xfrm>
          <a:prstGeom prst="roundRect">
            <a:avLst>
              <a:gd name="adj" fmla="val 4211"/>
            </a:avLst>
          </a:prstGeom>
          <a:solidFill>
            <a:srgbClr val="E7F4EC"/>
          </a:solidFill>
          <a:ln w="12700">
            <a:solidFill>
              <a:srgbClr val="E7F4EC"/>
            </a:solidFill>
            <a:prstDash val="solid"/>
          </a:ln>
        </p:spPr>
      </p:sp>
      <p:sp>
        <p:nvSpPr>
          <p:cNvPr id="21" name="Text 19"/>
          <p:cNvSpPr txBox="1"/>
          <p:nvPr/>
        </p:nvSpPr>
        <p:spPr>
          <a:xfrm>
            <a:off x="822960" y="3474720"/>
            <a:ext cx="4937760" cy="365760"/>
          </a:xfrm>
          <a:prstGeom prst="rect">
            <a:avLst/>
          </a:prstGeom>
          <a:noFill/>
          <a:ln/>
        </p:spPr>
        <p:txBody>
          <a:bodyPr wrap="square" lIns="0" tIns="0" rIns="0" bIns="0" rtlCol="0" anchor="t"/>
          <a:lstStyle/>
          <a:p>
            <a:pPr indent="0" marL="0">
              <a:buNone/>
            </a:pPr>
            <a:r>
              <a:rPr lang="en-US" sz="1600" b="1" dirty="0">
                <a:solidFill>
                  <a:srgbClr val="2E8B57"/>
                </a:solidFill>
                <a:latin typeface="Calibri" pitchFamily="34" charset="0"/>
                <a:ea typeface="Calibri" pitchFamily="34" charset="-122"/>
                <a:cs typeface="Calibri" pitchFamily="34" charset="-120"/>
              </a:rPr>
              <a:t>Real defects it found</a:t>
            </a:r>
            <a:endParaRPr lang="en-US" sz="1600" dirty="0"/>
          </a:p>
        </p:txBody>
      </p:sp>
      <p:sp>
        <p:nvSpPr>
          <p:cNvPr id="22" name="Text 20"/>
          <p:cNvSpPr txBox="1"/>
          <p:nvPr/>
        </p:nvSpPr>
        <p:spPr>
          <a:xfrm>
            <a:off x="822960" y="388620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unknown product → 500 instead of 404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quantity 0 / negative accepted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no Content-Security-Policy header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reflected XSS in search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login reveals registered emails</a:t>
            </a:r>
            <a:endParaRPr lang="en-US" sz="1300" dirty="0"/>
          </a:p>
        </p:txBody>
      </p:sp>
      <p:sp>
        <p:nvSpPr>
          <p:cNvPr id="23" name="Shape 21"/>
          <p:cNvSpPr/>
          <p:nvPr/>
        </p:nvSpPr>
        <p:spPr>
          <a:xfrm>
            <a:off x="6199632" y="3337560"/>
            <a:ext cx="5440680" cy="2606040"/>
          </a:xfrm>
          <a:prstGeom prst="roundRect">
            <a:avLst>
              <a:gd name="adj" fmla="val 4211"/>
            </a:avLst>
          </a:prstGeom>
          <a:solidFill>
            <a:srgbClr val="FDECEA"/>
          </a:solidFill>
          <a:ln w="12700">
            <a:solidFill>
              <a:srgbClr val="FDECEA"/>
            </a:solidFill>
            <a:prstDash val="solid"/>
          </a:ln>
        </p:spPr>
      </p:sp>
      <p:sp>
        <p:nvSpPr>
          <p:cNvPr id="24" name="Text 22"/>
          <p:cNvSpPr txBox="1"/>
          <p:nvPr/>
        </p:nvSpPr>
        <p:spPr>
          <a:xfrm>
            <a:off x="6473952" y="3474720"/>
            <a:ext cx="4937760" cy="365760"/>
          </a:xfrm>
          <a:prstGeom prst="rect">
            <a:avLst/>
          </a:prstGeom>
          <a:noFill/>
          <a:ln/>
        </p:spPr>
        <p:txBody>
          <a:bodyPr wrap="square" lIns="0" tIns="0" rIns="0" bIns="0" rtlCol="0" anchor="t"/>
          <a:lstStyle/>
          <a:p>
            <a:pPr indent="0" marL="0">
              <a:buNone/>
            </a:pPr>
            <a:r>
              <a:rPr lang="en-US" sz="1600" b="1" dirty="0">
                <a:solidFill>
                  <a:srgbClr val="C8463D"/>
                </a:solidFill>
                <a:latin typeface="Calibri" pitchFamily="34" charset="0"/>
                <a:ea typeface="Calibri" pitchFamily="34" charset="-122"/>
                <a:cs typeface="Calibri" pitchFamily="34" charset="-120"/>
              </a:rPr>
              <a:t>The twist: 6 FAILs are mistakes in the AI's tests</a:t>
            </a:r>
            <a:endParaRPr lang="en-US" sz="1600" dirty="0"/>
          </a:p>
        </p:txBody>
      </p:sp>
      <p:sp>
        <p:nvSpPr>
          <p:cNvPr id="25" name="Text 23"/>
          <p:cNvSpPr txBox="1"/>
          <p:nvPr/>
        </p:nvSpPr>
        <p:spPr>
          <a:xfrm>
            <a:off x="6473952" y="388620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SAVE10 test checks an empty cart (€0.00), so the real discount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IDOR tests call the API with a browser cookie instead of a token (401), so the real IDOR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All of them passed every trust rule: valid JSON, real refs, verbatim quotes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report files them as bugs, exactly like the real ones</a:t>
            </a:r>
            <a:endParaRPr lang="en-US" sz="1300" dirty="0"/>
          </a:p>
        </p:txBody>
      </p:sp>
      <p:sp>
        <p:nvSpPr>
          <p:cNvPr id="26" name="Text 24"/>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Ground truth computed offline: every FAIL re-run on ShopLite builds with the planted defects fixed (a FAIL that persists = wrong test).</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MOTIVATION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LLMs now write tests for safety-relevant systems</a:t>
            </a:r>
            <a:endParaRPr lang="en-US" sz="3000" dirty="0"/>
          </a:p>
        </p:txBody>
      </p:sp>
      <p:sp>
        <p:nvSpPr>
          <p:cNvPr id="4" name="Text 2"/>
          <p:cNvSpPr txBox="1"/>
          <p:nvPr/>
        </p:nvSpPr>
        <p:spPr>
          <a:xfrm>
            <a:off x="548640" y="1444752"/>
            <a:ext cx="6227064" cy="1655064"/>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AI is already in CPS engineering: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LLMs check driving scenarios, write oracles, build digital twins [8, 10]</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LLMs now write the tests themselves: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a major topic in software testing research [27]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 test can run cleanly and still be wrong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in three ways:</a:t>
            </a:r>
            <a:endParaRPr lang="en-US" sz="1800" dirty="0"/>
          </a:p>
        </p:txBody>
      </p:sp>
      <p:sp>
        <p:nvSpPr>
          <p:cNvPr id="5" name="Shape 3"/>
          <p:cNvSpPr/>
          <p:nvPr/>
        </p:nvSpPr>
        <p:spPr>
          <a:xfrm>
            <a:off x="548640" y="3127248"/>
            <a:ext cx="1984248" cy="630936"/>
          </a:xfrm>
          <a:prstGeom prst="rect">
            <a:avLst/>
          </a:prstGeom>
          <a:solidFill>
            <a:srgbClr val="FDECEA"/>
          </a:solidFill>
          <a:ln w="12700">
            <a:solidFill>
              <a:srgbClr val="FDECEA"/>
            </a:solidFill>
            <a:prstDash val="solid"/>
          </a:ln>
        </p:spPr>
      </p:sp>
      <p:sp>
        <p:nvSpPr>
          <p:cNvPr id="6" name="Text 4"/>
          <p:cNvSpPr txBox="1"/>
          <p:nvPr/>
        </p:nvSpPr>
        <p:spPr>
          <a:xfrm>
            <a:off x="685800"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Wrong scenario</a:t>
            </a:r>
            <a:endParaRPr lang="en-US" sz="1500" dirty="0"/>
          </a:p>
        </p:txBody>
      </p:sp>
      <p:sp>
        <p:nvSpPr>
          <p:cNvPr id="7" name="Shape 5"/>
          <p:cNvSpPr/>
          <p:nvPr/>
        </p:nvSpPr>
        <p:spPr>
          <a:xfrm>
            <a:off x="2670048" y="3127248"/>
            <a:ext cx="1984248" cy="630936"/>
          </a:xfrm>
          <a:prstGeom prst="rect">
            <a:avLst/>
          </a:prstGeom>
          <a:solidFill>
            <a:srgbClr val="FDECEA"/>
          </a:solidFill>
          <a:ln w="12700">
            <a:solidFill>
              <a:srgbClr val="FDECEA"/>
            </a:solidFill>
            <a:prstDash val="solid"/>
          </a:ln>
        </p:spPr>
      </p:sp>
      <p:sp>
        <p:nvSpPr>
          <p:cNvPr id="8" name="Text 6"/>
          <p:cNvSpPr txBox="1"/>
          <p:nvPr/>
        </p:nvSpPr>
        <p:spPr>
          <a:xfrm>
            <a:off x="2807208"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Wrong oracle</a:t>
            </a:r>
            <a:endParaRPr lang="en-US" sz="1500" dirty="0"/>
          </a:p>
        </p:txBody>
      </p:sp>
      <p:sp>
        <p:nvSpPr>
          <p:cNvPr id="9" name="Shape 7"/>
          <p:cNvSpPr/>
          <p:nvPr/>
        </p:nvSpPr>
        <p:spPr>
          <a:xfrm>
            <a:off x="4791456" y="3127248"/>
            <a:ext cx="1984248" cy="630936"/>
          </a:xfrm>
          <a:prstGeom prst="rect">
            <a:avLst/>
          </a:prstGeom>
          <a:solidFill>
            <a:srgbClr val="FDECEA"/>
          </a:solidFill>
          <a:ln w="12700">
            <a:solidFill>
              <a:srgbClr val="FDECEA"/>
            </a:solidFill>
            <a:prstDash val="solid"/>
          </a:ln>
        </p:spPr>
      </p:sp>
      <p:sp>
        <p:nvSpPr>
          <p:cNvPr id="10" name="Text 8"/>
          <p:cNvSpPr txBox="1"/>
          <p:nvPr/>
        </p:nvSpPr>
        <p:spPr>
          <a:xfrm>
            <a:off x="4928616" y="3127248"/>
            <a:ext cx="1783080" cy="630936"/>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Catches no fault</a:t>
            </a:r>
            <a:endParaRPr lang="en-US" sz="1500" dirty="0"/>
          </a:p>
        </p:txBody>
      </p:sp>
      <p:sp>
        <p:nvSpPr>
          <p:cNvPr id="11" name="Text 9"/>
          <p:cNvSpPr txBox="1"/>
          <p:nvPr/>
        </p:nvSpPr>
        <p:spPr>
          <a:xfrm>
            <a:off x="548640" y="4023360"/>
            <a:ext cx="6227064" cy="1371600"/>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In ACPS a wrong test is a safety risk: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false confidence in an emergency-braking or cut-in function</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Demo 1 showed it: </a:t>
            </a:r>
            <a:pPr indent="0" marL="0">
              <a:spcAft>
                <a:spcPts val="600"/>
              </a:spcAft>
              <a:buNone/>
            </a:pPr>
            <a:r>
              <a:rPr lang="en-US" sz="1800" dirty="0">
                <a:solidFill>
                  <a:srgbClr val="1E2533"/>
                </a:solidFill>
                <a:latin typeface="Calibri" pitchFamily="34" charset="0"/>
                <a:ea typeface="Calibri" pitchFamily="34" charset="-122"/>
                <a:cs typeface="Calibri" pitchFamily="34" charset="-120"/>
              </a:rPr>
              <a:t>rules cannot tell a wrong test from a real defect</a:t>
            </a:r>
            <a:endParaRPr lang="en-US" sz="1800" dirty="0"/>
          </a:p>
        </p:txBody>
      </p:sp>
      <p:sp>
        <p:nvSpPr>
          <p:cNvPr id="12" name="Shape 10"/>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sp>
      <p:sp>
        <p:nvSpPr>
          <p:cNvPr id="13" name="Text 11"/>
          <p:cNvSpPr txBox="1"/>
          <p:nvPr/>
        </p:nvSpPr>
        <p:spPr>
          <a:xfrm>
            <a:off x="7360920" y="1645920"/>
            <a:ext cx="4023360" cy="365760"/>
          </a:xfrm>
          <a:prstGeom prst="rect">
            <a:avLst/>
          </a:prstGeom>
          <a:noFill/>
          <a:ln/>
        </p:spPr>
        <p:txBody>
          <a:bodyPr wrap="square" lIns="0" tIns="0" rIns="0" bIns="0" rtlCol="0" anchor="t"/>
          <a:lstStyle/>
          <a:p>
            <a:pPr indent="0" marL="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14" name="Text 12"/>
          <p:cNvSpPr txBox="1"/>
          <p:nvPr/>
        </p:nvSpPr>
        <p:spPr>
          <a:xfrm>
            <a:off x="7360920" y="2057400"/>
            <a:ext cx="4023360" cy="91440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15" name="Text 13"/>
          <p:cNvSpPr txBox="1"/>
          <p:nvPr/>
        </p:nvSpPr>
        <p:spPr>
          <a:xfrm>
            <a:off x="7360920" y="2971800"/>
            <a:ext cx="4023360" cy="365760"/>
          </a:xfrm>
          <a:prstGeom prst="rect">
            <a:avLst/>
          </a:prstGeom>
          <a:noFill/>
          <a:ln/>
        </p:spPr>
        <p:txBody>
          <a:bodyPr wrap="square" lIns="0" tIns="0" rIns="0" bIns="0" rtlCol="0" anchor="t"/>
          <a:lstStyle/>
          <a:p>
            <a:pPr indent="0" marL="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16" name="Text 14"/>
          <p:cNvSpPr txBox="1"/>
          <p:nvPr/>
        </p:nvSpPr>
        <p:spPr>
          <a:xfrm>
            <a:off x="7360920" y="3520440"/>
            <a:ext cx="4023360" cy="914400"/>
          </a:xfrm>
          <a:prstGeom prst="rect">
            <a:avLst/>
          </a:prstGeom>
          <a:noFill/>
          <a:ln/>
        </p:spPr>
        <p:txBody>
          <a:bodyPr wrap="square" lIns="0" tIns="0" rIns="0" bIns="0" rtlCol="0" anchor="t"/>
          <a:lstStyle/>
          <a:p>
            <a:pPr indent="0" marL="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17" name="Text 15"/>
          <p:cNvSpPr txBox="1"/>
          <p:nvPr/>
        </p:nvSpPr>
        <p:spPr>
          <a:xfrm>
            <a:off x="7360920" y="4434840"/>
            <a:ext cx="4023360" cy="640080"/>
          </a:xfrm>
          <a:prstGeom prst="rect">
            <a:avLst/>
          </a:prstGeom>
          <a:noFill/>
          <a:ln/>
        </p:spPr>
        <p:txBody>
          <a:bodyPr wrap="square" lIns="0" tIns="0" rIns="0" bIns="0" rtlCol="0" anchor="t"/>
          <a:lstStyle/>
          <a:p>
            <a:pPr indent="0" marL="0">
              <a:buNone/>
            </a:pPr>
            <a:r>
              <a:rPr lang="en-US" sz="1400" dirty="0">
                <a:solidFill>
                  <a:srgbClr val="CFE3F1"/>
                </a:solidFill>
                <a:latin typeface="Calibri" pitchFamily="34" charset="0"/>
                <a:ea typeface="Calibri" pitchFamily="34" charset="-122"/>
                <a:cs typeface="Calibri" pitchFamily="34" charset="-120"/>
              </a:rPr>
              <a:t>of its tests are actually correct</a:t>
            </a:r>
            <a:endParaRPr lang="en-US" sz="1400" dirty="0"/>
          </a:p>
        </p:txBody>
      </p:sp>
      <p:sp>
        <p:nvSpPr>
          <p:cNvPr id="18" name="Text 16"/>
          <p:cNvSpPr txBox="1"/>
          <p:nvPr/>
        </p:nvSpPr>
        <p:spPr>
          <a:xfrm>
            <a:off x="548640" y="5669280"/>
            <a:ext cx="11094415" cy="7589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[8] J. Wu et al., “Reality bites: Assessing the realism of driving scenarios with large language models,” Proc. IEEE/ACM FORGE, 2024.</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STATE OF THE ART</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Building on uncertainty-wise CPS testing and LLM uncertainty</a:t>
            </a:r>
            <a:endParaRPr lang="en-US" sz="3000" dirty="0"/>
          </a:p>
        </p:txBody>
      </p:sp>
      <p:sp>
        <p:nvSpPr>
          <p:cNvPr id="4" name="Shape 2"/>
          <p:cNvSpPr/>
          <p:nvPr/>
        </p:nvSpPr>
        <p:spPr>
          <a:xfrm>
            <a:off x="548640" y="1325880"/>
            <a:ext cx="2670048" cy="2788920"/>
          </a:xfrm>
          <a:prstGeom prst="roundRect">
            <a:avLst>
              <a:gd name="adj" fmla="val 4110"/>
            </a:avLst>
          </a:prstGeom>
          <a:solidFill>
            <a:srgbClr val="F2F5F9"/>
          </a:solidFill>
          <a:ln w="12700">
            <a:solidFill>
              <a:srgbClr val="F2F5F9"/>
            </a:solidFill>
            <a:prstDash val="solid"/>
          </a:ln>
        </p:spPr>
      </p:sp>
      <p:sp>
        <p:nvSpPr>
          <p:cNvPr id="5" name="Shape 3"/>
          <p:cNvSpPr/>
          <p:nvPr/>
        </p:nvSpPr>
        <p:spPr>
          <a:xfrm>
            <a:off x="731520" y="1463040"/>
            <a:ext cx="502920" cy="50292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857250" y="1588770"/>
            <a:ext cx="251460" cy="251460"/>
          </a:xfrm>
          <a:prstGeom prst="rect">
            <a:avLst/>
          </a:prstGeom>
        </p:spPr>
      </p:pic>
      <p:sp>
        <p:nvSpPr>
          <p:cNvPr id="7" name="Text 4"/>
          <p:cNvSpPr txBox="1"/>
          <p:nvPr/>
        </p:nvSpPr>
        <p:spPr>
          <a:xfrm>
            <a:off x="1325880"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Uncertainty in CPS &amp; DL</a:t>
            </a:r>
            <a:endParaRPr lang="en-US" sz="1400" dirty="0"/>
          </a:p>
        </p:txBody>
      </p:sp>
      <p:sp>
        <p:nvSpPr>
          <p:cNvPr id="8" name="Text 5"/>
          <p:cNvSpPr txBox="1"/>
          <p:nvPr/>
        </p:nvSpPr>
        <p:spPr>
          <a:xfrm>
            <a:off x="731520"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U-Taxonomy, uncertainty-wise test modelling &amp; generation [3, 2, 1]</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DL prediction validator; uncertainty-wise oracles [4, 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Uncertainty &amp; quality of VLA robots [7]</a:t>
            </a:r>
            <a:endParaRPr lang="en-US" sz="1200" dirty="0"/>
          </a:p>
        </p:txBody>
      </p:sp>
      <p:sp>
        <p:nvSpPr>
          <p:cNvPr id="9" name="Shape 6"/>
          <p:cNvSpPr/>
          <p:nvPr/>
        </p:nvSpPr>
        <p:spPr>
          <a:xfrm>
            <a:off x="3364992" y="1325880"/>
            <a:ext cx="2670048" cy="2788920"/>
          </a:xfrm>
          <a:prstGeom prst="roundRect">
            <a:avLst>
              <a:gd name="adj" fmla="val 4110"/>
            </a:avLst>
          </a:prstGeom>
          <a:solidFill>
            <a:srgbClr val="F2F5F9"/>
          </a:solidFill>
          <a:ln w="12700">
            <a:solidFill>
              <a:srgbClr val="F2F5F9"/>
            </a:solidFill>
            <a:prstDash val="solid"/>
          </a:ln>
        </p:spPr>
      </p:sp>
      <p:sp>
        <p:nvSpPr>
          <p:cNvPr id="10" name="Shape 7"/>
          <p:cNvSpPr/>
          <p:nvPr/>
        </p:nvSpPr>
        <p:spPr>
          <a:xfrm>
            <a:off x="3547872" y="1463040"/>
            <a:ext cx="502920" cy="50292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3673602" y="1588770"/>
            <a:ext cx="251460" cy="251460"/>
          </a:xfrm>
          <a:prstGeom prst="rect">
            <a:avLst/>
          </a:prstGeom>
        </p:spPr>
      </p:pic>
      <p:sp>
        <p:nvSpPr>
          <p:cNvPr id="12" name="Text 8"/>
          <p:cNvSpPr txBox="1"/>
          <p:nvPr/>
        </p:nvSpPr>
        <p:spPr>
          <a:xfrm>
            <a:off x="4142232"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ADS testing &amp; falsification</a:t>
            </a:r>
            <a:endParaRPr lang="en-US" sz="1400" dirty="0"/>
          </a:p>
        </p:txBody>
      </p:sp>
      <p:sp>
        <p:nvSpPr>
          <p:cNvPr id="13" name="Text 9"/>
          <p:cNvSpPr txBox="1"/>
          <p:nvPr/>
        </p:nvSpPr>
        <p:spPr>
          <a:xfrm>
            <a:off x="3547872"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Avoidable-collision scenarios [12]</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Parameter coverage under uncertainty [13]</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Robustness-guided falsification [15, 14]</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LLMs judging scenario realism [8]</a:t>
            </a:r>
            <a:endParaRPr lang="en-US" sz="1200" dirty="0"/>
          </a:p>
        </p:txBody>
      </p:sp>
      <p:sp>
        <p:nvSpPr>
          <p:cNvPr id="14" name="Shape 10"/>
          <p:cNvSpPr/>
          <p:nvPr/>
        </p:nvSpPr>
        <p:spPr>
          <a:xfrm>
            <a:off x="6181344" y="1325880"/>
            <a:ext cx="2670048" cy="2788920"/>
          </a:xfrm>
          <a:prstGeom prst="roundRect">
            <a:avLst>
              <a:gd name="adj" fmla="val 4110"/>
            </a:avLst>
          </a:prstGeom>
          <a:solidFill>
            <a:srgbClr val="F2F5F9"/>
          </a:solidFill>
          <a:ln w="12700">
            <a:solidFill>
              <a:srgbClr val="F2F5F9"/>
            </a:solidFill>
            <a:prstDash val="solid"/>
          </a:ln>
        </p:spPr>
      </p:sp>
      <p:sp>
        <p:nvSpPr>
          <p:cNvPr id="15" name="Shape 11"/>
          <p:cNvSpPr/>
          <p:nvPr/>
        </p:nvSpPr>
        <p:spPr>
          <a:xfrm>
            <a:off x="6364224" y="1463040"/>
            <a:ext cx="502920" cy="502920"/>
          </a:xfrm>
          <a:prstGeom prst="ellipse">
            <a:avLst/>
          </a:prstGeom>
          <a:solidFill>
            <a:srgbClr val="E39B2D"/>
          </a:solidFill>
          <a:ln w="12700">
            <a:solidFill>
              <a:srgbClr val="E39B2D"/>
            </a:solidFill>
            <a:prstDash val="solid"/>
          </a:ln>
        </p:spPr>
      </p:sp>
      <p:pic>
        <p:nvPicPr>
          <p:cNvPr id="16" name="Image 2" descr="preencoded.png">    </p:cNvPr>
          <p:cNvPicPr>
            <a:picLocks noChangeAspect="1"/>
          </p:cNvPicPr>
          <p:nvPr/>
        </p:nvPicPr>
        <p:blipFill>
          <a:blip r:embed="rId3"/>
          <a:stretch>
            <a:fillRect/>
          </a:stretch>
        </p:blipFill>
        <p:spPr>
          <a:xfrm>
            <a:off x="6489954" y="1588770"/>
            <a:ext cx="251460" cy="251460"/>
          </a:xfrm>
          <a:prstGeom prst="rect">
            <a:avLst/>
          </a:prstGeom>
        </p:spPr>
      </p:pic>
      <p:sp>
        <p:nvSpPr>
          <p:cNvPr id="17" name="Text 12"/>
          <p:cNvSpPr txBox="1"/>
          <p:nvPr/>
        </p:nvSpPr>
        <p:spPr>
          <a:xfrm>
            <a:off x="6958584"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Oracles &amp; industrial CPS</a:t>
            </a:r>
            <a:endParaRPr lang="en-US" sz="1400" dirty="0"/>
          </a:p>
        </p:txBody>
      </p:sp>
      <p:sp>
        <p:nvSpPr>
          <p:cNvPr id="18" name="Text 13"/>
          <p:cNvSpPr txBox="1"/>
          <p:nvPr/>
        </p:nvSpPr>
        <p:spPr>
          <a:xfrm>
            <a:off x="6364224"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ML-based oracles for elevators [16]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Metamorphic relations for CPS [17]</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Elevator robustness under uncertainty [5]</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Foundation models for CPS [10, 11]</a:t>
            </a:r>
            <a:endParaRPr lang="en-US" sz="1200" dirty="0"/>
          </a:p>
        </p:txBody>
      </p:sp>
      <p:sp>
        <p:nvSpPr>
          <p:cNvPr id="19" name="Shape 14"/>
          <p:cNvSpPr/>
          <p:nvPr/>
        </p:nvSpPr>
        <p:spPr>
          <a:xfrm>
            <a:off x="8997696" y="1325880"/>
            <a:ext cx="2670048" cy="2788920"/>
          </a:xfrm>
          <a:prstGeom prst="roundRect">
            <a:avLst>
              <a:gd name="adj" fmla="val 4110"/>
            </a:avLst>
          </a:prstGeom>
          <a:solidFill>
            <a:srgbClr val="F2F5F9"/>
          </a:solidFill>
          <a:ln w="12700">
            <a:solidFill>
              <a:srgbClr val="F2F5F9"/>
            </a:solidFill>
            <a:prstDash val="solid"/>
          </a:ln>
        </p:spPr>
      </p:sp>
      <p:sp>
        <p:nvSpPr>
          <p:cNvPr id="20" name="Shape 15"/>
          <p:cNvSpPr/>
          <p:nvPr/>
        </p:nvSpPr>
        <p:spPr>
          <a:xfrm>
            <a:off x="9180576" y="1463040"/>
            <a:ext cx="502920" cy="502920"/>
          </a:xfrm>
          <a:prstGeom prst="ellipse">
            <a:avLst/>
          </a:prstGeom>
          <a:solidFill>
            <a:srgbClr val="6E56CF"/>
          </a:solidFill>
          <a:ln w="12700">
            <a:solidFill>
              <a:srgbClr val="6E56CF"/>
            </a:solidFill>
            <a:prstDash val="solid"/>
          </a:ln>
        </p:spPr>
      </p:sp>
      <p:pic>
        <p:nvPicPr>
          <p:cNvPr id="21" name="Image 3" descr="preencoded.png">    </p:cNvPr>
          <p:cNvPicPr>
            <a:picLocks noChangeAspect="1"/>
          </p:cNvPicPr>
          <p:nvPr/>
        </p:nvPicPr>
        <p:blipFill>
          <a:blip r:embed="rId4"/>
          <a:stretch>
            <a:fillRect/>
          </a:stretch>
        </p:blipFill>
        <p:spPr>
          <a:xfrm>
            <a:off x="9306306" y="1588770"/>
            <a:ext cx="251460" cy="251460"/>
          </a:xfrm>
          <a:prstGeom prst="rect">
            <a:avLst/>
          </a:prstGeom>
        </p:spPr>
      </p:pic>
      <p:sp>
        <p:nvSpPr>
          <p:cNvPr id="22" name="Text 16"/>
          <p:cNvSpPr txBox="1"/>
          <p:nvPr/>
        </p:nvSpPr>
        <p:spPr>
          <a:xfrm>
            <a:off x="9774936" y="1463040"/>
            <a:ext cx="1783080" cy="502920"/>
          </a:xfrm>
          <a:prstGeom prst="rect">
            <a:avLst/>
          </a:prstGeom>
          <a:noFill/>
          <a:ln/>
        </p:spPr>
        <p:txBody>
          <a:bodyPr wrap="square" lIns="0" tIns="0" rIns="0" bIns="0" rtlCol="0" anchor="ctr"/>
          <a:lstStyle/>
          <a:p>
            <a:pPr indent="0" marL="0">
              <a:buNone/>
            </a:pPr>
            <a:r>
              <a:rPr lang="en-US" sz="1400" b="1" dirty="0">
                <a:solidFill>
                  <a:srgbClr val="13213C"/>
                </a:solidFill>
                <a:latin typeface="Calibri" pitchFamily="34" charset="0"/>
                <a:ea typeface="Calibri" pitchFamily="34" charset="-122"/>
                <a:cs typeface="Calibri" pitchFamily="34" charset="-120"/>
              </a:rPr>
              <a:t>Uncertainty of LLM outputs</a:t>
            </a:r>
            <a:endParaRPr lang="en-US" sz="1400" dirty="0"/>
          </a:p>
        </p:txBody>
      </p:sp>
      <p:sp>
        <p:nvSpPr>
          <p:cNvPr id="23" name="Text 17"/>
          <p:cNvSpPr txBox="1"/>
          <p:nvPr/>
        </p:nvSpPr>
        <p:spPr>
          <a:xfrm>
            <a:off x="9180576" y="2103120"/>
            <a:ext cx="2377440" cy="19659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Semantic entropy [23, 24]</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Self-consistency (SelfCheckGPT) [25]</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 uncertainty in SE tasks [26]</a:t>
            </a:r>
            <a:endParaRPr lang="en-US" sz="1200" dirty="0"/>
          </a:p>
        </p:txBody>
      </p:sp>
      <p:sp>
        <p:nvSpPr>
          <p:cNvPr id="24" name="Shape 18"/>
          <p:cNvSpPr/>
          <p:nvPr/>
        </p:nvSpPr>
        <p:spPr>
          <a:xfrm>
            <a:off x="548640" y="4224528"/>
            <a:ext cx="11094415" cy="502920"/>
          </a:xfrm>
          <a:prstGeom prst="roundRect">
            <a:avLst>
              <a:gd name="adj" fmla="val 21818"/>
            </a:avLst>
          </a:prstGeom>
          <a:solidFill>
            <a:srgbClr val="FFF4E0"/>
          </a:solidFill>
          <a:ln w="12700">
            <a:solidFill>
              <a:srgbClr val="FFF4E0"/>
            </a:solidFill>
            <a:prstDash val="solid"/>
          </a:ln>
        </p:spPr>
      </p:sp>
      <p:sp>
        <p:nvSpPr>
          <p:cNvPr id="25" name="Text 19"/>
          <p:cNvSpPr txBox="1"/>
          <p:nvPr/>
        </p:nvSpPr>
        <p:spPr>
          <a:xfrm>
            <a:off x="777240" y="4251960"/>
            <a:ext cx="10637215" cy="457200"/>
          </a:xfrm>
          <a:prstGeom prst="rect">
            <a:avLst/>
          </a:prstGeom>
          <a:noFill/>
          <a:ln/>
        </p:spPr>
        <p:txBody>
          <a:bodyPr wrap="square" lIns="0" tIns="0" rIns="0" bIns="0" rtlCol="0" anchor="ctr"/>
          <a:lstStyle/>
          <a:p>
            <a:pPr indent="0" marL="0">
              <a:buNone/>
            </a:pPr>
            <a:r>
              <a:rPr lang="en-US" sz="1400" b="1" dirty="0">
                <a:solidFill>
                  <a:srgbClr val="E39B2D"/>
                </a:solidFill>
                <a:latin typeface="Calibri" pitchFamily="34" charset="0"/>
                <a:ea typeface="Calibri" pitchFamily="34" charset="-122"/>
                <a:cs typeface="Calibri" pitchFamily="34" charset="-120"/>
              </a:rPr>
              <a:t>Gap  </a:t>
            </a:r>
            <a:pPr indent="0" marL="0">
              <a:buNone/>
            </a:pPr>
            <a:r>
              <a:rPr lang="en-US" sz="1400" dirty="0">
                <a:solidFill>
                  <a:srgbClr val="1E2533"/>
                </a:solidFill>
                <a:latin typeface="Calibri" pitchFamily="34" charset="0"/>
                <a:ea typeface="Calibri" pitchFamily="34" charset="-122"/>
                <a:cs typeface="Calibri" pitchFamily="34" charset="-120"/>
              </a:rPr>
              <a:t>Uncertainty is studied for CPS, DNNs, robot foundation models and LLM text — not yet for LLMs that generate executable test artefacts.</a:t>
            </a:r>
            <a:endParaRPr lang="en-US" sz="1400" dirty="0"/>
          </a:p>
        </p:txBody>
      </p:sp>
      <p:sp>
        <p:nvSpPr>
          <p:cNvPr id="26" name="Text 20"/>
          <p:cNvSpPr txBox="1"/>
          <p:nvPr/>
        </p:nvSpPr>
        <p:spPr>
          <a:xfrm>
            <a:off x="548640" y="4846320"/>
            <a:ext cx="11094415" cy="1581912"/>
          </a:xfrm>
          <a:prstGeom prst="rect">
            <a:avLst/>
          </a:prstGeom>
          <a:noFill/>
          <a:ln/>
        </p:spPr>
        <p:txBody>
          <a:bodyPr wrap="square" lIns="0" tIns="0" rIns="0" bIns="0" rtlCol="0" anchor="b"/>
          <a:lstStyle/>
          <a:p>
            <a:pPr indent="0" marL="0">
              <a:buNone/>
            </a:pPr>
            <a:r>
              <a:rPr lang="en-US" sz="750" dirty="0">
                <a:solidFill>
                  <a:srgbClr val="5B6578"/>
                </a:solidFill>
                <a:latin typeface="Calibri" pitchFamily="34" charset="0"/>
                <a:ea typeface="Calibri" pitchFamily="34" charset="-122"/>
                <a:cs typeface="Calibri" pitchFamily="34" charset="-120"/>
              </a:rPr>
              <a:t>[1] M. Zhang et al., “Uncertainty-wise test case generation and minimization for cyber-physical systems,” J. Syst. Softw., 2019.   [2] M. Zhang et al., “Uncertainty-wise cyber-physical system test modeling,” Softw. Syst. Model., 2019.   [3] M. Zhang et al., “Understanding uncertainty in cyber-physical systems: A conceptual model,” Proc. ECMFA, 2016.   [4] F. O. Catak et al., “Uncertainty-aware prediction validator in deep learning models for cyber-physical system data,” ACM TOSEM, 2022.   [5] L. Han et al., “Uncertainty-aware robustness assessment of industrial elevator systems,” ACM TOSEM, 2023.   [6] P. Valle et al., “Defining and generating multi-level and uncertainty-wise test oracles for cyber-physical systems,” Softw. Syst. Model., 2025.   [7] P. Valle et al., “Evaluating uncertainty and quality of vision-language-action-enabled robots,” arXiv:2507.17049, 2025.   [8] J. Wu et al., “Reality bites: Assessing the realism of driving scenarios with large language models,” Proc. IEEE/ACM FORGE, 2024.   [10] C. Lu et al., “Foundation models for software engineering of cyber-physical systems: The road ahead,” ACM TOSEM, 2026.   [11] S. Ali et al., “Foundation models for the digital twins creation of cyber-physical systems,” Proc. ISoLA 2024, 2025.   [12] A. Calò et al., “Generating avoidable collision scenarios for testing autonomous driving systems,” Proc. IEEE ICST, 2020.   [13] T. Laurent et al., “Parameter coverage for testing of autonomous driving systems under uncertainty,” ACM TOSEM, 2023.   [14] Z. Zhang et al., “FalsifAI: Falsification of AI-enabled hybrid control systems guided by time-aware coverage criteria,” IEEE TSE, 2023.   [15] Z. Zhang et al., “Effective hybrid system falsification using Monte Carlo tree search guided by QB-robustness,” Proc. CAV, 2021.   [16] A. Arrieta et al., “Using machine learning to build test oracles: An industrial case study on elevators dispatching algorithms,” Proc. IEEE/ACM AST, 2021.   [17] J. Ayerdi et al., “Generating metamorphic relations for cyber-physical systems with genetic programming: An industrial case study,” Proc. ESEC/FSE, 2021.   [23] L. Kuhn et al., “Semantic uncertainty: Linguistic invariances for uncertainty estimation in natural language generation,” in Proc. ICLR, 2023.   [24] S. Farquhar et al., “Detecting hallucinations in large language models using semantic entropy,” Nature, 2024.   [25] P. Manakul et al., “SelfCheckGPT: Zero-resource black-box hallucination detection for generative large language models,” Proc. EMNLP, 2023.   [26] Y. Huang et al., “Look before you leap: An exploratory study of uncertainty analysis for large language models,” IEEE TSE, 2025.</a:t>
            </a:r>
            <a:endParaRPr lang="en-US" sz="75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UQ-TestGen: ask the AI 10 times, let the tests vote</a:t>
            </a:r>
            <a:endParaRPr lang="en-US" sz="3000" dirty="0"/>
          </a:p>
        </p:txBody>
      </p:sp>
      <p:sp>
        <p:nvSpPr>
          <p:cNvPr id="4" name="Shape 2"/>
          <p:cNvSpPr/>
          <p:nvPr/>
        </p:nvSpPr>
        <p:spPr>
          <a:xfrm>
            <a:off x="603504" y="1325880"/>
            <a:ext cx="2109155" cy="2103120"/>
          </a:xfrm>
          <a:prstGeom prst="roundRect">
            <a:avLst>
              <a:gd name="adj" fmla="val 5217"/>
            </a:avLst>
          </a:prstGeom>
          <a:solidFill>
            <a:srgbClr val="F2F5F9"/>
          </a:solidFill>
          <a:ln w="12700">
            <a:solidFill>
              <a:srgbClr val="F2F5F9"/>
            </a:solidFill>
            <a:prstDash val="solid"/>
          </a:ln>
        </p:spPr>
      </p:sp>
      <p:sp>
        <p:nvSpPr>
          <p:cNvPr id="5" name="Shape 3"/>
          <p:cNvSpPr/>
          <p:nvPr/>
        </p:nvSpPr>
        <p:spPr>
          <a:xfrm>
            <a:off x="1338042" y="1481328"/>
            <a:ext cx="640080" cy="640080"/>
          </a:xfrm>
          <a:prstGeom prst="ellipse">
            <a:avLst/>
          </a:prstGeom>
          <a:solidFill>
            <a:srgbClr val="5B6578"/>
          </a:solidFill>
          <a:ln w="12700">
            <a:solidFill>
              <a:srgbClr val="5B6578"/>
            </a:solidFill>
            <a:prstDash val="solid"/>
          </a:ln>
        </p:spPr>
      </p:sp>
      <p:pic>
        <p:nvPicPr>
          <p:cNvPr id="6" name="Image 0" descr="preencoded.png">    </p:cNvPr>
          <p:cNvPicPr>
            <a:picLocks noChangeAspect="1"/>
          </p:cNvPicPr>
          <p:nvPr/>
        </p:nvPicPr>
        <p:blipFill>
          <a:blip r:embed="rId1"/>
          <a:stretch>
            <a:fillRect/>
          </a:stretch>
        </p:blipFill>
        <p:spPr>
          <a:xfrm>
            <a:off x="1498062" y="1641348"/>
            <a:ext cx="320040" cy="320040"/>
          </a:xfrm>
          <a:prstGeom prst="rect">
            <a:avLst/>
          </a:prstGeom>
        </p:spPr>
      </p:pic>
      <p:sp>
        <p:nvSpPr>
          <p:cNvPr id="7" name="Text 4"/>
          <p:cNvSpPr txBox="1"/>
          <p:nvPr/>
        </p:nvSpPr>
        <p:spPr>
          <a:xfrm>
            <a:off x="658368"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1 · Requirement</a:t>
            </a:r>
            <a:endParaRPr lang="en-US" sz="1700" dirty="0"/>
          </a:p>
        </p:txBody>
      </p:sp>
      <p:sp>
        <p:nvSpPr>
          <p:cNvPr id="8" name="Text 5"/>
          <p:cNvSpPr txBox="1"/>
          <p:nvPr/>
        </p:nvSpPr>
        <p:spPr>
          <a:xfrm>
            <a:off x="713232"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one sentence in plain English</a:t>
            </a:r>
            <a:endParaRPr lang="en-US" sz="1300" dirty="0"/>
          </a:p>
        </p:txBody>
      </p:sp>
      <p:sp>
        <p:nvSpPr>
          <p:cNvPr id="9" name="Shape 6"/>
          <p:cNvSpPr/>
          <p:nvPr/>
        </p:nvSpPr>
        <p:spPr>
          <a:xfrm>
            <a:off x="2822387" y="1325880"/>
            <a:ext cx="2109155" cy="2103120"/>
          </a:xfrm>
          <a:prstGeom prst="roundRect">
            <a:avLst>
              <a:gd name="adj" fmla="val 5217"/>
            </a:avLst>
          </a:prstGeom>
          <a:solidFill>
            <a:srgbClr val="F2F5F9"/>
          </a:solidFill>
          <a:ln w="12700">
            <a:solidFill>
              <a:srgbClr val="F2F5F9"/>
            </a:solidFill>
            <a:prstDash val="solid"/>
          </a:ln>
        </p:spPr>
      </p:sp>
      <p:sp>
        <p:nvSpPr>
          <p:cNvPr id="10" name="Shape 7"/>
          <p:cNvSpPr/>
          <p:nvPr/>
        </p:nvSpPr>
        <p:spPr>
          <a:xfrm>
            <a:off x="3556925" y="1481328"/>
            <a:ext cx="640080" cy="64008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3716945" y="1641348"/>
            <a:ext cx="320040" cy="320040"/>
          </a:xfrm>
          <a:prstGeom prst="rect">
            <a:avLst/>
          </a:prstGeom>
        </p:spPr>
      </p:pic>
      <p:sp>
        <p:nvSpPr>
          <p:cNvPr id="12" name="Text 8"/>
          <p:cNvSpPr txBox="1"/>
          <p:nvPr/>
        </p:nvSpPr>
        <p:spPr>
          <a:xfrm>
            <a:off x="2877251"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2 · Ask 10 times</a:t>
            </a:r>
            <a:endParaRPr lang="en-US" sz="1700" dirty="0"/>
          </a:p>
        </p:txBody>
      </p:sp>
      <p:sp>
        <p:nvSpPr>
          <p:cNvPr id="13" name="Text 9"/>
          <p:cNvSpPr txBox="1"/>
          <p:nvPr/>
        </p:nvSpPr>
        <p:spPr>
          <a:xfrm>
            <a:off x="2932115"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the AI writes the same test 10 times, independently</a:t>
            </a:r>
            <a:endParaRPr lang="en-US" sz="1300" dirty="0"/>
          </a:p>
        </p:txBody>
      </p:sp>
      <p:sp>
        <p:nvSpPr>
          <p:cNvPr id="14" name="Shape 10"/>
          <p:cNvSpPr/>
          <p:nvPr/>
        </p:nvSpPr>
        <p:spPr>
          <a:xfrm>
            <a:off x="5041270" y="1325880"/>
            <a:ext cx="2109155" cy="2103120"/>
          </a:xfrm>
          <a:prstGeom prst="roundRect">
            <a:avLst>
              <a:gd name="adj" fmla="val 5217"/>
            </a:avLst>
          </a:prstGeom>
          <a:solidFill>
            <a:srgbClr val="F2F5F9"/>
          </a:solidFill>
          <a:ln w="12700">
            <a:solidFill>
              <a:srgbClr val="F2F5F9"/>
            </a:solidFill>
            <a:prstDash val="solid"/>
          </a:ln>
        </p:spPr>
      </p:sp>
      <p:sp>
        <p:nvSpPr>
          <p:cNvPr id="15" name="Shape 11"/>
          <p:cNvSpPr/>
          <p:nvPr/>
        </p:nvSpPr>
        <p:spPr>
          <a:xfrm>
            <a:off x="5775808" y="1481328"/>
            <a:ext cx="640080" cy="640080"/>
          </a:xfrm>
          <a:prstGeom prst="ellipse">
            <a:avLst/>
          </a:prstGeom>
          <a:solidFill>
            <a:srgbClr val="3567C8"/>
          </a:solidFill>
          <a:ln w="12700">
            <a:solidFill>
              <a:srgbClr val="3567C8"/>
            </a:solidFill>
            <a:prstDash val="solid"/>
          </a:ln>
        </p:spPr>
      </p:sp>
      <p:pic>
        <p:nvPicPr>
          <p:cNvPr id="16" name="Image 2" descr="preencoded.png">    </p:cNvPr>
          <p:cNvPicPr>
            <a:picLocks noChangeAspect="1"/>
          </p:cNvPicPr>
          <p:nvPr/>
        </p:nvPicPr>
        <p:blipFill>
          <a:blip r:embed="rId3"/>
          <a:stretch>
            <a:fillRect/>
          </a:stretch>
        </p:blipFill>
        <p:spPr>
          <a:xfrm>
            <a:off x="5935828" y="1641348"/>
            <a:ext cx="320040" cy="320040"/>
          </a:xfrm>
          <a:prstGeom prst="rect">
            <a:avLst/>
          </a:prstGeom>
        </p:spPr>
      </p:pic>
      <p:sp>
        <p:nvSpPr>
          <p:cNvPr id="17" name="Text 12"/>
          <p:cNvSpPr txBox="1"/>
          <p:nvPr/>
        </p:nvSpPr>
        <p:spPr>
          <a:xfrm>
            <a:off x="5096134"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3 · Run all 10</a:t>
            </a:r>
            <a:endParaRPr lang="en-US" sz="1700" dirty="0"/>
          </a:p>
        </p:txBody>
      </p:sp>
      <p:sp>
        <p:nvSpPr>
          <p:cNvPr id="18" name="Text 13"/>
          <p:cNvSpPr txBox="1"/>
          <p:nvPr/>
        </p:nvSpPr>
        <p:spPr>
          <a:xfrm>
            <a:off x="5150998"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in a driving simulator, on a cruise-control car</a:t>
            </a:r>
            <a:endParaRPr lang="en-US" sz="1300" dirty="0"/>
          </a:p>
        </p:txBody>
      </p:sp>
      <p:sp>
        <p:nvSpPr>
          <p:cNvPr id="19" name="Shape 14"/>
          <p:cNvSpPr/>
          <p:nvPr/>
        </p:nvSpPr>
        <p:spPr>
          <a:xfrm>
            <a:off x="7260153" y="1325880"/>
            <a:ext cx="2109155" cy="2103120"/>
          </a:xfrm>
          <a:prstGeom prst="roundRect">
            <a:avLst>
              <a:gd name="adj" fmla="val 5217"/>
            </a:avLst>
          </a:prstGeom>
          <a:solidFill>
            <a:srgbClr val="E6F3F3"/>
          </a:solidFill>
          <a:ln w="12700">
            <a:solidFill>
              <a:srgbClr val="E6F3F3"/>
            </a:solidFill>
            <a:prstDash val="solid"/>
          </a:ln>
        </p:spPr>
      </p:sp>
      <p:sp>
        <p:nvSpPr>
          <p:cNvPr id="20" name="Shape 15"/>
          <p:cNvSpPr/>
          <p:nvPr/>
        </p:nvSpPr>
        <p:spPr>
          <a:xfrm>
            <a:off x="7994691" y="1481328"/>
            <a:ext cx="640080" cy="640080"/>
          </a:xfrm>
          <a:prstGeom prst="ellipse">
            <a:avLst/>
          </a:prstGeom>
          <a:solidFill>
            <a:srgbClr val="0F8B8D"/>
          </a:solidFill>
          <a:ln w="12700">
            <a:solidFill>
              <a:srgbClr val="0F8B8D"/>
            </a:solidFill>
            <a:prstDash val="solid"/>
          </a:ln>
        </p:spPr>
      </p:sp>
      <p:pic>
        <p:nvPicPr>
          <p:cNvPr id="21" name="Image 3" descr="preencoded.png">    </p:cNvPr>
          <p:cNvPicPr>
            <a:picLocks noChangeAspect="1"/>
          </p:cNvPicPr>
          <p:nvPr/>
        </p:nvPicPr>
        <p:blipFill>
          <a:blip r:embed="rId4"/>
          <a:stretch>
            <a:fillRect/>
          </a:stretch>
        </p:blipFill>
        <p:spPr>
          <a:xfrm>
            <a:off x="8154711" y="1641348"/>
            <a:ext cx="320040" cy="320040"/>
          </a:xfrm>
          <a:prstGeom prst="rect">
            <a:avLst/>
          </a:prstGeom>
        </p:spPr>
      </p:pic>
      <p:sp>
        <p:nvSpPr>
          <p:cNvPr id="22" name="Text 16"/>
          <p:cNvSpPr txBox="1"/>
          <p:nvPr/>
        </p:nvSpPr>
        <p:spPr>
          <a:xfrm>
            <a:off x="7315017"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4 · Group them</a:t>
            </a:r>
            <a:endParaRPr lang="en-US" sz="1700" dirty="0"/>
          </a:p>
        </p:txBody>
      </p:sp>
      <p:sp>
        <p:nvSpPr>
          <p:cNvPr id="23" name="Text 17"/>
          <p:cNvSpPr txBox="1"/>
          <p:nvPr/>
        </p:nvSpPr>
        <p:spPr>
          <a:xfrm>
            <a:off x="7369881"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tests that behaved the same go into one group</a:t>
            </a:r>
            <a:endParaRPr lang="en-US" sz="1300" dirty="0"/>
          </a:p>
        </p:txBody>
      </p:sp>
      <p:sp>
        <p:nvSpPr>
          <p:cNvPr id="24" name="Shape 18"/>
          <p:cNvSpPr/>
          <p:nvPr/>
        </p:nvSpPr>
        <p:spPr>
          <a:xfrm>
            <a:off x="9479036" y="1325880"/>
            <a:ext cx="2109155" cy="2103120"/>
          </a:xfrm>
          <a:prstGeom prst="roundRect">
            <a:avLst>
              <a:gd name="adj" fmla="val 5217"/>
            </a:avLst>
          </a:prstGeom>
          <a:solidFill>
            <a:srgbClr val="E6F3F3"/>
          </a:solidFill>
          <a:ln w="12700">
            <a:solidFill>
              <a:srgbClr val="E6F3F3"/>
            </a:solidFill>
            <a:prstDash val="solid"/>
          </a:ln>
        </p:spPr>
      </p:sp>
      <p:sp>
        <p:nvSpPr>
          <p:cNvPr id="25" name="Shape 19"/>
          <p:cNvSpPr/>
          <p:nvPr/>
        </p:nvSpPr>
        <p:spPr>
          <a:xfrm>
            <a:off x="10213574" y="1481328"/>
            <a:ext cx="640080" cy="640080"/>
          </a:xfrm>
          <a:prstGeom prst="ellipse">
            <a:avLst/>
          </a:prstGeom>
          <a:solidFill>
            <a:srgbClr val="0F8B8D"/>
          </a:solidFill>
          <a:ln w="12700">
            <a:solidFill>
              <a:srgbClr val="0F8B8D"/>
            </a:solidFill>
            <a:prstDash val="solid"/>
          </a:ln>
        </p:spPr>
      </p:sp>
      <p:pic>
        <p:nvPicPr>
          <p:cNvPr id="26" name="Image 4" descr="preencoded.png">    </p:cNvPr>
          <p:cNvPicPr>
            <a:picLocks noChangeAspect="1"/>
          </p:cNvPicPr>
          <p:nvPr/>
        </p:nvPicPr>
        <p:blipFill>
          <a:blip r:embed="rId5"/>
          <a:stretch>
            <a:fillRect/>
          </a:stretch>
        </p:blipFill>
        <p:spPr>
          <a:xfrm>
            <a:off x="10373594" y="1641348"/>
            <a:ext cx="320040" cy="320040"/>
          </a:xfrm>
          <a:prstGeom prst="rect">
            <a:avLst/>
          </a:prstGeom>
        </p:spPr>
      </p:pic>
      <p:sp>
        <p:nvSpPr>
          <p:cNvPr id="27" name="Text 20"/>
          <p:cNvSpPr txBox="1"/>
          <p:nvPr/>
        </p:nvSpPr>
        <p:spPr>
          <a:xfrm>
            <a:off x="9533900" y="2240280"/>
            <a:ext cx="1999427" cy="365760"/>
          </a:xfrm>
          <a:prstGeom prst="rect">
            <a:avLst/>
          </a:prstGeom>
          <a:noFill/>
          <a:ln/>
        </p:spPr>
        <p:txBody>
          <a:bodyPr wrap="square" lIns="0" tIns="0" rIns="0" bIns="0" rtlCol="0" anchor="t"/>
          <a:lstStyle/>
          <a:p>
            <a:pPr algn="ctr" indent="0" marL="0">
              <a:buNone/>
            </a:pPr>
            <a:r>
              <a:rPr lang="en-US" sz="1700" b="1" dirty="0">
                <a:solidFill>
                  <a:srgbClr val="13213C"/>
                </a:solidFill>
                <a:latin typeface="Calibri" pitchFamily="34" charset="0"/>
                <a:ea typeface="Calibri" pitchFamily="34" charset="-122"/>
                <a:cs typeface="Calibri" pitchFamily="34" charset="-120"/>
              </a:rPr>
              <a:t>5 · Vote</a:t>
            </a:r>
            <a:endParaRPr lang="en-US" sz="1700" dirty="0"/>
          </a:p>
        </p:txBody>
      </p:sp>
      <p:sp>
        <p:nvSpPr>
          <p:cNvPr id="28" name="Text 21"/>
          <p:cNvSpPr txBox="1"/>
          <p:nvPr/>
        </p:nvSpPr>
        <p:spPr>
          <a:xfrm>
            <a:off x="9588764" y="2633472"/>
            <a:ext cx="1889699" cy="731520"/>
          </a:xfrm>
          <a:prstGeom prst="rect">
            <a:avLst/>
          </a:prstGeom>
          <a:noFill/>
          <a:ln/>
        </p:spPr>
        <p:txBody>
          <a:bodyPr wrap="square" lIns="0" tIns="0" rIns="0" bIns="0" rtlCol="0" anchor="t"/>
          <a:lstStyle/>
          <a:p>
            <a:pPr algn="ctr" indent="0" marL="0">
              <a:buNone/>
            </a:pPr>
            <a:r>
              <a:rPr lang="en-US" sz="1300" dirty="0">
                <a:solidFill>
                  <a:srgbClr val="1E2533"/>
                </a:solidFill>
                <a:latin typeface="Calibri" pitchFamily="34" charset="0"/>
                <a:ea typeface="Calibri" pitchFamily="34" charset="-122"/>
                <a:cs typeface="Calibri" pitchFamily="34" charset="-120"/>
              </a:rPr>
              <a:t>big group → accept · small → human review · alone → reject</a:t>
            </a:r>
            <a:endParaRPr lang="en-US" sz="1300" dirty="0"/>
          </a:p>
        </p:txBody>
      </p:sp>
      <p:pic>
        <p:nvPicPr>
          <p:cNvPr id="29" name="Image 5" descr="D:\git\phd\uq-testgen\deck\assets\frame_c.png">    </p:cNvPr>
          <p:cNvPicPr>
            <a:picLocks noChangeAspect="1"/>
          </p:cNvPicPr>
          <p:nvPr/>
        </p:nvPicPr>
        <p:blipFill>
          <a:blip r:embed="rId6"/>
          <a:stretch>
            <a:fillRect/>
          </a:stretch>
        </p:blipFill>
        <p:spPr>
          <a:xfrm>
            <a:off x="548640" y="3657600"/>
            <a:ext cx="6035040" cy="980694"/>
          </a:xfrm>
          <a:prstGeom prst="rect">
            <a:avLst/>
          </a:prstGeom>
        </p:spPr>
      </p:pic>
      <p:sp>
        <p:nvSpPr>
          <p:cNvPr id="30" name="Text 22"/>
          <p:cNvSpPr txBox="1"/>
          <p:nvPr/>
        </p:nvSpPr>
        <p:spPr>
          <a:xfrm>
            <a:off x="548640" y="4709160"/>
            <a:ext cx="6035040" cy="45720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The car under test (green) and the traffic the AI scripts (blue) in highway-env [29].</a:t>
            </a:r>
            <a:endParaRPr lang="en-US" sz="1200" dirty="0"/>
          </a:p>
        </p:txBody>
      </p:sp>
      <p:sp>
        <p:nvSpPr>
          <p:cNvPr id="31" name="Shape 23"/>
          <p:cNvSpPr/>
          <p:nvPr/>
        </p:nvSpPr>
        <p:spPr>
          <a:xfrm>
            <a:off x="6858000" y="3657600"/>
            <a:ext cx="4782312" cy="1965960"/>
          </a:xfrm>
          <a:prstGeom prst="roundRect">
            <a:avLst>
              <a:gd name="adj" fmla="val 5581"/>
            </a:avLst>
          </a:prstGeom>
          <a:solidFill>
            <a:srgbClr val="13213C"/>
          </a:solidFill>
          <a:ln w="12700">
            <a:solidFill>
              <a:srgbClr val="13213C"/>
            </a:solidFill>
            <a:prstDash val="solid"/>
          </a:ln>
        </p:spPr>
      </p:sp>
      <p:sp>
        <p:nvSpPr>
          <p:cNvPr id="32" name="Text 24"/>
          <p:cNvSpPr txBox="1"/>
          <p:nvPr/>
        </p:nvSpPr>
        <p:spPr>
          <a:xfrm>
            <a:off x="7086600" y="3794760"/>
            <a:ext cx="4389120" cy="1737360"/>
          </a:xfrm>
          <a:prstGeom prst="rect">
            <a:avLst/>
          </a:prstGeom>
          <a:noFill/>
          <a:ln/>
        </p:spPr>
        <p:txBody>
          <a:bodyPr wrap="square" lIns="0" tIns="0" rIns="0" bIns="0" rtlCol="0" anchor="t"/>
          <a:lstStyle/>
          <a:p>
            <a:pPr indent="0" marL="0">
              <a:spcAft>
                <a:spcPts val="600"/>
              </a:spcAft>
              <a:buNone/>
            </a:pPr>
            <a:r>
              <a:rPr lang="en-US" sz="1400" b="1" dirty="0">
                <a:solidFill>
                  <a:srgbClr val="E39B2D"/>
                </a:solidFill>
                <a:latin typeface="Calibri" pitchFamily="34" charset="0"/>
                <a:ea typeface="Calibri" pitchFamily="34" charset="-122"/>
                <a:cs typeface="Calibri" pitchFamily="34" charset="-120"/>
              </a:rPr>
              <a:t>Why it works  </a:t>
            </a:r>
            <a:pPr indent="0" marL="0">
              <a:spcAft>
                <a:spcPts val="600"/>
              </a:spcAft>
              <a:buNone/>
            </a:pPr>
            <a:r>
              <a:rPr lang="en-US" sz="1400" dirty="0">
                <a:solidFill>
                  <a:srgbClr val="FFFFFF"/>
                </a:solidFill>
                <a:latin typeface="Calibri" pitchFamily="34" charset="0"/>
                <a:ea typeface="Calibri" pitchFamily="34" charset="-122"/>
                <a:cs typeface="Calibri" pitchFamily="34" charset="-120"/>
              </a:rPr>
              <a:t>If the AI really knows how to test the requirement, its 10 tests behave alike. If it is guessing, they scatter.</a:t>
            </a:r>
            <a:endParaRPr lang="en-US" sz="1400" dirty="0"/>
          </a:p>
          <a:p>
            <a:pPr indent="0" marL="0">
              <a:spcAft>
                <a:spcPts val="600"/>
              </a:spcAft>
              <a:buNone/>
            </a:pPr>
            <a:r>
              <a:rPr lang="en-US" sz="1400" dirty="0">
                <a:solidFill>
                  <a:srgbClr val="CFE3F1"/>
                </a:solidFill>
                <a:latin typeface="Calibri" pitchFamily="34" charset="0"/>
                <a:ea typeface="Calibri" pitchFamily="34" charset="-122"/>
                <a:cs typeface="Calibri" pitchFamily="34" charset="-120"/>
              </a:rPr>
              <a:t>Same idea as semantic entropy for chatbots [23, 24] — here “same meaning” = “same behaviour in the simulator”.</a:t>
            </a:r>
            <a:endParaRPr lang="en-US" sz="1400" dirty="0"/>
          </a:p>
        </p:txBody>
      </p:sp>
      <p:sp>
        <p:nvSpPr>
          <p:cNvPr id="33" name="Text 25"/>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[23] L. Kuhn et al., “Semantic uncertainty: Linguistic invariances for uncertainty estimation in natural language generation,” in Proc. ICLR, 2023.</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[24] S. Farquhar et al., “Detecting hallucinations in large language models using semantic entropy,” Nature, 2024.</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[29] E. Leurent, “An environment for autonomous driving decision-making,” GitHub repository, 2018.</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 · HOW THE VOTE WORKS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Example: 10 tests for one requirement, 5 behaviours</a:t>
            </a:r>
            <a:endParaRPr lang="en-US" sz="3000" dirty="0"/>
          </a:p>
        </p:txBody>
      </p:sp>
      <p:sp>
        <p:nvSpPr>
          <p:cNvPr id="4" name="Text 2"/>
          <p:cNvSpPr txBox="1"/>
          <p:nvPr/>
        </p:nvSpPr>
        <p:spPr>
          <a:xfrm>
            <a:off x="548640" y="1115568"/>
            <a:ext cx="11094415" cy="530352"/>
          </a:xfrm>
          <a:prstGeom prst="rect">
            <a:avLst/>
          </a:prstGeom>
          <a:noFill/>
          <a:ln/>
        </p:spPr>
        <p:txBody>
          <a:bodyPr wrap="square" lIns="0" tIns="0" rIns="0" bIns="0" rtlCol="0" anchor="ctr"/>
          <a:lstStyle/>
          <a:p>
            <a:pPr indent="0" marL="0">
              <a:buNone/>
            </a:pPr>
            <a:r>
              <a:rPr lang="en-US" sz="1400" b="1" dirty="0">
                <a:solidFill>
                  <a:srgbClr val="1E2533"/>
                </a:solidFill>
                <a:latin typeface="Calibri" pitchFamily="34" charset="0"/>
                <a:ea typeface="Calibri" pitchFamily="34" charset="-122"/>
                <a:cs typeface="Calibri" pitchFamily="34" charset="-120"/>
              </a:rPr>
              <a:t>Requirement R3 · A car cuts in:  </a:t>
            </a:r>
            <a:pPr indent="0" marL="0">
              <a:buNone/>
            </a:pPr>
            <a:r>
              <a:rPr lang="en-US" sz="1400" dirty="0">
                <a:solidFill>
                  <a:srgbClr val="1E2533"/>
                </a:solidFill>
                <a:latin typeface="Calibri" pitchFamily="34" charset="0"/>
                <a:ea typeface="Calibri" pitchFamily="34" charset="-122"/>
                <a:cs typeface="Calibri" pitchFamily="34" charset="-120"/>
              </a:rPr>
              <a:t>“If a car from the next lane cuts in at least 15 metres in front of us, our car must not hit it, and 6 seconds later it must again keep a safe distance: at least 28 metres at 100 km/h.”</a:t>
            </a:r>
            <a:pPr indent="0" marL="0">
              <a:buNone/>
            </a:pPr>
            <a:r>
              <a:rPr lang="en-US" sz="1400" dirty="0">
                <a:solidFill>
                  <a:srgbClr val="5B6578"/>
                </a:solidFill>
                <a:latin typeface="Calibri" pitchFamily="34" charset="0"/>
                <a:ea typeface="Calibri" pitchFamily="34" charset="-122"/>
                <a:cs typeface="Calibri" pitchFamily="34" charset="-120"/>
              </a:rPr>
              <a:t>   (gpt-5.6-terra, 10 tests)</a:t>
            </a:r>
            <a:endParaRPr lang="en-US" sz="1400" dirty="0"/>
          </a:p>
        </p:txBody>
      </p:sp>
      <p:sp>
        <p:nvSpPr>
          <p:cNvPr id="5" name="Text 3"/>
          <p:cNvSpPr txBox="1"/>
          <p:nvPr/>
        </p:nvSpPr>
        <p:spPr>
          <a:xfrm>
            <a:off x="1051560" y="1691640"/>
            <a:ext cx="192024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Tests</a:t>
            </a:r>
            <a:endParaRPr lang="en-US" sz="1200" dirty="0"/>
          </a:p>
        </p:txBody>
      </p:sp>
      <p:sp>
        <p:nvSpPr>
          <p:cNvPr id="6" name="Text 4"/>
          <p:cNvSpPr txBox="1"/>
          <p:nvPr/>
        </p:nvSpPr>
        <p:spPr>
          <a:xfrm>
            <a:off x="3108960" y="1691640"/>
            <a:ext cx="384048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What happened in the simulator</a:t>
            </a:r>
            <a:endParaRPr lang="en-US" sz="1200" dirty="0"/>
          </a:p>
        </p:txBody>
      </p:sp>
      <p:sp>
        <p:nvSpPr>
          <p:cNvPr id="7" name="Text 5"/>
          <p:cNvSpPr txBox="1"/>
          <p:nvPr/>
        </p:nvSpPr>
        <p:spPr>
          <a:xfrm>
            <a:off x="7086600" y="1691640"/>
            <a:ext cx="164592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Agreement</a:t>
            </a:r>
            <a:endParaRPr lang="en-US" sz="1200" dirty="0"/>
          </a:p>
        </p:txBody>
      </p:sp>
      <p:sp>
        <p:nvSpPr>
          <p:cNvPr id="8" name="Text 6"/>
          <p:cNvSpPr txBox="1"/>
          <p:nvPr/>
        </p:nvSpPr>
        <p:spPr>
          <a:xfrm>
            <a:off x="8778240" y="1691640"/>
            <a:ext cx="128016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Decision</a:t>
            </a:r>
            <a:endParaRPr lang="en-US" sz="1200" dirty="0"/>
          </a:p>
        </p:txBody>
      </p:sp>
      <p:sp>
        <p:nvSpPr>
          <p:cNvPr id="9" name="Text 7"/>
          <p:cNvSpPr txBox="1"/>
          <p:nvPr/>
        </p:nvSpPr>
        <p:spPr>
          <a:xfrm>
            <a:off x="10104120" y="1691640"/>
            <a:ext cx="1554480" cy="274320"/>
          </a:xfrm>
          <a:prstGeom prst="rect">
            <a:avLst/>
          </a:prstGeom>
          <a:noFill/>
          <a:ln/>
        </p:spPr>
        <p:txBody>
          <a:bodyPr wrap="square" lIns="0" tIns="0" rIns="0" bIns="0" rtlCol="0" anchor="t"/>
          <a:lstStyle/>
          <a:p>
            <a:pPr indent="0" marL="0">
              <a:buNone/>
            </a:pPr>
            <a:r>
              <a:rPr lang="en-US" sz="1200" b="1" dirty="0">
                <a:solidFill>
                  <a:srgbClr val="5B6578"/>
                </a:solidFill>
                <a:latin typeface="Calibri" pitchFamily="34" charset="0"/>
                <a:ea typeface="Calibri" pitchFamily="34" charset="-122"/>
                <a:cs typeface="Calibri" pitchFamily="34" charset="-120"/>
              </a:rPr>
              <a:t>Truth (checked later)</a:t>
            </a:r>
            <a:endParaRPr lang="en-US" sz="1200" dirty="0"/>
          </a:p>
        </p:txBody>
      </p:sp>
      <p:sp>
        <p:nvSpPr>
          <p:cNvPr id="10" name="Shape 8"/>
          <p:cNvSpPr/>
          <p:nvPr/>
        </p:nvSpPr>
        <p:spPr>
          <a:xfrm>
            <a:off x="548640" y="2029968"/>
            <a:ext cx="11094415" cy="512064"/>
          </a:xfrm>
          <a:prstGeom prst="roundRect">
            <a:avLst>
              <a:gd name="adj" fmla="val 21429"/>
            </a:avLst>
          </a:prstGeom>
          <a:solidFill>
            <a:srgbClr val="F2F5F9"/>
          </a:solidFill>
          <a:ln w="12700">
            <a:solidFill>
              <a:srgbClr val="F2F5F9"/>
            </a:solidFill>
            <a:prstDash val="solid"/>
          </a:ln>
        </p:spPr>
      </p:sp>
      <p:sp>
        <p:nvSpPr>
          <p:cNvPr id="11" name="Shape 9"/>
          <p:cNvSpPr/>
          <p:nvPr/>
        </p:nvSpPr>
        <p:spPr>
          <a:xfrm>
            <a:off x="658368" y="2121408"/>
            <a:ext cx="329184" cy="329184"/>
          </a:xfrm>
          <a:prstGeom prst="ellipse">
            <a:avLst/>
          </a:prstGeom>
          <a:solidFill>
            <a:srgbClr val="3567C8"/>
          </a:solidFill>
          <a:ln w="12700">
            <a:solidFill>
              <a:srgbClr val="3567C8"/>
            </a:solidFill>
            <a:prstDash val="solid"/>
          </a:ln>
        </p:spPr>
      </p:sp>
      <p:sp>
        <p:nvSpPr>
          <p:cNvPr id="12" name="Text 10"/>
          <p:cNvSpPr txBox="1"/>
          <p:nvPr/>
        </p:nvSpPr>
        <p:spPr>
          <a:xfrm>
            <a:off x="658368"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3" name="Shape 11"/>
          <p:cNvSpPr/>
          <p:nvPr/>
        </p:nvSpPr>
        <p:spPr>
          <a:xfrm>
            <a:off x="1051560" y="2185416"/>
            <a:ext cx="201168" cy="201168"/>
          </a:xfrm>
          <a:prstGeom prst="ellipse">
            <a:avLst/>
          </a:prstGeom>
          <a:solidFill>
            <a:srgbClr val="3567C8"/>
          </a:solidFill>
          <a:ln w="12700">
            <a:solidFill>
              <a:srgbClr val="3567C8"/>
            </a:solidFill>
            <a:prstDash val="solid"/>
          </a:ln>
        </p:spPr>
      </p:sp>
      <p:sp>
        <p:nvSpPr>
          <p:cNvPr id="14" name="Shape 12"/>
          <p:cNvSpPr/>
          <p:nvPr/>
        </p:nvSpPr>
        <p:spPr>
          <a:xfrm>
            <a:off x="1298448" y="2185416"/>
            <a:ext cx="201168" cy="201168"/>
          </a:xfrm>
          <a:prstGeom prst="ellipse">
            <a:avLst/>
          </a:prstGeom>
          <a:solidFill>
            <a:srgbClr val="3567C8"/>
          </a:solidFill>
          <a:ln w="12700">
            <a:solidFill>
              <a:srgbClr val="3567C8"/>
            </a:solidFill>
            <a:prstDash val="solid"/>
          </a:ln>
        </p:spPr>
      </p:sp>
      <p:sp>
        <p:nvSpPr>
          <p:cNvPr id="15" name="Shape 13"/>
          <p:cNvSpPr/>
          <p:nvPr/>
        </p:nvSpPr>
        <p:spPr>
          <a:xfrm>
            <a:off x="1545336" y="2185416"/>
            <a:ext cx="201168" cy="201168"/>
          </a:xfrm>
          <a:prstGeom prst="ellipse">
            <a:avLst/>
          </a:prstGeom>
          <a:solidFill>
            <a:srgbClr val="3567C8"/>
          </a:solidFill>
          <a:ln w="12700">
            <a:solidFill>
              <a:srgbClr val="3567C8"/>
            </a:solidFill>
            <a:prstDash val="solid"/>
          </a:ln>
        </p:spPr>
      </p:sp>
      <p:sp>
        <p:nvSpPr>
          <p:cNvPr id="16" name="Shape 14"/>
          <p:cNvSpPr/>
          <p:nvPr/>
        </p:nvSpPr>
        <p:spPr>
          <a:xfrm>
            <a:off x="1792224" y="2185416"/>
            <a:ext cx="201168" cy="201168"/>
          </a:xfrm>
          <a:prstGeom prst="ellipse">
            <a:avLst/>
          </a:prstGeom>
          <a:solidFill>
            <a:srgbClr val="3567C8"/>
          </a:solidFill>
          <a:ln w="12700">
            <a:solidFill>
              <a:srgbClr val="3567C8"/>
            </a:solidFill>
            <a:prstDash val="solid"/>
          </a:ln>
        </p:spPr>
      </p:sp>
      <p:sp>
        <p:nvSpPr>
          <p:cNvPr id="17" name="Text 15"/>
          <p:cNvSpPr txBox="1"/>
          <p:nvPr/>
        </p:nvSpPr>
        <p:spPr>
          <a:xfrm>
            <a:off x="3108960" y="2029968"/>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Drives safely, keeps a big gap</a:t>
            </a:r>
            <a:endParaRPr lang="en-US" sz="1500" dirty="0"/>
          </a:p>
        </p:txBody>
      </p:sp>
      <p:sp>
        <p:nvSpPr>
          <p:cNvPr id="18" name="Text 16"/>
          <p:cNvSpPr txBox="1"/>
          <p:nvPr/>
        </p:nvSpPr>
        <p:spPr>
          <a:xfrm>
            <a:off x="7086600" y="2029968"/>
            <a:ext cx="1645920" cy="512064"/>
          </a:xfrm>
          <a:prstGeom prst="rect">
            <a:avLst/>
          </a:prstGeom>
          <a:noFill/>
          <a:ln/>
        </p:spPr>
        <p:txBody>
          <a:bodyPr wrap="square" lIns="0" tIns="0" rIns="0" bIns="0" rtlCol="0" anchor="ctr"/>
          <a:lstStyle/>
          <a:p>
            <a:pPr indent="0" marL="0">
              <a:buNone/>
            </a:pPr>
            <a:r>
              <a:rPr lang="en-US" sz="1500" b="1" dirty="0">
                <a:solidFill>
                  <a:srgbClr val="E39B2D"/>
                </a:solidFill>
                <a:latin typeface="Calibri" pitchFamily="34" charset="0"/>
                <a:ea typeface="Calibri" pitchFamily="34" charset="-122"/>
                <a:cs typeface="Calibri" pitchFamily="34" charset="-120"/>
              </a:rPr>
              <a:t>4 of 10 = 40%</a:t>
            </a:r>
            <a:endParaRPr lang="en-US" sz="1500" dirty="0"/>
          </a:p>
        </p:txBody>
      </p:sp>
      <p:sp>
        <p:nvSpPr>
          <p:cNvPr id="19" name="Shape 17"/>
          <p:cNvSpPr/>
          <p:nvPr/>
        </p:nvSpPr>
        <p:spPr>
          <a:xfrm>
            <a:off x="8778240" y="2130552"/>
            <a:ext cx="1188720" cy="310896"/>
          </a:xfrm>
          <a:prstGeom prst="roundRect">
            <a:avLst>
              <a:gd name="adj" fmla="val 23529"/>
            </a:avLst>
          </a:prstGeom>
          <a:solidFill>
            <a:srgbClr val="FFF4E0"/>
          </a:solidFill>
          <a:ln w="12700">
            <a:solidFill>
              <a:srgbClr val="FFF4E0"/>
            </a:solidFill>
            <a:prstDash val="solid"/>
          </a:ln>
        </p:spPr>
      </p:sp>
      <p:sp>
        <p:nvSpPr>
          <p:cNvPr id="20" name="Text 18"/>
          <p:cNvSpPr txBox="1"/>
          <p:nvPr/>
        </p:nvSpPr>
        <p:spPr>
          <a:xfrm>
            <a:off x="8778240" y="2130552"/>
            <a:ext cx="118872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Human review</a:t>
            </a:r>
            <a:endParaRPr lang="en-US" sz="1200" dirty="0"/>
          </a:p>
        </p:txBody>
      </p:sp>
      <p:sp>
        <p:nvSpPr>
          <p:cNvPr id="21" name="Text 19"/>
          <p:cNvSpPr txBox="1"/>
          <p:nvPr/>
        </p:nvSpPr>
        <p:spPr>
          <a:xfrm>
            <a:off x="10104120" y="2029968"/>
            <a:ext cx="1554480" cy="512064"/>
          </a:xfrm>
          <a:prstGeom prst="rect">
            <a:avLst/>
          </a:prstGeom>
          <a:noFill/>
          <a:ln/>
        </p:spPr>
        <p:txBody>
          <a:bodyPr wrap="square" lIns="0" tIns="0" rIns="0" bIns="0" rtlCol="0" anchor="ctr"/>
          <a:lstStyle/>
          <a:p>
            <a:pPr indent="0" marL="0">
              <a:buNone/>
            </a:pPr>
            <a:r>
              <a:rPr lang="en-US" sz="1300" dirty="0">
                <a:solidFill>
                  <a:srgbClr val="C8463D"/>
                </a:solidFill>
                <a:latin typeface="Calibri" pitchFamily="34" charset="0"/>
                <a:ea typeface="Calibri" pitchFamily="34" charset="-122"/>
                <a:cs typeface="Calibri" pitchFamily="34" charset="-120"/>
              </a:rPr>
              <a:t>2 ok · 2 wrong</a:t>
            </a:r>
            <a:endParaRPr lang="en-US" sz="1300" dirty="0"/>
          </a:p>
        </p:txBody>
      </p:sp>
      <p:sp>
        <p:nvSpPr>
          <p:cNvPr id="22" name="Shape 20"/>
          <p:cNvSpPr/>
          <p:nvPr/>
        </p:nvSpPr>
        <p:spPr>
          <a:xfrm>
            <a:off x="548640" y="2633472"/>
            <a:ext cx="11094415" cy="512064"/>
          </a:xfrm>
          <a:prstGeom prst="roundRect">
            <a:avLst>
              <a:gd name="adj" fmla="val 21429"/>
            </a:avLst>
          </a:prstGeom>
          <a:solidFill>
            <a:srgbClr val="FFFFFF"/>
          </a:solidFill>
          <a:ln w="12700">
            <a:solidFill>
              <a:srgbClr val="FFFFFF"/>
            </a:solidFill>
            <a:prstDash val="solid"/>
          </a:ln>
        </p:spPr>
      </p:sp>
      <p:sp>
        <p:nvSpPr>
          <p:cNvPr id="23" name="Shape 21"/>
          <p:cNvSpPr/>
          <p:nvPr/>
        </p:nvSpPr>
        <p:spPr>
          <a:xfrm>
            <a:off x="658368" y="2724912"/>
            <a:ext cx="329184" cy="329184"/>
          </a:xfrm>
          <a:prstGeom prst="ellipse">
            <a:avLst/>
          </a:prstGeom>
          <a:solidFill>
            <a:srgbClr val="7C3AED"/>
          </a:solidFill>
          <a:ln w="12700">
            <a:solidFill>
              <a:srgbClr val="7C3AED"/>
            </a:solidFill>
            <a:prstDash val="solid"/>
          </a:ln>
        </p:spPr>
      </p:sp>
      <p:sp>
        <p:nvSpPr>
          <p:cNvPr id="24" name="Text 22"/>
          <p:cNvSpPr txBox="1"/>
          <p:nvPr/>
        </p:nvSpPr>
        <p:spPr>
          <a:xfrm>
            <a:off x="658368" y="27249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25" name="Shape 23"/>
          <p:cNvSpPr/>
          <p:nvPr/>
        </p:nvSpPr>
        <p:spPr>
          <a:xfrm>
            <a:off x="1051560" y="2788920"/>
            <a:ext cx="201168" cy="201168"/>
          </a:xfrm>
          <a:prstGeom prst="ellipse">
            <a:avLst/>
          </a:prstGeom>
          <a:solidFill>
            <a:srgbClr val="7C3AED"/>
          </a:solidFill>
          <a:ln w="12700">
            <a:solidFill>
              <a:srgbClr val="7C3AED"/>
            </a:solidFill>
            <a:prstDash val="solid"/>
          </a:ln>
        </p:spPr>
      </p:sp>
      <p:sp>
        <p:nvSpPr>
          <p:cNvPr id="26" name="Shape 24"/>
          <p:cNvSpPr/>
          <p:nvPr/>
        </p:nvSpPr>
        <p:spPr>
          <a:xfrm>
            <a:off x="1298448" y="2788920"/>
            <a:ext cx="201168" cy="201168"/>
          </a:xfrm>
          <a:prstGeom prst="ellipse">
            <a:avLst/>
          </a:prstGeom>
          <a:solidFill>
            <a:srgbClr val="7C3AED"/>
          </a:solidFill>
          <a:ln w="12700">
            <a:solidFill>
              <a:srgbClr val="7C3AED"/>
            </a:solidFill>
            <a:prstDash val="solid"/>
          </a:ln>
        </p:spPr>
      </p:sp>
      <p:sp>
        <p:nvSpPr>
          <p:cNvPr id="27" name="Shape 25"/>
          <p:cNvSpPr/>
          <p:nvPr/>
        </p:nvSpPr>
        <p:spPr>
          <a:xfrm>
            <a:off x="1545336" y="2788920"/>
            <a:ext cx="201168" cy="201168"/>
          </a:xfrm>
          <a:prstGeom prst="ellipse">
            <a:avLst/>
          </a:prstGeom>
          <a:solidFill>
            <a:srgbClr val="7C3AED"/>
          </a:solidFill>
          <a:ln w="12700">
            <a:solidFill>
              <a:srgbClr val="7C3AED"/>
            </a:solidFill>
            <a:prstDash val="solid"/>
          </a:ln>
        </p:spPr>
      </p:sp>
      <p:sp>
        <p:nvSpPr>
          <p:cNvPr id="28" name="Text 26"/>
          <p:cNvSpPr txBox="1"/>
          <p:nvPr/>
        </p:nvSpPr>
        <p:spPr>
          <a:xfrm>
            <a:off x="3108960" y="2633472"/>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Drives safely, gets closer</a:t>
            </a:r>
            <a:endParaRPr lang="en-US" sz="1500" dirty="0"/>
          </a:p>
        </p:txBody>
      </p:sp>
      <p:sp>
        <p:nvSpPr>
          <p:cNvPr id="29" name="Text 27"/>
          <p:cNvSpPr txBox="1"/>
          <p:nvPr/>
        </p:nvSpPr>
        <p:spPr>
          <a:xfrm>
            <a:off x="7086600" y="2633472"/>
            <a:ext cx="1645920" cy="512064"/>
          </a:xfrm>
          <a:prstGeom prst="rect">
            <a:avLst/>
          </a:prstGeom>
          <a:noFill/>
          <a:ln/>
        </p:spPr>
        <p:txBody>
          <a:bodyPr wrap="square" lIns="0" tIns="0" rIns="0" bIns="0" rtlCol="0" anchor="ctr"/>
          <a:lstStyle/>
          <a:p>
            <a:pPr indent="0" marL="0">
              <a:buNone/>
            </a:pPr>
            <a:r>
              <a:rPr lang="en-US" sz="1500" b="1" dirty="0">
                <a:solidFill>
                  <a:srgbClr val="E39B2D"/>
                </a:solidFill>
                <a:latin typeface="Calibri" pitchFamily="34" charset="0"/>
                <a:ea typeface="Calibri" pitchFamily="34" charset="-122"/>
                <a:cs typeface="Calibri" pitchFamily="34" charset="-120"/>
              </a:rPr>
              <a:t>3 of 10 = 30%</a:t>
            </a:r>
            <a:endParaRPr lang="en-US" sz="1500" dirty="0"/>
          </a:p>
        </p:txBody>
      </p:sp>
      <p:sp>
        <p:nvSpPr>
          <p:cNvPr id="30" name="Shape 28"/>
          <p:cNvSpPr/>
          <p:nvPr/>
        </p:nvSpPr>
        <p:spPr>
          <a:xfrm>
            <a:off x="8778240" y="2734056"/>
            <a:ext cx="1188720" cy="310896"/>
          </a:xfrm>
          <a:prstGeom prst="roundRect">
            <a:avLst>
              <a:gd name="adj" fmla="val 23529"/>
            </a:avLst>
          </a:prstGeom>
          <a:solidFill>
            <a:srgbClr val="FFF4E0"/>
          </a:solidFill>
          <a:ln w="12700">
            <a:solidFill>
              <a:srgbClr val="FFF4E0"/>
            </a:solidFill>
            <a:prstDash val="solid"/>
          </a:ln>
        </p:spPr>
      </p:sp>
      <p:sp>
        <p:nvSpPr>
          <p:cNvPr id="31" name="Text 29"/>
          <p:cNvSpPr txBox="1"/>
          <p:nvPr/>
        </p:nvSpPr>
        <p:spPr>
          <a:xfrm>
            <a:off x="8778240" y="2734056"/>
            <a:ext cx="1188720" cy="310896"/>
          </a:xfrm>
          <a:prstGeom prst="rect">
            <a:avLst/>
          </a:prstGeom>
          <a:noFill/>
          <a:ln/>
        </p:spPr>
        <p:txBody>
          <a:bodyPr wrap="square" lIns="0" tIns="0" rIns="0" bIns="0" rtlCol="0" anchor="ctr"/>
          <a:lstStyle/>
          <a:p>
            <a:pPr algn="ctr" indent="0" marL="0">
              <a:buNone/>
            </a:pPr>
            <a:r>
              <a:rPr lang="en-US" sz="1200" b="1" dirty="0">
                <a:solidFill>
                  <a:srgbClr val="E39B2D"/>
                </a:solidFill>
                <a:latin typeface="Calibri" pitchFamily="34" charset="0"/>
                <a:ea typeface="Calibri" pitchFamily="34" charset="-122"/>
                <a:cs typeface="Calibri" pitchFamily="34" charset="-120"/>
              </a:rPr>
              <a:t>Human review</a:t>
            </a:r>
            <a:endParaRPr lang="en-US" sz="1200" dirty="0"/>
          </a:p>
        </p:txBody>
      </p:sp>
      <p:sp>
        <p:nvSpPr>
          <p:cNvPr id="32" name="Text 30"/>
          <p:cNvSpPr txBox="1"/>
          <p:nvPr/>
        </p:nvSpPr>
        <p:spPr>
          <a:xfrm>
            <a:off x="10104120" y="2633472"/>
            <a:ext cx="1554480" cy="512064"/>
          </a:xfrm>
          <a:prstGeom prst="rect">
            <a:avLst/>
          </a:prstGeom>
          <a:noFill/>
          <a:ln/>
        </p:spPr>
        <p:txBody>
          <a:bodyPr wrap="square" lIns="0" tIns="0" rIns="0" bIns="0" rtlCol="0" anchor="ctr"/>
          <a:lstStyle/>
          <a:p>
            <a:pPr indent="0" marL="0">
              <a:buNone/>
            </a:pPr>
            <a:r>
              <a:rPr lang="en-US" sz="1300" dirty="0">
                <a:solidFill>
                  <a:srgbClr val="2E8B57"/>
                </a:solidFill>
                <a:latin typeface="Calibri" pitchFamily="34" charset="0"/>
                <a:ea typeface="Calibri" pitchFamily="34" charset="-122"/>
                <a:cs typeface="Calibri" pitchFamily="34" charset="-120"/>
              </a:rPr>
              <a:t>3 ok</a:t>
            </a:r>
            <a:endParaRPr lang="en-US" sz="1300" dirty="0"/>
          </a:p>
        </p:txBody>
      </p:sp>
      <p:sp>
        <p:nvSpPr>
          <p:cNvPr id="33" name="Shape 31"/>
          <p:cNvSpPr/>
          <p:nvPr/>
        </p:nvSpPr>
        <p:spPr>
          <a:xfrm>
            <a:off x="548640" y="3236976"/>
            <a:ext cx="11094415" cy="512064"/>
          </a:xfrm>
          <a:prstGeom prst="roundRect">
            <a:avLst>
              <a:gd name="adj" fmla="val 21429"/>
            </a:avLst>
          </a:prstGeom>
          <a:solidFill>
            <a:srgbClr val="F2F5F9"/>
          </a:solidFill>
          <a:ln w="12700">
            <a:solidFill>
              <a:srgbClr val="F2F5F9"/>
            </a:solidFill>
            <a:prstDash val="solid"/>
          </a:ln>
        </p:spPr>
      </p:sp>
      <p:sp>
        <p:nvSpPr>
          <p:cNvPr id="34" name="Shape 32"/>
          <p:cNvSpPr/>
          <p:nvPr/>
        </p:nvSpPr>
        <p:spPr>
          <a:xfrm>
            <a:off x="658368" y="3328416"/>
            <a:ext cx="329184" cy="329184"/>
          </a:xfrm>
          <a:prstGeom prst="ellipse">
            <a:avLst/>
          </a:prstGeom>
          <a:solidFill>
            <a:srgbClr val="0891B2"/>
          </a:solidFill>
          <a:ln w="12700">
            <a:solidFill>
              <a:srgbClr val="0891B2"/>
            </a:solidFill>
            <a:prstDash val="solid"/>
          </a:ln>
        </p:spPr>
      </p:sp>
      <p:sp>
        <p:nvSpPr>
          <p:cNvPr id="35" name="Text 33"/>
          <p:cNvSpPr txBox="1"/>
          <p:nvPr/>
        </p:nvSpPr>
        <p:spPr>
          <a:xfrm>
            <a:off x="658368" y="3328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36" name="Shape 34"/>
          <p:cNvSpPr/>
          <p:nvPr/>
        </p:nvSpPr>
        <p:spPr>
          <a:xfrm>
            <a:off x="1051560" y="3392424"/>
            <a:ext cx="201168" cy="201168"/>
          </a:xfrm>
          <a:prstGeom prst="ellipse">
            <a:avLst/>
          </a:prstGeom>
          <a:solidFill>
            <a:srgbClr val="0891B2"/>
          </a:solidFill>
          <a:ln w="12700">
            <a:solidFill>
              <a:srgbClr val="0891B2"/>
            </a:solidFill>
            <a:prstDash val="solid"/>
          </a:ln>
        </p:spPr>
      </p:sp>
      <p:sp>
        <p:nvSpPr>
          <p:cNvPr id="37" name="Text 35"/>
          <p:cNvSpPr txBox="1"/>
          <p:nvPr/>
        </p:nvSpPr>
        <p:spPr>
          <a:xfrm>
            <a:off x="3108960" y="3236976"/>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Emergency brake, then crash</a:t>
            </a:r>
            <a:endParaRPr lang="en-US" sz="1500" dirty="0"/>
          </a:p>
        </p:txBody>
      </p:sp>
      <p:sp>
        <p:nvSpPr>
          <p:cNvPr id="38" name="Text 36"/>
          <p:cNvSpPr txBox="1"/>
          <p:nvPr/>
        </p:nvSpPr>
        <p:spPr>
          <a:xfrm>
            <a:off x="7086600" y="3236976"/>
            <a:ext cx="1645920" cy="512064"/>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1 of 10 = 10%</a:t>
            </a:r>
            <a:endParaRPr lang="en-US" sz="1500" dirty="0"/>
          </a:p>
        </p:txBody>
      </p:sp>
      <p:sp>
        <p:nvSpPr>
          <p:cNvPr id="39" name="Shape 37"/>
          <p:cNvSpPr/>
          <p:nvPr/>
        </p:nvSpPr>
        <p:spPr>
          <a:xfrm>
            <a:off x="8778240" y="3337560"/>
            <a:ext cx="1188720" cy="310896"/>
          </a:xfrm>
          <a:prstGeom prst="roundRect">
            <a:avLst>
              <a:gd name="adj" fmla="val 23529"/>
            </a:avLst>
          </a:prstGeom>
          <a:solidFill>
            <a:srgbClr val="FDECEA"/>
          </a:solidFill>
          <a:ln w="12700">
            <a:solidFill>
              <a:srgbClr val="FDECEA"/>
            </a:solidFill>
            <a:prstDash val="solid"/>
          </a:ln>
        </p:spPr>
      </p:sp>
      <p:sp>
        <p:nvSpPr>
          <p:cNvPr id="40" name="Text 38"/>
          <p:cNvSpPr txBox="1"/>
          <p:nvPr/>
        </p:nvSpPr>
        <p:spPr>
          <a:xfrm>
            <a:off x="8778240" y="3337560"/>
            <a:ext cx="1188720" cy="310896"/>
          </a:xfrm>
          <a:prstGeom prst="rect">
            <a:avLst/>
          </a:prstGeom>
          <a:noFill/>
          <a:ln/>
        </p:spPr>
        <p:txBody>
          <a:bodyPr wrap="square" lIns="0" tIns="0" rIns="0" bIns="0" rtlCol="0" anchor="ctr"/>
          <a:lstStyle/>
          <a:p>
            <a:pPr algn="ctr" indent="0" marL="0">
              <a:buNone/>
            </a:pPr>
            <a:r>
              <a:rPr lang="en-US" sz="1200" b="1" dirty="0">
                <a:solidFill>
                  <a:srgbClr val="C8463D"/>
                </a:solidFill>
                <a:latin typeface="Calibri" pitchFamily="34" charset="0"/>
                <a:ea typeface="Calibri" pitchFamily="34" charset="-122"/>
                <a:cs typeface="Calibri" pitchFamily="34" charset="-120"/>
              </a:rPr>
              <a:t>Reject</a:t>
            </a:r>
            <a:endParaRPr lang="en-US" sz="1200" dirty="0"/>
          </a:p>
        </p:txBody>
      </p:sp>
      <p:sp>
        <p:nvSpPr>
          <p:cNvPr id="41" name="Text 39"/>
          <p:cNvSpPr txBox="1"/>
          <p:nvPr/>
        </p:nvSpPr>
        <p:spPr>
          <a:xfrm>
            <a:off x="10104120" y="3236976"/>
            <a:ext cx="1554480" cy="512064"/>
          </a:xfrm>
          <a:prstGeom prst="rect">
            <a:avLst/>
          </a:prstGeom>
          <a:noFill/>
          <a:ln/>
        </p:spPr>
        <p:txBody>
          <a:bodyPr wrap="square" lIns="0" tIns="0" rIns="0" bIns="0" rtlCol="0" anchor="ctr"/>
          <a:lstStyle/>
          <a:p>
            <a:pPr indent="0" marL="0">
              <a:buNone/>
            </a:pPr>
            <a:r>
              <a:rPr lang="en-US" sz="1300" dirty="0">
                <a:solidFill>
                  <a:srgbClr val="C8463D"/>
                </a:solidFill>
                <a:latin typeface="Calibri" pitchFamily="34" charset="0"/>
                <a:ea typeface="Calibri" pitchFamily="34" charset="-122"/>
                <a:cs typeface="Calibri" pitchFamily="34" charset="-120"/>
              </a:rPr>
              <a:t>wrong</a:t>
            </a:r>
            <a:endParaRPr lang="en-US" sz="1300" dirty="0"/>
          </a:p>
        </p:txBody>
      </p:sp>
      <p:sp>
        <p:nvSpPr>
          <p:cNvPr id="42" name="Shape 40"/>
          <p:cNvSpPr/>
          <p:nvPr/>
        </p:nvSpPr>
        <p:spPr>
          <a:xfrm>
            <a:off x="548640" y="3840480"/>
            <a:ext cx="11094415" cy="512064"/>
          </a:xfrm>
          <a:prstGeom prst="roundRect">
            <a:avLst>
              <a:gd name="adj" fmla="val 21429"/>
            </a:avLst>
          </a:prstGeom>
          <a:solidFill>
            <a:srgbClr val="FFFFFF"/>
          </a:solidFill>
          <a:ln w="12700">
            <a:solidFill>
              <a:srgbClr val="FFFFFF"/>
            </a:solidFill>
            <a:prstDash val="solid"/>
          </a:ln>
        </p:spPr>
      </p:sp>
      <p:sp>
        <p:nvSpPr>
          <p:cNvPr id="43" name="Shape 41"/>
          <p:cNvSpPr/>
          <p:nvPr/>
        </p:nvSpPr>
        <p:spPr>
          <a:xfrm>
            <a:off x="658368" y="3931920"/>
            <a:ext cx="329184" cy="329184"/>
          </a:xfrm>
          <a:prstGeom prst="ellipse">
            <a:avLst/>
          </a:prstGeom>
          <a:solidFill>
            <a:srgbClr val="DB2777"/>
          </a:solidFill>
          <a:ln w="12700">
            <a:solidFill>
              <a:srgbClr val="DB2777"/>
            </a:solidFill>
            <a:prstDash val="solid"/>
          </a:ln>
        </p:spPr>
      </p:sp>
      <p:sp>
        <p:nvSpPr>
          <p:cNvPr id="44" name="Text 42"/>
          <p:cNvSpPr txBox="1"/>
          <p:nvPr/>
        </p:nvSpPr>
        <p:spPr>
          <a:xfrm>
            <a:off x="658368" y="39319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45" name="Shape 43"/>
          <p:cNvSpPr/>
          <p:nvPr/>
        </p:nvSpPr>
        <p:spPr>
          <a:xfrm>
            <a:off x="1051560" y="3995928"/>
            <a:ext cx="201168" cy="201168"/>
          </a:xfrm>
          <a:prstGeom prst="ellipse">
            <a:avLst/>
          </a:prstGeom>
          <a:solidFill>
            <a:srgbClr val="DB2777"/>
          </a:solidFill>
          <a:ln w="12700">
            <a:solidFill>
              <a:srgbClr val="DB2777"/>
            </a:solidFill>
            <a:prstDash val="solid"/>
          </a:ln>
        </p:spPr>
      </p:sp>
      <p:sp>
        <p:nvSpPr>
          <p:cNvPr id="46" name="Text 44"/>
          <p:cNvSpPr txBox="1"/>
          <p:nvPr/>
        </p:nvSpPr>
        <p:spPr>
          <a:xfrm>
            <a:off x="3108960" y="3840480"/>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Crash</a:t>
            </a:r>
            <a:endParaRPr lang="en-US" sz="1500" dirty="0"/>
          </a:p>
        </p:txBody>
      </p:sp>
      <p:sp>
        <p:nvSpPr>
          <p:cNvPr id="47" name="Text 45"/>
          <p:cNvSpPr txBox="1"/>
          <p:nvPr/>
        </p:nvSpPr>
        <p:spPr>
          <a:xfrm>
            <a:off x="7086600" y="3840480"/>
            <a:ext cx="1645920" cy="512064"/>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1 of 10 = 10%</a:t>
            </a:r>
            <a:endParaRPr lang="en-US" sz="1500" dirty="0"/>
          </a:p>
        </p:txBody>
      </p:sp>
      <p:sp>
        <p:nvSpPr>
          <p:cNvPr id="48" name="Shape 46"/>
          <p:cNvSpPr/>
          <p:nvPr/>
        </p:nvSpPr>
        <p:spPr>
          <a:xfrm>
            <a:off x="8778240" y="3941064"/>
            <a:ext cx="1188720" cy="310896"/>
          </a:xfrm>
          <a:prstGeom prst="roundRect">
            <a:avLst>
              <a:gd name="adj" fmla="val 23529"/>
            </a:avLst>
          </a:prstGeom>
          <a:solidFill>
            <a:srgbClr val="FDECEA"/>
          </a:solidFill>
          <a:ln w="12700">
            <a:solidFill>
              <a:srgbClr val="FDECEA"/>
            </a:solidFill>
            <a:prstDash val="solid"/>
          </a:ln>
        </p:spPr>
      </p:sp>
      <p:sp>
        <p:nvSpPr>
          <p:cNvPr id="49" name="Text 47"/>
          <p:cNvSpPr txBox="1"/>
          <p:nvPr/>
        </p:nvSpPr>
        <p:spPr>
          <a:xfrm>
            <a:off x="8778240" y="3941064"/>
            <a:ext cx="1188720" cy="310896"/>
          </a:xfrm>
          <a:prstGeom prst="rect">
            <a:avLst/>
          </a:prstGeom>
          <a:noFill/>
          <a:ln/>
        </p:spPr>
        <p:txBody>
          <a:bodyPr wrap="square" lIns="0" tIns="0" rIns="0" bIns="0" rtlCol="0" anchor="ctr"/>
          <a:lstStyle/>
          <a:p>
            <a:pPr algn="ctr" indent="0" marL="0">
              <a:buNone/>
            </a:pPr>
            <a:r>
              <a:rPr lang="en-US" sz="1200" b="1" dirty="0">
                <a:solidFill>
                  <a:srgbClr val="C8463D"/>
                </a:solidFill>
                <a:latin typeface="Calibri" pitchFamily="34" charset="0"/>
                <a:ea typeface="Calibri" pitchFamily="34" charset="-122"/>
                <a:cs typeface="Calibri" pitchFamily="34" charset="-120"/>
              </a:rPr>
              <a:t>Reject</a:t>
            </a:r>
            <a:endParaRPr lang="en-US" sz="1200" dirty="0"/>
          </a:p>
        </p:txBody>
      </p:sp>
      <p:sp>
        <p:nvSpPr>
          <p:cNvPr id="50" name="Text 48"/>
          <p:cNvSpPr txBox="1"/>
          <p:nvPr/>
        </p:nvSpPr>
        <p:spPr>
          <a:xfrm>
            <a:off x="10104120" y="3840480"/>
            <a:ext cx="1554480" cy="512064"/>
          </a:xfrm>
          <a:prstGeom prst="rect">
            <a:avLst/>
          </a:prstGeom>
          <a:noFill/>
          <a:ln/>
        </p:spPr>
        <p:txBody>
          <a:bodyPr wrap="square" lIns="0" tIns="0" rIns="0" bIns="0" rtlCol="0" anchor="ctr"/>
          <a:lstStyle/>
          <a:p>
            <a:pPr indent="0" marL="0">
              <a:buNone/>
            </a:pPr>
            <a:r>
              <a:rPr lang="en-US" sz="1300" dirty="0">
                <a:solidFill>
                  <a:srgbClr val="C8463D"/>
                </a:solidFill>
                <a:latin typeface="Calibri" pitchFamily="34" charset="0"/>
                <a:ea typeface="Calibri" pitchFamily="34" charset="-122"/>
                <a:cs typeface="Calibri" pitchFamily="34" charset="-120"/>
              </a:rPr>
              <a:t>wrong</a:t>
            </a:r>
            <a:endParaRPr lang="en-US" sz="1300" dirty="0"/>
          </a:p>
        </p:txBody>
      </p:sp>
      <p:sp>
        <p:nvSpPr>
          <p:cNvPr id="51" name="Shape 49"/>
          <p:cNvSpPr/>
          <p:nvPr/>
        </p:nvSpPr>
        <p:spPr>
          <a:xfrm>
            <a:off x="548640" y="4443984"/>
            <a:ext cx="11094415" cy="512064"/>
          </a:xfrm>
          <a:prstGeom prst="roundRect">
            <a:avLst>
              <a:gd name="adj" fmla="val 21429"/>
            </a:avLst>
          </a:prstGeom>
          <a:solidFill>
            <a:srgbClr val="F2F5F9"/>
          </a:solidFill>
          <a:ln w="12700">
            <a:solidFill>
              <a:srgbClr val="F2F5F9"/>
            </a:solidFill>
            <a:prstDash val="solid"/>
          </a:ln>
        </p:spPr>
      </p:sp>
      <p:sp>
        <p:nvSpPr>
          <p:cNvPr id="52" name="Shape 50"/>
          <p:cNvSpPr/>
          <p:nvPr/>
        </p:nvSpPr>
        <p:spPr>
          <a:xfrm>
            <a:off x="658368" y="4535424"/>
            <a:ext cx="329184" cy="329184"/>
          </a:xfrm>
          <a:prstGeom prst="ellipse">
            <a:avLst/>
          </a:prstGeom>
          <a:solidFill>
            <a:srgbClr val="EA580C"/>
          </a:solidFill>
          <a:ln w="12700">
            <a:solidFill>
              <a:srgbClr val="EA580C"/>
            </a:solidFill>
            <a:prstDash val="solid"/>
          </a:ln>
        </p:spPr>
      </p:sp>
      <p:sp>
        <p:nvSpPr>
          <p:cNvPr id="53" name="Text 51"/>
          <p:cNvSpPr txBox="1"/>
          <p:nvPr/>
        </p:nvSpPr>
        <p:spPr>
          <a:xfrm>
            <a:off x="658368" y="45354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54" name="Shape 52"/>
          <p:cNvSpPr/>
          <p:nvPr/>
        </p:nvSpPr>
        <p:spPr>
          <a:xfrm>
            <a:off x="1051560" y="4599432"/>
            <a:ext cx="201168" cy="201168"/>
          </a:xfrm>
          <a:prstGeom prst="ellipse">
            <a:avLst/>
          </a:prstGeom>
          <a:solidFill>
            <a:srgbClr val="EA580C"/>
          </a:solidFill>
          <a:ln w="12700">
            <a:solidFill>
              <a:srgbClr val="EA580C"/>
            </a:solidFill>
            <a:prstDash val="solid"/>
          </a:ln>
        </p:spPr>
      </p:sp>
      <p:sp>
        <p:nvSpPr>
          <p:cNvPr id="55" name="Text 53"/>
          <p:cNvSpPr txBox="1"/>
          <p:nvPr/>
        </p:nvSpPr>
        <p:spPr>
          <a:xfrm>
            <a:off x="3108960" y="4443984"/>
            <a:ext cx="3840480" cy="512064"/>
          </a:xfrm>
          <a:prstGeom prst="rect">
            <a:avLst/>
          </a:prstGeom>
          <a:noFill/>
          <a:ln/>
        </p:spPr>
        <p:txBody>
          <a:bodyPr wrap="square" lIns="0" tIns="0" rIns="0" bIns="0" rtlCol="0" anchor="ctr"/>
          <a:lstStyle/>
          <a:p>
            <a:pPr indent="0" marL="0">
              <a:buNone/>
            </a:pPr>
            <a:r>
              <a:rPr lang="en-US" sz="1500" dirty="0">
                <a:solidFill>
                  <a:srgbClr val="1E2533"/>
                </a:solidFill>
                <a:latin typeface="Calibri" pitchFamily="34" charset="0"/>
                <a:ea typeface="Calibri" pitchFamily="34" charset="-122"/>
                <a:cs typeface="Calibri" pitchFamily="34" charset="-120"/>
              </a:rPr>
              <a:t>Emergency brake, no crash</a:t>
            </a:r>
            <a:endParaRPr lang="en-US" sz="1500" dirty="0"/>
          </a:p>
        </p:txBody>
      </p:sp>
      <p:sp>
        <p:nvSpPr>
          <p:cNvPr id="56" name="Text 54"/>
          <p:cNvSpPr txBox="1"/>
          <p:nvPr/>
        </p:nvSpPr>
        <p:spPr>
          <a:xfrm>
            <a:off x="7086600" y="4443984"/>
            <a:ext cx="1645920" cy="512064"/>
          </a:xfrm>
          <a:prstGeom prst="rect">
            <a:avLst/>
          </a:prstGeom>
          <a:noFill/>
          <a:ln/>
        </p:spPr>
        <p:txBody>
          <a:bodyPr wrap="square" lIns="0" tIns="0" rIns="0" bIns="0" rtlCol="0" anchor="ctr"/>
          <a:lstStyle/>
          <a:p>
            <a:pPr indent="0" marL="0">
              <a:buNone/>
            </a:pPr>
            <a:r>
              <a:rPr lang="en-US" sz="1500" b="1" dirty="0">
                <a:solidFill>
                  <a:srgbClr val="C8463D"/>
                </a:solidFill>
                <a:latin typeface="Calibri" pitchFamily="34" charset="0"/>
                <a:ea typeface="Calibri" pitchFamily="34" charset="-122"/>
                <a:cs typeface="Calibri" pitchFamily="34" charset="-120"/>
              </a:rPr>
              <a:t>1 of 10 = 10%</a:t>
            </a:r>
            <a:endParaRPr lang="en-US" sz="1500" dirty="0"/>
          </a:p>
        </p:txBody>
      </p:sp>
      <p:sp>
        <p:nvSpPr>
          <p:cNvPr id="57" name="Shape 55"/>
          <p:cNvSpPr/>
          <p:nvPr/>
        </p:nvSpPr>
        <p:spPr>
          <a:xfrm>
            <a:off x="8778240" y="4544568"/>
            <a:ext cx="1188720" cy="310896"/>
          </a:xfrm>
          <a:prstGeom prst="roundRect">
            <a:avLst>
              <a:gd name="adj" fmla="val 23529"/>
            </a:avLst>
          </a:prstGeom>
          <a:solidFill>
            <a:srgbClr val="FDECEA"/>
          </a:solidFill>
          <a:ln w="12700">
            <a:solidFill>
              <a:srgbClr val="FDECEA"/>
            </a:solidFill>
            <a:prstDash val="solid"/>
          </a:ln>
        </p:spPr>
      </p:sp>
      <p:sp>
        <p:nvSpPr>
          <p:cNvPr id="58" name="Text 56"/>
          <p:cNvSpPr txBox="1"/>
          <p:nvPr/>
        </p:nvSpPr>
        <p:spPr>
          <a:xfrm>
            <a:off x="8778240" y="4544568"/>
            <a:ext cx="1188720" cy="310896"/>
          </a:xfrm>
          <a:prstGeom prst="rect">
            <a:avLst/>
          </a:prstGeom>
          <a:noFill/>
          <a:ln/>
        </p:spPr>
        <p:txBody>
          <a:bodyPr wrap="square" lIns="0" tIns="0" rIns="0" bIns="0" rtlCol="0" anchor="ctr"/>
          <a:lstStyle/>
          <a:p>
            <a:pPr algn="ctr" indent="0" marL="0">
              <a:buNone/>
            </a:pPr>
            <a:r>
              <a:rPr lang="en-US" sz="1200" b="1" dirty="0">
                <a:solidFill>
                  <a:srgbClr val="C8463D"/>
                </a:solidFill>
                <a:latin typeface="Calibri" pitchFamily="34" charset="0"/>
                <a:ea typeface="Calibri" pitchFamily="34" charset="-122"/>
                <a:cs typeface="Calibri" pitchFamily="34" charset="-120"/>
              </a:rPr>
              <a:t>Reject</a:t>
            </a:r>
            <a:endParaRPr lang="en-US" sz="1200" dirty="0"/>
          </a:p>
        </p:txBody>
      </p:sp>
      <p:sp>
        <p:nvSpPr>
          <p:cNvPr id="59" name="Text 57"/>
          <p:cNvSpPr txBox="1"/>
          <p:nvPr/>
        </p:nvSpPr>
        <p:spPr>
          <a:xfrm>
            <a:off x="10104120" y="4443984"/>
            <a:ext cx="1554480" cy="512064"/>
          </a:xfrm>
          <a:prstGeom prst="rect">
            <a:avLst/>
          </a:prstGeom>
          <a:noFill/>
          <a:ln/>
        </p:spPr>
        <p:txBody>
          <a:bodyPr wrap="square" lIns="0" tIns="0" rIns="0" bIns="0" rtlCol="0" anchor="ctr"/>
          <a:lstStyle/>
          <a:p>
            <a:pPr indent="0" marL="0">
              <a:buNone/>
            </a:pPr>
            <a:r>
              <a:rPr lang="en-US" sz="1300" dirty="0">
                <a:solidFill>
                  <a:srgbClr val="2E8B57"/>
                </a:solidFill>
                <a:latin typeface="Calibri" pitchFamily="34" charset="0"/>
                <a:ea typeface="Calibri" pitchFamily="34" charset="-122"/>
                <a:cs typeface="Calibri" pitchFamily="34" charset="-120"/>
              </a:rPr>
              <a:t>ok (unusual)</a:t>
            </a:r>
            <a:endParaRPr lang="en-US" sz="1300" dirty="0"/>
          </a:p>
        </p:txBody>
      </p:sp>
      <p:sp>
        <p:nvSpPr>
          <p:cNvPr id="60" name="Shape 58"/>
          <p:cNvSpPr/>
          <p:nvPr/>
        </p:nvSpPr>
        <p:spPr>
          <a:xfrm>
            <a:off x="548640" y="5120640"/>
            <a:ext cx="11094415" cy="457200"/>
          </a:xfrm>
          <a:prstGeom prst="roundRect">
            <a:avLst>
              <a:gd name="adj" fmla="val 24000"/>
            </a:avLst>
          </a:prstGeom>
          <a:solidFill>
            <a:srgbClr val="E6F3F3"/>
          </a:solidFill>
          <a:ln w="12700">
            <a:solidFill>
              <a:srgbClr val="E6F3F3"/>
            </a:solidFill>
            <a:prstDash val="solid"/>
          </a:ln>
        </p:spPr>
      </p:sp>
      <p:sp>
        <p:nvSpPr>
          <p:cNvPr id="61" name="Text 59"/>
          <p:cNvSpPr txBox="1"/>
          <p:nvPr/>
        </p:nvSpPr>
        <p:spPr>
          <a:xfrm>
            <a:off x="777240" y="5120640"/>
            <a:ext cx="10637215" cy="457200"/>
          </a:xfrm>
          <a:prstGeom prst="rect">
            <a:avLst/>
          </a:prstGeom>
          <a:noFill/>
          <a:ln/>
        </p:spPr>
        <p:txBody>
          <a:bodyPr wrap="square" lIns="0" tIns="0" rIns="0" bIns="0" rtlCol="0" anchor="ctr"/>
          <a:lstStyle/>
          <a:p>
            <a:pPr indent="0" marL="0">
              <a:buNone/>
            </a:pPr>
            <a:r>
              <a:rPr lang="en-US" sz="1500" b="1" dirty="0">
                <a:solidFill>
                  <a:srgbClr val="0F8B8D"/>
                </a:solidFill>
                <a:latin typeface="Calibri" pitchFamily="34" charset="0"/>
                <a:ea typeface="Calibri" pitchFamily="34" charset="-122"/>
                <a:cs typeface="Calibri" pitchFamily="34" charset="-120"/>
              </a:rPr>
              <a:t>Vote rule:  </a:t>
            </a:r>
            <a:pPr indent="0" marL="0">
              <a:buNone/>
            </a:pPr>
            <a:r>
              <a:rPr lang="en-US" sz="1500" dirty="0">
                <a:solidFill>
                  <a:srgbClr val="1E2533"/>
                </a:solidFill>
                <a:latin typeface="Calibri" pitchFamily="34" charset="0"/>
                <a:ea typeface="Calibri" pitchFamily="34" charset="-122"/>
                <a:cs typeface="Calibri" pitchFamily="34" charset="-120"/>
              </a:rPr>
              <a:t>≥ 60% agree → accept   ·   20–60% → human review   ·   below 20% (alone) → reject</a:t>
            </a:r>
            <a:endParaRPr lang="en-US" sz="1500" dirty="0"/>
          </a:p>
        </p:txBody>
      </p:sp>
      <p:sp>
        <p:nvSpPr>
          <p:cNvPr id="62" name="Text 60"/>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400" b="1" dirty="0">
                <a:solidFill>
                  <a:srgbClr val="13213C"/>
                </a:solidFill>
                <a:latin typeface="Calibri" pitchFamily="34" charset="0"/>
                <a:ea typeface="Calibri" pitchFamily="34" charset="-122"/>
                <a:cs typeface="Calibri" pitchFamily="34" charset="-120"/>
              </a:rPr>
              <a:t>No group reached 60%: the AI disagrees with itself, so nothing is auto-accepted. Both crash tests are rejected — and they really were wrong.</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Demo 2: one requirement, end to end, live AI</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7589520" cy="4743450"/>
          </a:xfrm>
          <a:prstGeom prst="rect">
            <a:avLst/>
          </a:prstGeom>
        </p:spPr>
      </p:pic>
      <p:sp>
        <p:nvSpPr>
          <p:cNvPr id="5" name="Shape 2"/>
          <p:cNvSpPr/>
          <p:nvPr/>
        </p:nvSpPr>
        <p:spPr>
          <a:xfrm>
            <a:off x="8412480" y="1280160"/>
            <a:ext cx="3230575" cy="4743450"/>
          </a:xfrm>
          <a:prstGeom prst="roundRect">
            <a:avLst>
              <a:gd name="adj" fmla="val 3397"/>
            </a:avLst>
          </a:prstGeom>
          <a:solidFill>
            <a:srgbClr val="F2F5F9"/>
          </a:solidFill>
          <a:ln w="12700">
            <a:solidFill>
              <a:srgbClr val="F2F5F9"/>
            </a:solidFill>
            <a:prstDash val="solid"/>
          </a:ln>
        </p:spPr>
      </p:sp>
      <p:sp>
        <p:nvSpPr>
          <p:cNvPr id="6" name="Text 3"/>
          <p:cNvSpPr txBox="1"/>
          <p:nvPr/>
        </p:nvSpPr>
        <p:spPr>
          <a:xfrm>
            <a:off x="8641080" y="1463040"/>
            <a:ext cx="24688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7" name="Text 4"/>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 A hidden stopped car: the car ahead changes lane, and a stopped car is behind it</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AI writes 8 tests live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simulator runs them; tests are grouped by what happened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Vote: 7 accept · 0 review · 1 reject</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broken controller: the test catches the bug</a:t>
            </a:r>
            <a:endParaRPr lang="en-US" sz="1300" dirty="0"/>
          </a:p>
        </p:txBody>
      </p:sp>
      <p:sp>
        <p:nvSpPr>
          <p:cNvPr id="8" name="Text 5"/>
          <p:cNvSpPr txBox="1"/>
          <p:nvPr/>
        </p:nvSpPr>
        <p:spPr>
          <a:xfrm>
            <a:off x="548640" y="6096762"/>
            <a:ext cx="7589520" cy="274320"/>
          </a:xfrm>
          <a:prstGeom prst="rect">
            <a:avLst/>
          </a:prstGeom>
          <a:noFill/>
          <a:ln/>
        </p:spPr>
        <p:txBody>
          <a:bodyPr wrap="square" lIns="0" tIns="0" rIns="0" bIns="0" rtlCol="0" anchor="t"/>
          <a:lstStyle/>
          <a:p>
            <a:pPr indent="0" marL="0">
              <a:buNone/>
            </a:pPr>
            <a:r>
              <a:rPr lang="en-US" sz="1100" i="1" dirty="0">
                <a:solidFill>
                  <a:srgbClr val="5B6578"/>
                </a:solidFill>
                <a:latin typeface="Calibri" pitchFamily="34" charset="0"/>
                <a:ea typeface="Calibri" pitchFamily="34" charset="-122"/>
                <a:cs typeface="Calibri" pitchFamily="34" charset="-120"/>
              </a:rPr>
              <a:t>1 min 46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Agreement spots wrong tests better than AI self-confidence</a:t>
            </a:r>
            <a:endParaRPr lang="en-US" sz="3000" dirty="0"/>
          </a:p>
        </p:txBody>
      </p:sp>
      <p:sp>
        <p:nvSpPr>
          <p:cNvPr id="4" name="Text 2"/>
          <p:cNvSpPr txBox="1"/>
          <p:nvPr/>
        </p:nvSpPr>
        <p:spPr>
          <a:xfrm>
            <a:off x="548640" y="1188720"/>
            <a:ext cx="11094415" cy="274320"/>
          </a:xfrm>
          <a:prstGeom prst="rect">
            <a:avLst/>
          </a:prstGeom>
          <a:noFill/>
          <a:ln/>
        </p:spPr>
        <p:txBody>
          <a:bodyPr wrap="square" lIns="0" tIns="0" rIns="0" bIns="0" rtlCol="0" anchor="t"/>
          <a:lstStyle/>
          <a:p>
            <a:pPr indent="0" marL="0">
              <a:buNone/>
            </a:pPr>
            <a:r>
              <a:rPr lang="en-US" sz="1300" b="1" dirty="0">
                <a:solidFill>
                  <a:srgbClr val="5B6578"/>
                </a:solidFill>
                <a:latin typeface="Calibri" pitchFamily="34" charset="0"/>
                <a:ea typeface="Calibri" pitchFamily="34" charset="-122"/>
                <a:cs typeface="Calibri" pitchFamily="34" charset="-120"/>
              </a:rPr>
              <a:t>210 AI-written tests · 7 cruise-control requirements · 3 AI models × 10 tries · 8 broken controllers · 1,890 simulations</a:t>
            </a:r>
            <a:endParaRPr lang="en-US" sz="1300" dirty="0"/>
          </a:p>
        </p:txBody>
      </p:sp>
      <p:sp>
        <p:nvSpPr>
          <p:cNvPr id="5" name="Text 3"/>
          <p:cNvSpPr txBox="1"/>
          <p:nvPr/>
        </p:nvSpPr>
        <p:spPr>
          <a:xfrm>
            <a:off x="548640" y="2011680"/>
            <a:ext cx="2834640" cy="822960"/>
          </a:xfrm>
          <a:prstGeom prst="rect">
            <a:avLst/>
          </a:prstGeom>
          <a:noFill/>
          <a:ln/>
        </p:spPr>
        <p:txBody>
          <a:bodyPr wrap="square" lIns="0" tIns="0" rIns="0" bIns="0" rtlCol="0" anchor="ctr"/>
          <a:lstStyle/>
          <a:p>
            <a:pPr algn="r" indent="0" marL="0">
              <a:buNone/>
            </a:pPr>
            <a:r>
              <a:rPr lang="en-US" sz="1600" dirty="0">
                <a:solidFill>
                  <a:srgbClr val="1E2533"/>
                </a:solidFill>
                <a:latin typeface="Calibri" pitchFamily="34" charset="0"/>
                <a:ea typeface="Calibri" pitchFamily="34" charset="-122"/>
                <a:cs typeface="Calibri" pitchFamily="34" charset="-120"/>
              </a:rPr>
              <a:t>Asking the AI how sure it is</a:t>
            </a:r>
            <a:endParaRPr lang="en-US" sz="1600" dirty="0"/>
          </a:p>
        </p:txBody>
      </p:sp>
      <p:sp>
        <p:nvSpPr>
          <p:cNvPr id="6" name="Shape 4"/>
          <p:cNvSpPr/>
          <p:nvPr/>
        </p:nvSpPr>
        <p:spPr>
          <a:xfrm>
            <a:off x="3566160" y="2103120"/>
            <a:ext cx="2627611" cy="640080"/>
          </a:xfrm>
          <a:prstGeom prst="rect">
            <a:avLst/>
          </a:prstGeom>
          <a:solidFill>
            <a:srgbClr val="5B6578"/>
          </a:solidFill>
          <a:ln w="12700">
            <a:solidFill>
              <a:srgbClr val="5B6578"/>
            </a:solidFill>
            <a:prstDash val="solid"/>
          </a:ln>
        </p:spPr>
      </p:sp>
      <p:sp>
        <p:nvSpPr>
          <p:cNvPr id="7" name="Text 5"/>
          <p:cNvSpPr txBox="1"/>
          <p:nvPr/>
        </p:nvSpPr>
        <p:spPr>
          <a:xfrm>
            <a:off x="6285211" y="2011680"/>
            <a:ext cx="914400" cy="822960"/>
          </a:xfrm>
          <a:prstGeom prst="rect">
            <a:avLst/>
          </a:prstGeom>
          <a:noFill/>
          <a:ln/>
        </p:spPr>
        <p:txBody>
          <a:bodyPr wrap="square" lIns="0" tIns="0" rIns="0" bIns="0" rtlCol="0" anchor="ctr"/>
          <a:lstStyle/>
          <a:p>
            <a:pPr indent="0" marL="0">
              <a:buNone/>
            </a:pPr>
            <a:r>
              <a:rPr lang="en-US" sz="3000" b="1" dirty="0">
                <a:solidFill>
                  <a:srgbClr val="1E2533"/>
                </a:solidFill>
                <a:latin typeface="Cambria" pitchFamily="34" charset="0"/>
                <a:ea typeface="Cambria" pitchFamily="34" charset="-122"/>
                <a:cs typeface="Cambria" pitchFamily="34" charset="-120"/>
              </a:rPr>
              <a:t>0.74</a:t>
            </a:r>
            <a:endParaRPr lang="en-US" sz="3000" dirty="0"/>
          </a:p>
        </p:txBody>
      </p:sp>
      <p:sp>
        <p:nvSpPr>
          <p:cNvPr id="8" name="Text 6"/>
          <p:cNvSpPr txBox="1"/>
          <p:nvPr/>
        </p:nvSpPr>
        <p:spPr>
          <a:xfrm>
            <a:off x="548640" y="3337560"/>
            <a:ext cx="2834640" cy="822960"/>
          </a:xfrm>
          <a:prstGeom prst="rect">
            <a:avLst/>
          </a:prstGeom>
          <a:noFill/>
          <a:ln/>
        </p:spPr>
        <p:txBody>
          <a:bodyPr wrap="square" lIns="0" tIns="0" rIns="0" bIns="0" rtlCol="0" anchor="ctr"/>
          <a:lstStyle/>
          <a:p>
            <a:pPr algn="r" indent="0" marL="0">
              <a:buNone/>
            </a:pPr>
            <a:r>
              <a:rPr lang="en-US" sz="1600" b="1" dirty="0">
                <a:solidFill>
                  <a:srgbClr val="1E2533"/>
                </a:solidFill>
                <a:latin typeface="Calibri" pitchFamily="34" charset="0"/>
                <a:ea typeface="Calibri" pitchFamily="34" charset="-122"/>
                <a:cs typeface="Calibri" pitchFamily="34" charset="-120"/>
              </a:rPr>
              <a:t>Checking if its 10 tests agree (ours)</a:t>
            </a:r>
            <a:endParaRPr lang="en-US" sz="1600" dirty="0"/>
          </a:p>
        </p:txBody>
      </p:sp>
      <p:sp>
        <p:nvSpPr>
          <p:cNvPr id="9" name="Shape 7"/>
          <p:cNvSpPr/>
          <p:nvPr/>
        </p:nvSpPr>
        <p:spPr>
          <a:xfrm>
            <a:off x="3566160" y="3429000"/>
            <a:ext cx="3199870" cy="640080"/>
          </a:xfrm>
          <a:prstGeom prst="rect">
            <a:avLst/>
          </a:prstGeom>
          <a:solidFill>
            <a:srgbClr val="0F8B8D"/>
          </a:solidFill>
          <a:ln w="12700">
            <a:solidFill>
              <a:srgbClr val="0F8B8D"/>
            </a:solidFill>
            <a:prstDash val="solid"/>
          </a:ln>
        </p:spPr>
      </p:sp>
      <p:sp>
        <p:nvSpPr>
          <p:cNvPr id="10" name="Text 8"/>
          <p:cNvSpPr txBox="1"/>
          <p:nvPr/>
        </p:nvSpPr>
        <p:spPr>
          <a:xfrm>
            <a:off x="6857470" y="3337560"/>
            <a:ext cx="914400" cy="822960"/>
          </a:xfrm>
          <a:prstGeom prst="rect">
            <a:avLst/>
          </a:prstGeom>
          <a:noFill/>
          <a:ln/>
        </p:spPr>
        <p:txBody>
          <a:bodyPr wrap="square" lIns="0" tIns="0" rIns="0" bIns="0" rtlCol="0" anchor="ctr"/>
          <a:lstStyle/>
          <a:p>
            <a:pPr indent="0" marL="0">
              <a:buNone/>
            </a:pPr>
            <a:r>
              <a:rPr lang="en-US" sz="3000" b="1" dirty="0">
                <a:solidFill>
                  <a:srgbClr val="0F8B8D"/>
                </a:solidFill>
                <a:latin typeface="Cambria" pitchFamily="34" charset="0"/>
                <a:ea typeface="Cambria" pitchFamily="34" charset="-122"/>
                <a:cs typeface="Cambria" pitchFamily="34" charset="-120"/>
              </a:rPr>
              <a:t>0.90</a:t>
            </a:r>
            <a:endParaRPr lang="en-US" sz="3000" dirty="0"/>
          </a:p>
        </p:txBody>
      </p:sp>
      <p:sp>
        <p:nvSpPr>
          <p:cNvPr id="11" name="Shape 9"/>
          <p:cNvSpPr/>
          <p:nvPr/>
        </p:nvSpPr>
        <p:spPr>
          <a:xfrm>
            <a:off x="5349240" y="1783080"/>
            <a:ext cx="0" cy="2697480"/>
          </a:xfrm>
          <a:prstGeom prst="line">
            <a:avLst/>
          </a:prstGeom>
          <a:noFill/>
          <a:ln w="12700">
            <a:solidFill>
              <a:srgbClr val="5B6578"/>
            </a:solidFill>
            <a:prstDash val="dash"/>
          </a:ln>
        </p:spPr>
      </p:sp>
      <p:sp>
        <p:nvSpPr>
          <p:cNvPr id="12" name="Text 10"/>
          <p:cNvSpPr txBox="1"/>
          <p:nvPr/>
        </p:nvSpPr>
        <p:spPr>
          <a:xfrm>
            <a:off x="4617720" y="4526280"/>
            <a:ext cx="1463040" cy="274320"/>
          </a:xfrm>
          <a:prstGeom prst="rect">
            <a:avLst/>
          </a:prstGeom>
          <a:noFill/>
          <a:ln/>
        </p:spPr>
        <p:txBody>
          <a:bodyPr wrap="square" lIns="0" tIns="0" rIns="0" bIns="0" rtlCol="0" anchor="t"/>
          <a:lstStyle/>
          <a:p>
            <a:pPr algn="ctr" indent="0" marL="0">
              <a:buNone/>
            </a:pPr>
            <a:r>
              <a:rPr lang="en-US" sz="1100" dirty="0">
                <a:solidFill>
                  <a:srgbClr val="5B6578"/>
                </a:solidFill>
                <a:latin typeface="Calibri" pitchFamily="34" charset="0"/>
                <a:ea typeface="Calibri" pitchFamily="34" charset="-122"/>
                <a:cs typeface="Calibri" pitchFamily="34" charset="-120"/>
              </a:rPr>
              <a:t>coin flip = 0.50</a:t>
            </a:r>
            <a:endParaRPr lang="en-US" sz="1100" dirty="0"/>
          </a:p>
        </p:txBody>
      </p:sp>
      <p:sp>
        <p:nvSpPr>
          <p:cNvPr id="13" name="Text 11"/>
          <p:cNvSpPr txBox="1"/>
          <p:nvPr/>
        </p:nvSpPr>
        <p:spPr>
          <a:xfrm>
            <a:off x="3566160" y="4846320"/>
            <a:ext cx="4114800" cy="27432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Score: AUROC (0.5 = coin flip, 1.0 = perfect)</a:t>
            </a:r>
            <a:endParaRPr lang="en-US" sz="1200" dirty="0"/>
          </a:p>
        </p:txBody>
      </p:sp>
      <p:sp>
        <p:nvSpPr>
          <p:cNvPr id="14" name="Shape 12"/>
          <p:cNvSpPr/>
          <p:nvPr/>
        </p:nvSpPr>
        <p:spPr>
          <a:xfrm>
            <a:off x="8001000" y="1691640"/>
            <a:ext cx="3639312" cy="4069080"/>
          </a:xfrm>
          <a:prstGeom prst="roundRect">
            <a:avLst>
              <a:gd name="adj" fmla="val 3015"/>
            </a:avLst>
          </a:prstGeom>
          <a:solidFill>
            <a:srgbClr val="F2F5F9"/>
          </a:solidFill>
          <a:ln w="12700">
            <a:solidFill>
              <a:srgbClr val="F2F5F9"/>
            </a:solidFill>
            <a:prstDash val="solid"/>
          </a:ln>
        </p:spPr>
      </p:sp>
      <p:sp>
        <p:nvSpPr>
          <p:cNvPr id="15" name="Text 13"/>
          <p:cNvSpPr txBox="1"/>
          <p:nvPr/>
        </p:nvSpPr>
        <p:spPr>
          <a:xfrm>
            <a:off x="8229600" y="1828800"/>
            <a:ext cx="320040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What 0.90 means</a:t>
            </a:r>
            <a:endParaRPr lang="en-US" sz="1600" dirty="0"/>
          </a:p>
        </p:txBody>
      </p:sp>
      <p:sp>
        <p:nvSpPr>
          <p:cNvPr id="16" name="Text 14"/>
          <p:cNvSpPr txBox="1"/>
          <p:nvPr/>
        </p:nvSpPr>
        <p:spPr>
          <a:xfrm>
            <a:off x="8229600" y="2240280"/>
            <a:ext cx="3200400" cy="118872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Pick one wrong test and one correct test at random. In 9 of 10 cases the wrong one has the lower agreement.</a:t>
            </a:r>
            <a:endParaRPr lang="en-US" sz="1400" dirty="0"/>
          </a:p>
        </p:txBody>
      </p:sp>
      <p:sp>
        <p:nvSpPr>
          <p:cNvPr id="17" name="Text 15"/>
          <p:cNvSpPr txBox="1"/>
          <p:nvPr/>
        </p:nvSpPr>
        <p:spPr>
          <a:xfrm>
            <a:off x="8229600" y="3520440"/>
            <a:ext cx="3200400" cy="1280160"/>
          </a:xfrm>
          <a:prstGeom prst="rect">
            <a:avLst/>
          </a:prstGeom>
          <a:noFill/>
          <a:ln/>
        </p:spPr>
        <p:txBody>
          <a:bodyPr wrap="square" lIns="0" tIns="0" rIns="0" bIns="0" rtlCol="0" anchor="t"/>
          <a:lstStyle/>
          <a:p>
            <a:pPr indent="0" marL="0">
              <a:buNone/>
            </a:pPr>
            <a:r>
              <a:rPr lang="en-US" sz="1400" b="1" dirty="0">
                <a:solidFill>
                  <a:srgbClr val="E39B2D"/>
                </a:solidFill>
                <a:latin typeface="Calibri" pitchFamily="34" charset="0"/>
                <a:ea typeface="Calibri" pitchFamily="34" charset="-122"/>
                <a:cs typeface="Calibri" pitchFamily="34" charset="-120"/>
              </a:rPr>
              <a:t>Honest limit  </a:t>
            </a:r>
            <a:pPr indent="0" marL="0">
              <a:buNone/>
            </a:pPr>
            <a:r>
              <a:rPr lang="en-US" sz="1400" dirty="0">
                <a:solidFill>
                  <a:srgbClr val="1E2533"/>
                </a:solidFill>
                <a:latin typeface="Calibri" pitchFamily="34" charset="0"/>
                <a:ea typeface="Calibri" pitchFamily="34" charset="-122"/>
                <a:cs typeface="Calibri" pitchFamily="34" charset="-120"/>
              </a:rPr>
              <a:t>comparing tests of the same requirement it drops to 0.71: it mostly spots hard requirements. → objective O1</a:t>
            </a:r>
            <a:endParaRPr lang="en-US" sz="1400" dirty="0"/>
          </a:p>
        </p:txBody>
      </p:sp>
      <p:sp>
        <p:nvSpPr>
          <p:cNvPr id="18" name="Text 16"/>
          <p:cNvSpPr txBox="1"/>
          <p:nvPr/>
        </p:nvSpPr>
        <p:spPr>
          <a:xfrm>
            <a:off x="8229600" y="4800600"/>
            <a:ext cx="3200400" cy="86868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The AI also over-trusts itself: gpt-5.6-luna said 97% sure, but only 87% of its tests were correct.</a:t>
            </a:r>
            <a:endParaRPr lang="en-US" sz="1200" dirty="0"/>
          </a:p>
        </p:txBody>
      </p:sp>
      <p:sp>
        <p:nvSpPr>
          <p:cNvPr id="19" name="Text 17"/>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Truth = each test also run on 8 deliberately broken controllers and compared with a hidden reference check. Design fixed on a first round; numbers from a fresh second round.</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0F8B8D"/>
                </a:solidFill>
                <a:latin typeface="Calibri" pitchFamily="34" charset="0"/>
                <a:ea typeface="Calibri" pitchFamily="34" charset="-122"/>
                <a:cs typeface="Calibri" pitchFamily="34" charset="-120"/>
              </a:rPr>
              <a:t>PART B · DEMO 2 RESULTS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173 of 210 tests auto-accepted — 171 of them correct</a:t>
            </a:r>
            <a:endParaRPr lang="en-US" sz="3000" dirty="0"/>
          </a:p>
        </p:txBody>
      </p:sp>
      <p:graphicFrame>
        <p:nvGraphicFramePr>
          <p:cNvPr id="4" name="Chart 0" descr=""/>
          <p:cNvGraphicFramePr/>
          <p:nvPr/>
        </p:nvGraphicFramePr>
        <p:xfrm>
          <a:off x="548640" y="132588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sp>
      <p:sp>
        <p:nvSpPr>
          <p:cNvPr id="6" name="Text 3"/>
          <p:cNvSpPr txBox="1"/>
          <p:nvPr/>
        </p:nvSpPr>
        <p:spPr>
          <a:xfrm>
            <a:off x="6949440" y="1435608"/>
            <a:ext cx="1097280" cy="822960"/>
          </a:xfrm>
          <a:prstGeom prst="rect">
            <a:avLst/>
          </a:prstGeom>
          <a:noFill/>
          <a:ln/>
        </p:spPr>
        <p:txBody>
          <a:bodyPr wrap="square" lIns="0" tIns="0" rIns="0" bIns="0" rtlCol="0" anchor="ctr"/>
          <a:lstStyle/>
          <a:p>
            <a:pPr indent="0" marL="0">
              <a:buNone/>
            </a:pPr>
            <a:r>
              <a:rPr lang="en-US" sz="4000" b="1" dirty="0">
                <a:solidFill>
                  <a:srgbClr val="2E8B57"/>
                </a:solidFill>
                <a:latin typeface="Cambria" pitchFamily="34" charset="0"/>
                <a:ea typeface="Cambria" pitchFamily="34" charset="-122"/>
                <a:cs typeface="Cambria" pitchFamily="34" charset="-120"/>
              </a:rPr>
              <a:t>173</a:t>
            </a:r>
            <a:endParaRPr lang="en-US" sz="4000" dirty="0"/>
          </a:p>
        </p:txBody>
      </p:sp>
      <p:sp>
        <p:nvSpPr>
          <p:cNvPr id="7" name="Text 4"/>
          <p:cNvSpPr txBox="1"/>
          <p:nvPr/>
        </p:nvSpPr>
        <p:spPr>
          <a:xfrm>
            <a:off x="8092440" y="1463040"/>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Accept  </a:t>
            </a:r>
            <a:pPr indent="0" marL="0">
              <a:buNone/>
            </a:pPr>
            <a:r>
              <a:rPr lang="en-US" sz="1300" dirty="0">
                <a:solidFill>
                  <a:srgbClr val="5B6578"/>
                </a:solidFill>
                <a:latin typeface="Calibri" pitchFamily="34" charset="0"/>
                <a:ea typeface="Calibri" pitchFamily="34" charset="-122"/>
                <a:cs typeface="Calibri" pitchFamily="34" charset="-120"/>
              </a:rPr>
              <a:t>≥ 60% agree</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171 correct (99%)</a:t>
            </a:r>
            <a:endParaRPr lang="en-US" sz="1600" dirty="0"/>
          </a:p>
        </p:txBody>
      </p:sp>
      <p:sp>
        <p:nvSpPr>
          <p:cNvPr id="8" name="Shape 5"/>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sp>
      <p:sp>
        <p:nvSpPr>
          <p:cNvPr id="9" name="Text 6"/>
          <p:cNvSpPr txBox="1"/>
          <p:nvPr/>
        </p:nvSpPr>
        <p:spPr>
          <a:xfrm>
            <a:off x="6949440" y="2642616"/>
            <a:ext cx="1097280" cy="822960"/>
          </a:xfrm>
          <a:prstGeom prst="rect">
            <a:avLst/>
          </a:prstGeom>
          <a:noFill/>
          <a:ln/>
        </p:spPr>
        <p:txBody>
          <a:bodyPr wrap="square" lIns="0" tIns="0" rIns="0" bIns="0" rtlCol="0" anchor="ctr"/>
          <a:lstStyle/>
          <a:p>
            <a:pPr indent="0" marL="0">
              <a:buNone/>
            </a:pPr>
            <a:r>
              <a:rPr lang="en-US" sz="4000" b="1" dirty="0">
                <a:solidFill>
                  <a:srgbClr val="E39B2D"/>
                </a:solidFill>
                <a:latin typeface="Cambria" pitchFamily="34" charset="0"/>
                <a:ea typeface="Cambria" pitchFamily="34" charset="-122"/>
                <a:cs typeface="Cambria" pitchFamily="34" charset="-120"/>
              </a:rPr>
              <a:t>30</a:t>
            </a:r>
            <a:endParaRPr lang="en-US" sz="4000" dirty="0"/>
          </a:p>
        </p:txBody>
      </p:sp>
      <p:sp>
        <p:nvSpPr>
          <p:cNvPr id="10" name="Text 7"/>
          <p:cNvSpPr txBox="1"/>
          <p:nvPr/>
        </p:nvSpPr>
        <p:spPr>
          <a:xfrm>
            <a:off x="8092440" y="2670048"/>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Human review  </a:t>
            </a:r>
            <a:pPr indent="0" marL="0">
              <a:buNone/>
            </a:pPr>
            <a:r>
              <a:rPr lang="en-US" sz="1300" dirty="0">
                <a:solidFill>
                  <a:srgbClr val="5B6578"/>
                </a:solidFill>
                <a:latin typeface="Calibri" pitchFamily="34" charset="0"/>
                <a:ea typeface="Calibri" pitchFamily="34" charset="-122"/>
                <a:cs typeface="Calibri" pitchFamily="34" charset="-120"/>
              </a:rPr>
              <a:t>20–60% agree</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19 correct (63%) — the mistakes gather here</a:t>
            </a:r>
            <a:endParaRPr lang="en-US" sz="1600" dirty="0"/>
          </a:p>
        </p:txBody>
      </p:sp>
      <p:sp>
        <p:nvSpPr>
          <p:cNvPr id="11" name="Shape 8"/>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sp>
      <p:sp>
        <p:nvSpPr>
          <p:cNvPr id="12" name="Text 9"/>
          <p:cNvSpPr txBox="1"/>
          <p:nvPr/>
        </p:nvSpPr>
        <p:spPr>
          <a:xfrm>
            <a:off x="6949440" y="3849624"/>
            <a:ext cx="1097280" cy="822960"/>
          </a:xfrm>
          <a:prstGeom prst="rect">
            <a:avLst/>
          </a:prstGeom>
          <a:noFill/>
          <a:ln/>
        </p:spPr>
        <p:txBody>
          <a:bodyPr wrap="square" lIns="0" tIns="0" rIns="0" bIns="0" rtlCol="0" anchor="ctr"/>
          <a:lstStyle/>
          <a:p>
            <a:pPr indent="0" marL="0">
              <a:buNone/>
            </a:pPr>
            <a:r>
              <a:rPr lang="en-US" sz="4000" b="1" dirty="0">
                <a:solidFill>
                  <a:srgbClr val="C8463D"/>
                </a:solidFill>
                <a:latin typeface="Cambria" pitchFamily="34" charset="0"/>
                <a:ea typeface="Cambria" pitchFamily="34" charset="-122"/>
                <a:cs typeface="Cambria" pitchFamily="34" charset="-120"/>
              </a:rPr>
              <a:t>7</a:t>
            </a:r>
            <a:endParaRPr lang="en-US" sz="4000" dirty="0"/>
          </a:p>
        </p:txBody>
      </p:sp>
      <p:sp>
        <p:nvSpPr>
          <p:cNvPr id="13" name="Text 10"/>
          <p:cNvSpPr txBox="1"/>
          <p:nvPr/>
        </p:nvSpPr>
        <p:spPr>
          <a:xfrm>
            <a:off x="8092440" y="3877056"/>
            <a:ext cx="3429000" cy="822960"/>
          </a:xfrm>
          <a:prstGeom prst="rect">
            <a:avLst/>
          </a:prstGeom>
          <a:noFill/>
          <a:ln/>
        </p:spPr>
        <p:txBody>
          <a:bodyPr wrap="square" lIns="0" tIns="0" rIns="0" bIns="0" rtlCol="0" anchor="ctr"/>
          <a:lstStyle/>
          <a:p>
            <a:pPr indent="0" marL="0">
              <a:buNone/>
            </a:pPr>
            <a:r>
              <a:rPr lang="en-US" sz="1600" b="1" dirty="0">
                <a:solidFill>
                  <a:srgbClr val="13213C"/>
                </a:solidFill>
                <a:latin typeface="Calibri" pitchFamily="34" charset="0"/>
                <a:ea typeface="Calibri" pitchFamily="34" charset="-122"/>
                <a:cs typeface="Calibri" pitchFamily="34" charset="-120"/>
              </a:rPr>
              <a:t>Reject  </a:t>
            </a:r>
            <a:pPr indent="0" marL="0">
              <a:buNone/>
            </a:pPr>
            <a:r>
              <a:rPr lang="en-US" sz="1300" dirty="0">
                <a:solidFill>
                  <a:srgbClr val="5B6578"/>
                </a:solidFill>
                <a:latin typeface="Calibri" pitchFamily="34" charset="0"/>
                <a:ea typeface="Calibri" pitchFamily="34" charset="-122"/>
                <a:cs typeface="Calibri" pitchFamily="34" charset="-120"/>
              </a:rPr>
              <a:t>below 20% (alone)</a:t>
            </a:r>
            <a:endParaRPr lang="en-US" sz="1600" dirty="0"/>
          </a:p>
          <a:p>
            <a:pPr indent="0" marL="0">
              <a:buNone/>
            </a:pPr>
            <a:r>
              <a:rPr lang="en-US" sz="1400" dirty="0">
                <a:solidFill>
                  <a:srgbClr val="1E2533"/>
                </a:solidFill>
                <a:latin typeface="Calibri" pitchFamily="34" charset="0"/>
                <a:ea typeface="Calibri" pitchFamily="34" charset="-122"/>
                <a:cs typeface="Calibri" pitchFamily="34" charset="-120"/>
              </a:rPr>
              <a:t>3 correct (43%)</a:t>
            </a:r>
            <a:endParaRPr lang="en-US" sz="1600" dirty="0"/>
          </a:p>
        </p:txBody>
      </p:sp>
      <p:sp>
        <p:nvSpPr>
          <p:cNvPr id="14" name="Shape 11"/>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sp>
      <p:sp>
        <p:nvSpPr>
          <p:cNvPr id="15" name="Text 12"/>
          <p:cNvSpPr txBox="1"/>
          <p:nvPr/>
        </p:nvSpPr>
        <p:spPr>
          <a:xfrm>
            <a:off x="6949440" y="5029200"/>
            <a:ext cx="4526280" cy="731520"/>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Accepting everything blindly: 92% correct. The vote lifts it to 98.8% and tells a human where to look.</a:t>
            </a:r>
            <a:endParaRPr lang="en-US" sz="1300" dirty="0"/>
          </a:p>
        </p:txBody>
      </p:sp>
      <p:sp>
        <p:nvSpPr>
          <p:cNvPr id="16" name="Text 13"/>
          <p:cNvSpPr txBox="1"/>
          <p:nvPr/>
        </p:nvSpPr>
        <p:spPr>
          <a:xfrm>
            <a:off x="548640" y="6144768"/>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The 60% / 20% thresholds are hand-picked; linking them to safety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OBJECTIVES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4" name="Shape 2"/>
          <p:cNvSpPr/>
          <p:nvPr/>
        </p:nvSpPr>
        <p:spPr>
          <a:xfrm>
            <a:off x="548640" y="1371600"/>
            <a:ext cx="2633472" cy="3931920"/>
          </a:xfrm>
          <a:prstGeom prst="roundRect">
            <a:avLst>
              <a:gd name="adj" fmla="val 4167"/>
            </a:avLst>
          </a:prstGeom>
          <a:solidFill>
            <a:srgbClr val="F2F5F9"/>
          </a:solidFill>
          <a:ln w="12700">
            <a:solidFill>
              <a:srgbClr val="F2F5F9"/>
            </a:solidFill>
            <a:prstDash val="solid"/>
          </a:ln>
        </p:spPr>
      </p:sp>
      <p:sp>
        <p:nvSpPr>
          <p:cNvPr id="5" name="Shape 3"/>
          <p:cNvSpPr/>
          <p:nvPr/>
        </p:nvSpPr>
        <p:spPr>
          <a:xfrm>
            <a:off x="822960" y="1645920"/>
            <a:ext cx="685800" cy="68580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994410" y="1817370"/>
            <a:ext cx="342900" cy="342900"/>
          </a:xfrm>
          <a:prstGeom prst="rect">
            <a:avLst/>
          </a:prstGeom>
        </p:spPr>
      </p:pic>
      <p:sp>
        <p:nvSpPr>
          <p:cNvPr id="7" name="Text 4"/>
          <p:cNvSpPr txBox="1"/>
          <p:nvPr/>
        </p:nvSpPr>
        <p:spPr>
          <a:xfrm>
            <a:off x="1645920" y="1719072"/>
            <a:ext cx="1280160" cy="548640"/>
          </a:xfrm>
          <a:prstGeom prst="rect">
            <a:avLst/>
          </a:prstGeom>
          <a:noFill/>
          <a:ln/>
        </p:spPr>
        <p:txBody>
          <a:bodyPr wrap="square" lIns="0" tIns="0" rIns="0" bIns="0" rtlCol="0" anchor="t"/>
          <a:lstStyle/>
          <a:p>
            <a:pPr indent="0" marL="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8" name="Text 5"/>
          <p:cNvSpPr txBox="1"/>
          <p:nvPr/>
        </p:nvSpPr>
        <p:spPr>
          <a:xfrm>
            <a:off x="822960"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9" name="Text 6"/>
          <p:cNvSpPr txBox="1"/>
          <p:nvPr/>
        </p:nvSpPr>
        <p:spPr>
          <a:xfrm>
            <a:off x="822960"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10" name="Shape 7"/>
          <p:cNvSpPr/>
          <p:nvPr/>
        </p:nvSpPr>
        <p:spPr>
          <a:xfrm>
            <a:off x="3364992" y="1371600"/>
            <a:ext cx="2633472" cy="3931920"/>
          </a:xfrm>
          <a:prstGeom prst="roundRect">
            <a:avLst>
              <a:gd name="adj" fmla="val 4167"/>
            </a:avLst>
          </a:prstGeom>
          <a:solidFill>
            <a:srgbClr val="F2F5F9"/>
          </a:solidFill>
          <a:ln w="12700">
            <a:solidFill>
              <a:srgbClr val="F2F5F9"/>
            </a:solidFill>
            <a:prstDash val="solid"/>
          </a:ln>
        </p:spPr>
      </p:sp>
      <p:sp>
        <p:nvSpPr>
          <p:cNvPr id="11" name="Shape 8"/>
          <p:cNvSpPr/>
          <p:nvPr/>
        </p:nvSpPr>
        <p:spPr>
          <a:xfrm>
            <a:off x="3639312" y="1645920"/>
            <a:ext cx="685800" cy="685800"/>
          </a:xfrm>
          <a:prstGeom prst="ellipse">
            <a:avLst/>
          </a:prstGeom>
          <a:solidFill>
            <a:srgbClr val="3567C8"/>
          </a:solidFill>
          <a:ln w="12700">
            <a:solidFill>
              <a:srgbClr val="3567C8"/>
            </a:solidFill>
            <a:prstDash val="solid"/>
          </a:ln>
        </p:spPr>
      </p:sp>
      <p:pic>
        <p:nvPicPr>
          <p:cNvPr id="12" name="Image 1" descr="preencoded.png">    </p:cNvPr>
          <p:cNvPicPr>
            <a:picLocks noChangeAspect="1"/>
          </p:cNvPicPr>
          <p:nvPr/>
        </p:nvPicPr>
        <p:blipFill>
          <a:blip r:embed="rId2"/>
          <a:stretch>
            <a:fillRect/>
          </a:stretch>
        </p:blipFill>
        <p:spPr>
          <a:xfrm>
            <a:off x="3810762" y="1817370"/>
            <a:ext cx="342900" cy="342900"/>
          </a:xfrm>
          <a:prstGeom prst="rect">
            <a:avLst/>
          </a:prstGeom>
        </p:spPr>
      </p:pic>
      <p:sp>
        <p:nvSpPr>
          <p:cNvPr id="13" name="Text 9"/>
          <p:cNvSpPr txBox="1"/>
          <p:nvPr/>
        </p:nvSpPr>
        <p:spPr>
          <a:xfrm>
            <a:off x="4462272" y="1719072"/>
            <a:ext cx="1280160" cy="548640"/>
          </a:xfrm>
          <a:prstGeom prst="rect">
            <a:avLst/>
          </a:prstGeom>
          <a:noFill/>
          <a:ln/>
        </p:spPr>
        <p:txBody>
          <a:bodyPr wrap="square" lIns="0" tIns="0" rIns="0" bIns="0" rtlCol="0" anchor="t"/>
          <a:lstStyle/>
          <a:p>
            <a:pPr indent="0" marL="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4" name="Text 10"/>
          <p:cNvSpPr txBox="1"/>
          <p:nvPr/>
        </p:nvSpPr>
        <p:spPr>
          <a:xfrm>
            <a:off x="3639312"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5" name="Text 11"/>
          <p:cNvSpPr txBox="1"/>
          <p:nvPr/>
        </p:nvSpPr>
        <p:spPr>
          <a:xfrm>
            <a:off x="3639312"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6" name="Shape 12"/>
          <p:cNvSpPr/>
          <p:nvPr/>
        </p:nvSpPr>
        <p:spPr>
          <a:xfrm>
            <a:off x="6181344" y="1371600"/>
            <a:ext cx="2633472" cy="3931920"/>
          </a:xfrm>
          <a:prstGeom prst="roundRect">
            <a:avLst>
              <a:gd name="adj" fmla="val 4167"/>
            </a:avLst>
          </a:prstGeom>
          <a:solidFill>
            <a:srgbClr val="F2F5F9"/>
          </a:solidFill>
          <a:ln w="12700">
            <a:solidFill>
              <a:srgbClr val="F2F5F9"/>
            </a:solidFill>
            <a:prstDash val="solid"/>
          </a:ln>
        </p:spPr>
      </p:sp>
      <p:sp>
        <p:nvSpPr>
          <p:cNvPr id="17" name="Shape 13"/>
          <p:cNvSpPr/>
          <p:nvPr/>
        </p:nvSpPr>
        <p:spPr>
          <a:xfrm>
            <a:off x="6455664" y="1645920"/>
            <a:ext cx="685800" cy="685800"/>
          </a:xfrm>
          <a:prstGeom prst="ellipse">
            <a:avLst/>
          </a:prstGeom>
          <a:solidFill>
            <a:srgbClr val="E39B2D"/>
          </a:solidFill>
          <a:ln w="12700">
            <a:solidFill>
              <a:srgbClr val="E39B2D"/>
            </a:solidFill>
            <a:prstDash val="solid"/>
          </a:ln>
        </p:spPr>
      </p:sp>
      <p:pic>
        <p:nvPicPr>
          <p:cNvPr id="18" name="Image 2" descr="preencoded.png">    </p:cNvPr>
          <p:cNvPicPr>
            <a:picLocks noChangeAspect="1"/>
          </p:cNvPicPr>
          <p:nvPr/>
        </p:nvPicPr>
        <p:blipFill>
          <a:blip r:embed="rId3"/>
          <a:stretch>
            <a:fillRect/>
          </a:stretch>
        </p:blipFill>
        <p:spPr>
          <a:xfrm>
            <a:off x="6627114" y="1817370"/>
            <a:ext cx="342900" cy="342900"/>
          </a:xfrm>
          <a:prstGeom prst="rect">
            <a:avLst/>
          </a:prstGeom>
        </p:spPr>
      </p:pic>
      <p:sp>
        <p:nvSpPr>
          <p:cNvPr id="19" name="Text 14"/>
          <p:cNvSpPr txBox="1"/>
          <p:nvPr/>
        </p:nvSpPr>
        <p:spPr>
          <a:xfrm>
            <a:off x="7278624" y="1719072"/>
            <a:ext cx="1280160" cy="548640"/>
          </a:xfrm>
          <a:prstGeom prst="rect">
            <a:avLst/>
          </a:prstGeom>
          <a:noFill/>
          <a:ln/>
        </p:spPr>
        <p:txBody>
          <a:bodyPr wrap="square" lIns="0" tIns="0" rIns="0" bIns="0" rtlCol="0" anchor="t"/>
          <a:lstStyle/>
          <a:p>
            <a:pPr indent="0" marL="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20" name="Text 15"/>
          <p:cNvSpPr txBox="1"/>
          <p:nvPr/>
        </p:nvSpPr>
        <p:spPr>
          <a:xfrm>
            <a:off x="6455664"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1" name="Text 16"/>
          <p:cNvSpPr txBox="1"/>
          <p:nvPr/>
        </p:nvSpPr>
        <p:spPr>
          <a:xfrm>
            <a:off x="6455664"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2" name="Shape 17"/>
          <p:cNvSpPr/>
          <p:nvPr/>
        </p:nvSpPr>
        <p:spPr>
          <a:xfrm>
            <a:off x="8997696" y="1371600"/>
            <a:ext cx="2633472" cy="3931920"/>
          </a:xfrm>
          <a:prstGeom prst="roundRect">
            <a:avLst>
              <a:gd name="adj" fmla="val 4167"/>
            </a:avLst>
          </a:prstGeom>
          <a:solidFill>
            <a:srgbClr val="F2F5F9"/>
          </a:solidFill>
          <a:ln w="12700">
            <a:solidFill>
              <a:srgbClr val="F2F5F9"/>
            </a:solidFill>
            <a:prstDash val="solid"/>
          </a:ln>
        </p:spPr>
      </p:sp>
      <p:sp>
        <p:nvSpPr>
          <p:cNvPr id="23" name="Shape 18"/>
          <p:cNvSpPr/>
          <p:nvPr/>
        </p:nvSpPr>
        <p:spPr>
          <a:xfrm>
            <a:off x="9272016" y="1645920"/>
            <a:ext cx="685800" cy="685800"/>
          </a:xfrm>
          <a:prstGeom prst="ellipse">
            <a:avLst/>
          </a:prstGeom>
          <a:solidFill>
            <a:srgbClr val="6E56CF"/>
          </a:solidFill>
          <a:ln w="12700">
            <a:solidFill>
              <a:srgbClr val="6E56CF"/>
            </a:solidFill>
            <a:prstDash val="solid"/>
          </a:ln>
        </p:spPr>
      </p:sp>
      <p:pic>
        <p:nvPicPr>
          <p:cNvPr id="24" name="Image 3" descr="preencoded.png">    </p:cNvPr>
          <p:cNvPicPr>
            <a:picLocks noChangeAspect="1"/>
          </p:cNvPicPr>
          <p:nvPr/>
        </p:nvPicPr>
        <p:blipFill>
          <a:blip r:embed="rId4"/>
          <a:stretch>
            <a:fillRect/>
          </a:stretch>
        </p:blipFill>
        <p:spPr>
          <a:xfrm>
            <a:off x="9443466" y="1817370"/>
            <a:ext cx="342900" cy="342900"/>
          </a:xfrm>
          <a:prstGeom prst="rect">
            <a:avLst/>
          </a:prstGeom>
        </p:spPr>
      </p:pic>
      <p:sp>
        <p:nvSpPr>
          <p:cNvPr id="25" name="Text 19"/>
          <p:cNvSpPr txBox="1"/>
          <p:nvPr/>
        </p:nvSpPr>
        <p:spPr>
          <a:xfrm>
            <a:off x="10094976" y="1719072"/>
            <a:ext cx="1280160" cy="548640"/>
          </a:xfrm>
          <a:prstGeom prst="rect">
            <a:avLst/>
          </a:prstGeom>
          <a:noFill/>
          <a:ln/>
        </p:spPr>
        <p:txBody>
          <a:bodyPr wrap="square" lIns="0" tIns="0" rIns="0" bIns="0" rtlCol="0" anchor="t"/>
          <a:lstStyle/>
          <a:p>
            <a:pPr indent="0" marL="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6" name="Text 20"/>
          <p:cNvSpPr txBox="1"/>
          <p:nvPr/>
        </p:nvSpPr>
        <p:spPr>
          <a:xfrm>
            <a:off x="9272016" y="2560320"/>
            <a:ext cx="2194560" cy="6400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7" name="Text 21"/>
          <p:cNvSpPr txBox="1"/>
          <p:nvPr/>
        </p:nvSpPr>
        <p:spPr>
          <a:xfrm>
            <a:off x="9272016" y="3246120"/>
            <a:ext cx="2148840" cy="1920240"/>
          </a:xfrm>
          <a:prstGeom prst="rect">
            <a:avLst/>
          </a:prstGeom>
          <a:noFill/>
          <a:ln/>
        </p:spPr>
        <p:txBody>
          <a:bodyPr wrap="square" lIns="0" tIns="0" rIns="0" bIns="0" rtlCol="0" anchor="t"/>
          <a:lstStyle/>
          <a:p>
            <a:pPr indent="0" marL="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8" name="Text 22"/>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GAPS → NEXT IMPLEMENTATION</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What both demos cannot do yet becomes the research agenda</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960120"/>
                <a:gridCol w="4572000"/>
                <a:gridCol w="4645152"/>
                <a:gridCol w="914400"/>
              </a:tblGrid>
              <a:tr h="822960">
                <a:tc>
                  <a:txBody>
                    <a:bodyPr/>
                    <a:lstStyle/>
                    <a:p>
                      <a:pPr indent="0" marL="0">
                        <a:buNone/>
                      </a:pPr>
                      <a:r>
                        <a:rPr lang="en-US" sz="1400" b="1" dirty="0">
                          <a:solidFill>
                            <a:srgbClr val="FFFFFF"/>
                          </a:solidFill>
                        </a:rPr>
                        <a:t>From</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Gap seen in the demo</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Next implementation</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Obj.</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822960">
                <a:tc>
                  <a:txBody>
                    <a:bodyPr/>
                    <a:lstStyle/>
                    <a:p>
                      <a:pPr indent="0" marL="0">
                        <a:buNone/>
                      </a:pPr>
                      <a:r>
                        <a:rPr lang="en-US" sz="1300" b="1" dirty="0">
                          <a:solidFill>
                            <a:srgbClr val="4F46E5"/>
                          </a:solidFill>
                        </a:rPr>
                        <a:t>Demo 1</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Rules cannot tell a wrong test from a real defect (6 of 18 FAILs were wrong tests)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Uncertainty per generated artefact, incl. oracles and bug reports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0F8B8D"/>
                          </a:solidFill>
                        </a:rPr>
                        <a:t>O1</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822960">
                <a:tc>
                  <a:txBody>
                    <a:bodyPr/>
                    <a:lstStyle/>
                    <a:p>
                      <a:pPr indent="0" marL="0">
                        <a:buNone/>
                      </a:pPr>
                      <a:r>
                        <a:rPr lang="en-US" sz="1300" b="1" dirty="0">
                          <a:solidFill>
                            <a:srgbClr val="0F8B8D"/>
                          </a:solidFill>
                        </a:rPr>
                        <a:t>Demo 2</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The vote is coarse inside one requirement (AUROC 0.71); black-box only</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White-box (log-prob) and trajectory-level metrics; calibration</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0F8B8D"/>
                          </a:solidFill>
                        </a:rPr>
                        <a:t>O1</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0F8B8D"/>
                          </a:solidFill>
                        </a:rPr>
                        <a:t>Demo 2</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60% / 20% thresholds are hand-picked; risk ignores how severe a failure is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Risk = uncertainty × consequence; selective guarantees; review budget</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3567C8"/>
                          </a:solidFill>
                        </a:rPr>
                        <a:t>O2</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822960">
                <a:tc>
                  <a:txBody>
                    <a:bodyPr/>
                    <a:lstStyle/>
                    <a:p>
                      <a:pPr indent="0" marL="0">
                        <a:buNone/>
                      </a:pPr>
                      <a:r>
                        <a:rPr lang="en-US" sz="1300" b="1" dirty="0">
                          <a:solidFill>
                            <a:srgbClr val="5B6578"/>
                          </a:solidFill>
                        </a:rPr>
                        <a:t>Both</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Agreement vs. bug-finding power only hinted (ρ = -0.28 with mutation score); cost of 10 samples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rPr>
                        <a:t>Large study: correctness, fault detection, flakiness, latency and token cost</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E39B2D"/>
                          </a:solidFill>
                        </a:rPr>
                        <a:t>O3</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822960">
                <a:tc>
                  <a:txBody>
                    <a:bodyPr/>
                    <a:lstStyle/>
                    <a:p>
                      <a:pPr indent="0" marL="0">
                        <a:buNone/>
                      </a:pPr>
                      <a:r>
                        <a:rPr lang="en-US" sz="1300" b="1" dirty="0">
                          <a:solidFill>
                            <a:srgbClr val="5B6578"/>
                          </a:solidFill>
                        </a:rPr>
                        <a:t>Both</a:t>
                      </a:r>
                      <a:endParaRPr lang="en-US" sz="13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One app or one simulator, 3 hosted LLMs, seeded faults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000000"/>
                          </a:solidFill>
                        </a:rPr>
                        <a:t>Open-source ACPS, industrial cases, InnoGuard platform; newer and quantum ML models</a:t>
                      </a:r>
                      <a:endParaRPr lang="en-US" sz="14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algn="ctr" indent="0" marL="0">
                        <a:buNone/>
                      </a:pPr>
                      <a:r>
                        <a:rPr lang="en-US" sz="1800" b="1" dirty="0">
                          <a:solidFill>
                            <a:srgbClr val="6E56CF"/>
                          </a:solidFill>
                        </a:rPr>
                        <a:t>O4</a:t>
                      </a:r>
                      <a:endParaRPr lang="en-US" sz="1800" dirty="0"/>
                    </a:p>
                  </a:txBody>
                  <a:tcPr marL="91440" marR="91440"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RESEARCH QUESTIONS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4" name="Shape 2"/>
          <p:cNvSpPr/>
          <p:nvPr/>
        </p:nvSpPr>
        <p:spPr>
          <a:xfrm>
            <a:off x="548640" y="1280160"/>
            <a:ext cx="11094415" cy="969264"/>
          </a:xfrm>
          <a:prstGeom prst="roundRect">
            <a:avLst>
              <a:gd name="adj" fmla="val 11321"/>
            </a:avLst>
          </a:prstGeom>
          <a:solidFill>
            <a:srgbClr val="F2F5F9"/>
          </a:solidFill>
          <a:ln w="12700">
            <a:solidFill>
              <a:srgbClr val="F2F5F9"/>
            </a:solidFill>
            <a:prstDash val="solid"/>
          </a:ln>
        </p:spPr>
      </p:sp>
      <p:sp>
        <p:nvSpPr>
          <p:cNvPr id="5" name="Text 3"/>
          <p:cNvSpPr txBox="1"/>
          <p:nvPr/>
        </p:nvSpPr>
        <p:spPr>
          <a:xfrm>
            <a:off x="777240" y="1417320"/>
            <a:ext cx="914400" cy="685800"/>
          </a:xfrm>
          <a:prstGeom prst="rect">
            <a:avLst/>
          </a:prstGeom>
          <a:noFill/>
          <a:ln/>
        </p:spPr>
        <p:txBody>
          <a:bodyPr wrap="square" lIns="0" tIns="0" rIns="0" bIns="0" rtlCol="0" anchor="ctr"/>
          <a:lstStyle/>
          <a:p>
            <a:pPr indent="0" marL="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6" name="Text 4"/>
          <p:cNvSpPr txBox="1"/>
          <p:nvPr/>
        </p:nvSpPr>
        <p:spPr>
          <a:xfrm>
            <a:off x="1783080" y="136245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7" name="Text 5"/>
          <p:cNvSpPr txBox="1"/>
          <p:nvPr/>
        </p:nvSpPr>
        <p:spPr>
          <a:xfrm>
            <a:off x="6537960" y="136245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8" name="Shape 6"/>
          <p:cNvSpPr/>
          <p:nvPr/>
        </p:nvSpPr>
        <p:spPr>
          <a:xfrm>
            <a:off x="548640" y="2377440"/>
            <a:ext cx="11094415" cy="969264"/>
          </a:xfrm>
          <a:prstGeom prst="roundRect">
            <a:avLst>
              <a:gd name="adj" fmla="val 11321"/>
            </a:avLst>
          </a:prstGeom>
          <a:solidFill>
            <a:srgbClr val="F2F5F9"/>
          </a:solidFill>
          <a:ln w="12700">
            <a:solidFill>
              <a:srgbClr val="F2F5F9"/>
            </a:solidFill>
            <a:prstDash val="solid"/>
          </a:ln>
        </p:spPr>
      </p:sp>
      <p:sp>
        <p:nvSpPr>
          <p:cNvPr id="9" name="Text 7"/>
          <p:cNvSpPr txBox="1"/>
          <p:nvPr/>
        </p:nvSpPr>
        <p:spPr>
          <a:xfrm>
            <a:off x="777240" y="2514600"/>
            <a:ext cx="914400" cy="685800"/>
          </a:xfrm>
          <a:prstGeom prst="rect">
            <a:avLst/>
          </a:prstGeom>
          <a:noFill/>
          <a:ln/>
        </p:spPr>
        <p:txBody>
          <a:bodyPr wrap="square" lIns="0" tIns="0" rIns="0" bIns="0" rtlCol="0" anchor="ctr"/>
          <a:lstStyle/>
          <a:p>
            <a:pPr indent="0" marL="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10" name="Text 8"/>
          <p:cNvSpPr txBox="1"/>
          <p:nvPr/>
        </p:nvSpPr>
        <p:spPr>
          <a:xfrm>
            <a:off x="1783080" y="245973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1" name="Text 9"/>
          <p:cNvSpPr txBox="1"/>
          <p:nvPr/>
        </p:nvSpPr>
        <p:spPr>
          <a:xfrm>
            <a:off x="6537960" y="245973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2" name="Shape 10"/>
          <p:cNvSpPr/>
          <p:nvPr/>
        </p:nvSpPr>
        <p:spPr>
          <a:xfrm>
            <a:off x="548640" y="3474720"/>
            <a:ext cx="11094415" cy="969264"/>
          </a:xfrm>
          <a:prstGeom prst="roundRect">
            <a:avLst>
              <a:gd name="adj" fmla="val 11321"/>
            </a:avLst>
          </a:prstGeom>
          <a:solidFill>
            <a:srgbClr val="F2F5F9"/>
          </a:solidFill>
          <a:ln w="12700">
            <a:solidFill>
              <a:srgbClr val="F2F5F9"/>
            </a:solidFill>
            <a:prstDash val="solid"/>
          </a:ln>
        </p:spPr>
      </p:sp>
      <p:sp>
        <p:nvSpPr>
          <p:cNvPr id="13" name="Text 11"/>
          <p:cNvSpPr txBox="1"/>
          <p:nvPr/>
        </p:nvSpPr>
        <p:spPr>
          <a:xfrm>
            <a:off x="777240" y="3611880"/>
            <a:ext cx="914400" cy="685800"/>
          </a:xfrm>
          <a:prstGeom prst="rect">
            <a:avLst/>
          </a:prstGeom>
          <a:noFill/>
          <a:ln/>
        </p:spPr>
        <p:txBody>
          <a:bodyPr wrap="square" lIns="0" tIns="0" rIns="0" bIns="0" rtlCol="0" anchor="ctr"/>
          <a:lstStyle/>
          <a:p>
            <a:pPr indent="0" marL="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4" name="Text 12"/>
          <p:cNvSpPr txBox="1"/>
          <p:nvPr/>
        </p:nvSpPr>
        <p:spPr>
          <a:xfrm>
            <a:off x="1783080" y="355701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5" name="Text 13"/>
          <p:cNvSpPr txBox="1"/>
          <p:nvPr/>
        </p:nvSpPr>
        <p:spPr>
          <a:xfrm>
            <a:off x="6537960" y="355701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6" name="Shape 14"/>
          <p:cNvSpPr/>
          <p:nvPr/>
        </p:nvSpPr>
        <p:spPr>
          <a:xfrm>
            <a:off x="548640" y="4572000"/>
            <a:ext cx="11094415" cy="969264"/>
          </a:xfrm>
          <a:prstGeom prst="roundRect">
            <a:avLst>
              <a:gd name="adj" fmla="val 11321"/>
            </a:avLst>
          </a:prstGeom>
          <a:solidFill>
            <a:srgbClr val="F2F5F9"/>
          </a:solidFill>
          <a:ln w="12700">
            <a:solidFill>
              <a:srgbClr val="F2F5F9"/>
            </a:solidFill>
            <a:prstDash val="solid"/>
          </a:ln>
        </p:spPr>
      </p:sp>
      <p:sp>
        <p:nvSpPr>
          <p:cNvPr id="17" name="Text 15"/>
          <p:cNvSpPr txBox="1"/>
          <p:nvPr/>
        </p:nvSpPr>
        <p:spPr>
          <a:xfrm>
            <a:off x="777240" y="4709160"/>
            <a:ext cx="914400" cy="685800"/>
          </a:xfrm>
          <a:prstGeom prst="rect">
            <a:avLst/>
          </a:prstGeom>
          <a:noFill/>
          <a:ln/>
        </p:spPr>
        <p:txBody>
          <a:bodyPr wrap="square" lIns="0" tIns="0" rIns="0" bIns="0" rtlCol="0" anchor="ctr"/>
          <a:lstStyle/>
          <a:p>
            <a:pPr indent="0" marL="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8" name="Text 16"/>
          <p:cNvSpPr txBox="1"/>
          <p:nvPr/>
        </p:nvSpPr>
        <p:spPr>
          <a:xfrm>
            <a:off x="1783080" y="4654296"/>
            <a:ext cx="4572000" cy="804672"/>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9" name="Text 17"/>
          <p:cNvSpPr txBox="1"/>
          <p:nvPr/>
        </p:nvSpPr>
        <p:spPr>
          <a:xfrm>
            <a:off x="6537960" y="4654296"/>
            <a:ext cx="4892040" cy="804672"/>
          </a:xfrm>
          <a:prstGeom prst="rect">
            <a:avLst/>
          </a:prstGeom>
          <a:noFill/>
          <a:ln/>
        </p:spPr>
        <p:txBody>
          <a:bodyPr wrap="square" lIns="0" tIns="0" rIns="0" bIns="0" rtlCol="0" anchor="ctr"/>
          <a:lstStyle/>
          <a:p>
            <a:pPr indent="0" marL="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0" name="Text 18"/>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WORK PLAN</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4" name="Shape 2"/>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sp>
      <p:sp>
        <p:nvSpPr>
          <p:cNvPr id="5" name="Text 3"/>
          <p:cNvSpPr txBox="1"/>
          <p:nvPr/>
        </p:nvSpPr>
        <p:spPr>
          <a:xfrm>
            <a:off x="3474720"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6" name="Shape 4"/>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sp>
      <p:sp>
        <p:nvSpPr>
          <p:cNvPr id="7" name="Text 5"/>
          <p:cNvSpPr txBox="1"/>
          <p:nvPr/>
        </p:nvSpPr>
        <p:spPr>
          <a:xfrm>
            <a:off x="6197498"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8" name="Shape 6"/>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sp>
      <p:sp>
        <p:nvSpPr>
          <p:cNvPr id="9" name="Text 7"/>
          <p:cNvSpPr txBox="1"/>
          <p:nvPr/>
        </p:nvSpPr>
        <p:spPr>
          <a:xfrm>
            <a:off x="8920277" y="1371600"/>
            <a:ext cx="2722778" cy="274320"/>
          </a:xfrm>
          <a:prstGeom prst="rect">
            <a:avLst/>
          </a:prstGeom>
          <a:noFill/>
          <a:ln/>
        </p:spPr>
        <p:txBody>
          <a:bodyPr wrap="square" lIns="0" tIns="0" rIns="0" bIns="0" rtlCol="0" anchor="t"/>
          <a:lstStyle/>
          <a:p>
            <a:pPr algn="ctr" indent="0" marL="0">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10" name="Text 8"/>
          <p:cNvSpPr txBox="1"/>
          <p:nvPr/>
        </p:nvSpPr>
        <p:spPr>
          <a:xfrm>
            <a:off x="548640" y="1828800"/>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1" name="Shape 9"/>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sp>
      <p:sp>
        <p:nvSpPr>
          <p:cNvPr id="12" name="Text 10"/>
          <p:cNvSpPr txBox="1"/>
          <p:nvPr/>
        </p:nvSpPr>
        <p:spPr>
          <a:xfrm>
            <a:off x="548640" y="2249424"/>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3" name="Shape 11"/>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sp>
      <p:sp>
        <p:nvSpPr>
          <p:cNvPr id="14" name="Text 12"/>
          <p:cNvSpPr txBox="1"/>
          <p:nvPr/>
        </p:nvSpPr>
        <p:spPr>
          <a:xfrm>
            <a:off x="548640" y="2670048"/>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5" name="Shape 13"/>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sp>
      <p:sp>
        <p:nvSpPr>
          <p:cNvPr id="16" name="Text 14"/>
          <p:cNvSpPr txBox="1"/>
          <p:nvPr/>
        </p:nvSpPr>
        <p:spPr>
          <a:xfrm>
            <a:off x="548640" y="3090672"/>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7" name="Shape 15"/>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sp>
      <p:sp>
        <p:nvSpPr>
          <p:cNvPr id="18" name="Text 16"/>
          <p:cNvSpPr txBox="1"/>
          <p:nvPr/>
        </p:nvSpPr>
        <p:spPr>
          <a:xfrm>
            <a:off x="548640" y="3511296"/>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9" name="Shape 17"/>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sp>
      <p:sp>
        <p:nvSpPr>
          <p:cNvPr id="20" name="Text 18"/>
          <p:cNvSpPr txBox="1"/>
          <p:nvPr/>
        </p:nvSpPr>
        <p:spPr>
          <a:xfrm>
            <a:off x="548640" y="3931920"/>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1" name="Shape 19"/>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sp>
      <p:sp>
        <p:nvSpPr>
          <p:cNvPr id="22" name="Text 20"/>
          <p:cNvSpPr txBox="1"/>
          <p:nvPr/>
        </p:nvSpPr>
        <p:spPr>
          <a:xfrm>
            <a:off x="548640" y="4352544"/>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3" name="Shape 21"/>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sp>
      <p:sp>
        <p:nvSpPr>
          <p:cNvPr id="24" name="Text 22"/>
          <p:cNvSpPr txBox="1"/>
          <p:nvPr/>
        </p:nvSpPr>
        <p:spPr>
          <a:xfrm>
            <a:off x="548640" y="4773168"/>
            <a:ext cx="2834640" cy="347472"/>
          </a:xfrm>
          <a:prstGeom prst="rect">
            <a:avLst/>
          </a:prstGeom>
          <a:noFill/>
          <a:ln/>
        </p:spPr>
        <p:txBody>
          <a:bodyPr wrap="square" lIns="0" tIns="0" rIns="0" bIns="0" rtlCol="0" anchor="ctr"/>
          <a:lstStyle/>
          <a:p>
            <a:pPr indent="0" marL="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5" name="Shape 23"/>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sp>
      <p:sp>
        <p:nvSpPr>
          <p:cNvPr id="26" name="Shape 24"/>
          <p:cNvSpPr/>
          <p:nvPr/>
        </p:nvSpPr>
        <p:spPr>
          <a:xfrm>
            <a:off x="5293627" y="5303520"/>
            <a:ext cx="219456" cy="219456"/>
          </a:xfrm>
          <a:prstGeom prst="diamond">
            <a:avLst/>
          </a:prstGeom>
          <a:solidFill>
            <a:srgbClr val="E39B2D"/>
          </a:solidFill>
          <a:ln w="12700">
            <a:solidFill>
              <a:srgbClr val="E39B2D"/>
            </a:solidFill>
            <a:prstDash val="solid"/>
          </a:ln>
        </p:spPr>
      </p:sp>
      <p:sp>
        <p:nvSpPr>
          <p:cNvPr id="27" name="Text 25"/>
          <p:cNvSpPr txBox="1"/>
          <p:nvPr/>
        </p:nvSpPr>
        <p:spPr>
          <a:xfrm>
            <a:off x="4488955"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8" name="Shape 26"/>
          <p:cNvSpPr/>
          <p:nvPr/>
        </p:nvSpPr>
        <p:spPr>
          <a:xfrm>
            <a:off x="6881914" y="5303520"/>
            <a:ext cx="219456" cy="219456"/>
          </a:xfrm>
          <a:prstGeom prst="diamond">
            <a:avLst/>
          </a:prstGeom>
          <a:solidFill>
            <a:srgbClr val="E39B2D"/>
          </a:solidFill>
          <a:ln w="12700">
            <a:solidFill>
              <a:srgbClr val="E39B2D"/>
            </a:solidFill>
            <a:prstDash val="solid"/>
          </a:ln>
        </p:spPr>
      </p:sp>
      <p:sp>
        <p:nvSpPr>
          <p:cNvPr id="29" name="Text 27"/>
          <p:cNvSpPr txBox="1"/>
          <p:nvPr/>
        </p:nvSpPr>
        <p:spPr>
          <a:xfrm>
            <a:off x="6077242" y="5852160"/>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30" name="Shape 28"/>
          <p:cNvSpPr/>
          <p:nvPr/>
        </p:nvSpPr>
        <p:spPr>
          <a:xfrm>
            <a:off x="8697100" y="5303520"/>
            <a:ext cx="219456" cy="219456"/>
          </a:xfrm>
          <a:prstGeom prst="diamond">
            <a:avLst/>
          </a:prstGeom>
          <a:solidFill>
            <a:srgbClr val="E39B2D"/>
          </a:solidFill>
          <a:ln w="12700">
            <a:solidFill>
              <a:srgbClr val="E39B2D"/>
            </a:solidFill>
            <a:prstDash val="solid"/>
          </a:ln>
        </p:spPr>
      </p:sp>
      <p:sp>
        <p:nvSpPr>
          <p:cNvPr id="31" name="Text 29"/>
          <p:cNvSpPr txBox="1"/>
          <p:nvPr/>
        </p:nvSpPr>
        <p:spPr>
          <a:xfrm>
            <a:off x="7892428"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2" name="Shape 30"/>
          <p:cNvSpPr/>
          <p:nvPr/>
        </p:nvSpPr>
        <p:spPr>
          <a:xfrm>
            <a:off x="9831591" y="5303520"/>
            <a:ext cx="219456" cy="219456"/>
          </a:xfrm>
          <a:prstGeom prst="diamond">
            <a:avLst/>
          </a:prstGeom>
          <a:solidFill>
            <a:srgbClr val="E39B2D"/>
          </a:solidFill>
          <a:ln w="12700">
            <a:solidFill>
              <a:srgbClr val="E39B2D"/>
            </a:solidFill>
            <a:prstDash val="solid"/>
          </a:ln>
        </p:spPr>
      </p:sp>
      <p:sp>
        <p:nvSpPr>
          <p:cNvPr id="33" name="Text 31"/>
          <p:cNvSpPr txBox="1"/>
          <p:nvPr/>
        </p:nvSpPr>
        <p:spPr>
          <a:xfrm>
            <a:off x="9026919" y="5852160"/>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4" name="Shape 32"/>
          <p:cNvSpPr/>
          <p:nvPr/>
        </p:nvSpPr>
        <p:spPr>
          <a:xfrm>
            <a:off x="10966082" y="5303520"/>
            <a:ext cx="219456" cy="219456"/>
          </a:xfrm>
          <a:prstGeom prst="diamond">
            <a:avLst/>
          </a:prstGeom>
          <a:solidFill>
            <a:srgbClr val="E39B2D"/>
          </a:solidFill>
          <a:ln w="12700">
            <a:solidFill>
              <a:srgbClr val="E39B2D"/>
            </a:solidFill>
            <a:prstDash val="solid"/>
          </a:ln>
        </p:spPr>
      </p:sp>
      <p:sp>
        <p:nvSpPr>
          <p:cNvPr id="35" name="Text 33"/>
          <p:cNvSpPr txBox="1"/>
          <p:nvPr/>
        </p:nvSpPr>
        <p:spPr>
          <a:xfrm>
            <a:off x="10161410" y="5559552"/>
            <a:ext cx="1828800" cy="274320"/>
          </a:xfrm>
          <a:prstGeom prst="rect">
            <a:avLst/>
          </a:prstGeom>
          <a:noFill/>
          <a:ln/>
        </p:spPr>
        <p:txBody>
          <a:bodyPr wrap="square" lIns="0" tIns="0" rIns="0" bIns="0" rtlCol="0" anchor="t"/>
          <a:lstStyle/>
          <a:p>
            <a:pPr algn="ctr" indent="0" marL="0">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6" name="Text 34"/>
          <p:cNvSpPr txBox="1"/>
          <p:nvPr/>
        </p:nvSpPr>
        <p:spPr>
          <a:xfrm>
            <a:off x="548640" y="5266944"/>
            <a:ext cx="2834640" cy="292608"/>
          </a:xfrm>
          <a:prstGeom prst="rect">
            <a:avLst/>
          </a:prstGeom>
          <a:noFill/>
          <a:ln/>
        </p:spPr>
        <p:txBody>
          <a:bodyPr wrap="square" lIns="0" tIns="0" rIns="0" bIns="0" rtlCol="0" anchor="t"/>
          <a:lstStyle/>
          <a:p>
            <a:pPr indent="0" marL="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E39B2D"/>
                </a:solidFill>
                <a:latin typeface="Calibri" pitchFamily="34" charset="0"/>
                <a:ea typeface="Calibri" pitchFamily="34" charset="-122"/>
                <a:cs typeface="Calibri" pitchFamily="34" charset="-120"/>
              </a:rPr>
              <a:t>PART C · CONTRIBUTIONS</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4" name="Shape 2"/>
          <p:cNvSpPr/>
          <p:nvPr/>
        </p:nvSpPr>
        <p:spPr>
          <a:xfrm>
            <a:off x="548640" y="1435608"/>
            <a:ext cx="640080" cy="640080"/>
          </a:xfrm>
          <a:prstGeom prst="ellipse">
            <a:avLst/>
          </a:prstGeom>
          <a:solidFill>
            <a:srgbClr val="0F8B8D"/>
          </a:solidFill>
          <a:ln w="12700">
            <a:solidFill>
              <a:srgbClr val="0F8B8D"/>
            </a:solidFill>
            <a:prstDash val="solid"/>
          </a:ln>
        </p:spPr>
      </p:sp>
      <p:pic>
        <p:nvPicPr>
          <p:cNvPr id="5" name="Image 0" descr="preencoded.png">    </p:cNvPr>
          <p:cNvPicPr>
            <a:picLocks noChangeAspect="1"/>
          </p:cNvPicPr>
          <p:nvPr/>
        </p:nvPicPr>
        <p:blipFill>
          <a:blip r:embed="rId1"/>
          <a:stretch>
            <a:fillRect/>
          </a:stretch>
        </p:blipFill>
        <p:spPr>
          <a:xfrm>
            <a:off x="708660" y="1595628"/>
            <a:ext cx="320040" cy="320040"/>
          </a:xfrm>
          <a:prstGeom prst="rect">
            <a:avLst/>
          </a:prstGeom>
        </p:spPr>
      </p:pic>
      <p:sp>
        <p:nvSpPr>
          <p:cNvPr id="6" name="Text 3"/>
          <p:cNvSpPr txBox="1"/>
          <p:nvPr/>
        </p:nvSpPr>
        <p:spPr>
          <a:xfrm>
            <a:off x="1417320" y="1399032"/>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7" name="Text 4"/>
          <p:cNvSpPr txBox="1"/>
          <p:nvPr/>
        </p:nvSpPr>
        <p:spPr>
          <a:xfrm>
            <a:off x="3200400" y="1399032"/>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starting from behaviour agreement (behavioural entropy) for executable CPS tests</a:t>
            </a:r>
            <a:endParaRPr lang="en-US" sz="1400" dirty="0"/>
          </a:p>
        </p:txBody>
      </p:sp>
      <p:sp>
        <p:nvSpPr>
          <p:cNvPr id="8" name="Shape 5"/>
          <p:cNvSpPr/>
          <p:nvPr/>
        </p:nvSpPr>
        <p:spPr>
          <a:xfrm>
            <a:off x="548640" y="2423160"/>
            <a:ext cx="640080" cy="640080"/>
          </a:xfrm>
          <a:prstGeom prst="ellipse">
            <a:avLst/>
          </a:prstGeom>
          <a:solidFill>
            <a:srgbClr val="3567C8"/>
          </a:solidFill>
          <a:ln w="12700">
            <a:solidFill>
              <a:srgbClr val="3567C8"/>
            </a:solidFill>
            <a:prstDash val="solid"/>
          </a:ln>
        </p:spPr>
      </p:sp>
      <p:pic>
        <p:nvPicPr>
          <p:cNvPr id="9" name="Image 1" descr="preencoded.png">    </p:cNvPr>
          <p:cNvPicPr>
            <a:picLocks noChangeAspect="1"/>
          </p:cNvPicPr>
          <p:nvPr/>
        </p:nvPicPr>
        <p:blipFill>
          <a:blip r:embed="rId2"/>
          <a:stretch>
            <a:fillRect/>
          </a:stretch>
        </p:blipFill>
        <p:spPr>
          <a:xfrm>
            <a:off x="708660" y="2583180"/>
            <a:ext cx="320040" cy="320040"/>
          </a:xfrm>
          <a:prstGeom prst="rect">
            <a:avLst/>
          </a:prstGeom>
        </p:spPr>
      </p:pic>
      <p:sp>
        <p:nvSpPr>
          <p:cNvPr id="10" name="Text 6"/>
          <p:cNvSpPr txBox="1"/>
          <p:nvPr/>
        </p:nvSpPr>
        <p:spPr>
          <a:xfrm>
            <a:off x="1417320" y="2386584"/>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1" name="Text 7"/>
          <p:cNvSpPr txBox="1"/>
          <p:nvPr/>
        </p:nvSpPr>
        <p:spPr>
          <a:xfrm>
            <a:off x="3200400" y="2386584"/>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2" name="Shape 8"/>
          <p:cNvSpPr/>
          <p:nvPr/>
        </p:nvSpPr>
        <p:spPr>
          <a:xfrm>
            <a:off x="548640" y="3410712"/>
            <a:ext cx="640080" cy="640080"/>
          </a:xfrm>
          <a:prstGeom prst="ellipse">
            <a:avLst/>
          </a:prstGeom>
          <a:solidFill>
            <a:srgbClr val="E39B2D"/>
          </a:solidFill>
          <a:ln w="12700">
            <a:solidFill>
              <a:srgbClr val="E39B2D"/>
            </a:solidFill>
            <a:prstDash val="solid"/>
          </a:ln>
        </p:spPr>
      </p:sp>
      <p:pic>
        <p:nvPicPr>
          <p:cNvPr id="13" name="Image 2" descr="preencoded.png">    </p:cNvPr>
          <p:cNvPicPr>
            <a:picLocks noChangeAspect="1"/>
          </p:cNvPicPr>
          <p:nvPr/>
        </p:nvPicPr>
        <p:blipFill>
          <a:blip r:embed="rId3"/>
          <a:stretch>
            <a:fillRect/>
          </a:stretch>
        </p:blipFill>
        <p:spPr>
          <a:xfrm>
            <a:off x="708660" y="3570732"/>
            <a:ext cx="320040" cy="320040"/>
          </a:xfrm>
          <a:prstGeom prst="rect">
            <a:avLst/>
          </a:prstGeom>
        </p:spPr>
      </p:pic>
      <p:sp>
        <p:nvSpPr>
          <p:cNvPr id="14" name="Text 9"/>
          <p:cNvSpPr txBox="1"/>
          <p:nvPr/>
        </p:nvSpPr>
        <p:spPr>
          <a:xfrm>
            <a:off x="1417320" y="3374136"/>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5" name="Text 10"/>
          <p:cNvSpPr txBox="1"/>
          <p:nvPr/>
        </p:nvSpPr>
        <p:spPr>
          <a:xfrm>
            <a:off x="3200400" y="3374136"/>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6" name="Shape 11"/>
          <p:cNvSpPr/>
          <p:nvPr/>
        </p:nvSpPr>
        <p:spPr>
          <a:xfrm>
            <a:off x="548640" y="4398264"/>
            <a:ext cx="640080" cy="640080"/>
          </a:xfrm>
          <a:prstGeom prst="ellipse">
            <a:avLst/>
          </a:prstGeom>
          <a:solidFill>
            <a:srgbClr val="6E56CF"/>
          </a:solidFill>
          <a:ln w="12700">
            <a:solidFill>
              <a:srgbClr val="6E56CF"/>
            </a:solidFill>
            <a:prstDash val="solid"/>
          </a:ln>
        </p:spPr>
      </p:sp>
      <p:pic>
        <p:nvPicPr>
          <p:cNvPr id="17" name="Image 3" descr="preencoded.png">    </p:cNvPr>
          <p:cNvPicPr>
            <a:picLocks noChangeAspect="1"/>
          </p:cNvPicPr>
          <p:nvPr/>
        </p:nvPicPr>
        <p:blipFill>
          <a:blip r:embed="rId4"/>
          <a:stretch>
            <a:fillRect/>
          </a:stretch>
        </p:blipFill>
        <p:spPr>
          <a:xfrm>
            <a:off x="708660" y="4558284"/>
            <a:ext cx="320040" cy="320040"/>
          </a:xfrm>
          <a:prstGeom prst="rect">
            <a:avLst/>
          </a:prstGeom>
        </p:spPr>
      </p:pic>
      <p:sp>
        <p:nvSpPr>
          <p:cNvPr id="18" name="Text 12"/>
          <p:cNvSpPr txBox="1"/>
          <p:nvPr/>
        </p:nvSpPr>
        <p:spPr>
          <a:xfrm>
            <a:off x="1417320" y="4361688"/>
            <a:ext cx="1828800" cy="731520"/>
          </a:xfrm>
          <a:prstGeom prst="rect">
            <a:avLst/>
          </a:prstGeom>
          <a:noFill/>
          <a:ln/>
        </p:spPr>
        <p:txBody>
          <a:bodyPr wrap="square" lIns="0" tIns="0" rIns="0" bIns="0" rtlCol="0" anchor="ctr"/>
          <a:lstStyle/>
          <a:p>
            <a:pPr indent="0" marL="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9" name="Text 13"/>
          <p:cNvSpPr txBox="1"/>
          <p:nvPr/>
        </p:nvSpPr>
        <p:spPr>
          <a:xfrm>
            <a:off x="3200400" y="4361688"/>
            <a:ext cx="4023360" cy="731520"/>
          </a:xfrm>
          <a:prstGeom prst="rect">
            <a:avLst/>
          </a:prstGeom>
          <a:noFill/>
          <a:ln/>
        </p:spPr>
        <p:txBody>
          <a:bodyPr wrap="square" lIns="0" tIns="0" rIns="0" bIns="0" rtlCol="0" anchor="ctr"/>
          <a:lstStyle/>
          <a:p>
            <a:pPr indent="0" marL="0">
              <a:buNone/>
            </a:pPr>
            <a:r>
              <a:rPr lang="en-US" sz="1400" dirty="0">
                <a:solidFill>
                  <a:srgbClr val="1E2533"/>
                </a:solidFill>
                <a:latin typeface="Calibri" pitchFamily="34" charset="0"/>
                <a:ea typeface="Calibri" pitchFamily="34" charset="-122"/>
                <a:cs typeface="Calibri" pitchFamily="34" charset="-120"/>
              </a:rPr>
              <a:t>Open benchmark, both tools and replication packages; integration with the InnoGuard platform</a:t>
            </a:r>
            <a:endParaRPr lang="en-US" sz="1400" dirty="0"/>
          </a:p>
        </p:txBody>
      </p:sp>
      <p:sp>
        <p:nvSpPr>
          <p:cNvPr id="20" name="Shape 14"/>
          <p:cNvSpPr/>
          <p:nvPr/>
        </p:nvSpPr>
        <p:spPr>
          <a:xfrm>
            <a:off x="7406640" y="1325880"/>
            <a:ext cx="4233672" cy="3931920"/>
          </a:xfrm>
          <a:prstGeom prst="roundRect">
            <a:avLst>
              <a:gd name="adj" fmla="val 2791"/>
            </a:avLst>
          </a:prstGeom>
          <a:solidFill>
            <a:srgbClr val="F2F5F9"/>
          </a:solidFill>
          <a:ln w="12700">
            <a:solidFill>
              <a:srgbClr val="F2F5F9"/>
            </a:solidFill>
            <a:prstDash val="solid"/>
          </a:ln>
        </p:spPr>
      </p:sp>
      <p:sp>
        <p:nvSpPr>
          <p:cNvPr id="21" name="Text 15"/>
          <p:cNvSpPr txBox="1"/>
          <p:nvPr/>
        </p:nvSpPr>
        <p:spPr>
          <a:xfrm>
            <a:off x="7635240" y="1490472"/>
            <a:ext cx="384048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2" name="Text 16"/>
          <p:cNvSpPr txBox="1"/>
          <p:nvPr/>
        </p:nvSpPr>
        <p:spPr>
          <a:xfrm>
            <a:off x="7635240" y="1920240"/>
            <a:ext cx="38404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3" name="Text 17"/>
          <p:cNvSpPr txBox="1"/>
          <p:nvPr/>
        </p:nvSpPr>
        <p:spPr>
          <a:xfrm>
            <a:off x="548640" y="5669280"/>
            <a:ext cx="11094415" cy="75895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[11] S. Ali et al., “Foundation models for the digital twins creation of cyber-physical systems,” Proc. ISoLA 2024, 2025.</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2E8B57"/>
                </a:solidFill>
                <a:latin typeface="Calibri" pitchFamily="34" charset="0"/>
                <a:ea typeface="Calibri" pitchFamily="34" charset="-122"/>
                <a:cs typeface="Calibri" pitchFamily="34" charset="-120"/>
              </a:rPr>
              <a:t>PART D · MY BACKGROUND</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4" name="Shape 2"/>
          <p:cNvSpPr/>
          <p:nvPr/>
        </p:nvSpPr>
        <p:spPr>
          <a:xfrm>
            <a:off x="1658082" y="2121408"/>
            <a:ext cx="8875532" cy="0"/>
          </a:xfrm>
          <a:prstGeom prst="line">
            <a:avLst/>
          </a:prstGeom>
          <a:noFill/>
          <a:ln w="25400">
            <a:solidFill>
              <a:srgbClr val="DDE3EC"/>
            </a:solidFill>
            <a:prstDash val="solid"/>
          </a:ln>
        </p:spPr>
      </p:sp>
      <p:sp>
        <p:nvSpPr>
          <p:cNvPr id="5" name="Shape 3"/>
          <p:cNvSpPr/>
          <p:nvPr/>
        </p:nvSpPr>
        <p:spPr>
          <a:xfrm>
            <a:off x="1365474" y="1828800"/>
            <a:ext cx="585216" cy="585216"/>
          </a:xfrm>
          <a:prstGeom prst="ellipse">
            <a:avLst/>
          </a:prstGeom>
          <a:solidFill>
            <a:srgbClr val="5B6578"/>
          </a:solidFill>
          <a:ln w="12700">
            <a:solidFill>
              <a:srgbClr val="5B6578"/>
            </a:solidFill>
            <a:prstDash val="solid"/>
          </a:ln>
        </p:spPr>
      </p:sp>
      <p:pic>
        <p:nvPicPr>
          <p:cNvPr id="6" name="Image 0" descr="preencoded.png">    </p:cNvPr>
          <p:cNvPicPr>
            <a:picLocks noChangeAspect="1"/>
          </p:cNvPicPr>
          <p:nvPr/>
        </p:nvPicPr>
        <p:blipFill>
          <a:blip r:embed="rId1"/>
          <a:stretch>
            <a:fillRect/>
          </a:stretch>
        </p:blipFill>
        <p:spPr>
          <a:xfrm>
            <a:off x="1511778" y="1975104"/>
            <a:ext cx="292608" cy="292608"/>
          </a:xfrm>
          <a:prstGeom prst="rect">
            <a:avLst/>
          </a:prstGeom>
        </p:spPr>
      </p:pic>
      <p:sp>
        <p:nvSpPr>
          <p:cNvPr id="7" name="Text 4"/>
          <p:cNvSpPr txBox="1"/>
          <p:nvPr/>
        </p:nvSpPr>
        <p:spPr>
          <a:xfrm>
            <a:off x="548640" y="2542032"/>
            <a:ext cx="2218883" cy="320040"/>
          </a:xfrm>
          <a:prstGeom prst="rect">
            <a:avLst/>
          </a:prstGeom>
          <a:noFill/>
          <a:ln/>
        </p:spPr>
        <p:txBody>
          <a:bodyPr wrap="square" lIns="0" tIns="0" rIns="0" bIns="0" rtlCol="0" anchor="t"/>
          <a:lstStyle/>
          <a:p>
            <a:pPr algn="ctr" indent="0" marL="0">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8" name="Text 5"/>
          <p:cNvSpPr txBox="1"/>
          <p:nvPr/>
        </p:nvSpPr>
        <p:spPr>
          <a:xfrm>
            <a:off x="621792"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9" name="Text 6"/>
          <p:cNvSpPr txBox="1"/>
          <p:nvPr/>
        </p:nvSpPr>
        <p:spPr>
          <a:xfrm>
            <a:off x="640080"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10" name="Shape 7"/>
          <p:cNvSpPr/>
          <p:nvPr/>
        </p:nvSpPr>
        <p:spPr>
          <a:xfrm>
            <a:off x="3584357" y="1828800"/>
            <a:ext cx="585216" cy="585216"/>
          </a:xfrm>
          <a:prstGeom prst="ellipse">
            <a:avLst/>
          </a:prstGeom>
          <a:solidFill>
            <a:srgbClr val="5B6578"/>
          </a:solidFill>
          <a:ln w="12700">
            <a:solidFill>
              <a:srgbClr val="5B6578"/>
            </a:solidFill>
            <a:prstDash val="solid"/>
          </a:ln>
        </p:spPr>
      </p:sp>
      <p:pic>
        <p:nvPicPr>
          <p:cNvPr id="11" name="Image 1" descr="preencoded.png">    </p:cNvPr>
          <p:cNvPicPr>
            <a:picLocks noChangeAspect="1"/>
          </p:cNvPicPr>
          <p:nvPr/>
        </p:nvPicPr>
        <p:blipFill>
          <a:blip r:embed="rId2"/>
          <a:stretch>
            <a:fillRect/>
          </a:stretch>
        </p:blipFill>
        <p:spPr>
          <a:xfrm>
            <a:off x="3730661" y="1975104"/>
            <a:ext cx="292608" cy="292608"/>
          </a:xfrm>
          <a:prstGeom prst="rect">
            <a:avLst/>
          </a:prstGeom>
        </p:spPr>
      </p:pic>
      <p:sp>
        <p:nvSpPr>
          <p:cNvPr id="12" name="Text 8"/>
          <p:cNvSpPr txBox="1"/>
          <p:nvPr/>
        </p:nvSpPr>
        <p:spPr>
          <a:xfrm>
            <a:off x="2767523" y="2542032"/>
            <a:ext cx="2218883" cy="320040"/>
          </a:xfrm>
          <a:prstGeom prst="rect">
            <a:avLst/>
          </a:prstGeom>
          <a:noFill/>
          <a:ln/>
        </p:spPr>
        <p:txBody>
          <a:bodyPr wrap="square" lIns="0" tIns="0" rIns="0" bIns="0" rtlCol="0" anchor="t"/>
          <a:lstStyle/>
          <a:p>
            <a:pPr algn="ctr" indent="0" marL="0">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3" name="Text 9"/>
          <p:cNvSpPr txBox="1"/>
          <p:nvPr/>
        </p:nvSpPr>
        <p:spPr>
          <a:xfrm>
            <a:off x="2840675"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4" name="Text 10"/>
          <p:cNvSpPr txBox="1"/>
          <p:nvPr/>
        </p:nvSpPr>
        <p:spPr>
          <a:xfrm>
            <a:off x="2858963"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5" name="Shape 11"/>
          <p:cNvSpPr/>
          <p:nvPr/>
        </p:nvSpPr>
        <p:spPr>
          <a:xfrm>
            <a:off x="5803240" y="1828800"/>
            <a:ext cx="585216" cy="585216"/>
          </a:xfrm>
          <a:prstGeom prst="ellipse">
            <a:avLst/>
          </a:prstGeom>
          <a:solidFill>
            <a:srgbClr val="3567C8"/>
          </a:solidFill>
          <a:ln w="12700">
            <a:solidFill>
              <a:srgbClr val="3567C8"/>
            </a:solidFill>
            <a:prstDash val="solid"/>
          </a:ln>
        </p:spPr>
      </p:sp>
      <p:pic>
        <p:nvPicPr>
          <p:cNvPr id="16" name="Image 2" descr="preencoded.png">    </p:cNvPr>
          <p:cNvPicPr>
            <a:picLocks noChangeAspect="1"/>
          </p:cNvPicPr>
          <p:nvPr/>
        </p:nvPicPr>
        <p:blipFill>
          <a:blip r:embed="rId3"/>
          <a:stretch>
            <a:fillRect/>
          </a:stretch>
        </p:blipFill>
        <p:spPr>
          <a:xfrm>
            <a:off x="5949544" y="1975104"/>
            <a:ext cx="292608" cy="292608"/>
          </a:xfrm>
          <a:prstGeom prst="rect">
            <a:avLst/>
          </a:prstGeom>
        </p:spPr>
      </p:pic>
      <p:sp>
        <p:nvSpPr>
          <p:cNvPr id="17" name="Text 12"/>
          <p:cNvSpPr txBox="1"/>
          <p:nvPr/>
        </p:nvSpPr>
        <p:spPr>
          <a:xfrm>
            <a:off x="4986406" y="2542032"/>
            <a:ext cx="2218883" cy="320040"/>
          </a:xfrm>
          <a:prstGeom prst="rect">
            <a:avLst/>
          </a:prstGeom>
          <a:noFill/>
          <a:ln/>
        </p:spPr>
        <p:txBody>
          <a:bodyPr wrap="square" lIns="0" tIns="0" rIns="0" bIns="0" rtlCol="0" anchor="t"/>
          <a:lstStyle/>
          <a:p>
            <a:pPr algn="ctr" indent="0" marL="0">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8" name="Text 13"/>
          <p:cNvSpPr txBox="1"/>
          <p:nvPr/>
        </p:nvSpPr>
        <p:spPr>
          <a:xfrm>
            <a:off x="5059558"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9" name="Text 14"/>
          <p:cNvSpPr txBox="1"/>
          <p:nvPr/>
        </p:nvSpPr>
        <p:spPr>
          <a:xfrm>
            <a:off x="5077846"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20" name="Shape 15"/>
          <p:cNvSpPr/>
          <p:nvPr/>
        </p:nvSpPr>
        <p:spPr>
          <a:xfrm>
            <a:off x="8022123" y="1828800"/>
            <a:ext cx="585216" cy="585216"/>
          </a:xfrm>
          <a:prstGeom prst="ellipse">
            <a:avLst/>
          </a:prstGeom>
          <a:solidFill>
            <a:srgbClr val="0F8B8D"/>
          </a:solidFill>
          <a:ln w="12700">
            <a:solidFill>
              <a:srgbClr val="0F8B8D"/>
            </a:solidFill>
            <a:prstDash val="solid"/>
          </a:ln>
        </p:spPr>
      </p:sp>
      <p:pic>
        <p:nvPicPr>
          <p:cNvPr id="21" name="Image 3" descr="preencoded.png">    </p:cNvPr>
          <p:cNvPicPr>
            <a:picLocks noChangeAspect="1"/>
          </p:cNvPicPr>
          <p:nvPr/>
        </p:nvPicPr>
        <p:blipFill>
          <a:blip r:embed="rId4"/>
          <a:stretch>
            <a:fillRect/>
          </a:stretch>
        </p:blipFill>
        <p:spPr>
          <a:xfrm>
            <a:off x="8168427" y="1975104"/>
            <a:ext cx="292608" cy="292608"/>
          </a:xfrm>
          <a:prstGeom prst="rect">
            <a:avLst/>
          </a:prstGeom>
        </p:spPr>
      </p:pic>
      <p:sp>
        <p:nvSpPr>
          <p:cNvPr id="22" name="Text 16"/>
          <p:cNvSpPr txBox="1"/>
          <p:nvPr/>
        </p:nvSpPr>
        <p:spPr>
          <a:xfrm>
            <a:off x="7205289" y="2542032"/>
            <a:ext cx="2218883" cy="320040"/>
          </a:xfrm>
          <a:prstGeom prst="rect">
            <a:avLst/>
          </a:prstGeom>
          <a:noFill/>
          <a:ln/>
        </p:spPr>
        <p:txBody>
          <a:bodyPr wrap="square" lIns="0" tIns="0" rIns="0" bIns="0" rtlCol="0" anchor="t"/>
          <a:lstStyle/>
          <a:p>
            <a:pPr algn="ctr" indent="0" marL="0">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3" name="Text 17"/>
          <p:cNvSpPr txBox="1"/>
          <p:nvPr/>
        </p:nvSpPr>
        <p:spPr>
          <a:xfrm>
            <a:off x="7278441"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4" name="Text 18"/>
          <p:cNvSpPr txBox="1"/>
          <p:nvPr/>
        </p:nvSpPr>
        <p:spPr>
          <a:xfrm>
            <a:off x="7296729"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5" name="Shape 19"/>
          <p:cNvSpPr/>
          <p:nvPr/>
        </p:nvSpPr>
        <p:spPr>
          <a:xfrm>
            <a:off x="10241006" y="1828800"/>
            <a:ext cx="585216" cy="585216"/>
          </a:xfrm>
          <a:prstGeom prst="ellipse">
            <a:avLst/>
          </a:prstGeom>
          <a:solidFill>
            <a:srgbClr val="E39B2D"/>
          </a:solidFill>
          <a:ln w="12700">
            <a:solidFill>
              <a:srgbClr val="E39B2D"/>
            </a:solidFill>
            <a:prstDash val="solid"/>
          </a:ln>
        </p:spPr>
      </p:sp>
      <p:pic>
        <p:nvPicPr>
          <p:cNvPr id="26" name="Image 4" descr="preencoded.png">    </p:cNvPr>
          <p:cNvPicPr>
            <a:picLocks noChangeAspect="1"/>
          </p:cNvPicPr>
          <p:nvPr/>
        </p:nvPicPr>
        <p:blipFill>
          <a:blip r:embed="rId5"/>
          <a:stretch>
            <a:fillRect/>
          </a:stretch>
        </p:blipFill>
        <p:spPr>
          <a:xfrm>
            <a:off x="10387310" y="1975104"/>
            <a:ext cx="292608" cy="292608"/>
          </a:xfrm>
          <a:prstGeom prst="rect">
            <a:avLst/>
          </a:prstGeom>
        </p:spPr>
      </p:pic>
      <p:sp>
        <p:nvSpPr>
          <p:cNvPr id="27" name="Text 20"/>
          <p:cNvSpPr txBox="1"/>
          <p:nvPr/>
        </p:nvSpPr>
        <p:spPr>
          <a:xfrm>
            <a:off x="9424172" y="2542032"/>
            <a:ext cx="2218883" cy="320040"/>
          </a:xfrm>
          <a:prstGeom prst="rect">
            <a:avLst/>
          </a:prstGeom>
          <a:noFill/>
          <a:ln/>
        </p:spPr>
        <p:txBody>
          <a:bodyPr wrap="square" lIns="0" tIns="0" rIns="0" bIns="0" rtlCol="0" anchor="t"/>
          <a:lstStyle/>
          <a:p>
            <a:pPr algn="ctr" indent="0" marL="0">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8" name="Text 21"/>
          <p:cNvSpPr txBox="1"/>
          <p:nvPr/>
        </p:nvSpPr>
        <p:spPr>
          <a:xfrm>
            <a:off x="9497324" y="2852928"/>
            <a:ext cx="2072579" cy="566928"/>
          </a:xfrm>
          <a:prstGeom prst="rect">
            <a:avLst/>
          </a:prstGeom>
          <a:noFill/>
          <a:ln/>
        </p:spPr>
        <p:txBody>
          <a:bodyPr wrap="square" lIns="0" tIns="0" rIns="0" bIns="0" rtlCol="0" anchor="t"/>
          <a:lstStyle/>
          <a:p>
            <a:pPr algn="ctr" indent="0" marL="0">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9" name="Text 22"/>
          <p:cNvSpPr txBox="1"/>
          <p:nvPr/>
        </p:nvSpPr>
        <p:spPr>
          <a:xfrm>
            <a:off x="9515612" y="3419856"/>
            <a:ext cx="2036003" cy="868680"/>
          </a:xfrm>
          <a:prstGeom prst="rect">
            <a:avLst/>
          </a:prstGeom>
          <a:noFill/>
          <a:ln/>
        </p:spPr>
        <p:txBody>
          <a:bodyPr wrap="square" lIns="0" tIns="0" rIns="0" bIns="0" rtlCol="0" anchor="t"/>
          <a:lstStyle/>
          <a:p>
            <a:pPr algn="ctr" indent="0" marL="0">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30" name="Shape 23"/>
          <p:cNvSpPr/>
          <p:nvPr/>
        </p:nvSpPr>
        <p:spPr>
          <a:xfrm>
            <a:off x="548640" y="4617720"/>
            <a:ext cx="11094415" cy="1234440"/>
          </a:xfrm>
          <a:prstGeom prst="roundRect">
            <a:avLst>
              <a:gd name="adj" fmla="val 8889"/>
            </a:avLst>
          </a:prstGeom>
          <a:solidFill>
            <a:srgbClr val="F2F5F9"/>
          </a:solidFill>
          <a:ln w="12700">
            <a:solidFill>
              <a:srgbClr val="F2F5F9"/>
            </a:solidFill>
            <a:prstDash val="solid"/>
          </a:ln>
        </p:spPr>
      </p:sp>
      <p:sp>
        <p:nvSpPr>
          <p:cNvPr id="31" name="Text 24"/>
          <p:cNvSpPr txBox="1"/>
          <p:nvPr/>
        </p:nvSpPr>
        <p:spPr>
          <a:xfrm>
            <a:off x="822960" y="4782312"/>
            <a:ext cx="10545775" cy="914400"/>
          </a:xfrm>
          <a:prstGeom prst="rect">
            <a:avLst/>
          </a:prstGeom>
          <a:noFill/>
          <a:ln/>
        </p:spPr>
        <p:txBody>
          <a:bodyPr wrap="square" lIns="0" tIns="0" rIns="0" bIns="0" rtlCol="0" anchor="ctr"/>
          <a:lstStyle/>
          <a:p>
            <a:pPr indent="0" marL="0">
              <a:spcAft>
                <a:spcPts val="600"/>
              </a:spcAft>
              <a:buNone/>
            </a:pPr>
            <a:r>
              <a:rPr lang="en-US" sz="1400" b="1" dirty="0">
                <a:solidFill>
                  <a:srgbClr val="0F8B8D"/>
                </a:solidFill>
                <a:latin typeface="Calibri" pitchFamily="34" charset="0"/>
                <a:ea typeface="Calibri" pitchFamily="34" charset="-122"/>
                <a:cs typeface="Calibri" pitchFamily="34" charset="-120"/>
              </a:rPr>
              <a:t>Thesis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indent="0" marL="0">
              <a:spcAft>
                <a:spcPts val="600"/>
              </a:spcAft>
              <a:buNone/>
            </a:pPr>
            <a:r>
              <a:rPr lang="en-US" sz="1400" b="1" dirty="0">
                <a:solidFill>
                  <a:srgbClr val="0F8B8D"/>
                </a:solidFill>
                <a:latin typeface="Calibri" pitchFamily="34" charset="0"/>
                <a:ea typeface="Calibri" pitchFamily="34" charset="-122"/>
                <a:cs typeface="Calibri" pitchFamily="34" charset="-120"/>
              </a:rPr>
              <a:t>Papers  </a:t>
            </a:r>
            <a:pPr indent="0" marL="0">
              <a:spcAft>
                <a:spcPts val="600"/>
              </a:spcAft>
              <a:buNone/>
            </a:pP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indent="0" marL="0">
              <a:buNone/>
            </a:pPr>
            <a:r>
              <a:rPr lang="en-US" sz="1100" b="1" spc="100" kern="0" dirty="0">
                <a:solidFill>
                  <a:srgbClr val="2E8B57"/>
                </a:solidFill>
                <a:latin typeface="Calibri" pitchFamily="34" charset="0"/>
                <a:ea typeface="Calibri" pitchFamily="34" charset="-122"/>
                <a:cs typeface="Calibri" pitchFamily="34" charset="-120"/>
              </a:rPr>
              <a:t>PART D · WHAT I BRING</a:t>
            </a:r>
            <a:endParaRPr lang="en-US" sz="1100" dirty="0"/>
          </a:p>
        </p:txBody>
      </p:sp>
      <p:sp>
        <p:nvSpPr>
          <p:cNvPr id="3"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What I bring, and why this team</a:t>
            </a:r>
            <a:endParaRPr lang="en-US" sz="3000" dirty="0"/>
          </a:p>
        </p:txBody>
      </p:sp>
      <p:sp>
        <p:nvSpPr>
          <p:cNvPr id="4" name="Shape 2"/>
          <p:cNvSpPr/>
          <p:nvPr/>
        </p:nvSpPr>
        <p:spPr>
          <a:xfrm>
            <a:off x="548640" y="1325880"/>
            <a:ext cx="3611880" cy="1920240"/>
          </a:xfrm>
          <a:prstGeom prst="roundRect">
            <a:avLst>
              <a:gd name="adj" fmla="val 5714"/>
            </a:avLst>
          </a:prstGeom>
          <a:solidFill>
            <a:srgbClr val="F2F5F9"/>
          </a:solidFill>
          <a:ln w="12700">
            <a:solidFill>
              <a:srgbClr val="F2F5F9"/>
            </a:solidFill>
            <a:prstDash val="solid"/>
          </a:ln>
        </p:spPr>
      </p:sp>
      <p:sp>
        <p:nvSpPr>
          <p:cNvPr id="5" name="Shape 3"/>
          <p:cNvSpPr/>
          <p:nvPr/>
        </p:nvSpPr>
        <p:spPr>
          <a:xfrm>
            <a:off x="777240" y="1554480"/>
            <a:ext cx="548640" cy="548640"/>
          </a:xfrm>
          <a:prstGeom prst="ellipse">
            <a:avLst/>
          </a:prstGeom>
          <a:solidFill>
            <a:srgbClr val="3567C8"/>
          </a:solidFill>
          <a:ln w="12700">
            <a:solidFill>
              <a:srgbClr val="3567C8"/>
            </a:solidFill>
            <a:prstDash val="solid"/>
          </a:ln>
        </p:spPr>
      </p:sp>
      <p:pic>
        <p:nvPicPr>
          <p:cNvPr id="6" name="Image 0" descr="preencoded.png">    </p:cNvPr>
          <p:cNvPicPr>
            <a:picLocks noChangeAspect="1"/>
          </p:cNvPicPr>
          <p:nvPr/>
        </p:nvPicPr>
        <p:blipFill>
          <a:blip r:embed="rId1"/>
          <a:stretch>
            <a:fillRect/>
          </a:stretch>
        </p:blipFill>
        <p:spPr>
          <a:xfrm>
            <a:off x="914400" y="1691640"/>
            <a:ext cx="274320" cy="274320"/>
          </a:xfrm>
          <a:prstGeom prst="rect">
            <a:avLst/>
          </a:prstGeom>
        </p:spPr>
      </p:pic>
      <p:sp>
        <p:nvSpPr>
          <p:cNvPr id="7" name="Text 4"/>
          <p:cNvSpPr txBox="1"/>
          <p:nvPr/>
        </p:nvSpPr>
        <p:spPr>
          <a:xfrm>
            <a:off x="1463040" y="15270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Testing cyber-physical systems</a:t>
            </a:r>
            <a:endParaRPr lang="en-US" sz="1500" dirty="0"/>
          </a:p>
        </p:txBody>
      </p:sp>
      <p:sp>
        <p:nvSpPr>
          <p:cNvPr id="8" name="Text 5"/>
          <p:cNvSpPr txBox="1"/>
          <p:nvPr/>
        </p:nvSpPr>
        <p:spPr>
          <a:xfrm>
            <a:off x="777240" y="22219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Automotive ECU testing (CAN, CAPL, ETAS INCA); robotics (ROS/ROS2) and embedded domains</a:t>
            </a:r>
            <a:endParaRPr lang="en-US" sz="1300" dirty="0"/>
          </a:p>
        </p:txBody>
      </p:sp>
      <p:sp>
        <p:nvSpPr>
          <p:cNvPr id="9" name="Shape 6"/>
          <p:cNvSpPr/>
          <p:nvPr/>
        </p:nvSpPr>
        <p:spPr>
          <a:xfrm>
            <a:off x="4297680" y="1325880"/>
            <a:ext cx="3611880" cy="1920240"/>
          </a:xfrm>
          <a:prstGeom prst="roundRect">
            <a:avLst>
              <a:gd name="adj" fmla="val 5714"/>
            </a:avLst>
          </a:prstGeom>
          <a:solidFill>
            <a:srgbClr val="F2F5F9"/>
          </a:solidFill>
          <a:ln w="12700">
            <a:solidFill>
              <a:srgbClr val="F2F5F9"/>
            </a:solidFill>
            <a:prstDash val="solid"/>
          </a:ln>
        </p:spPr>
      </p:sp>
      <p:sp>
        <p:nvSpPr>
          <p:cNvPr id="10" name="Shape 7"/>
          <p:cNvSpPr/>
          <p:nvPr/>
        </p:nvSpPr>
        <p:spPr>
          <a:xfrm>
            <a:off x="4526280" y="1554480"/>
            <a:ext cx="548640" cy="548640"/>
          </a:xfrm>
          <a:prstGeom prst="ellipse">
            <a:avLst/>
          </a:prstGeom>
          <a:solidFill>
            <a:srgbClr val="0F8B8D"/>
          </a:solidFill>
          <a:ln w="12700">
            <a:solidFill>
              <a:srgbClr val="0F8B8D"/>
            </a:solidFill>
            <a:prstDash val="solid"/>
          </a:ln>
        </p:spPr>
      </p:sp>
      <p:pic>
        <p:nvPicPr>
          <p:cNvPr id="11" name="Image 1" descr="preencoded.png">    </p:cNvPr>
          <p:cNvPicPr>
            <a:picLocks noChangeAspect="1"/>
          </p:cNvPicPr>
          <p:nvPr/>
        </p:nvPicPr>
        <p:blipFill>
          <a:blip r:embed="rId2"/>
          <a:stretch>
            <a:fillRect/>
          </a:stretch>
        </p:blipFill>
        <p:spPr>
          <a:xfrm>
            <a:off x="4663440" y="1691640"/>
            <a:ext cx="274320" cy="274320"/>
          </a:xfrm>
          <a:prstGeom prst="rect">
            <a:avLst/>
          </a:prstGeom>
        </p:spPr>
      </p:pic>
      <p:sp>
        <p:nvSpPr>
          <p:cNvPr id="12" name="Text 8"/>
          <p:cNvSpPr txBox="1"/>
          <p:nvPr/>
        </p:nvSpPr>
        <p:spPr>
          <a:xfrm>
            <a:off x="5212080" y="15270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Verification research</a:t>
            </a:r>
            <a:endParaRPr lang="en-US" sz="1500" dirty="0"/>
          </a:p>
        </p:txBody>
      </p:sp>
      <p:sp>
        <p:nvSpPr>
          <p:cNvPr id="13" name="Text 9"/>
          <p:cNvSpPr txBox="1"/>
          <p:nvPr/>
        </p:nvSpPr>
        <p:spPr>
          <a:xfrm>
            <a:off x="4526280" y="22219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Falsification, function abstraction via active learning, property-based testing — close to robustness-guided falsification [14]</a:t>
            </a:r>
            <a:endParaRPr lang="en-US" sz="1300" dirty="0"/>
          </a:p>
        </p:txBody>
      </p:sp>
      <p:sp>
        <p:nvSpPr>
          <p:cNvPr id="14" name="Shape 10"/>
          <p:cNvSpPr/>
          <p:nvPr/>
        </p:nvSpPr>
        <p:spPr>
          <a:xfrm>
            <a:off x="548640" y="3383280"/>
            <a:ext cx="3611880" cy="1920240"/>
          </a:xfrm>
          <a:prstGeom prst="roundRect">
            <a:avLst>
              <a:gd name="adj" fmla="val 5714"/>
            </a:avLst>
          </a:prstGeom>
          <a:solidFill>
            <a:srgbClr val="F2F5F9"/>
          </a:solidFill>
          <a:ln w="12700">
            <a:solidFill>
              <a:srgbClr val="F2F5F9"/>
            </a:solidFill>
            <a:prstDash val="solid"/>
          </a:ln>
        </p:spPr>
      </p:sp>
      <p:sp>
        <p:nvSpPr>
          <p:cNvPr id="15" name="Shape 11"/>
          <p:cNvSpPr/>
          <p:nvPr/>
        </p:nvSpPr>
        <p:spPr>
          <a:xfrm>
            <a:off x="777240" y="3611880"/>
            <a:ext cx="548640" cy="548640"/>
          </a:xfrm>
          <a:prstGeom prst="ellipse">
            <a:avLst/>
          </a:prstGeom>
          <a:solidFill>
            <a:srgbClr val="E39B2D"/>
          </a:solidFill>
          <a:ln w="12700">
            <a:solidFill>
              <a:srgbClr val="E39B2D"/>
            </a:solidFill>
            <a:prstDash val="solid"/>
          </a:ln>
        </p:spPr>
      </p:sp>
      <p:pic>
        <p:nvPicPr>
          <p:cNvPr id="16" name="Image 2" descr="preencoded.png">    </p:cNvPr>
          <p:cNvPicPr>
            <a:picLocks noChangeAspect="1"/>
          </p:cNvPicPr>
          <p:nvPr/>
        </p:nvPicPr>
        <p:blipFill>
          <a:blip r:embed="rId3"/>
          <a:stretch>
            <a:fillRect/>
          </a:stretch>
        </p:blipFill>
        <p:spPr>
          <a:xfrm>
            <a:off x="914400" y="3749040"/>
            <a:ext cx="274320" cy="274320"/>
          </a:xfrm>
          <a:prstGeom prst="rect">
            <a:avLst/>
          </a:prstGeom>
        </p:spPr>
      </p:pic>
      <p:sp>
        <p:nvSpPr>
          <p:cNvPr id="17" name="Text 12"/>
          <p:cNvSpPr txBox="1"/>
          <p:nvPr/>
        </p:nvSpPr>
        <p:spPr>
          <a:xfrm>
            <a:off x="1463040" y="35844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LLMs for quality engineering</a:t>
            </a:r>
            <a:endParaRPr lang="en-US" sz="1500" dirty="0"/>
          </a:p>
        </p:txBody>
      </p:sp>
      <p:sp>
        <p:nvSpPr>
          <p:cNvPr id="18" name="Text 13"/>
          <p:cNvSpPr txBox="1"/>
          <p:nvPr/>
        </p:nvSpPr>
        <p:spPr>
          <a:xfrm>
            <a:off x="777240" y="42793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Built QA-Flow and UQ-TestGen: RAG, LLM agents, MCP-based workflows, Playwright</a:t>
            </a:r>
            <a:endParaRPr lang="en-US" sz="1300" dirty="0"/>
          </a:p>
        </p:txBody>
      </p:sp>
      <p:sp>
        <p:nvSpPr>
          <p:cNvPr id="19" name="Shape 14"/>
          <p:cNvSpPr/>
          <p:nvPr/>
        </p:nvSpPr>
        <p:spPr>
          <a:xfrm>
            <a:off x="4297680" y="3383280"/>
            <a:ext cx="3611880" cy="1920240"/>
          </a:xfrm>
          <a:prstGeom prst="roundRect">
            <a:avLst>
              <a:gd name="adj" fmla="val 5714"/>
            </a:avLst>
          </a:prstGeom>
          <a:solidFill>
            <a:srgbClr val="F2F5F9"/>
          </a:solidFill>
          <a:ln w="12700">
            <a:solidFill>
              <a:srgbClr val="F2F5F9"/>
            </a:solidFill>
            <a:prstDash val="solid"/>
          </a:ln>
        </p:spPr>
      </p:sp>
      <p:sp>
        <p:nvSpPr>
          <p:cNvPr id="20" name="Shape 15"/>
          <p:cNvSpPr/>
          <p:nvPr/>
        </p:nvSpPr>
        <p:spPr>
          <a:xfrm>
            <a:off x="4526280" y="3611880"/>
            <a:ext cx="548640" cy="548640"/>
          </a:xfrm>
          <a:prstGeom prst="ellipse">
            <a:avLst/>
          </a:prstGeom>
          <a:solidFill>
            <a:srgbClr val="6E56CF"/>
          </a:solidFill>
          <a:ln w="12700">
            <a:solidFill>
              <a:srgbClr val="6E56CF"/>
            </a:solidFill>
            <a:prstDash val="solid"/>
          </a:ln>
        </p:spPr>
      </p:sp>
      <p:pic>
        <p:nvPicPr>
          <p:cNvPr id="21" name="Image 3" descr="preencoded.png">    </p:cNvPr>
          <p:cNvPicPr>
            <a:picLocks noChangeAspect="1"/>
          </p:cNvPicPr>
          <p:nvPr/>
        </p:nvPicPr>
        <p:blipFill>
          <a:blip r:embed="rId4"/>
          <a:stretch>
            <a:fillRect/>
          </a:stretch>
        </p:blipFill>
        <p:spPr>
          <a:xfrm>
            <a:off x="4663440" y="3749040"/>
            <a:ext cx="274320" cy="274320"/>
          </a:xfrm>
          <a:prstGeom prst="rect">
            <a:avLst/>
          </a:prstGeom>
        </p:spPr>
      </p:pic>
      <p:sp>
        <p:nvSpPr>
          <p:cNvPr id="22" name="Text 16"/>
          <p:cNvSpPr txBox="1"/>
          <p:nvPr/>
        </p:nvSpPr>
        <p:spPr>
          <a:xfrm>
            <a:off x="5212080" y="3584448"/>
            <a:ext cx="2560320" cy="594360"/>
          </a:xfrm>
          <a:prstGeom prst="rect">
            <a:avLst/>
          </a:prstGeom>
          <a:noFill/>
          <a:ln/>
        </p:spPr>
        <p:txBody>
          <a:bodyPr wrap="square" lIns="0" tIns="0" rIns="0" bIns="0" rtlCol="0" anchor="ctr"/>
          <a:lstStyle/>
          <a:p>
            <a:pPr indent="0" marL="0">
              <a:buNone/>
            </a:pPr>
            <a:r>
              <a:rPr lang="en-US" sz="1500" b="1" dirty="0">
                <a:solidFill>
                  <a:srgbClr val="13213C"/>
                </a:solidFill>
                <a:latin typeface="Calibri" pitchFamily="34" charset="0"/>
                <a:ea typeface="Calibri" pitchFamily="34" charset="-122"/>
                <a:cs typeface="Calibri" pitchFamily="34" charset="-120"/>
              </a:rPr>
              <a:t>Python &amp; empirical studies</a:t>
            </a:r>
            <a:endParaRPr lang="en-US" sz="1500" dirty="0"/>
          </a:p>
        </p:txBody>
      </p:sp>
      <p:sp>
        <p:nvSpPr>
          <p:cNvPr id="23" name="Text 17"/>
          <p:cNvSpPr txBox="1"/>
          <p:nvPr/>
        </p:nvSpPr>
        <p:spPr>
          <a:xfrm>
            <a:off x="4526280" y="4279392"/>
            <a:ext cx="3200400" cy="96012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Controlled experiments on test generators (KCC'25, KCSE'26); held-out evaluation in this talk</a:t>
            </a:r>
            <a:endParaRPr lang="en-US" sz="1300" dirty="0"/>
          </a:p>
        </p:txBody>
      </p:sp>
      <p:sp>
        <p:nvSpPr>
          <p:cNvPr id="24" name="Shape 18"/>
          <p:cNvSpPr/>
          <p:nvPr/>
        </p:nvSpPr>
        <p:spPr>
          <a:xfrm>
            <a:off x="8092440" y="1325880"/>
            <a:ext cx="3547872" cy="3977640"/>
          </a:xfrm>
          <a:prstGeom prst="roundRect">
            <a:avLst>
              <a:gd name="adj" fmla="val 3093"/>
            </a:avLst>
          </a:prstGeom>
          <a:solidFill>
            <a:srgbClr val="13213C"/>
          </a:solidFill>
          <a:ln w="12700">
            <a:solidFill>
              <a:srgbClr val="13213C"/>
            </a:solidFill>
            <a:prstDash val="solid"/>
          </a:ln>
        </p:spPr>
      </p:sp>
      <p:sp>
        <p:nvSpPr>
          <p:cNvPr id="25" name="Text 19"/>
          <p:cNvSpPr txBox="1"/>
          <p:nvPr/>
        </p:nvSpPr>
        <p:spPr>
          <a:xfrm>
            <a:off x="8321040" y="150876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Why this team</a:t>
            </a:r>
            <a:endParaRPr lang="en-US" sz="1700" dirty="0"/>
          </a:p>
        </p:txBody>
      </p:sp>
      <p:sp>
        <p:nvSpPr>
          <p:cNvPr id="26" name="Text 20"/>
          <p:cNvSpPr txBox="1"/>
          <p:nvPr/>
        </p:nvSpPr>
        <p:spPr>
          <a:xfrm>
            <a:off x="8321040" y="1965960"/>
            <a:ext cx="31546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Uncertainty-wise CPS testing (Simula)</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ADS testing &amp; falsification (NII)</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Industrial CPS oracles &amp; elevators (Mondragon)</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My demos sit exactly where the three meet</a:t>
            </a:r>
            <a:endParaRPr lang="en-US" sz="1400" dirty="0"/>
          </a:p>
        </p:txBody>
      </p:sp>
      <p:sp>
        <p:nvSpPr>
          <p:cNvPr id="27" name="Text 21"/>
          <p:cNvSpPr txBox="1"/>
          <p:nvPr/>
        </p:nvSpPr>
        <p:spPr>
          <a:xfrm>
            <a:off x="548640" y="5760720"/>
            <a:ext cx="11094415" cy="66751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[14] Z. Zhang et al., “FalsifAI: Falsification of AI-enabled hybrid control systems guided by time-aware coverage criteria,” IEEE TSE, 2023.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09728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548640" y="3108960"/>
            <a:ext cx="8686800" cy="173736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Demo 1 · QA-Flow: LLM tests end to end, trusted by rules — and fooled by wrong tests</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Demo 2 · UQ-TestGen: when the AI's tests agree, trust them; when they don't, a human checks</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PhD: metrics, risk methods, evidence and transfer — O1 to O4</a:t>
            </a:r>
            <a:endParaRPr lang="en-US" sz="1800" dirty="0"/>
          </a:p>
        </p:txBody>
      </p:sp>
      <p:sp>
        <p:nvSpPr>
          <p:cNvPr id="4" name="Text 2"/>
          <p:cNvSpPr txBox="1"/>
          <p:nvPr/>
        </p:nvSpPr>
        <p:spPr>
          <a:xfrm>
            <a:off x="548640" y="4983480"/>
            <a:ext cx="54864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zavinhle@gmail.com</a:t>
            </a:r>
            <a:endParaRPr lang="en-US" sz="1600" dirty="0"/>
          </a:p>
        </p:txBody>
      </p:sp>
      <p:pic>
        <p:nvPicPr>
          <p:cNvPr id="5" name="Image 0" descr="D:\git\phd\uq-testgen\deck\assets\strip.png">    </p:cNvPr>
          <p:cNvPicPr>
            <a:picLocks noChangeAspect="1"/>
          </p:cNvPicPr>
          <p:nvPr/>
        </p:nvPicPr>
        <p:blipFill>
          <a:blip r:embed="rId1"/>
          <a:stretch>
            <a:fillRect/>
          </a:stretch>
        </p:blipFill>
        <p:spPr>
          <a:xfrm>
            <a:off x="0" y="5641848"/>
            <a:ext cx="12191695" cy="12191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QA-Flow demo: planted defects, faults and gates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3291840"/>
                <a:gridCol w="1097280"/>
                <a:gridCol w="2286000"/>
              </a:tblGrid>
              <a:tr h="384048">
                <a:tc>
                  <a:txBody>
                    <a:bodyPr/>
                    <a:lstStyle/>
                    <a:p>
                      <a:pPr indent="0" marL="0">
                        <a:buNone/>
                      </a:pPr>
                      <a:r>
                        <a:rPr lang="en-US" sz="1300" b="1" dirty="0">
                          <a:solidFill>
                            <a:srgbClr val="FFFFFF"/>
                          </a:solidFill>
                        </a:rPr>
                        <a:t>Planted defect (ShopLite)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Type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Found by test(s)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384048">
                <a:tc>
                  <a:txBody>
                    <a:bodyPr/>
                    <a:lstStyle/>
                    <a:p>
                      <a:pPr indent="0" marL="0">
                        <a:buNone/>
                      </a:pPr>
                      <a:r>
                        <a:rPr lang="en-US" sz="1200" dirty="0">
                          <a:solidFill>
                            <a:srgbClr val="1E2533"/>
                          </a:solidFill>
                        </a:rPr>
                        <a:t>SAVE10 subtracts €10 instead of 10 %</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web</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Unknown product → 500 instead of 404</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TC-19.1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Quantity 0 / negative accepted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TC-09.2, TC-22.2, TC-24.2, TC-24.3, TC-25.1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No Content-Security-Policy header</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TC-06.3, TC-29.1, TC-29.2,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Reflected XSS in search</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TC-06.3,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200" dirty="0">
                          <a:solidFill>
                            <a:srgbClr val="1E2533"/>
                          </a:solidFill>
                        </a:rPr>
                        <a:t>Login reveals registered emails</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1E2533"/>
                          </a:solidFill>
                        </a:rPr>
                        <a:t>TC-31.1, TC-32.1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E2533"/>
                          </a:solidFill>
                        </a:rPr>
                        <a:t>IDOR: other users' orders readable</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sp>
        <p:nvSpPr>
          <p:cNvPr id="4" name="Shape 1"/>
          <p:cNvSpPr/>
          <p:nvPr/>
        </p:nvSpPr>
        <p:spPr>
          <a:xfrm>
            <a:off x="7498080" y="1325880"/>
            <a:ext cx="4142232" cy="4480560"/>
          </a:xfrm>
          <a:prstGeom prst="roundRect">
            <a:avLst>
              <a:gd name="adj" fmla="val 2649"/>
            </a:avLst>
          </a:prstGeom>
          <a:solidFill>
            <a:srgbClr val="F2F5F9"/>
          </a:solidFill>
          <a:ln w="12700">
            <a:solidFill>
              <a:srgbClr val="F2F5F9"/>
            </a:solidFill>
            <a:prstDash val="solid"/>
          </a:ln>
        </p:spPr>
      </p:sp>
      <p:sp>
        <p:nvSpPr>
          <p:cNvPr id="5" name="Text 2"/>
          <p:cNvSpPr txBox="1"/>
          <p:nvPr/>
        </p:nvSpPr>
        <p:spPr>
          <a:xfrm>
            <a:off x="7726680" y="1463040"/>
            <a:ext cx="3749040" cy="365760"/>
          </a:xfrm>
          <a:prstGeom prst="rect">
            <a:avLst/>
          </a:prstGeom>
          <a:noFill/>
          <a:ln/>
        </p:spPr>
        <p:txBody>
          <a:bodyPr wrap="square" lIns="0" tIns="0" rIns="0" bIns="0" rtlCol="0" anchor="t"/>
          <a:lstStyle/>
          <a:p>
            <a:pPr indent="0" marL="0">
              <a:buNone/>
            </a:pPr>
            <a:r>
              <a:rPr lang="en-US" sz="1600" b="1" dirty="0">
                <a:solidFill>
                  <a:srgbClr val="13213C"/>
                </a:solidFill>
                <a:latin typeface="Calibri" pitchFamily="34" charset="0"/>
                <a:ea typeface="Calibri" pitchFamily="34" charset="-122"/>
                <a:cs typeface="Calibri" pitchFamily="34" charset="-120"/>
              </a:rPr>
              <a:t>Run details</a:t>
            </a:r>
            <a:endParaRPr lang="en-US" sz="1600" dirty="0"/>
          </a:p>
        </p:txBody>
      </p:sp>
      <p:sp>
        <p:nvSpPr>
          <p:cNvPr id="6" name="Text 3"/>
          <p:cNvSpPr txBox="1"/>
          <p:nvPr/>
        </p:nvSpPr>
        <p:spPr>
          <a:xfrm>
            <a:off x="7726680" y="1874520"/>
            <a:ext cx="3749040" cy="38404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34 requirements, 62 tests (51 LLM-designed, 11 rule-derived)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Schema gate: 55 agent replies, 2 rejected, 0 repaired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Grounding gate: 0 tests ungrounded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Fault gate: 13 broken builds; 13 passing tests never failed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Wrong tests among FAILs: TC-10.1, TC-11.1, TC-20.1, TC-27.1, TC-27.2, TC-28.1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Total run time 23 min (gpt-5.6-luna)</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The four research signals behind the vote</a:t>
            </a:r>
            <a:endParaRPr lang="en-US" sz="3000" dirty="0"/>
          </a:p>
        </p:txBody>
      </p:sp>
      <p:sp>
        <p:nvSpPr>
          <p:cNvPr id="3" name="Shape 1"/>
          <p:cNvSpPr/>
          <p:nvPr/>
        </p:nvSpPr>
        <p:spPr>
          <a:xfrm>
            <a:off x="548640" y="1325880"/>
            <a:ext cx="5440680" cy="1920240"/>
          </a:xfrm>
          <a:prstGeom prst="roundRect">
            <a:avLst>
              <a:gd name="adj" fmla="val 5714"/>
            </a:avLst>
          </a:prstGeom>
          <a:solidFill>
            <a:srgbClr val="F2F5F9"/>
          </a:solidFill>
          <a:ln w="12700">
            <a:solidFill>
              <a:srgbClr val="F2F5F9"/>
            </a:solidFill>
            <a:prstDash val="solid"/>
          </a:ln>
        </p:spPr>
      </p:sp>
      <p:sp>
        <p:nvSpPr>
          <p:cNvPr id="4" name="Shape 2"/>
          <p:cNvSpPr/>
          <p:nvPr/>
        </p:nvSpPr>
        <p:spPr>
          <a:xfrm>
            <a:off x="822960" y="1600200"/>
            <a:ext cx="640080" cy="640080"/>
          </a:xfrm>
          <a:prstGeom prst="ellipse">
            <a:avLst/>
          </a:prstGeom>
          <a:solidFill>
            <a:srgbClr val="5B6578"/>
          </a:solidFill>
          <a:ln w="12700">
            <a:solidFill>
              <a:srgbClr val="5B6578"/>
            </a:solidFill>
            <a:prstDash val="solid"/>
          </a:ln>
        </p:spPr>
      </p:sp>
      <p:pic>
        <p:nvPicPr>
          <p:cNvPr id="5" name="Image 0" descr="preencoded.png">    </p:cNvPr>
          <p:cNvPicPr>
            <a:picLocks noChangeAspect="1"/>
          </p:cNvPicPr>
          <p:nvPr/>
        </p:nvPicPr>
        <p:blipFill>
          <a:blip r:embed="rId1"/>
          <a:stretch>
            <a:fillRect/>
          </a:stretch>
        </p:blipFill>
        <p:spPr>
          <a:xfrm>
            <a:off x="982980" y="1760220"/>
            <a:ext cx="320040" cy="320040"/>
          </a:xfrm>
          <a:prstGeom prst="rect">
            <a:avLst/>
          </a:prstGeom>
        </p:spPr>
      </p:pic>
      <p:sp>
        <p:nvSpPr>
          <p:cNvPr id="6" name="Text 3"/>
          <p:cNvSpPr txBox="1"/>
          <p:nvPr/>
        </p:nvSpPr>
        <p:spPr>
          <a:xfrm>
            <a:off x="1645920" y="152704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7" name="Text 4"/>
          <p:cNvSpPr txBox="1"/>
          <p:nvPr/>
        </p:nvSpPr>
        <p:spPr>
          <a:xfrm>
            <a:off x="1645920" y="1947672"/>
            <a:ext cx="4206240" cy="365760"/>
          </a:xfrm>
          <a:prstGeom prst="rect">
            <a:avLst/>
          </a:prstGeom>
          <a:noFill/>
          <a:ln/>
        </p:spPr>
        <p:txBody>
          <a:bodyPr wrap="square" lIns="0" tIns="0" rIns="0" bIns="0" rtlCol="0" anchor="t"/>
          <a:lstStyle/>
          <a:p>
            <a:pPr indent="0" marL="0">
              <a:buNone/>
            </a:pPr>
            <a:r>
              <a:rPr lang="en-US" sz="1300" b="1" dirty="0">
                <a:solidFill>
                  <a:srgbClr val="1E2533"/>
                </a:solidFill>
                <a:latin typeface="Courier New" pitchFamily="34" charset="0"/>
                <a:ea typeface="Courier New" pitchFamily="34" charset="-122"/>
                <a:cs typeface="Courier New" pitchFamily="34" charset="-120"/>
              </a:rPr>
              <a:t>U = 1 − c</a:t>
            </a:r>
            <a:endParaRPr lang="en-US" sz="1300" dirty="0"/>
          </a:p>
        </p:txBody>
      </p:sp>
      <p:sp>
        <p:nvSpPr>
          <p:cNvPr id="8" name="Text 5"/>
          <p:cNvSpPr txBox="1"/>
          <p:nvPr/>
        </p:nvSpPr>
        <p:spPr>
          <a:xfrm>
            <a:off x="1645920" y="2313432"/>
            <a:ext cx="4160520" cy="86868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The AI's own probability that the test is correct. Baseline.</a:t>
            </a:r>
            <a:endParaRPr lang="en-US" sz="1300" dirty="0"/>
          </a:p>
        </p:txBody>
      </p:sp>
      <p:sp>
        <p:nvSpPr>
          <p:cNvPr id="9" name="Shape 6"/>
          <p:cNvSpPr/>
          <p:nvPr/>
        </p:nvSpPr>
        <p:spPr>
          <a:xfrm>
            <a:off x="6172200" y="1325880"/>
            <a:ext cx="5440680" cy="1920240"/>
          </a:xfrm>
          <a:prstGeom prst="roundRect">
            <a:avLst>
              <a:gd name="adj" fmla="val 5714"/>
            </a:avLst>
          </a:prstGeom>
          <a:solidFill>
            <a:srgbClr val="F2F5F9"/>
          </a:solidFill>
          <a:ln w="12700">
            <a:solidFill>
              <a:srgbClr val="F2F5F9"/>
            </a:solidFill>
            <a:prstDash val="solid"/>
          </a:ln>
        </p:spPr>
      </p:sp>
      <p:sp>
        <p:nvSpPr>
          <p:cNvPr id="10" name="Shape 7"/>
          <p:cNvSpPr/>
          <p:nvPr/>
        </p:nvSpPr>
        <p:spPr>
          <a:xfrm>
            <a:off x="6446520" y="1600200"/>
            <a:ext cx="640080" cy="640080"/>
          </a:xfrm>
          <a:prstGeom prst="ellipse">
            <a:avLst/>
          </a:prstGeom>
          <a:solidFill>
            <a:srgbClr val="3567C8"/>
          </a:solidFill>
          <a:ln w="12700">
            <a:solidFill>
              <a:srgbClr val="3567C8"/>
            </a:solidFill>
            <a:prstDash val="solid"/>
          </a:ln>
        </p:spPr>
      </p:sp>
      <p:pic>
        <p:nvPicPr>
          <p:cNvPr id="11" name="Image 1" descr="preencoded.png">    </p:cNvPr>
          <p:cNvPicPr>
            <a:picLocks noChangeAspect="1"/>
          </p:cNvPicPr>
          <p:nvPr/>
        </p:nvPicPr>
        <p:blipFill>
          <a:blip r:embed="rId2"/>
          <a:stretch>
            <a:fillRect/>
          </a:stretch>
        </p:blipFill>
        <p:spPr>
          <a:xfrm>
            <a:off x="6606540" y="1760220"/>
            <a:ext cx="320040" cy="320040"/>
          </a:xfrm>
          <a:prstGeom prst="rect">
            <a:avLst/>
          </a:prstGeom>
        </p:spPr>
      </p:pic>
      <p:sp>
        <p:nvSpPr>
          <p:cNvPr id="12" name="Text 8"/>
          <p:cNvSpPr txBox="1"/>
          <p:nvPr/>
        </p:nvSpPr>
        <p:spPr>
          <a:xfrm>
            <a:off x="7269480" y="152704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3" name="Text 9"/>
          <p:cNvSpPr txBox="1"/>
          <p:nvPr/>
        </p:nvSpPr>
        <p:spPr>
          <a:xfrm>
            <a:off x="7269480" y="1947672"/>
            <a:ext cx="4206240" cy="365760"/>
          </a:xfrm>
          <a:prstGeom prst="rect">
            <a:avLst/>
          </a:prstGeom>
          <a:noFill/>
          <a:ln/>
        </p:spPr>
        <p:txBody>
          <a:bodyPr wrap="square" lIns="0" tIns="0" rIns="0" bIns="0" rtlCol="0" anchor="t"/>
          <a:lstStyle/>
          <a:p>
            <a:pPr indent="0" marL="0">
              <a:buNone/>
            </a:pPr>
            <a:r>
              <a:rPr lang="en-US" sz="1300" b="1" dirty="0">
                <a:solidFill>
                  <a:srgbClr val="3567C8"/>
                </a:solidFill>
                <a:latin typeface="Courier New" pitchFamily="34" charset="0"/>
                <a:ea typeface="Courier New" pitchFamily="34" charset="-122"/>
                <a:cs typeface="Courier New" pitchFamily="34" charset="-120"/>
              </a:rPr>
              <a:t>U = −log p(cluster) / log N</a:t>
            </a:r>
            <a:endParaRPr lang="en-US" sz="1300" dirty="0"/>
          </a:p>
        </p:txBody>
      </p:sp>
      <p:sp>
        <p:nvSpPr>
          <p:cNvPr id="14" name="Text 10"/>
          <p:cNvSpPr txBox="1"/>
          <p:nvPr/>
        </p:nvSpPr>
        <p:spPr>
          <a:xfrm>
            <a:off x="7269480" y="2313432"/>
            <a:ext cx="4160520" cy="86868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300" dirty="0"/>
          </a:p>
        </p:txBody>
      </p:sp>
      <p:sp>
        <p:nvSpPr>
          <p:cNvPr id="15" name="Shape 11"/>
          <p:cNvSpPr/>
          <p:nvPr/>
        </p:nvSpPr>
        <p:spPr>
          <a:xfrm>
            <a:off x="548640" y="3429000"/>
            <a:ext cx="5440680" cy="1920240"/>
          </a:xfrm>
          <a:prstGeom prst="roundRect">
            <a:avLst>
              <a:gd name="adj" fmla="val 5714"/>
            </a:avLst>
          </a:prstGeom>
          <a:solidFill>
            <a:srgbClr val="E6F3F3"/>
          </a:solidFill>
          <a:ln w="12700">
            <a:solidFill>
              <a:srgbClr val="E6F3F3"/>
            </a:solidFill>
            <a:prstDash val="solid"/>
          </a:ln>
        </p:spPr>
      </p:sp>
      <p:sp>
        <p:nvSpPr>
          <p:cNvPr id="16" name="Shape 12"/>
          <p:cNvSpPr/>
          <p:nvPr/>
        </p:nvSpPr>
        <p:spPr>
          <a:xfrm>
            <a:off x="822960" y="3703320"/>
            <a:ext cx="640080" cy="640080"/>
          </a:xfrm>
          <a:prstGeom prst="ellipse">
            <a:avLst/>
          </a:prstGeom>
          <a:solidFill>
            <a:srgbClr val="0F8B8D"/>
          </a:solidFill>
          <a:ln w="12700">
            <a:solidFill>
              <a:srgbClr val="0F8B8D"/>
            </a:solidFill>
            <a:prstDash val="solid"/>
          </a:ln>
        </p:spPr>
      </p:sp>
      <p:pic>
        <p:nvPicPr>
          <p:cNvPr id="17" name="Image 2" descr="preencoded.png">    </p:cNvPr>
          <p:cNvPicPr>
            <a:picLocks noChangeAspect="1"/>
          </p:cNvPicPr>
          <p:nvPr/>
        </p:nvPicPr>
        <p:blipFill>
          <a:blip r:embed="rId3"/>
          <a:stretch>
            <a:fillRect/>
          </a:stretch>
        </p:blipFill>
        <p:spPr>
          <a:xfrm>
            <a:off x="982980" y="3863340"/>
            <a:ext cx="320040" cy="320040"/>
          </a:xfrm>
          <a:prstGeom prst="rect">
            <a:avLst/>
          </a:prstGeom>
        </p:spPr>
      </p:pic>
      <p:sp>
        <p:nvSpPr>
          <p:cNvPr id="18" name="Text 13"/>
          <p:cNvSpPr txBox="1"/>
          <p:nvPr/>
        </p:nvSpPr>
        <p:spPr>
          <a:xfrm>
            <a:off x="1645920" y="363016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Behavioural entropy = the vote</a:t>
            </a:r>
            <a:endParaRPr lang="en-US" sz="1800" dirty="0"/>
          </a:p>
        </p:txBody>
      </p:sp>
      <p:sp>
        <p:nvSpPr>
          <p:cNvPr id="19" name="Text 14"/>
          <p:cNvSpPr txBox="1"/>
          <p:nvPr/>
        </p:nvSpPr>
        <p:spPr>
          <a:xfrm>
            <a:off x="1645920" y="4050792"/>
            <a:ext cx="4206240" cy="365760"/>
          </a:xfrm>
          <a:prstGeom prst="rect">
            <a:avLst/>
          </a:prstGeom>
          <a:noFill/>
          <a:ln/>
        </p:spPr>
        <p:txBody>
          <a:bodyPr wrap="square" lIns="0" tIns="0" rIns="0" bIns="0" rtlCol="0" anchor="t"/>
          <a:lstStyle/>
          <a:p>
            <a:pPr indent="0" marL="0">
              <a:buNone/>
            </a:pPr>
            <a:r>
              <a:rPr lang="en-US" sz="1300" b="1" dirty="0">
                <a:solidFill>
                  <a:srgbClr val="0F8B8D"/>
                </a:solidFill>
                <a:latin typeface="Courier New" pitchFamily="34" charset="0"/>
                <a:ea typeface="Courier New" pitchFamily="34" charset="-122"/>
                <a:cs typeface="Courier New" pitchFamily="34" charset="-120"/>
              </a:rPr>
              <a:t>U = −log(k/N) / log N  ⇔  1 − k/N</a:t>
            </a:r>
            <a:endParaRPr lang="en-US" sz="1300" dirty="0"/>
          </a:p>
        </p:txBody>
      </p:sp>
      <p:sp>
        <p:nvSpPr>
          <p:cNvPr id="20" name="Text 15"/>
          <p:cNvSpPr txBox="1"/>
          <p:nvPr/>
        </p:nvSpPr>
        <p:spPr>
          <a:xfrm>
            <a:off x="1645920" y="4416552"/>
            <a:ext cx="4160520" cy="86868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Cluster samples by what they do: own verdict, collision, emergency braking, minimum-gap band. k = size of the sample's group.</a:t>
            </a:r>
            <a:endParaRPr lang="en-US" sz="1300" dirty="0"/>
          </a:p>
        </p:txBody>
      </p:sp>
      <p:sp>
        <p:nvSpPr>
          <p:cNvPr id="21" name="Shape 16"/>
          <p:cNvSpPr/>
          <p:nvPr/>
        </p:nvSpPr>
        <p:spPr>
          <a:xfrm>
            <a:off x="6172200" y="3429000"/>
            <a:ext cx="5440680" cy="1920240"/>
          </a:xfrm>
          <a:prstGeom prst="roundRect">
            <a:avLst>
              <a:gd name="adj" fmla="val 5714"/>
            </a:avLst>
          </a:prstGeom>
          <a:solidFill>
            <a:srgbClr val="F2F5F9"/>
          </a:solidFill>
          <a:ln w="12700">
            <a:solidFill>
              <a:srgbClr val="F2F5F9"/>
            </a:solidFill>
            <a:prstDash val="solid"/>
          </a:ln>
        </p:spPr>
      </p:sp>
      <p:sp>
        <p:nvSpPr>
          <p:cNvPr id="22" name="Shape 17"/>
          <p:cNvSpPr/>
          <p:nvPr/>
        </p:nvSpPr>
        <p:spPr>
          <a:xfrm>
            <a:off x="6446520" y="3703320"/>
            <a:ext cx="640080" cy="640080"/>
          </a:xfrm>
          <a:prstGeom prst="ellipse">
            <a:avLst/>
          </a:prstGeom>
          <a:solidFill>
            <a:srgbClr val="6E56CF"/>
          </a:solidFill>
          <a:ln w="12700">
            <a:solidFill>
              <a:srgbClr val="6E56CF"/>
            </a:solidFill>
            <a:prstDash val="solid"/>
          </a:ln>
        </p:spPr>
      </p:sp>
      <p:pic>
        <p:nvPicPr>
          <p:cNvPr id="23" name="Image 3" descr="preencoded.png">    </p:cNvPr>
          <p:cNvPicPr>
            <a:picLocks noChangeAspect="1"/>
          </p:cNvPicPr>
          <p:nvPr/>
        </p:nvPicPr>
        <p:blipFill>
          <a:blip r:embed="rId4"/>
          <a:stretch>
            <a:fillRect/>
          </a:stretch>
        </p:blipFill>
        <p:spPr>
          <a:xfrm>
            <a:off x="6606540" y="3863340"/>
            <a:ext cx="320040" cy="320040"/>
          </a:xfrm>
          <a:prstGeom prst="rect">
            <a:avLst/>
          </a:prstGeom>
        </p:spPr>
      </p:pic>
      <p:sp>
        <p:nvSpPr>
          <p:cNvPr id="24" name="Text 18"/>
          <p:cNvSpPr txBox="1"/>
          <p:nvPr/>
        </p:nvSpPr>
        <p:spPr>
          <a:xfrm>
            <a:off x="7269480" y="3630168"/>
            <a:ext cx="4114800" cy="411480"/>
          </a:xfrm>
          <a:prstGeom prst="rect">
            <a:avLst/>
          </a:prstGeom>
          <a:noFill/>
          <a:ln/>
        </p:spPr>
        <p:txBody>
          <a:bodyPr wrap="square" lIns="0" tIns="0" rIns="0" bIns="0" rtlCol="0" anchor="t"/>
          <a:lstStyle/>
          <a:p>
            <a:pPr indent="0" marL="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5" name="Text 19"/>
          <p:cNvSpPr txBox="1"/>
          <p:nvPr/>
        </p:nvSpPr>
        <p:spPr>
          <a:xfrm>
            <a:off x="7269480" y="4050792"/>
            <a:ext cx="4206240" cy="365760"/>
          </a:xfrm>
          <a:prstGeom prst="rect">
            <a:avLst/>
          </a:prstGeom>
          <a:noFill/>
          <a:ln/>
        </p:spPr>
        <p:txBody>
          <a:bodyPr wrap="square" lIns="0" tIns="0" rIns="0" bIns="0" rtlCol="0" anchor="t"/>
          <a:lstStyle/>
          <a:p>
            <a:pPr indent="0" marL="0">
              <a:buNone/>
            </a:pPr>
            <a:r>
              <a:rPr lang="en-US" sz="1300" b="1" dirty="0">
                <a:solidFill>
                  <a:srgbClr val="6E56CF"/>
                </a:solidFill>
                <a:latin typeface="Courier New" pitchFamily="34" charset="0"/>
                <a:ea typeface="Courier New" pitchFamily="34" charset="-122"/>
                <a:cs typeface="Courier New" pitchFamily="34" charset="-120"/>
              </a:rPr>
              <a:t>U = disagreeing peers / (N − 1)</a:t>
            </a:r>
            <a:endParaRPr lang="en-US" sz="1300" dirty="0"/>
          </a:p>
        </p:txBody>
      </p:sp>
      <p:sp>
        <p:nvSpPr>
          <p:cNvPr id="26" name="Text 20"/>
          <p:cNvSpPr txBox="1"/>
          <p:nvPr/>
        </p:nvSpPr>
        <p:spPr>
          <a:xfrm>
            <a:off x="7269480" y="4416552"/>
            <a:ext cx="4160520" cy="868680"/>
          </a:xfrm>
          <a:prstGeom prst="rect">
            <a:avLst/>
          </a:prstGeom>
          <a:noFill/>
          <a:ln/>
        </p:spPr>
        <p:txBody>
          <a:bodyPr wrap="square" lIns="0" tIns="0" rIns="0" bIns="0" rtlCol="0" anchor="t"/>
          <a:lstStyle/>
          <a:p>
            <a:pPr indent="0" marL="0">
              <a:buNone/>
            </a:pPr>
            <a:r>
              <a:rPr lang="en-US" sz="13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300" dirty="0"/>
          </a:p>
        </p:txBody>
      </p:sp>
      <p:sp>
        <p:nvSpPr>
          <p:cNvPr id="27" name="Text 21"/>
          <p:cNvSpPr txBox="1"/>
          <p:nvPr/>
        </p:nvSpPr>
        <p:spPr>
          <a:xfrm>
            <a:off x="548640" y="5596128"/>
            <a:ext cx="11094415" cy="457200"/>
          </a:xfrm>
          <a:prstGeom prst="rect">
            <a:avLst/>
          </a:prstGeom>
          <a:noFill/>
          <a:ln/>
        </p:spPr>
        <p:txBody>
          <a:bodyPr wrap="square" lIns="0" tIns="0" rIns="0" bIns="0" rtlCol="0" anchor="t"/>
          <a:lstStyle/>
          <a:p>
            <a:pPr indent="0" marL="0">
              <a:buNone/>
            </a:pPr>
            <a:r>
              <a:rPr lang="en-US" sz="1200" i="1" dirty="0">
                <a:solidFill>
                  <a:srgbClr val="5B6578"/>
                </a:solidFill>
                <a:latin typeface="Calibri" pitchFamily="34" charset="0"/>
                <a:ea typeface="Calibri" pitchFamily="34" charset="-122"/>
                <a:cs typeface="Calibri" pitchFamily="34" charset="-120"/>
              </a:rPr>
              <a:t>Both forms of the behavioural signal fall as the group size k grows, so they rank tests identically (same AUROC); the agreement form 1 − k/N is the one presented. Oracle disagreement was uninformative on the development round.</a:t>
            </a:r>
            <a:endParaRPr lang="en-US" sz="1200" dirty="0"/>
          </a:p>
        </p:txBody>
      </p:sp>
      <p:sp>
        <p:nvSpPr>
          <p:cNvPr id="28" name="Text 22"/>
          <p:cNvSpPr txBox="1"/>
          <p:nvPr/>
        </p:nvSpPr>
        <p:spPr>
          <a:xfrm>
            <a:off x="548640" y="6080760"/>
            <a:ext cx="11094415" cy="34747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[23] L. Kuhn et al., “Semantic uncertainty: Linguistic invariances for uncertainty estimation in natural language generation,” in Proc. ICLR, 2023.</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AUROC of every research signal</a:t>
            </a:r>
            <a:endParaRPr lang="en-US" sz="3000" dirty="0"/>
          </a:p>
        </p:txBody>
      </p:sp>
      <p:graphicFrame>
        <p:nvGraphicFramePr>
          <p:cNvPr id="3" name="Chart 0" descr=""/>
          <p:cNvGraphicFramePr/>
          <p:nvPr/>
        </p:nvGraphicFramePr>
        <p:xfrm>
          <a:off x="548640" y="1325880"/>
          <a:ext cx="11094415"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rgbClr val="5B6578"/>
                </a:solidFill>
                <a:latin typeface="Calibri" pitchFamily="34" charset="0"/>
                <a:ea typeface="Calibri" pitchFamily="34" charset="-122"/>
                <a:cs typeface="Calibri" pitchFamily="34" charset="-120"/>
              </a:rPr>
              <a:t>Within-batch AUROC averaged over the 6 requirement × model batches that contain incorrect tests. Batch level: behavioural entropy vs. share of correct tests, Spearman ρ = -0.85.</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UQ-TestGen results per model and requirement</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1188720"/>
                <a:gridCol w="1280160"/>
                <a:gridCol w="1737360"/>
                <a:gridCol w="1737360"/>
                <a:gridCol w="1371600"/>
                <a:gridCol w="1399032"/>
              </a:tblGrid>
              <a:tr h="384048">
                <a:tc>
                  <a:txBody>
                    <a:bodyPr/>
                    <a:lstStyle/>
                    <a:p>
                      <a:pPr indent="0" marL="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384048">
                <a:tc>
                  <a:txBody>
                    <a:bodyPr/>
                    <a:lstStyle/>
                    <a:p>
                      <a:pPr indent="0" marL="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384048">
                <a:tc>
                  <a:txBody>
                    <a:bodyPr/>
                    <a:lstStyle/>
                    <a:p>
                      <a:pPr indent="0" marL="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bl>
          </a:graphicData>
        </a:graphic>
      </p:graphicFrame>
      <p:graphicFrame>
        <p:nvGraphicFramePr>
          <p:cNvPr id="4" name="Chart 0" descr=""/>
          <p:cNvGraphicFramePr/>
          <p:nvPr/>
        </p:nvGraphicFramePr>
        <p:xfrm>
          <a:off x="548640" y="3108960"/>
          <a:ext cx="11094415" cy="2971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645920"/>
                <a:gridCol w="4754880"/>
                <a:gridCol w="4690872"/>
              </a:tblGrid>
              <a:tr h="914400">
                <a:tc>
                  <a:txBody>
                    <a:bodyPr/>
                    <a:lstStyle/>
                    <a:p>
                      <a:pPr indent="0" marL="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In the demos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indent="0" marL="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r>
              <a:tr h="914400">
                <a:tc>
                  <a:txBody>
                    <a:bodyPr/>
                    <a:lstStyle/>
                    <a:p>
                      <a:pPr indent="0" marL="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Correctness = agreement with my reference formalisation; mutants and planted defects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14400">
                <a:tc>
                  <a:txBody>
                    <a:bodyPr/>
                    <a:lstStyle/>
                    <a:p>
                      <a:pPr indent="0" marL="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UQ 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One web app, one SUT, one simulator,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indent="0" marL="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r>
              <a:tr h="914400">
                <a:tc>
                  <a:txBody>
                    <a:bodyPr/>
                    <a:lstStyle/>
                    <a:p>
                      <a:pPr indent="0" marL="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17 incorrect tests in 6 batches; one QA-Flow run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371600"/>
            <a:ext cx="6766560" cy="402336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do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pPr indent="0" marL="0">
              <a:spcAft>
                <a:spcPts val="600"/>
              </a:spcAft>
              <a:buNone/>
            </a:pP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1920240"/>
            <a:ext cx="2194560" cy="2194560"/>
          </a:xfrm>
          <a:prstGeom prst="ellipse">
            <a:avLst/>
          </a:prstGeom>
          <a:solidFill>
            <a:srgbClr val="6E56CF"/>
          </a:solidFill>
          <a:ln w="12700">
            <a:solidFill>
              <a:srgbClr val="6E56CF"/>
            </a:solidFill>
            <a:prstDash val="solid"/>
          </a:ln>
        </p:spPr>
      </p:sp>
      <p:pic>
        <p:nvPicPr>
          <p:cNvPr id="5" name="Image 0" descr="preencoded.png">    </p:cNvPr>
          <p:cNvPicPr>
            <a:picLocks noChangeAspect="1"/>
          </p:cNvPicPr>
          <p:nvPr/>
        </p:nvPicPr>
        <p:blipFill>
          <a:blip r:embed="rId1"/>
          <a:stretch>
            <a:fillRect/>
          </a:stretch>
        </p:blipFill>
        <p:spPr>
          <a:xfrm>
            <a:off x="9144000" y="2468880"/>
            <a:ext cx="1097280" cy="1097280"/>
          </a:xfrm>
          <a:prstGeom prst="rect">
            <a:avLst/>
          </a:prstGeom>
        </p:spPr>
      </p:pic>
      <p:sp>
        <p:nvSpPr>
          <p:cNvPr id="6" name="Text 3"/>
          <p:cNvSpPr txBox="1"/>
          <p:nvPr/>
        </p:nvSpPr>
        <p:spPr>
          <a:xfrm>
            <a:off x="548640" y="5577840"/>
            <a:ext cx="11094415" cy="850392"/>
          </a:xfrm>
          <a:prstGeom prst="rect">
            <a:avLst/>
          </a:prstGeom>
          <a:noFill/>
          <a:ln/>
        </p:spPr>
        <p:txBody>
          <a:bodyPr wrap="square" lIns="0" tIns="0" rIns="0" bIns="0" rtlCol="0" anchor="b"/>
          <a:lstStyle/>
          <a:p>
            <a:pPr indent="0" marL="0">
              <a:buNone/>
            </a:pPr>
            <a:r>
              <a:rPr lang="en-US" sz="900" dirty="0">
                <a:solidFill>
                  <a:srgbClr val="5B6578"/>
                </a:solidFill>
                <a:latin typeface="Calibri" pitchFamily="34" charset="0"/>
                <a:ea typeface="Calibri" pitchFamily="34" charset="-122"/>
                <a:cs typeface="Calibri" pitchFamily="34" charset="-120"/>
              </a:rPr>
              <a:t>[19] S. Ali et al., “Assessing the effectiveness of input and output coverage criteria for testing quantum programs,” Proc. IEEE ICST, 2021.</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a:p>
            <a:pPr indent="0" marL="0">
              <a:buNone/>
            </a:pPr>
            <a:r>
              <a:rPr lang="en-US" sz="900" dirty="0">
                <a:solidFill>
                  <a:srgbClr val="5B6578"/>
                </a:solidFill>
                <a:latin typeface="Calibri" pitchFamily="34" charset="0"/>
                <a:ea typeface="Calibri" pitchFamily="34" charset="-122"/>
                <a:cs typeface="Calibri" pitchFamily="34" charset="-120"/>
              </a:rPr>
              <a:t>[22] X. Wang et al., “Quantum artificial intelligence for software engineering: The road ahead,” ACM TOSEM, 2026.</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indent="0" marL="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Za Vinh Le</cp:lastModifiedBy>
  <cp:revision>1</cp:revision>
  <dcterms:created xsi:type="dcterms:W3CDTF">2026-10-27T13:41:14Z</dcterms:created>
  <dcterms:modified xsi:type="dcterms:W3CDTF">2026-10-27T13:41:14Z</dcterms:modified>
</cp:coreProperties>
</file>
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48272fb-216d-e317-1b84-d4fccf81914e}">
          <p14:sldIdLst>
            <p14:sldId id="256"/>
            <p14:sldId id="257"/>
            <p14:sldId id="258"/>
          </p14:sldIdLst>
        </p14:section>
        <p14:section name="Problem" id="{f5e1caa9-cacf-c5e0-4d65-05ff7f147972}">
          <p14:sldIdLst>
            <p14:sldId id="259"/>
            <p14:sldId id="260"/>
          </p14:sldIdLst>
        </p14:section>
        <p14:section name="Background" id="{2645a00a-5bba-88d3-c810-f2770065c550}">
          <p14:sldIdLst>
            <p14:sldId id="261"/>
            <p14:sldId id="262"/>
          </p14:sldIdLst>
        </p14:section>
        <p14:section name="Prototype" id="{58ce1ac8-0011-1b9c-4a87-d4ba97549bd7}">
          <p14:sldIdLst>
            <p14:sldId id="263"/>
            <p14:sldId id="264"/>
            <p14:sldId id="265"/>
            <p14:sldId id="266"/>
          </p14:sldIdLst>
        </p14:section>
        <p14:section name="Results" id="{0b3c8b72-03ca-3b0d-2fd5-dd93080d01fd}">
          <p14:sldIdLst>
            <p14:sldId id="267"/>
            <p14:sldId id="268"/>
            <p14:sldId id="269"/>
          </p14:sldIdLst>
        </p14:section>
        <p14:section name="Research plan" id="{a95d7a07-b5c2-d645-6c45-bff5f989ddd2}">
          <p14:sldIdLst>
            <p14:sldId id="270"/>
            <p14:sldId id="271"/>
            <p14:sldId id="272"/>
            <p14:sldId id="273"/>
            <p14:sldId id="274"/>
          </p14:sldIdLst>
        </p14:section>
        <p14:section name="Backup" id="{6dab06f9-9983-1457-8ac4-5853a99829c2}">
          <p14:sldIdLst>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13C"/>
                </a:solidFill>
                <a:latin typeface="+mn-lt"/>
              </a:defRPr>
            </a:pPr>
            <a:r>
              <a:rPr sz="1400" b="0" i="0" u="none" strike="noStrike">
                <a:solidFill>
                  <a:srgbClr val="13213C"/>
                </a:solidFill>
                <a:latin typeface="+mn-lt"/>
              </a:rPr>
              <a:t>AUROC for detecting incorrect tests (0.5 = random)</a:t>
            </a:r>
          </a:p>
        </c:rich>
      </c:tx>
      <c:layout/>
      <c:overlay val="0"/>
    </c:title>
    <c:autoTitleDeleted val="0"/>
    <c:plotArea>
      <c:layout/>
      <c:barChart>
        <c:barDir val="col"/>
        <c:grouping val="clustered"/>
        <c:varyColors val="0"/>
        <c:ser>
          <c:idx val="0"/>
          <c:order val="0"/>
          <c:tx>
            <c:strRef>
              <c:f>Sheet1!$B$1</c:f>
              <c:strCache>
                <c:ptCount val="1"/>
                <c:pt idx="0">
                  <c:v>All tests (pooled)</c:v>
                </c:pt>
              </c:strCache>
            </c:strRef>
          </c:tx>
          <c:spPr>
            <a:solidFill>
              <a:srgbClr val="0F8B8D"/>
            </a:solidFill>
            <a:effectLst/>
          </c:spPr>
          <c:invertIfNegative val="0"/>
          <c:dLbls>
            <c:numFmt formatCode="0.00" sourceLinked="0"/>
            <c:txPr>
              <a:bodyPr/>
              <a:lstStyle/>
              <a:p>
                <a:pPr>
                  <a:defRPr b="0" i="0" strike="noStrike" sz="1100" u="none">
                    <a:solidFill>
                      <a:srgbClr val="1E2533"/>
                    </a:solidFill>
                    <a:latin typeface="+mn-lt"/>
                  </a:defRPr>
                </a:pPr>
              </a:p>
            </c:txPr>
            <c:showLegendKey val="0"/>
            <c:showVal val="1"/>
            <c:showCatName val="0"/>
            <c:showSerName val="0"/>
            <c:showPercent val="0"/>
            <c:showBubbleSize val="0"/>
            <c:showLeaderLines val="0"/>
          </c:dLbls>
          <c:cat>
            <c:multiLvlStrRef>
              <c:f>Sheet1!$A$2:$A$6</c:f>
              <c:multiLvlStrCache>
                <c:ptCount val="5"/>
                <c:lvl>
                  <c:pt idx="0">
                    <c:v>Verbalised conf.</c:v>
                  </c:pt>
                  <c:pt idx="1">
                    <c:v>Structural</c:v>
                  </c:pt>
                  <c:pt idx="2">
                    <c:v>Behavioural</c:v>
                  </c:pt>
                  <c:pt idx="3">
                    <c:v>Oracle disagr.</c:v>
                  </c:pt>
                  <c:pt idx="4">
                    <c:v>Combined</c:v>
                  </c:pt>
                </c:lvl>
              </c:multiLvlStrCache>
            </c:multiLvlStrRef>
          </c:cat>
          <c:val>
            <c:numRef>
              <c:f>Sheet1!$B$2:$B$6</c:f>
              <c:numCache>
                <c:formatCode>General</c:formatCode>
                <c:ptCount val="5"/>
                <c:pt idx="0">
                  <c:v>0.74</c:v>
                </c:pt>
                <c:pt idx="1">
                  <c:v>0.67</c:v>
                </c:pt>
                <c:pt idx="2">
                  <c:v>0.9</c:v>
                </c:pt>
                <c:pt idx="3">
                  <c:v>0.46</c:v>
                </c:pt>
                <c:pt idx="4">
                  <c:v>0.89</c:v>
                </c:pt>
              </c:numCache>
            </c:numRef>
          </c:val>
        </c:ser>
        <c:ser>
          <c:idx val="1"/>
          <c:order val="1"/>
          <c:tx>
            <c:strRef>
              <c:f>Sheet1!$C$1</c:f>
              <c:strCache>
                <c:ptCount val="1"/>
                <c:pt idx="0">
                  <c:v>Within one requirement × model</c:v>
                </c:pt>
              </c:strCache>
            </c:strRef>
          </c:tx>
          <c:spPr>
            <a:solidFill>
              <a:srgbClr val="CFE3F1"/>
            </a:solidFill>
            <a:effectLst/>
          </c:spPr>
          <c:invertIfNegative val="0"/>
          <c:dLbls>
            <c:numFmt formatCode="0.00" sourceLinked="0"/>
            <c:txPr>
              <a:bodyPr/>
              <a:lstStyle/>
              <a:p>
                <a:pPr>
                  <a:defRPr b="0" i="0" strike="noStrike" sz="1100" u="none">
                    <a:solidFill>
                      <a:srgbClr val="1E2533"/>
                    </a:solidFill>
                    <a:latin typeface="+mn-lt"/>
                  </a:defRPr>
                </a:pPr>
              </a:p>
            </c:txPr>
            <c:showLegendKey val="0"/>
            <c:showVal val="1"/>
            <c:showCatName val="0"/>
            <c:showSerName val="0"/>
            <c:showPercent val="0"/>
            <c:showBubbleSize val="0"/>
            <c:showLeaderLines val="0"/>
          </c:dLbls>
          <c:cat>
            <c:multiLvlStrRef>
              <c:f>Sheet1!$A$2:$A$6</c:f>
              <c:multiLvlStrCache>
                <c:ptCount val="5"/>
                <c:lvl>
                  <c:pt idx="0">
                    <c:v>Verbalised conf.</c:v>
                  </c:pt>
                  <c:pt idx="1">
                    <c:v>Structural</c:v>
                  </c:pt>
                  <c:pt idx="2">
                    <c:v>Behavioural</c:v>
                  </c:pt>
                  <c:pt idx="3">
                    <c:v>Oracle disagr.</c:v>
                  </c:pt>
                  <c:pt idx="4">
                    <c:v>Combined</c:v>
                  </c:pt>
                </c:lvl>
              </c:multiLvlStrCache>
            </c:multiLvlStrRef>
          </c:cat>
          <c:val>
            <c:numRef>
              <c:f>Sheet1!$C$2:$C$6</c:f>
              <c:numCache>
                <c:formatCode>General</c:formatCode>
                <c:ptCount val="5"/>
                <c:pt idx="0">
                  <c:v>0.62</c:v>
                </c:pt>
                <c:pt idx="1">
                  <c:v>0.55</c:v>
                </c:pt>
                <c:pt idx="2">
                  <c:v>0.71</c:v>
                </c:pt>
                <c:pt idx="3">
                  <c:v>0.49</c:v>
                </c:pt>
                <c:pt idx="4">
                  <c:v>0.71</c:v>
                </c:pt>
              </c:numCache>
            </c:numRef>
          </c:val>
        </c:ser>
        <c:dLbls>
          <c:numFmt formatCode="0.00" sourceLinked="0"/>
          <c:txPr>
            <a:bodyPr/>
            <a:lstStyle/>
            <a:p>
              <a:pPr>
                <a:defRPr b="0" i="0" strike="noStrike" sz="1100" u="none">
                  <a:solidFill>
                    <a:srgbClr val="1E25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solidFill>
                <a:srgbClr val="1E25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13C"/>
                </a:solidFill>
                <a:latin typeface="+mn-lt"/>
              </a:defRPr>
            </a:pPr>
            <a:r>
              <a:rPr sz="1400" b="0" i="0" u="none" strike="noStrike">
                <a:solidFill>
                  <a:srgbClr val="13213C"/>
                </a:solidFill>
                <a:latin typeface="+mn-lt"/>
              </a:rPr>
              <a:t>Accept the least uncertain tests first</a:t>
            </a:r>
          </a:p>
        </c:rich>
      </c:tx>
      <c:layout/>
      <c:overlay val="0"/>
    </c:title>
    <c:autoTitleDeleted val="0"/>
    <c:plotArea>
      <c:layout/>
      <c:scatterChart>
        <c:scatterStyle val="lineMarker"/>
        <c:varyColors val="0"/>
        <c:ser>
          <c:idx val="0"/>
          <c:order val="0"/>
          <c:tx>
            <c:strRef>
              <c:f>Sheet1!$B$1</c:f>
              <c:strCache>
                <c:ptCount val="1"/>
                <c:pt idx="0">
                  <c:v>Combined uncertainty</c:v>
                </c:pt>
              </c:strCache>
            </c:strRef>
          </c:tx>
          <c:spPr>
            <a:solidFill>
              <a:srgbClr val="0F8B8D"/>
            </a:solidFill>
            <a:ln w="31750" cap="flat">
              <a:solidFill>
                <a:srgbClr val="0F8B8D"/>
              </a:solidFill>
              <a:prstDash val="solid"/>
              <a:round/>
            </a:ln>
            <a:effectLst/>
          </c:spPr>
          <c:marker>
            <c:symbol val="none"/>
            <c:size val="6"/>
            <c:spPr>
              <a:solidFill>
                <a:srgbClr val="0F8B8D"/>
              </a:solidFill>
              <a:ln w="9525" cap="flat">
                <a:solidFill>
                  <a:srgbClr val="0F8B8D"/>
                </a:solidFill>
                <a:prstDash val="solid"/>
                <a:round/>
              </a:ln>
              <a:effectLst/>
            </c:spPr>
          </c:marker>
          <c:xVal>
            <c:numRef>
              <c:f>Sheet1!$A$2:$A$72</c:f>
              <c:numCache>
                <c:formatCode>General</c:formatCode>
                <c:ptCount val="71"/>
                <c:pt idx="0">
                  <c:v>0.005</c:v>
                </c:pt>
                <c:pt idx="1">
                  <c:v>0.019</c:v>
                </c:pt>
                <c:pt idx="2">
                  <c:v>0.033</c:v>
                </c:pt>
                <c:pt idx="3">
                  <c:v>0.048</c:v>
                </c:pt>
                <c:pt idx="4">
                  <c:v>0.062</c:v>
                </c:pt>
                <c:pt idx="5">
                  <c:v>0.076</c:v>
                </c:pt>
                <c:pt idx="6">
                  <c:v>0.09</c:v>
                </c:pt>
                <c:pt idx="7">
                  <c:v>0.105</c:v>
                </c:pt>
                <c:pt idx="8">
                  <c:v>0.119</c:v>
                </c:pt>
                <c:pt idx="9">
                  <c:v>0.133</c:v>
                </c:pt>
                <c:pt idx="10">
                  <c:v>0.148</c:v>
                </c:pt>
                <c:pt idx="11">
                  <c:v>0.162</c:v>
                </c:pt>
                <c:pt idx="12">
                  <c:v>0.176</c:v>
                </c:pt>
                <c:pt idx="13">
                  <c:v>0.19</c:v>
                </c:pt>
                <c:pt idx="14">
                  <c:v>0.205</c:v>
                </c:pt>
                <c:pt idx="15">
                  <c:v>0.219</c:v>
                </c:pt>
                <c:pt idx="16">
                  <c:v>0.233</c:v>
                </c:pt>
                <c:pt idx="17">
                  <c:v>0.248</c:v>
                </c:pt>
                <c:pt idx="18">
                  <c:v>0.262</c:v>
                </c:pt>
                <c:pt idx="19">
                  <c:v>0.276</c:v>
                </c:pt>
                <c:pt idx="20">
                  <c:v>0.29</c:v>
                </c:pt>
                <c:pt idx="21">
                  <c:v>0.305</c:v>
                </c:pt>
                <c:pt idx="22">
                  <c:v>0.319</c:v>
                </c:pt>
                <c:pt idx="23">
                  <c:v>0.333</c:v>
                </c:pt>
                <c:pt idx="24">
                  <c:v>0.348</c:v>
                </c:pt>
                <c:pt idx="25">
                  <c:v>0.362</c:v>
                </c:pt>
                <c:pt idx="26">
                  <c:v>0.376</c:v>
                </c:pt>
                <c:pt idx="27">
                  <c:v>0.39</c:v>
                </c:pt>
                <c:pt idx="28">
                  <c:v>0.405</c:v>
                </c:pt>
                <c:pt idx="29">
                  <c:v>0.419</c:v>
                </c:pt>
                <c:pt idx="30">
                  <c:v>0.433</c:v>
                </c:pt>
                <c:pt idx="31">
                  <c:v>0.448</c:v>
                </c:pt>
                <c:pt idx="32">
                  <c:v>0.462</c:v>
                </c:pt>
                <c:pt idx="33">
                  <c:v>0.476</c:v>
                </c:pt>
                <c:pt idx="34">
                  <c:v>0.49</c:v>
                </c:pt>
                <c:pt idx="35">
                  <c:v>0.505</c:v>
                </c:pt>
                <c:pt idx="36">
                  <c:v>0.519</c:v>
                </c:pt>
                <c:pt idx="37">
                  <c:v>0.533</c:v>
                </c:pt>
                <c:pt idx="38">
                  <c:v>0.548</c:v>
                </c:pt>
                <c:pt idx="39">
                  <c:v>0.562</c:v>
                </c:pt>
                <c:pt idx="40">
                  <c:v>0.576</c:v>
                </c:pt>
                <c:pt idx="41">
                  <c:v>0.59</c:v>
                </c:pt>
                <c:pt idx="42">
                  <c:v>0.605</c:v>
                </c:pt>
                <c:pt idx="43">
                  <c:v>0.619</c:v>
                </c:pt>
                <c:pt idx="44">
                  <c:v>0.633</c:v>
                </c:pt>
                <c:pt idx="45">
                  <c:v>0.648</c:v>
                </c:pt>
                <c:pt idx="46">
                  <c:v>0.662</c:v>
                </c:pt>
                <c:pt idx="47">
                  <c:v>0.676</c:v>
                </c:pt>
                <c:pt idx="48">
                  <c:v>0.69</c:v>
                </c:pt>
                <c:pt idx="49">
                  <c:v>0.705</c:v>
                </c:pt>
                <c:pt idx="50">
                  <c:v>0.719</c:v>
                </c:pt>
                <c:pt idx="51">
                  <c:v>0.733</c:v>
                </c:pt>
                <c:pt idx="52">
                  <c:v>0.748</c:v>
                </c:pt>
                <c:pt idx="53">
                  <c:v>0.762</c:v>
                </c:pt>
                <c:pt idx="54">
                  <c:v>0.776</c:v>
                </c:pt>
                <c:pt idx="55">
                  <c:v>0.79</c:v>
                </c:pt>
                <c:pt idx="56">
                  <c:v>0.805</c:v>
                </c:pt>
                <c:pt idx="57">
                  <c:v>0.819</c:v>
                </c:pt>
                <c:pt idx="58">
                  <c:v>0.833</c:v>
                </c:pt>
                <c:pt idx="59">
                  <c:v>0.848</c:v>
                </c:pt>
                <c:pt idx="60">
                  <c:v>0.862</c:v>
                </c:pt>
                <c:pt idx="61">
                  <c:v>0.876</c:v>
                </c:pt>
                <c:pt idx="62">
                  <c:v>0.89</c:v>
                </c:pt>
                <c:pt idx="63">
                  <c:v>0.905</c:v>
                </c:pt>
                <c:pt idx="64">
                  <c:v>0.919</c:v>
                </c:pt>
                <c:pt idx="65">
                  <c:v>0.933</c:v>
                </c:pt>
                <c:pt idx="66">
                  <c:v>0.948</c:v>
                </c:pt>
                <c:pt idx="67">
                  <c:v>0.962</c:v>
                </c:pt>
                <c:pt idx="68">
                  <c:v>0.976</c:v>
                </c:pt>
                <c:pt idx="69">
                  <c:v>0.99</c:v>
                </c:pt>
                <c:pt idx="70">
                  <c:v>1</c:v>
                </c:pt>
              </c:numCache>
            </c:numRef>
          </c:xVal>
          <c:yVal>
            <c:numRef>
              <c:f>Sheet1!$B$2:$B$72</c:f>
              <c:numCache>
                <c:formatCode>General</c:formatCode>
                <c:ptCount val="7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0.993</c:v>
                </c:pt>
                <c:pt idx="49">
                  <c:v>0.986</c:v>
                </c:pt>
                <c:pt idx="50">
                  <c:v>0.987</c:v>
                </c:pt>
                <c:pt idx="51">
                  <c:v>0.987</c:v>
                </c:pt>
                <c:pt idx="52">
                  <c:v>0.987</c:v>
                </c:pt>
                <c:pt idx="53">
                  <c:v>0.988</c:v>
                </c:pt>
                <c:pt idx="54">
                  <c:v>0.988</c:v>
                </c:pt>
                <c:pt idx="55">
                  <c:v>0.988</c:v>
                </c:pt>
                <c:pt idx="56">
                  <c:v>0.982</c:v>
                </c:pt>
                <c:pt idx="57">
                  <c:v>0.971</c:v>
                </c:pt>
                <c:pt idx="58">
                  <c:v>0.96</c:v>
                </c:pt>
                <c:pt idx="59">
                  <c:v>0.955</c:v>
                </c:pt>
                <c:pt idx="60">
                  <c:v>0.95</c:v>
                </c:pt>
                <c:pt idx="61">
                  <c:v>0.94</c:v>
                </c:pt>
                <c:pt idx="62">
                  <c:v>0.941</c:v>
                </c:pt>
                <c:pt idx="63">
                  <c:v>0.942</c:v>
                </c:pt>
                <c:pt idx="64">
                  <c:v>0.943</c:v>
                </c:pt>
                <c:pt idx="65">
                  <c:v>0.944</c:v>
                </c:pt>
                <c:pt idx="66">
                  <c:v>0.945</c:v>
                </c:pt>
                <c:pt idx="67">
                  <c:v>0.941</c:v>
                </c:pt>
                <c:pt idx="68">
                  <c:v>0.932</c:v>
                </c:pt>
                <c:pt idx="69">
                  <c:v>0.928</c:v>
                </c:pt>
                <c:pt idx="70">
                  <c:v>0.919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title>
          <c:tx>
            <c:rich>
              <a:bodyPr/>
              <a:lstStyle/>
              <a:p>
                <a:pPr>
                  <a:defRPr sz="1200" b="0" i="0" u="none" strike="noStrike">
                    <a:solidFill>
                      <a:srgbClr val="5B6578"/>
                    </a:solidFill>
                    <a:latin typeface="+mn-lt"/>
                  </a:defRPr>
                </a:pPr>
                <a:r>
                  <a:rPr sz="1200" b="0" i="0" u="none" strike="noStrike">
                    <a:solidFill>
                      <a:srgbClr val="5B6578"/>
                    </a:solidFill>
                    <a:latin typeface="+mn-lt"/>
                  </a:rPr>
                  <a:t>Coverage (share auto-accepted)</a:t>
                </a:r>
              </a:p>
            </c:rich>
          </c:tx>
          <c:layout/>
          <c:overlay val="0"/>
        </c:title>
        <c:numFmt formatCode="0%"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noMultiLvlLbl val="1"/>
        <c:majorUnit val="0.2"/>
      </c:valAx>
      <c:valAx>
        <c:axId val="2094734552"/>
        <c:scaling>
          <c:orientation val="minMax"/>
          <c:max val="1"/>
          <c:min val="0.85"/>
        </c:scaling>
        <c:delete val="0"/>
        <c:axPos val="l"/>
        <c:majorGridlines>
          <c:spPr>
            <a:ln w="9525" cap="flat">
              <a:solidFill>
                <a:srgbClr val="DDE3EC"/>
              </a:solidFill>
              <a:prstDash val="solid"/>
              <a:round/>
            </a:ln>
          </c:spPr>
        </c:majorGridlines>
        <c:title>
          <c:tx>
            <c:rich>
              <a:bodyPr/>
              <a:lstStyle/>
              <a:p>
                <a:pPr>
                  <a:defRPr sz="1200" b="0" i="0" u="none" strike="noStrike">
                    <a:solidFill>
                      <a:srgbClr val="5B6578"/>
                    </a:solidFill>
                    <a:latin typeface="+mn-lt"/>
                  </a:defRPr>
                </a:pPr>
                <a:r>
                  <a:rPr sz="1200" b="0" i="0" u="none" strike="noStrike">
                    <a:solidFill>
                      <a:srgbClr val="5B6578"/>
                    </a:solidFill>
                    <a:latin typeface="+mn-lt"/>
                  </a:rPr>
                  <a:t>Precision of accepted tests</a:t>
                </a:r>
              </a:p>
            </c:rich>
          </c:tx>
          <c:layout/>
          <c:overlay val="0"/>
        </c:title>
        <c:numFmt formatCode="0%"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4"/>
        <c:crosses val="autoZero"/>
        <c:crossBetween val="midCat"/>
        <c:majorUnit val="0.05"/>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correct tests</c:v>
                </c:pt>
              </c:strCache>
            </c:strRef>
          </c:tx>
          <c:spPr>
            <a:solidFill>
              <a:srgbClr val="0F8B8D"/>
            </a:solidFill>
            <a:effectLst/>
          </c:spPr>
          <c:invertIfNegative val="0"/>
          <c:dLbls>
            <c:numFmt formatCode="0.00" sourceLinked="0"/>
            <c:txPr>
              <a:bodyPr/>
              <a:lstStyle/>
              <a:p>
                <a:pPr>
                  <a:defRPr b="0" i="0" strike="noStrike" sz="1000" u="none">
                    <a:solidFill>
                      <a:srgbClr val="1E2533"/>
                    </a:solidFill>
                    <a:latin typeface="+mn-lt"/>
                  </a:defRPr>
                </a:pPr>
              </a:p>
            </c:txPr>
            <c:showLegendKey val="0"/>
            <c:showVal val="1"/>
            <c:showCatName val="0"/>
            <c:showSerName val="0"/>
            <c:showPercent val="0"/>
            <c:showBubbleSize val="0"/>
            <c:showLeaderLines val="0"/>
          </c:dLbls>
          <c:cat>
            <c:multiLvlStrRef>
              <c:f>Sheet1!$A$2:$A$8</c:f>
              <c:multiLvlStrCache>
                <c:ptCount val="7"/>
                <c:lvl>
                  <c:pt idx="0">
                    <c:v>R1</c:v>
                  </c:pt>
                  <c:pt idx="1">
                    <c:v>R2</c:v>
                  </c:pt>
                  <c:pt idx="2">
                    <c:v>R3</c:v>
                  </c:pt>
                  <c:pt idx="3">
                    <c:v>R4</c:v>
                  </c:pt>
                  <c:pt idx="4">
                    <c:v>R5</c:v>
                  </c:pt>
                  <c:pt idx="5">
                    <c:v>R6</c:v>
                  </c:pt>
                  <c:pt idx="6">
                    <c:v>R7</c:v>
                  </c:pt>
                </c:lvl>
              </c:multiLvlStrCache>
            </c:multiLvlStrRef>
          </c:cat>
          <c:val>
            <c:numRef>
              <c:f>Sheet1!$B$2:$B$8</c:f>
              <c:numCache>
                <c:formatCode>General</c:formatCode>
                <c:ptCount val="7"/>
                <c:pt idx="0">
                  <c:v>1</c:v>
                </c:pt>
                <c:pt idx="1">
                  <c:v>1</c:v>
                </c:pt>
                <c:pt idx="2">
                  <c:v>0.8</c:v>
                </c:pt>
                <c:pt idx="3">
                  <c:v>1</c:v>
                </c:pt>
                <c:pt idx="4">
                  <c:v>0.93</c:v>
                </c:pt>
                <c:pt idx="5">
                  <c:v>0.77</c:v>
                </c:pt>
                <c:pt idx="6">
                  <c:v>0.93</c:v>
                </c:pt>
              </c:numCache>
            </c:numRef>
          </c:val>
        </c:ser>
        <c:ser>
          <c:idx val="1"/>
          <c:order val="1"/>
          <c:tx>
            <c:strRef>
              <c:f>Sheet1!$C$1</c:f>
              <c:strCache>
                <c:ptCount val="1"/>
                <c:pt idx="0">
                  <c:v>Mean combined uncertainty</c:v>
                </c:pt>
              </c:strCache>
            </c:strRef>
          </c:tx>
          <c:spPr>
            <a:solidFill>
              <a:srgbClr val="E39B2D"/>
            </a:solidFill>
            <a:effectLst/>
          </c:spPr>
          <c:invertIfNegative val="0"/>
          <c:dLbls>
            <c:numFmt formatCode="0.00" sourceLinked="0"/>
            <c:txPr>
              <a:bodyPr/>
              <a:lstStyle/>
              <a:p>
                <a:pPr>
                  <a:defRPr b="0" i="0" strike="noStrike" sz="1000" u="none">
                    <a:solidFill>
                      <a:srgbClr val="1E2533"/>
                    </a:solidFill>
                    <a:latin typeface="+mn-lt"/>
                  </a:defRPr>
                </a:pPr>
              </a:p>
            </c:txPr>
            <c:showLegendKey val="0"/>
            <c:showVal val="1"/>
            <c:showCatName val="0"/>
            <c:showSerName val="0"/>
            <c:showPercent val="0"/>
            <c:showBubbleSize val="0"/>
            <c:showLeaderLines val="0"/>
          </c:dLbls>
          <c:cat>
            <c:multiLvlStrRef>
              <c:f>Sheet1!$A$2:$A$8</c:f>
              <c:multiLvlStrCache>
                <c:ptCount val="7"/>
                <c:lvl>
                  <c:pt idx="0">
                    <c:v>R1</c:v>
                  </c:pt>
                  <c:pt idx="1">
                    <c:v>R2</c:v>
                  </c:pt>
                  <c:pt idx="2">
                    <c:v>R3</c:v>
                  </c:pt>
                  <c:pt idx="3">
                    <c:v>R4</c:v>
                  </c:pt>
                  <c:pt idx="4">
                    <c:v>R5</c:v>
                  </c:pt>
                  <c:pt idx="5">
                    <c:v>R6</c:v>
                  </c:pt>
                  <c:pt idx="6">
                    <c:v>R7</c:v>
                  </c:pt>
                </c:lvl>
              </c:multiLvlStrCache>
            </c:multiLvlStrRef>
          </c:cat>
          <c:val>
            <c:numRef>
              <c:f>Sheet1!$C$2:$C$8</c:f>
              <c:numCache>
                <c:formatCode>General</c:formatCode>
                <c:ptCount val="7"/>
                <c:pt idx="0">
                  <c:v>0.02</c:v>
                </c:pt>
                <c:pt idx="1">
                  <c:v>0.04</c:v>
                </c:pt>
                <c:pt idx="2">
                  <c:v>0.33</c:v>
                </c:pt>
                <c:pt idx="3">
                  <c:v>0.13</c:v>
                </c:pt>
                <c:pt idx="4">
                  <c:v>0.07</c:v>
                </c:pt>
                <c:pt idx="5">
                  <c:v>0.19</c:v>
                </c:pt>
                <c:pt idx="6">
                  <c:v>0.15</c:v>
                </c:pt>
              </c:numCache>
            </c:numRef>
          </c:val>
        </c:ser>
        <c:dLbls>
          <c:numFmt formatCode="0.00" sourceLinked="0"/>
          <c:txPr>
            <a:bodyPr/>
            <a:lstStyle/>
            <a:p>
              <a:pPr>
                <a:defRPr b="0" i="0" strike="noStrike" sz="1000" u="none">
                  <a:solidFill>
                    <a:srgbClr val="1E25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Thank you for the invitation. In the next 20 minutes I will argue that LLM-generated tests need a trust signal, show a working prototype that quantifies their uncertainty for an autonomous-driving function, and propose how I would turn its gaps into the four InnoGuard objectives over three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path goes from hardware to automotive software testing at Bosch, where I tested ECU software against AUTOSAR and MISRA rules, to research on falsification and test generation for controller software at Kyungpook National University, and now to building LLM-based test generation in industry. The common thread: making automated testing of safety-relevant software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the advert's preferred profile to evidence: CPS testing from Bosch; verification research from my master's — my falsification work is close in spirit to Prof. Arcaini's robustness-guided falsification; LLMs for testing from my current work; and Python plus empirical research, which this talk also demonstrates.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 Ali's group and colleagues already use foundation models across CPS engineering. LLM-based test generation is mainstream. The open problem is trust: a syntactically valid test can be irrelevant, can have a wrong oracle, or can be useless at finding faults. My own data shows the model says it is 97% sure while only 87% of its tests are correct — so self-reported confidence is not a usable trust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read the four objectives of the position, phrased as questions. Everything that follows — the prototype, its gaps and the plan — is organised around O1 to O4.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of your work that this PhD builds on. First, uncertainty-wise testing of CPS, from the U-Taxonomy to uncertainty-aware oracles and, most recently, uncertainty and quality of VLA-enabled robots. Second, ADS scenario generation and robustness-guided falsification. Third, oracles and industrial CPS, especially the elevator case studies with Mondragon. To my knowledge none of these quantify the uncertainty of LLMs that generate the test artefacts themselves — that is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ML literature I take two ideas: semantic entropy, which clusters sampled answers by meaning, and self-consistency, which needs only black-box access. The key adaptation: for an executable test the meaning is its behaviour on the system — so I cluster sampled tests by what they do in simulation. That is behavioural entropy.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tool I built for daily testing work: requirement documents go through retrieval into LLM agents that produce test cases and scripts, which are executed and reported. Trust is handled by rules: schema checks, grounding checks, a review flag for AI-only expectations and a fault-injection gate. These catch malformed output, but they are binary: once a test passes the gate it is trusted. The tool cannot tell which of the well-formed tests are wrong — that is the blind spot this research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re-targeted the tool to an autonomous-driving function. For a requirement, the LLM is sampled N times; each sample is a driving scenario, an STL-style oracle and a self-reported confidence. The rule gate from v1 stays. Valid tests run in highway-env against an adaptive cruise control with emergency braking. Then four uncertainty signals are computed — no ground truth needed — and drive a triage decision. Only in research mode do we compute ground truth by running every test against eight seeded 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signals. Verbalised confidence is the baseline. Structural entropy clusters samples by what they look like. Behavioural entropy, my CPS-specific adaptation, clusters them by what they do when executed. Oracle disagreement cross-applies the oracles. I fixed the design on a development round and evaluated it on a fresh held-out round, to avoid tuning on the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video, about 1:44.] Requirement R6: the lead car changes lane and reveals a stopped car. Eight tests are sampled live. You can see each stage complete. The batch has low structural but some behavioural entropy. Five tests are auto-accepted, three go to review. The most uncertain test turns out to be the one that does not exercise the requirement. Finally the same test is replayed on a faulty variant and its oracle catches the 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seven requirements of an ACC, three ChatGPT-class models, ten samples each — 210 tests. Each test runs on the correct controller and eight seeded faults, so 1,890 simulations. A test is correct only if it exercises the requirement and its oracle agrees with my reference formalisation on all nine versions. I designed the metrics on a development round and report a fresh held-out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held-out round, behavioural entropy detects incorrect tests with AUROC 0.90, against 0.74 for the model's own confidence. At batch level, the more behaviourally diverse the samples, the fewer of them are correct: rho -0.85. But I want to be honest: within a single requirement the signal is weaker, 0.71. Much of what it captures is that some requirements are hard. Per-test discrimination is my first research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uncertainty into decisions: accepting the least uncertain tests first keeps precision near 100% until about 70% coverage. With fixed thresholds, 162 of 210 tests are auto-accepted and 160 of them are correct; the review bucket is where the errors concentrate. These thresholds are heuristics, so calibrating them against safety risk is objective 2. I also log cost: N samples multiply the LLM cost, which is a non-functional trade-off for objective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limitation of the demo maps onto one objective. The per-test signal is weak and black-box only — new metrics, O1. Thresholds are heuristic and ignore severity — risk methods, O2. The relation between uncertainty, effectiveness and cost is only hinted — a large empirical study, O3. And everything ran on three hosted models and one simulator — generalisation to industrial cases, the InnoGuard platform, newer models and quantum ML, O4.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one per objective, each with its method. Evaluation will use open-source ACPS such as highway-env or more realistic simulators, industrial case studies through the network — for example the elevator systems studied with Mondragon — and the InnoGuard demonstration platform, always with fault-injection or expert ground truth and proper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36-month plan. Year 1: a mapping study and an open ACPS benchmark, then the first metric suite. Year 2: the large empirical study on uncertainty versus quality and cost, risk methods, and the planned secondment at Mondragon to apply them to an industrial CPS. Year 3: evaluation on industrial cases and the InnoGuard platform, then the quantum ML extension with the adjacent project, and the thesis. Five planned papers; dates of the secondment are indicative and would follow the network's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metrics, risk methods, empirical evidence and open artefacts, published at the main SE venues and developed jointly across the network, with the Mondragon secondment as the industrial anchor.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 bring CPS testing practice, verification research and hands-on AI tooling, and the team brings the leading work on uncertainty-wise CPS testing, ADS testing and industrial oracles. I would be glad to turn this prototype into a PhD within InnoGuard. Thank you — I look forward to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model: the strongest model, gpt-6-astra, produced only correct tests, so uncertainty matters most for cheaper models. Per requirement: the cut-in (R3) and cut-out (R6) requirements are hardest, and they also have the highest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threats: my reference formalisation and synthetic mutants define ground truth; the design was chosen on a development round; and the scale is small. Each has a concrete mitigation in the PhD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objective 4, the adjacent project on quantum ML: shot-based sampling gives a natural analogue to sampling an LLM, so the same disagreement-based metrics can be tested, with quantum noise as an extra uncertainty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321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515600" cy="109728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000" b="1" dirty="0">
                <a:solidFill>
                  <a:srgbClr val="13213C"/>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73952"/>
            <a:ext cx="6400800" cy="274320"/>
          </a:xfrm>
          <a:prstGeom prst="rect">
            <a:avLst/>
          </a:prstGeom>
          <a:noFill/>
          <a:ln/>
        </p:spPr>
        <p:txBody>
          <a:bodyPr wrap="square" lIns="0" tIns="0" rIns="0" bIns="0" rtlCol="0" anchor="ctr"/>
          <a:lstStyle/>
          <a:p>
            <a:pPr indent="0" marL="0">
              <a:buNone/>
            </a:pPr>
            <a:r>
              <a:rPr lang="en-US" sz="1000" dirty="0">
                <a:solidFill>
                  <a:srgbClr val="5B6578"/>
                </a:solidFill>
                <a:latin typeface="Calibri" pitchFamily="34" charset="0"/>
                <a:ea typeface="Calibri" pitchFamily="34" charset="-122"/>
                <a:cs typeface="Calibri" pitchFamily="34" charset="-120"/>
              </a:rPr>
              <a:t>Za Vinh Le  ·  PhD research proposal  ·  InnoGuard @ Simula</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3.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video" Target="../media/media-11-1.mp4"/><Relationship Id="rId2" Type="http://schemas.microsoft.com/office/2007/relationships/media" Target="../media/media-11-1.mp4"/><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25880"/>
            <a:ext cx="10058400" cy="365760"/>
          </a:xfrm>
          <a:prstGeom prst="rect">
            <a:avLst/>
          </a:prstGeom>
          <a:noFill/>
          <a:ln/>
        </p:spPr>
        <p:txBody>
          <a:bodyPr wrap="square" lIns="0" tIns="0" rIns="0" bIns="0" rtlCol="0" anchor="t"/>
          <a:lstStyle/>
          <a:p>
            <a:pPr indent="0" marL="0">
              <a:buNone/>
            </a:pPr>
            <a:r>
              <a:rPr lang="en-US" sz="1400" b="1" spc="100" kern="0" dirty="0">
                <a:solidFill>
                  <a:srgbClr val="CFE3F1"/>
                </a:solidFill>
                <a:latin typeface="Calibri" pitchFamily="34" charset="0"/>
                <a:ea typeface="Calibri" pitchFamily="34" charset="-122"/>
                <a:cs typeface="Calibri" pitchFamily="34" charset="-120"/>
              </a:rPr>
              <a:t>PhD RESEARCH PROPOSAL  ·  InnoGuard Doctoral Network  ·  Simula Research Laboratory</a:t>
            </a:r>
            <a:endParaRPr lang="en-US" sz="1400" dirty="0"/>
          </a:p>
        </p:txBody>
      </p:sp>
      <p:sp>
        <p:nvSpPr>
          <p:cNvPr id="3" name="Text 0"/>
          <p:cNvSpPr/>
          <p:nvPr>
            <p:ph idx="100" type="title" hasCustomPrompt="1"/>
          </p:nvPr>
        </p:nvSpPr>
        <p:spPr>
          <a:xfrm>
            <a:off x="548640" y="1828800"/>
            <a:ext cx="10515600" cy="109728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When can we trust AI-generated tests?</a:t>
            </a:r>
            <a:endParaRPr lang="en-US" sz="4000" dirty="0"/>
          </a:p>
        </p:txBody>
      </p:sp>
      <p:sp>
        <p:nvSpPr>
          <p:cNvPr id="4" name="Text 2"/>
          <p:cNvSpPr txBox="1"/>
          <p:nvPr/>
        </p:nvSpPr>
        <p:spPr>
          <a:xfrm>
            <a:off x="548640" y="3017520"/>
            <a:ext cx="8686800" cy="91440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Quantifying the uncertainty of LLM-generated test artefacts for risk-based quality engineering of autonomous cyber-physical systems</a:t>
            </a:r>
            <a:endParaRPr lang="en-US" sz="2000" dirty="0"/>
          </a:p>
        </p:txBody>
      </p:sp>
      <p:sp>
        <p:nvSpPr>
          <p:cNvPr id="5" name="Text 3"/>
          <p:cNvSpPr txBox="1"/>
          <p:nvPr/>
        </p:nvSpPr>
        <p:spPr>
          <a:xfrm>
            <a:off x="548640" y="4526280"/>
            <a:ext cx="8229600" cy="8229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Za Vinh Le</a:t>
            </a:r>
            <a:endParaRPr lang="en-US" sz="2000" dirty="0"/>
          </a:p>
          <a:p>
            <a:pPr indent="0" marL="0">
              <a:buNone/>
            </a:pPr>
            <a:r>
              <a:rPr lang="en-US" sz="1400" dirty="0">
                <a:solidFill>
                  <a:srgbClr val="CFE3F1"/>
                </a:solidFill>
                <a:latin typeface="Calibri" pitchFamily="34" charset="0"/>
                <a:ea typeface="Calibri" pitchFamily="34" charset="-122"/>
                <a:cs typeface="Calibri" pitchFamily="34" charset="-120"/>
              </a:rPr>
              <a:t>Interview with Prof. Shaukat Ali, Prof. Paolo Arcaini and Prof. Aitor Arrieta</a:t>
            </a:r>
            <a:endParaRPr lang="en-US" sz="2000" dirty="0"/>
          </a:p>
        </p:txBody>
      </p:sp>
      <p:pic>
        <p:nvPicPr>
          <p:cNvPr id="6" name="Image 0" descr="D:\hnp\uq-testgen\deck\assets\strip.png">    </p:cNvPr>
          <p:cNvPicPr>
            <a:picLocks noChangeAspect="1"/>
          </p:cNvPicPr>
          <p:nvPr/>
        </p:nvPicPr>
        <p:blipFill>
          <a:blip r:embed="rId1"/>
          <a:stretch>
            <a:fillRect/>
          </a:stretch>
        </p:blipFill>
        <p:spPr>
          <a:xfrm>
            <a:off x="0" y="5641848"/>
            <a:ext cx="12191695" cy="12191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From automotive test benches to AI-driven testing</a:t>
            </a:r>
            <a:endParaRPr lang="en-US" sz="3000" dirty="0"/>
          </a:p>
        </p:txBody>
      </p:sp>
      <p:sp>
        <p:nvSpPr>
          <p:cNvPr id="3" name="Shape 1"/>
          <p:cNvSpPr/>
          <p:nvPr/>
        </p:nvSpPr>
        <p:spPr>
          <a:xfrm>
            <a:off x="1658082" y="2258568"/>
            <a:ext cx="8875532" cy="0"/>
          </a:xfrm>
          <a:prstGeom prst="line">
            <a:avLst/>
          </a:prstGeom>
          <a:noFill/>
          <a:ln w="25400">
            <a:solidFill>
              <a:srgbClr val="DDE3EC"/>
            </a:solidFill>
            <a:prstDash val="solid"/>
          </a:ln>
        </p:spPr>
      </p:sp>
      <p:sp>
        <p:nvSpPr>
          <p:cNvPr id="4" name="Shape 2"/>
          <p:cNvSpPr/>
          <p:nvPr/>
        </p:nvSpPr>
        <p:spPr>
          <a:xfrm>
            <a:off x="1365474" y="1965960"/>
            <a:ext cx="585216" cy="585216"/>
          </a:xfrm>
          <a:prstGeom prst="ellipse">
            <a:avLst/>
          </a:prstGeom>
          <a:solidFill>
            <a:srgbClr val="5B6578"/>
          </a:solidFill>
          <a:ln w="12700">
            <a:solidFill>
              <a:srgbClr val="5B6578"/>
            </a:solidFill>
            <a:prstDash val="solid"/>
          </a:ln>
        </p:spPr>
      </p:sp>
      <p:pic>
        <p:nvPicPr>
          <p:cNvPr id="5" name="Image 0" descr="preencoded.png">    </p:cNvPr>
          <p:cNvPicPr>
            <a:picLocks noChangeAspect="1"/>
          </p:cNvPicPr>
          <p:nvPr/>
        </p:nvPicPr>
        <p:blipFill>
          <a:blip r:embed="rId1"/>
          <a:stretch>
            <a:fillRect/>
          </a:stretch>
        </p:blipFill>
        <p:spPr>
          <a:xfrm>
            <a:off x="1511778" y="2112264"/>
            <a:ext cx="292608" cy="292608"/>
          </a:xfrm>
          <a:prstGeom prst="rect">
            <a:avLst/>
          </a:prstGeom>
        </p:spPr>
      </p:pic>
      <p:sp>
        <p:nvSpPr>
          <p:cNvPr id="6" name="Text 3"/>
          <p:cNvSpPr txBox="1"/>
          <p:nvPr/>
        </p:nvSpPr>
        <p:spPr>
          <a:xfrm>
            <a:off x="548640" y="2679192"/>
            <a:ext cx="2218883" cy="320040"/>
          </a:xfrm>
          <a:prstGeom prst="rect">
            <a:avLst/>
          </a:prstGeom>
          <a:noFill/>
          <a:ln/>
        </p:spPr>
        <p:txBody>
          <a:bodyPr wrap="square" lIns="0" tIns="0" rIns="0" bIns="0" rtlCol="0" anchor="t"/>
          <a:lstStyle/>
          <a:p>
            <a:pPr algn="ctr" indent="0" marL="0">
              <a:buNone/>
            </a:pPr>
            <a:r>
              <a:rPr lang="en-US" sz="1400" b="1" dirty="0">
                <a:solidFill>
                  <a:srgbClr val="5B6578"/>
                </a:solidFill>
                <a:latin typeface="Calibri" pitchFamily="34" charset="0"/>
                <a:ea typeface="Calibri" pitchFamily="34" charset="-122"/>
                <a:cs typeface="Calibri" pitchFamily="34" charset="-120"/>
              </a:rPr>
              <a:t>2019–23</a:t>
            </a:r>
            <a:endParaRPr lang="en-US" sz="1400" dirty="0"/>
          </a:p>
        </p:txBody>
      </p:sp>
      <p:sp>
        <p:nvSpPr>
          <p:cNvPr id="7" name="Text 4"/>
          <p:cNvSpPr txBox="1"/>
          <p:nvPr/>
        </p:nvSpPr>
        <p:spPr>
          <a:xfrm>
            <a:off x="621792" y="299008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B.S. Electrical &amp; Electronics Eng.</a:t>
            </a:r>
            <a:endParaRPr lang="en-US" sz="1400" dirty="0"/>
          </a:p>
        </p:txBody>
      </p:sp>
      <p:sp>
        <p:nvSpPr>
          <p:cNvPr id="8" name="Text 5"/>
          <p:cNvSpPr txBox="1"/>
          <p:nvPr/>
        </p:nvSpPr>
        <p:spPr>
          <a:xfrm>
            <a:off x="640080" y="355701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HCMC Univ. of Technology, honors program · GPA 8.27/10</a:t>
            </a:r>
            <a:endParaRPr lang="en-US" sz="1200" dirty="0"/>
          </a:p>
        </p:txBody>
      </p:sp>
      <p:sp>
        <p:nvSpPr>
          <p:cNvPr id="9" name="Shape 6"/>
          <p:cNvSpPr/>
          <p:nvPr/>
        </p:nvSpPr>
        <p:spPr>
          <a:xfrm>
            <a:off x="3584357" y="1965960"/>
            <a:ext cx="585216" cy="585216"/>
          </a:xfrm>
          <a:prstGeom prst="ellipse">
            <a:avLst/>
          </a:prstGeom>
          <a:solidFill>
            <a:srgbClr val="5B6578"/>
          </a:solidFill>
          <a:ln w="12700">
            <a:solidFill>
              <a:srgbClr val="5B6578"/>
            </a:solidFill>
            <a:prstDash val="solid"/>
          </a:ln>
        </p:spPr>
      </p:sp>
      <p:pic>
        <p:nvPicPr>
          <p:cNvPr id="10" name="Image 1" descr="preencoded.png">    </p:cNvPr>
          <p:cNvPicPr>
            <a:picLocks noChangeAspect="1"/>
          </p:cNvPicPr>
          <p:nvPr/>
        </p:nvPicPr>
        <p:blipFill>
          <a:blip r:embed="rId2"/>
          <a:stretch>
            <a:fillRect/>
          </a:stretch>
        </p:blipFill>
        <p:spPr>
          <a:xfrm>
            <a:off x="3730661" y="2112264"/>
            <a:ext cx="292608" cy="292608"/>
          </a:xfrm>
          <a:prstGeom prst="rect">
            <a:avLst/>
          </a:prstGeom>
        </p:spPr>
      </p:pic>
      <p:sp>
        <p:nvSpPr>
          <p:cNvPr id="11" name="Text 7"/>
          <p:cNvSpPr txBox="1"/>
          <p:nvPr/>
        </p:nvSpPr>
        <p:spPr>
          <a:xfrm>
            <a:off x="2767523" y="2679192"/>
            <a:ext cx="2218883" cy="320040"/>
          </a:xfrm>
          <a:prstGeom prst="rect">
            <a:avLst/>
          </a:prstGeom>
          <a:noFill/>
          <a:ln/>
        </p:spPr>
        <p:txBody>
          <a:bodyPr wrap="square" lIns="0" tIns="0" rIns="0" bIns="0" rtlCol="0" anchor="t"/>
          <a:lstStyle/>
          <a:p>
            <a:pPr algn="ctr" indent="0" marL="0">
              <a:buNone/>
            </a:pPr>
            <a:r>
              <a:rPr lang="en-US" sz="1400" b="1" dirty="0">
                <a:solidFill>
                  <a:srgbClr val="5B6578"/>
                </a:solidFill>
                <a:latin typeface="Calibri" pitchFamily="34" charset="0"/>
                <a:ea typeface="Calibri" pitchFamily="34" charset="-122"/>
                <a:cs typeface="Calibri" pitchFamily="34" charset="-120"/>
              </a:rPr>
              <a:t>2022</a:t>
            </a:r>
            <a:endParaRPr lang="en-US" sz="1400" dirty="0"/>
          </a:p>
        </p:txBody>
      </p:sp>
      <p:sp>
        <p:nvSpPr>
          <p:cNvPr id="12" name="Text 8"/>
          <p:cNvSpPr txBox="1"/>
          <p:nvPr/>
        </p:nvSpPr>
        <p:spPr>
          <a:xfrm>
            <a:off x="2840675" y="299008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Embedded SW intern</a:t>
            </a:r>
            <a:endParaRPr lang="en-US" sz="1400" dirty="0"/>
          </a:p>
        </p:txBody>
      </p:sp>
      <p:sp>
        <p:nvSpPr>
          <p:cNvPr id="13" name="Text 9"/>
          <p:cNvSpPr txBox="1"/>
          <p:nvPr/>
        </p:nvSpPr>
        <p:spPr>
          <a:xfrm>
            <a:off x="2858963" y="355701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Drivers, firmware unit &amp; functional testing</a:t>
            </a:r>
            <a:endParaRPr lang="en-US" sz="1200" dirty="0"/>
          </a:p>
        </p:txBody>
      </p:sp>
      <p:sp>
        <p:nvSpPr>
          <p:cNvPr id="14" name="Shape 10"/>
          <p:cNvSpPr/>
          <p:nvPr/>
        </p:nvSpPr>
        <p:spPr>
          <a:xfrm>
            <a:off x="5803240" y="1965960"/>
            <a:ext cx="585216" cy="585216"/>
          </a:xfrm>
          <a:prstGeom prst="ellipse">
            <a:avLst/>
          </a:prstGeom>
          <a:solidFill>
            <a:srgbClr val="3567C8"/>
          </a:solidFill>
          <a:ln w="12700">
            <a:solidFill>
              <a:srgbClr val="3567C8"/>
            </a:solidFill>
            <a:prstDash val="solid"/>
          </a:ln>
        </p:spPr>
      </p:sp>
      <p:pic>
        <p:nvPicPr>
          <p:cNvPr id="15" name="Image 2" descr="preencoded.png">    </p:cNvPr>
          <p:cNvPicPr>
            <a:picLocks noChangeAspect="1"/>
          </p:cNvPicPr>
          <p:nvPr/>
        </p:nvPicPr>
        <p:blipFill>
          <a:blip r:embed="rId3"/>
          <a:stretch>
            <a:fillRect/>
          </a:stretch>
        </p:blipFill>
        <p:spPr>
          <a:xfrm>
            <a:off x="5949544" y="2112264"/>
            <a:ext cx="292608" cy="292608"/>
          </a:xfrm>
          <a:prstGeom prst="rect">
            <a:avLst/>
          </a:prstGeom>
        </p:spPr>
      </p:pic>
      <p:sp>
        <p:nvSpPr>
          <p:cNvPr id="16" name="Text 11"/>
          <p:cNvSpPr txBox="1"/>
          <p:nvPr/>
        </p:nvSpPr>
        <p:spPr>
          <a:xfrm>
            <a:off x="4986406" y="2679192"/>
            <a:ext cx="2218883" cy="320040"/>
          </a:xfrm>
          <a:prstGeom prst="rect">
            <a:avLst/>
          </a:prstGeom>
          <a:noFill/>
          <a:ln/>
        </p:spPr>
        <p:txBody>
          <a:bodyPr wrap="square" lIns="0" tIns="0" rIns="0" bIns="0" rtlCol="0" anchor="t"/>
          <a:lstStyle/>
          <a:p>
            <a:pPr algn="ctr" indent="0" marL="0">
              <a:buNone/>
            </a:pPr>
            <a:r>
              <a:rPr lang="en-US" sz="1400" b="1" dirty="0">
                <a:solidFill>
                  <a:srgbClr val="3567C8"/>
                </a:solidFill>
                <a:latin typeface="Calibri" pitchFamily="34" charset="0"/>
                <a:ea typeface="Calibri" pitchFamily="34" charset="-122"/>
                <a:cs typeface="Calibri" pitchFamily="34" charset="-120"/>
              </a:rPr>
              <a:t>2022–24</a:t>
            </a:r>
            <a:endParaRPr lang="en-US" sz="1400" dirty="0"/>
          </a:p>
        </p:txBody>
      </p:sp>
      <p:sp>
        <p:nvSpPr>
          <p:cNvPr id="17" name="Text 12"/>
          <p:cNvSpPr txBox="1"/>
          <p:nvPr/>
        </p:nvSpPr>
        <p:spPr>
          <a:xfrm>
            <a:off x="5059558" y="299008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Embedded SW test engineer · Bosch</a:t>
            </a:r>
            <a:endParaRPr lang="en-US" sz="1400" dirty="0"/>
          </a:p>
        </p:txBody>
      </p:sp>
      <p:sp>
        <p:nvSpPr>
          <p:cNvPr id="18" name="Text 13"/>
          <p:cNvSpPr txBox="1"/>
          <p:nvPr/>
        </p:nvSpPr>
        <p:spPr>
          <a:xfrm>
            <a:off x="5077846" y="355701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Automotive ECU testing for OEMs · AUTOSAR, MISRA-C, ASPICE, CAPL</a:t>
            </a:r>
            <a:endParaRPr lang="en-US" sz="1200" dirty="0"/>
          </a:p>
        </p:txBody>
      </p:sp>
      <p:sp>
        <p:nvSpPr>
          <p:cNvPr id="19" name="Shape 14"/>
          <p:cNvSpPr/>
          <p:nvPr/>
        </p:nvSpPr>
        <p:spPr>
          <a:xfrm>
            <a:off x="8022123" y="1965960"/>
            <a:ext cx="585216" cy="585216"/>
          </a:xfrm>
          <a:prstGeom prst="ellipse">
            <a:avLst/>
          </a:prstGeom>
          <a:solidFill>
            <a:srgbClr val="0F8B8D"/>
          </a:solidFill>
          <a:ln w="12700">
            <a:solidFill>
              <a:srgbClr val="0F8B8D"/>
            </a:solidFill>
            <a:prstDash val="solid"/>
          </a:ln>
        </p:spPr>
      </p:sp>
      <p:pic>
        <p:nvPicPr>
          <p:cNvPr id="20" name="Image 3" descr="preencoded.png">    </p:cNvPr>
          <p:cNvPicPr>
            <a:picLocks noChangeAspect="1"/>
          </p:cNvPicPr>
          <p:nvPr/>
        </p:nvPicPr>
        <p:blipFill>
          <a:blip r:embed="rId4"/>
          <a:stretch>
            <a:fillRect/>
          </a:stretch>
        </p:blipFill>
        <p:spPr>
          <a:xfrm>
            <a:off x="8168427" y="2112264"/>
            <a:ext cx="292608" cy="292608"/>
          </a:xfrm>
          <a:prstGeom prst="rect">
            <a:avLst/>
          </a:prstGeom>
        </p:spPr>
      </p:pic>
      <p:sp>
        <p:nvSpPr>
          <p:cNvPr id="21" name="Text 15"/>
          <p:cNvSpPr txBox="1"/>
          <p:nvPr/>
        </p:nvSpPr>
        <p:spPr>
          <a:xfrm>
            <a:off x="7205289" y="2679192"/>
            <a:ext cx="2218883" cy="320040"/>
          </a:xfrm>
          <a:prstGeom prst="rect">
            <a:avLst/>
          </a:prstGeom>
          <a:noFill/>
          <a:ln/>
        </p:spPr>
        <p:txBody>
          <a:bodyPr wrap="square" lIns="0" tIns="0" rIns="0" bIns="0" rtlCol="0" anchor="t"/>
          <a:lstStyle/>
          <a:p>
            <a:pPr algn="ctr" indent="0" marL="0">
              <a:buNone/>
            </a:pPr>
            <a:r>
              <a:rPr lang="en-US" sz="1400" b="1" dirty="0">
                <a:solidFill>
                  <a:srgbClr val="0F8B8D"/>
                </a:solidFill>
                <a:latin typeface="Calibri" pitchFamily="34" charset="0"/>
                <a:ea typeface="Calibri" pitchFamily="34" charset="-122"/>
                <a:cs typeface="Calibri" pitchFamily="34" charset="-120"/>
              </a:rPr>
              <a:t>2024–26</a:t>
            </a:r>
            <a:endParaRPr lang="en-US" sz="1400" dirty="0"/>
          </a:p>
        </p:txBody>
      </p:sp>
      <p:sp>
        <p:nvSpPr>
          <p:cNvPr id="22" name="Text 16"/>
          <p:cNvSpPr txBox="1"/>
          <p:nvPr/>
        </p:nvSpPr>
        <p:spPr>
          <a:xfrm>
            <a:off x="7278441" y="299008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M.S. Computer Science · KNU</a:t>
            </a:r>
            <a:endParaRPr lang="en-US" sz="1400" dirty="0"/>
          </a:p>
        </p:txBody>
      </p:sp>
      <p:sp>
        <p:nvSpPr>
          <p:cNvPr id="23" name="Text 17"/>
          <p:cNvSpPr txBox="1"/>
          <p:nvPr/>
        </p:nvSpPr>
        <p:spPr>
          <a:xfrm>
            <a:off x="7296729" y="355701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Software Safety Eng. Lab · GPA 4.25/4.30 · falsification &amp; property-based testing</a:t>
            </a:r>
            <a:endParaRPr lang="en-US" sz="1200" dirty="0"/>
          </a:p>
        </p:txBody>
      </p:sp>
      <p:sp>
        <p:nvSpPr>
          <p:cNvPr id="24" name="Shape 18"/>
          <p:cNvSpPr/>
          <p:nvPr/>
        </p:nvSpPr>
        <p:spPr>
          <a:xfrm>
            <a:off x="10241006" y="1965960"/>
            <a:ext cx="585216" cy="585216"/>
          </a:xfrm>
          <a:prstGeom prst="ellipse">
            <a:avLst/>
          </a:prstGeom>
          <a:solidFill>
            <a:srgbClr val="E39B2D"/>
          </a:solidFill>
          <a:ln w="12700">
            <a:solidFill>
              <a:srgbClr val="E39B2D"/>
            </a:solidFill>
            <a:prstDash val="solid"/>
          </a:ln>
        </p:spPr>
      </p:sp>
      <p:pic>
        <p:nvPicPr>
          <p:cNvPr id="25" name="Image 4" descr="preencoded.png">    </p:cNvPr>
          <p:cNvPicPr>
            <a:picLocks noChangeAspect="1"/>
          </p:cNvPicPr>
          <p:nvPr/>
        </p:nvPicPr>
        <p:blipFill>
          <a:blip r:embed="rId5"/>
          <a:stretch>
            <a:fillRect/>
          </a:stretch>
        </p:blipFill>
        <p:spPr>
          <a:xfrm>
            <a:off x="10387310" y="2112264"/>
            <a:ext cx="292608" cy="292608"/>
          </a:xfrm>
          <a:prstGeom prst="rect">
            <a:avLst/>
          </a:prstGeom>
        </p:spPr>
      </p:pic>
      <p:sp>
        <p:nvSpPr>
          <p:cNvPr id="26" name="Text 19"/>
          <p:cNvSpPr txBox="1"/>
          <p:nvPr/>
        </p:nvSpPr>
        <p:spPr>
          <a:xfrm>
            <a:off x="9424172" y="2679192"/>
            <a:ext cx="2218883" cy="320040"/>
          </a:xfrm>
          <a:prstGeom prst="rect">
            <a:avLst/>
          </a:prstGeom>
          <a:noFill/>
          <a:ln/>
        </p:spPr>
        <p:txBody>
          <a:bodyPr wrap="square" lIns="0" tIns="0" rIns="0" bIns="0" rtlCol="0" anchor="t"/>
          <a:lstStyle/>
          <a:p>
            <a:pPr algn="ctr" indent="0" marL="0">
              <a:buNone/>
            </a:pPr>
            <a:r>
              <a:rPr lang="en-US" sz="1400" b="1" dirty="0">
                <a:solidFill>
                  <a:srgbClr val="E39B2D"/>
                </a:solidFill>
                <a:latin typeface="Calibri" pitchFamily="34" charset="0"/>
                <a:ea typeface="Calibri" pitchFamily="34" charset="-122"/>
                <a:cs typeface="Calibri" pitchFamily="34" charset="-120"/>
              </a:rPr>
              <a:t>2026–</a:t>
            </a:r>
            <a:endParaRPr lang="en-US" sz="1400" dirty="0"/>
          </a:p>
        </p:txBody>
      </p:sp>
      <p:sp>
        <p:nvSpPr>
          <p:cNvPr id="27" name="Text 20"/>
          <p:cNvSpPr txBox="1"/>
          <p:nvPr/>
        </p:nvSpPr>
        <p:spPr>
          <a:xfrm>
            <a:off x="9497324" y="299008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Software test engineer · industry</a:t>
            </a:r>
            <a:endParaRPr lang="en-US" sz="1400" dirty="0"/>
          </a:p>
        </p:txBody>
      </p:sp>
      <p:sp>
        <p:nvSpPr>
          <p:cNvPr id="28" name="Text 21"/>
          <p:cNvSpPr txBox="1"/>
          <p:nvPr/>
        </p:nvSpPr>
        <p:spPr>
          <a:xfrm>
            <a:off x="9515612" y="355701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Web/API/system testing · LLM, RAG &amp; MCP-based test generation</a:t>
            </a:r>
            <a:endParaRPr lang="en-US" sz="1200" dirty="0"/>
          </a:p>
        </p:txBody>
      </p:sp>
      <p:sp>
        <p:nvSpPr>
          <p:cNvPr id="29" name="Shape 22"/>
          <p:cNvSpPr/>
          <p:nvPr/>
        </p:nvSpPr>
        <p:spPr>
          <a:xfrm>
            <a:off x="548640" y="4754880"/>
            <a:ext cx="11094415" cy="1234440"/>
          </a:xfrm>
          <a:prstGeom prst="roundRect">
            <a:avLst>
              <a:gd name="adj" fmla="val 8889"/>
            </a:avLst>
          </a:prstGeom>
          <a:solidFill>
            <a:srgbClr val="F2F5F9"/>
          </a:solidFill>
          <a:ln w="12700">
            <a:solidFill>
              <a:srgbClr val="F2F5F9"/>
            </a:solidFill>
            <a:prstDash val="solid"/>
          </a:ln>
        </p:spPr>
      </p:sp>
      <p:sp>
        <p:nvSpPr>
          <p:cNvPr id="30" name="Text 23"/>
          <p:cNvSpPr txBox="1"/>
          <p:nvPr/>
        </p:nvSpPr>
        <p:spPr>
          <a:xfrm>
            <a:off x="822960" y="4919472"/>
            <a:ext cx="10545775" cy="914400"/>
          </a:xfrm>
          <a:prstGeom prst="rect">
            <a:avLst/>
          </a:prstGeom>
          <a:noFill/>
          <a:ln/>
        </p:spPr>
        <p:txBody>
          <a:bodyPr wrap="square" lIns="0" tIns="0" rIns="0" bIns="0" rtlCol="0" anchor="ctr"/>
          <a:lstStyle/>
          <a:p>
            <a:pPr indent="0" marL="0">
              <a:spcAft>
                <a:spcPts val="600"/>
              </a:spcAft>
              <a:buNone/>
            </a:pPr>
            <a:r>
              <a:rPr lang="en-US" sz="1400" b="1" dirty="0">
                <a:solidFill>
                  <a:srgbClr val="0F8B8D"/>
                </a:solidFill>
                <a:latin typeface="Calibri" pitchFamily="34" charset="0"/>
                <a:ea typeface="Calibri" pitchFamily="34" charset="-122"/>
                <a:cs typeface="Calibri" pitchFamily="34" charset="-120"/>
              </a:rPr>
              <a:t>Thesis  </a:t>
            </a:r>
            <a:pPr indent="0" marL="0">
              <a:spcAft>
                <a:spcPts val="600"/>
              </a:spcAft>
              <a:buNone/>
            </a:pPr>
            <a:r>
              <a:rPr lang="en-US" sz="1400" dirty="0">
                <a:solidFill>
                  <a:srgbClr val="1E2533"/>
                </a:solidFill>
                <a:latin typeface="Calibri" pitchFamily="34" charset="0"/>
                <a:ea typeface="Calibri" pitchFamily="34" charset="-122"/>
                <a:cs typeface="Calibri" pitchFamily="34" charset="-120"/>
              </a:rPr>
              <a:t>Towards Efficient Function Abstraction via Active Learning for Property Falsification (advisor: Prof. Yunja Choi)</a:t>
            </a:r>
            <a:endParaRPr lang="en-US" sz="1400" dirty="0"/>
          </a:p>
          <a:p>
            <a:pPr indent="0" marL="0">
              <a:spcAft>
                <a:spcPts val="600"/>
              </a:spcAft>
              <a:buNone/>
            </a:pPr>
            <a:r>
              <a:rPr lang="en-US" sz="1400" b="1" dirty="0">
                <a:solidFill>
                  <a:srgbClr val="0F8B8D"/>
                </a:solidFill>
                <a:latin typeface="Calibri" pitchFamily="34" charset="0"/>
                <a:ea typeface="Calibri" pitchFamily="34" charset="-122"/>
                <a:cs typeface="Calibri" pitchFamily="34" charset="-120"/>
              </a:rPr>
              <a:t>Papers  </a:t>
            </a:r>
            <a:pPr indent="0" marL="0">
              <a:spcAft>
                <a:spcPts val="600"/>
              </a:spcAft>
              <a:buNone/>
            </a:pPr>
            <a:r>
              <a:rPr lang="en-US" sz="1400" dirty="0">
                <a:solidFill>
                  <a:srgbClr val="1E2533"/>
                </a:solidFill>
                <a:latin typeface="Calibri" pitchFamily="34" charset="0"/>
                <a:ea typeface="Calibri" pitchFamily="34" charset="-122"/>
                <a:cs typeface="Calibri" pitchFamily="34" charset="-120"/>
              </a:rPr>
              <a:t>Test generation for property checking (KCC 2025); stateful system, stateless techniques: test generation for controller software (KCSE 2026), with S. Hong and Y. Choi</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What I bring to the preferred profile</a:t>
            </a:r>
            <a:endParaRPr lang="en-US" sz="3000" dirty="0"/>
          </a:p>
        </p:txBody>
      </p:sp>
      <p:sp>
        <p:nvSpPr>
          <p:cNvPr id="3" name="Shape 1"/>
          <p:cNvSpPr/>
          <p:nvPr/>
        </p:nvSpPr>
        <p:spPr>
          <a:xfrm>
            <a:off x="548640" y="1417320"/>
            <a:ext cx="5440680" cy="2011680"/>
          </a:xfrm>
          <a:prstGeom prst="roundRect">
            <a:avLst>
              <a:gd name="adj" fmla="val 5455"/>
            </a:avLst>
          </a:prstGeom>
          <a:solidFill>
            <a:srgbClr val="F2F5F9"/>
          </a:solidFill>
          <a:ln w="12700">
            <a:solidFill>
              <a:srgbClr val="F2F5F9"/>
            </a:solidFill>
            <a:prstDash val="solid"/>
          </a:ln>
        </p:spPr>
      </p:sp>
      <p:sp>
        <p:nvSpPr>
          <p:cNvPr id="4" name="Shape 2"/>
          <p:cNvSpPr/>
          <p:nvPr/>
        </p:nvSpPr>
        <p:spPr>
          <a:xfrm>
            <a:off x="822960" y="1691640"/>
            <a:ext cx="640080" cy="640080"/>
          </a:xfrm>
          <a:prstGeom prst="ellipse">
            <a:avLst/>
          </a:prstGeom>
          <a:solidFill>
            <a:srgbClr val="3567C8"/>
          </a:solidFill>
          <a:ln w="12700">
            <a:solidFill>
              <a:srgbClr val="3567C8"/>
            </a:solidFill>
            <a:prstDash val="solid"/>
          </a:ln>
        </p:spPr>
      </p:sp>
      <p:pic>
        <p:nvPicPr>
          <p:cNvPr id="5" name="Image 0" descr="preencoded.png">    </p:cNvPr>
          <p:cNvPicPr>
            <a:picLocks noChangeAspect="1"/>
          </p:cNvPicPr>
          <p:nvPr/>
        </p:nvPicPr>
        <p:blipFill>
          <a:blip r:embed="rId1"/>
          <a:stretch>
            <a:fillRect/>
          </a:stretch>
        </p:blipFill>
        <p:spPr>
          <a:xfrm>
            <a:off x="982980" y="1851660"/>
            <a:ext cx="320040" cy="320040"/>
          </a:xfrm>
          <a:prstGeom prst="rect">
            <a:avLst/>
          </a:prstGeom>
        </p:spPr>
      </p:pic>
      <p:sp>
        <p:nvSpPr>
          <p:cNvPr id="6" name="Text 3"/>
          <p:cNvSpPr txBox="1"/>
          <p:nvPr/>
        </p:nvSpPr>
        <p:spPr>
          <a:xfrm>
            <a:off x="1645920" y="1709928"/>
            <a:ext cx="4114800" cy="45720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Testing cyber-physical systems</a:t>
            </a:r>
            <a:endParaRPr lang="en-US" sz="1800" dirty="0"/>
          </a:p>
        </p:txBody>
      </p:sp>
      <p:sp>
        <p:nvSpPr>
          <p:cNvPr id="7" name="Text 4"/>
          <p:cNvSpPr txBox="1"/>
          <p:nvPr/>
        </p:nvSpPr>
        <p:spPr>
          <a:xfrm>
            <a:off x="1645920" y="2194560"/>
            <a:ext cx="4114800" cy="109728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Functional and system testing of automotive ECUs (CAN, CAPL, ETAS INCA); robotics (ROS/ROS2) and embedded domains</a:t>
            </a:r>
            <a:endParaRPr lang="en-US" sz="1400" dirty="0"/>
          </a:p>
        </p:txBody>
      </p:sp>
      <p:sp>
        <p:nvSpPr>
          <p:cNvPr id="8" name="Shape 5"/>
          <p:cNvSpPr/>
          <p:nvPr/>
        </p:nvSpPr>
        <p:spPr>
          <a:xfrm>
            <a:off x="6172200" y="1417320"/>
            <a:ext cx="5440680" cy="2011680"/>
          </a:xfrm>
          <a:prstGeom prst="roundRect">
            <a:avLst>
              <a:gd name="adj" fmla="val 5455"/>
            </a:avLst>
          </a:prstGeom>
          <a:solidFill>
            <a:srgbClr val="F2F5F9"/>
          </a:solidFill>
          <a:ln w="12700">
            <a:solidFill>
              <a:srgbClr val="F2F5F9"/>
            </a:solidFill>
            <a:prstDash val="solid"/>
          </a:ln>
        </p:spPr>
      </p:sp>
      <p:sp>
        <p:nvSpPr>
          <p:cNvPr id="9" name="Shape 6"/>
          <p:cNvSpPr/>
          <p:nvPr/>
        </p:nvSpPr>
        <p:spPr>
          <a:xfrm>
            <a:off x="6446520" y="1691640"/>
            <a:ext cx="640080" cy="640080"/>
          </a:xfrm>
          <a:prstGeom prst="ellipse">
            <a:avLst/>
          </a:prstGeom>
          <a:solidFill>
            <a:srgbClr val="0F8B8D"/>
          </a:solidFill>
          <a:ln w="12700">
            <a:solidFill>
              <a:srgbClr val="0F8B8D"/>
            </a:solidFill>
            <a:prstDash val="solid"/>
          </a:ln>
        </p:spPr>
      </p:sp>
      <p:pic>
        <p:nvPicPr>
          <p:cNvPr id="10" name="Image 1" descr="preencoded.png">    </p:cNvPr>
          <p:cNvPicPr>
            <a:picLocks noChangeAspect="1"/>
          </p:cNvPicPr>
          <p:nvPr/>
        </p:nvPicPr>
        <p:blipFill>
          <a:blip r:embed="rId2"/>
          <a:stretch>
            <a:fillRect/>
          </a:stretch>
        </p:blipFill>
        <p:spPr>
          <a:xfrm>
            <a:off x="6606540" y="1851660"/>
            <a:ext cx="320040" cy="320040"/>
          </a:xfrm>
          <a:prstGeom prst="rect">
            <a:avLst/>
          </a:prstGeom>
        </p:spPr>
      </p:pic>
      <p:sp>
        <p:nvSpPr>
          <p:cNvPr id="11" name="Text 7"/>
          <p:cNvSpPr txBox="1"/>
          <p:nvPr/>
        </p:nvSpPr>
        <p:spPr>
          <a:xfrm>
            <a:off x="7269480" y="1709928"/>
            <a:ext cx="4114800" cy="45720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Verification research</a:t>
            </a:r>
            <a:endParaRPr lang="en-US" sz="1800" dirty="0"/>
          </a:p>
        </p:txBody>
      </p:sp>
      <p:sp>
        <p:nvSpPr>
          <p:cNvPr id="12" name="Text 8"/>
          <p:cNvSpPr txBox="1"/>
          <p:nvPr/>
        </p:nvSpPr>
        <p:spPr>
          <a:xfrm>
            <a:off x="7269480" y="2194560"/>
            <a:ext cx="4114800" cy="109728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Falsification of safety and security properties, function abstraction via active learning, property-based testing — robustness-guided search like FalsifAI [14]</a:t>
            </a:r>
            <a:endParaRPr lang="en-US" sz="1400" dirty="0"/>
          </a:p>
        </p:txBody>
      </p:sp>
      <p:sp>
        <p:nvSpPr>
          <p:cNvPr id="13" name="Shape 9"/>
          <p:cNvSpPr/>
          <p:nvPr/>
        </p:nvSpPr>
        <p:spPr>
          <a:xfrm>
            <a:off x="548640" y="3657600"/>
            <a:ext cx="5440680" cy="2011680"/>
          </a:xfrm>
          <a:prstGeom prst="roundRect">
            <a:avLst>
              <a:gd name="adj" fmla="val 5455"/>
            </a:avLst>
          </a:prstGeom>
          <a:solidFill>
            <a:srgbClr val="F2F5F9"/>
          </a:solidFill>
          <a:ln w="12700">
            <a:solidFill>
              <a:srgbClr val="F2F5F9"/>
            </a:solidFill>
            <a:prstDash val="solid"/>
          </a:ln>
        </p:spPr>
      </p:sp>
      <p:sp>
        <p:nvSpPr>
          <p:cNvPr id="14" name="Shape 10"/>
          <p:cNvSpPr/>
          <p:nvPr/>
        </p:nvSpPr>
        <p:spPr>
          <a:xfrm>
            <a:off x="822960" y="3931920"/>
            <a:ext cx="640080" cy="640080"/>
          </a:xfrm>
          <a:prstGeom prst="ellipse">
            <a:avLst/>
          </a:prstGeom>
          <a:solidFill>
            <a:srgbClr val="E39B2D"/>
          </a:solidFill>
          <a:ln w="12700">
            <a:solidFill>
              <a:srgbClr val="E39B2D"/>
            </a:solidFill>
            <a:prstDash val="solid"/>
          </a:ln>
        </p:spPr>
      </p:sp>
      <p:pic>
        <p:nvPicPr>
          <p:cNvPr id="15" name="Image 2" descr="preencoded.png">    </p:cNvPr>
          <p:cNvPicPr>
            <a:picLocks noChangeAspect="1"/>
          </p:cNvPicPr>
          <p:nvPr/>
        </p:nvPicPr>
        <p:blipFill>
          <a:blip r:embed="rId3"/>
          <a:stretch>
            <a:fillRect/>
          </a:stretch>
        </p:blipFill>
        <p:spPr>
          <a:xfrm>
            <a:off x="982980" y="4091940"/>
            <a:ext cx="320040" cy="320040"/>
          </a:xfrm>
          <a:prstGeom prst="rect">
            <a:avLst/>
          </a:prstGeom>
        </p:spPr>
      </p:pic>
      <p:sp>
        <p:nvSpPr>
          <p:cNvPr id="16" name="Text 11"/>
          <p:cNvSpPr txBox="1"/>
          <p:nvPr/>
        </p:nvSpPr>
        <p:spPr>
          <a:xfrm>
            <a:off x="1645920" y="3950208"/>
            <a:ext cx="4114800" cy="45720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LLMs for quality engineering</a:t>
            </a:r>
            <a:endParaRPr lang="en-US" sz="1800" dirty="0"/>
          </a:p>
        </p:txBody>
      </p:sp>
      <p:sp>
        <p:nvSpPr>
          <p:cNvPr id="17" name="Text 12"/>
          <p:cNvSpPr txBox="1"/>
          <p:nvPr/>
        </p:nvSpPr>
        <p:spPr>
          <a:xfrm>
            <a:off x="1645920" y="4434840"/>
            <a:ext cx="4114800" cy="109728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LLM-assisted test-case generation, RAG over requirements, MCP-based agentic test workflows used in daily industrial testing</a:t>
            </a:r>
            <a:endParaRPr lang="en-US" sz="1400" dirty="0"/>
          </a:p>
        </p:txBody>
      </p:sp>
      <p:sp>
        <p:nvSpPr>
          <p:cNvPr id="18" name="Shape 13"/>
          <p:cNvSpPr/>
          <p:nvPr/>
        </p:nvSpPr>
        <p:spPr>
          <a:xfrm>
            <a:off x="6172200" y="3657600"/>
            <a:ext cx="5440680" cy="2011680"/>
          </a:xfrm>
          <a:prstGeom prst="roundRect">
            <a:avLst>
              <a:gd name="adj" fmla="val 5455"/>
            </a:avLst>
          </a:prstGeom>
          <a:solidFill>
            <a:srgbClr val="F2F5F9"/>
          </a:solidFill>
          <a:ln w="12700">
            <a:solidFill>
              <a:srgbClr val="F2F5F9"/>
            </a:solidFill>
            <a:prstDash val="solid"/>
          </a:ln>
        </p:spPr>
      </p:sp>
      <p:sp>
        <p:nvSpPr>
          <p:cNvPr id="19" name="Shape 14"/>
          <p:cNvSpPr/>
          <p:nvPr/>
        </p:nvSpPr>
        <p:spPr>
          <a:xfrm>
            <a:off x="6446520" y="3931920"/>
            <a:ext cx="640080" cy="640080"/>
          </a:xfrm>
          <a:prstGeom prst="ellipse">
            <a:avLst/>
          </a:prstGeom>
          <a:solidFill>
            <a:srgbClr val="6E56CF"/>
          </a:solidFill>
          <a:ln w="12700">
            <a:solidFill>
              <a:srgbClr val="6E56CF"/>
            </a:solidFill>
            <a:prstDash val="solid"/>
          </a:ln>
        </p:spPr>
      </p:sp>
      <p:pic>
        <p:nvPicPr>
          <p:cNvPr id="20" name="Image 3" descr="preencoded.png">    </p:cNvPr>
          <p:cNvPicPr>
            <a:picLocks noChangeAspect="1"/>
          </p:cNvPicPr>
          <p:nvPr/>
        </p:nvPicPr>
        <p:blipFill>
          <a:blip r:embed="rId4"/>
          <a:stretch>
            <a:fillRect/>
          </a:stretch>
        </p:blipFill>
        <p:spPr>
          <a:xfrm>
            <a:off x="6606540" y="4091940"/>
            <a:ext cx="320040" cy="320040"/>
          </a:xfrm>
          <a:prstGeom prst="rect">
            <a:avLst/>
          </a:prstGeom>
        </p:spPr>
      </p:pic>
      <p:sp>
        <p:nvSpPr>
          <p:cNvPr id="21" name="Text 15"/>
          <p:cNvSpPr txBox="1"/>
          <p:nvPr/>
        </p:nvSpPr>
        <p:spPr>
          <a:xfrm>
            <a:off x="7269480" y="3950208"/>
            <a:ext cx="4114800" cy="45720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Python &amp; empirical studies</a:t>
            </a:r>
            <a:endParaRPr lang="en-US" sz="1800" dirty="0"/>
          </a:p>
        </p:txBody>
      </p:sp>
      <p:sp>
        <p:nvSpPr>
          <p:cNvPr id="22" name="Text 16"/>
          <p:cNvSpPr txBox="1"/>
          <p:nvPr/>
        </p:nvSpPr>
        <p:spPr>
          <a:xfrm>
            <a:off x="7269480" y="4434840"/>
            <a:ext cx="4114800" cy="109728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Python, C/C++, TypeScript; controlled experiments on test generators (KCC'25, KCSE'26); the prototype and experiment in this talk</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LLMs now write tests for safety-relevant systems — confidently</a:t>
            </a:r>
            <a:endParaRPr lang="en-US" sz="3000" dirty="0"/>
          </a:p>
        </p:txBody>
      </p:sp>
      <p:sp>
        <p:nvSpPr>
          <p:cNvPr id="3" name="Text 1"/>
          <p:cNvSpPr txBox="1"/>
          <p:nvPr/>
        </p:nvSpPr>
        <p:spPr>
          <a:xfrm>
            <a:off x="548640" y="1463040"/>
            <a:ext cx="6217920" cy="4114800"/>
          </a:xfrm>
          <a:prstGeom prst="rect">
            <a:avLst/>
          </a:prstGeom>
          <a:noFill/>
          <a:ln/>
        </p:spPr>
        <p:txBody>
          <a:bodyPr wrap="square" lIns="0" tIns="0" rIns="0" bIns="0" rtlCol="0" anchor="t"/>
          <a:lstStyle/>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Foundation models enter CPS engineering: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scenario realism checks, oracles, digital twins, robot testing [8, 10, 11, 7]</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LLM test generation is now mainstream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in software testing research [27]</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But a well-formed test can still be wrong: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it may miss the requirement, carry a wrong oracle, or catch no fault</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In ACPS a wrong test is a safety risk: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false confidence in an emergency-braking or cut-in function</a:t>
            </a:r>
            <a:endParaRPr lang="en-US" sz="1800" dirty="0"/>
          </a:p>
        </p:txBody>
      </p:sp>
      <p:sp>
        <p:nvSpPr>
          <p:cNvPr id="4" name="Shape 2"/>
          <p:cNvSpPr/>
          <p:nvPr/>
        </p:nvSpPr>
        <p:spPr>
          <a:xfrm>
            <a:off x="7086600" y="1417320"/>
            <a:ext cx="4553712" cy="4114800"/>
          </a:xfrm>
          <a:prstGeom prst="roundRect">
            <a:avLst>
              <a:gd name="adj" fmla="val 2667"/>
            </a:avLst>
          </a:prstGeom>
          <a:solidFill>
            <a:srgbClr val="13213C"/>
          </a:solidFill>
          <a:ln w="12700">
            <a:solidFill>
              <a:srgbClr val="13213C"/>
            </a:solidFill>
            <a:prstDash val="solid"/>
          </a:ln>
        </p:spPr>
      </p:sp>
      <p:sp>
        <p:nvSpPr>
          <p:cNvPr id="5" name="Text 3"/>
          <p:cNvSpPr txBox="1"/>
          <p:nvPr/>
        </p:nvSpPr>
        <p:spPr>
          <a:xfrm>
            <a:off x="7360920" y="1645920"/>
            <a:ext cx="4023360" cy="365760"/>
          </a:xfrm>
          <a:prstGeom prst="rect">
            <a:avLst/>
          </a:prstGeom>
          <a:noFill/>
          <a:ln/>
        </p:spPr>
        <p:txBody>
          <a:bodyPr wrap="square" lIns="0" tIns="0" rIns="0" bIns="0" rtlCol="0" anchor="t"/>
          <a:lstStyle/>
          <a:p>
            <a:pPr indent="0" marL="0">
              <a:buNone/>
            </a:pPr>
            <a:r>
              <a:rPr lang="en-US" sz="1400" b="1" dirty="0">
                <a:solidFill>
                  <a:srgbClr val="CFE3F1"/>
                </a:solidFill>
                <a:latin typeface="Calibri" pitchFamily="34" charset="0"/>
                <a:ea typeface="Calibri" pitchFamily="34" charset="-122"/>
                <a:cs typeface="Calibri" pitchFamily="34" charset="-120"/>
              </a:rPr>
              <a:t>In my experiment (gpt-5.6-luna, 70 tests)</a:t>
            </a:r>
            <a:endParaRPr lang="en-US" sz="1400" dirty="0"/>
          </a:p>
        </p:txBody>
      </p:sp>
      <p:sp>
        <p:nvSpPr>
          <p:cNvPr id="6" name="Text 4"/>
          <p:cNvSpPr txBox="1"/>
          <p:nvPr/>
        </p:nvSpPr>
        <p:spPr>
          <a:xfrm>
            <a:off x="7360920" y="2057400"/>
            <a:ext cx="4023360" cy="91440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97%</a:t>
            </a:r>
            <a:endParaRPr lang="en-US" sz="6000" dirty="0"/>
          </a:p>
        </p:txBody>
      </p:sp>
      <p:sp>
        <p:nvSpPr>
          <p:cNvPr id="7" name="Text 5"/>
          <p:cNvSpPr txBox="1"/>
          <p:nvPr/>
        </p:nvSpPr>
        <p:spPr>
          <a:xfrm>
            <a:off x="7360920" y="2971800"/>
            <a:ext cx="4023360" cy="365760"/>
          </a:xfrm>
          <a:prstGeom prst="rect">
            <a:avLst/>
          </a:prstGeom>
          <a:noFill/>
          <a:ln/>
        </p:spPr>
        <p:txBody>
          <a:bodyPr wrap="square" lIns="0" tIns="0" rIns="0" bIns="0" rtlCol="0" anchor="t"/>
          <a:lstStyle/>
          <a:p>
            <a:pPr indent="0" marL="0">
              <a:buNone/>
            </a:pPr>
            <a:r>
              <a:rPr lang="en-US" sz="1400" dirty="0">
                <a:solidFill>
                  <a:srgbClr val="CFE3F1"/>
                </a:solidFill>
                <a:latin typeface="Calibri" pitchFamily="34" charset="0"/>
                <a:ea typeface="Calibri" pitchFamily="34" charset="-122"/>
                <a:cs typeface="Calibri" pitchFamily="34" charset="-120"/>
              </a:rPr>
              <a:t>average self-reported confidence</a:t>
            </a:r>
            <a:endParaRPr lang="en-US" sz="1400" dirty="0"/>
          </a:p>
        </p:txBody>
      </p:sp>
      <p:sp>
        <p:nvSpPr>
          <p:cNvPr id="8" name="Text 6"/>
          <p:cNvSpPr txBox="1"/>
          <p:nvPr/>
        </p:nvSpPr>
        <p:spPr>
          <a:xfrm>
            <a:off x="7360920" y="3520440"/>
            <a:ext cx="4023360" cy="914400"/>
          </a:xfrm>
          <a:prstGeom prst="rect">
            <a:avLst/>
          </a:prstGeom>
          <a:noFill/>
          <a:ln/>
        </p:spPr>
        <p:txBody>
          <a:bodyPr wrap="square" lIns="0" tIns="0" rIns="0" bIns="0" rtlCol="0" anchor="t"/>
          <a:lstStyle/>
          <a:p>
            <a:pPr indent="0" marL="0">
              <a:buNone/>
            </a:pPr>
            <a:r>
              <a:rPr lang="en-US" sz="6000" b="1" dirty="0">
                <a:solidFill>
                  <a:srgbClr val="E39B2D"/>
                </a:solidFill>
                <a:latin typeface="Cambria" pitchFamily="34" charset="0"/>
                <a:ea typeface="Cambria" pitchFamily="34" charset="-122"/>
                <a:cs typeface="Cambria" pitchFamily="34" charset="-120"/>
              </a:rPr>
              <a:t>87%</a:t>
            </a:r>
            <a:endParaRPr lang="en-US" sz="6000" dirty="0"/>
          </a:p>
        </p:txBody>
      </p:sp>
      <p:sp>
        <p:nvSpPr>
          <p:cNvPr id="9" name="Text 7"/>
          <p:cNvSpPr txBox="1"/>
          <p:nvPr/>
        </p:nvSpPr>
        <p:spPr>
          <a:xfrm>
            <a:off x="7360920" y="4434840"/>
            <a:ext cx="4023360" cy="640080"/>
          </a:xfrm>
          <a:prstGeom prst="rect">
            <a:avLst/>
          </a:prstGeom>
          <a:noFill/>
          <a:ln/>
        </p:spPr>
        <p:txBody>
          <a:bodyPr wrap="square" lIns="0" tIns="0" rIns="0" bIns="0" rtlCol="0" anchor="t"/>
          <a:lstStyle/>
          <a:p>
            <a:pPr indent="0" marL="0">
              <a:buNone/>
            </a:pPr>
            <a:r>
              <a:rPr lang="en-US" sz="1400" dirty="0">
                <a:solidFill>
                  <a:srgbClr val="CFE3F1"/>
                </a:solidFill>
                <a:latin typeface="Calibri" pitchFamily="34" charset="0"/>
                <a:ea typeface="Calibri" pitchFamily="34" charset="-122"/>
                <a:cs typeface="Calibri" pitchFamily="34" charset="-120"/>
              </a:rPr>
              <a:t>of its tests are actually correct (fault-injection ground truth)</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The position's four objectives, as research questions</a:t>
            </a:r>
            <a:endParaRPr lang="en-US" sz="3000" dirty="0"/>
          </a:p>
        </p:txBody>
      </p:sp>
      <p:sp>
        <p:nvSpPr>
          <p:cNvPr id="3" name="Shape 1"/>
          <p:cNvSpPr/>
          <p:nvPr/>
        </p:nvSpPr>
        <p:spPr>
          <a:xfrm>
            <a:off x="548640" y="1463040"/>
            <a:ext cx="2633472" cy="3931920"/>
          </a:xfrm>
          <a:prstGeom prst="roundRect">
            <a:avLst>
              <a:gd name="adj" fmla="val 4167"/>
            </a:avLst>
          </a:prstGeom>
          <a:solidFill>
            <a:srgbClr val="F2F5F9"/>
          </a:solidFill>
          <a:ln w="12700">
            <a:solidFill>
              <a:srgbClr val="F2F5F9"/>
            </a:solidFill>
            <a:prstDash val="solid"/>
          </a:ln>
        </p:spPr>
      </p:sp>
      <p:sp>
        <p:nvSpPr>
          <p:cNvPr id="4" name="Shape 2"/>
          <p:cNvSpPr/>
          <p:nvPr/>
        </p:nvSpPr>
        <p:spPr>
          <a:xfrm>
            <a:off x="822960" y="1737360"/>
            <a:ext cx="685800" cy="685800"/>
          </a:xfrm>
          <a:prstGeom prst="ellipse">
            <a:avLst/>
          </a:prstGeom>
          <a:solidFill>
            <a:srgbClr val="0F8B8D"/>
          </a:solidFill>
          <a:ln w="12700">
            <a:solidFill>
              <a:srgbClr val="0F8B8D"/>
            </a:solidFill>
            <a:prstDash val="solid"/>
          </a:ln>
        </p:spPr>
      </p:sp>
      <p:pic>
        <p:nvPicPr>
          <p:cNvPr id="5" name="Image 0" descr="preencoded.png">    </p:cNvPr>
          <p:cNvPicPr>
            <a:picLocks noChangeAspect="1"/>
          </p:cNvPicPr>
          <p:nvPr/>
        </p:nvPicPr>
        <p:blipFill>
          <a:blip r:embed="rId1"/>
          <a:stretch>
            <a:fillRect/>
          </a:stretch>
        </p:blipFill>
        <p:spPr>
          <a:xfrm>
            <a:off x="994410" y="1908810"/>
            <a:ext cx="342900" cy="342900"/>
          </a:xfrm>
          <a:prstGeom prst="rect">
            <a:avLst/>
          </a:prstGeom>
        </p:spPr>
      </p:pic>
      <p:sp>
        <p:nvSpPr>
          <p:cNvPr id="6" name="Text 3"/>
          <p:cNvSpPr txBox="1"/>
          <p:nvPr/>
        </p:nvSpPr>
        <p:spPr>
          <a:xfrm>
            <a:off x="1645920" y="1810512"/>
            <a:ext cx="1280160" cy="548640"/>
          </a:xfrm>
          <a:prstGeom prst="rect">
            <a:avLst/>
          </a:prstGeom>
          <a:noFill/>
          <a:ln/>
        </p:spPr>
        <p:txBody>
          <a:bodyPr wrap="square" lIns="0" tIns="0" rIns="0" bIns="0" rtlCol="0" anchor="t"/>
          <a:lstStyle/>
          <a:p>
            <a:pPr indent="0" marL="0">
              <a:buNone/>
            </a:pPr>
            <a:r>
              <a:rPr lang="en-US" sz="2800" b="1" dirty="0">
                <a:solidFill>
                  <a:srgbClr val="0F8B8D"/>
                </a:solidFill>
                <a:latin typeface="Calibri" pitchFamily="34" charset="0"/>
                <a:ea typeface="Calibri" pitchFamily="34" charset="-122"/>
                <a:cs typeface="Calibri" pitchFamily="34" charset="-120"/>
              </a:rPr>
              <a:t>O1</a:t>
            </a:r>
            <a:endParaRPr lang="en-US" sz="2800" dirty="0"/>
          </a:p>
        </p:txBody>
      </p:sp>
      <p:sp>
        <p:nvSpPr>
          <p:cNvPr id="7" name="Text 4"/>
          <p:cNvSpPr txBox="1"/>
          <p:nvPr/>
        </p:nvSpPr>
        <p:spPr>
          <a:xfrm>
            <a:off x="822960" y="2651760"/>
            <a:ext cx="2194560" cy="6400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New UQ metrics</a:t>
            </a:r>
            <a:endParaRPr lang="en-US" sz="1800" dirty="0"/>
          </a:p>
        </p:txBody>
      </p:sp>
      <p:sp>
        <p:nvSpPr>
          <p:cNvPr id="8" name="Text 5"/>
          <p:cNvSpPr txBox="1"/>
          <p:nvPr/>
        </p:nvSpPr>
        <p:spPr>
          <a:xfrm>
            <a:off x="822960" y="3337560"/>
            <a:ext cx="2148840" cy="192024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Which signals reveal that an AI-generated test artefact is untrustworthy — for black-box and white-box models?</a:t>
            </a:r>
            <a:endParaRPr lang="en-US" sz="1400" dirty="0"/>
          </a:p>
        </p:txBody>
      </p:sp>
      <p:sp>
        <p:nvSpPr>
          <p:cNvPr id="9" name="Shape 6"/>
          <p:cNvSpPr/>
          <p:nvPr/>
        </p:nvSpPr>
        <p:spPr>
          <a:xfrm>
            <a:off x="3364992" y="1463040"/>
            <a:ext cx="2633472" cy="3931920"/>
          </a:xfrm>
          <a:prstGeom prst="roundRect">
            <a:avLst>
              <a:gd name="adj" fmla="val 4167"/>
            </a:avLst>
          </a:prstGeom>
          <a:solidFill>
            <a:srgbClr val="F2F5F9"/>
          </a:solidFill>
          <a:ln w="12700">
            <a:solidFill>
              <a:srgbClr val="F2F5F9"/>
            </a:solidFill>
            <a:prstDash val="solid"/>
          </a:ln>
        </p:spPr>
      </p:sp>
      <p:sp>
        <p:nvSpPr>
          <p:cNvPr id="10" name="Shape 7"/>
          <p:cNvSpPr/>
          <p:nvPr/>
        </p:nvSpPr>
        <p:spPr>
          <a:xfrm>
            <a:off x="3639312" y="1737360"/>
            <a:ext cx="685800" cy="685800"/>
          </a:xfrm>
          <a:prstGeom prst="ellipse">
            <a:avLst/>
          </a:prstGeom>
          <a:solidFill>
            <a:srgbClr val="3567C8"/>
          </a:solidFill>
          <a:ln w="12700">
            <a:solidFill>
              <a:srgbClr val="3567C8"/>
            </a:solidFill>
            <a:prstDash val="solid"/>
          </a:ln>
        </p:spPr>
      </p:sp>
      <p:pic>
        <p:nvPicPr>
          <p:cNvPr id="11" name="Image 1" descr="preencoded.png">    </p:cNvPr>
          <p:cNvPicPr>
            <a:picLocks noChangeAspect="1"/>
          </p:cNvPicPr>
          <p:nvPr/>
        </p:nvPicPr>
        <p:blipFill>
          <a:blip r:embed="rId2"/>
          <a:stretch>
            <a:fillRect/>
          </a:stretch>
        </p:blipFill>
        <p:spPr>
          <a:xfrm>
            <a:off x="3810762" y="1908810"/>
            <a:ext cx="342900" cy="342900"/>
          </a:xfrm>
          <a:prstGeom prst="rect">
            <a:avLst/>
          </a:prstGeom>
        </p:spPr>
      </p:pic>
      <p:sp>
        <p:nvSpPr>
          <p:cNvPr id="12" name="Text 8"/>
          <p:cNvSpPr txBox="1"/>
          <p:nvPr/>
        </p:nvSpPr>
        <p:spPr>
          <a:xfrm>
            <a:off x="4462272" y="1810512"/>
            <a:ext cx="1280160" cy="548640"/>
          </a:xfrm>
          <a:prstGeom prst="rect">
            <a:avLst/>
          </a:prstGeom>
          <a:noFill/>
          <a:ln/>
        </p:spPr>
        <p:txBody>
          <a:bodyPr wrap="square" lIns="0" tIns="0" rIns="0" bIns="0" rtlCol="0" anchor="t"/>
          <a:lstStyle/>
          <a:p>
            <a:pPr indent="0" marL="0">
              <a:buNone/>
            </a:pPr>
            <a:r>
              <a:rPr lang="en-US" sz="2800" b="1" dirty="0">
                <a:solidFill>
                  <a:srgbClr val="3567C8"/>
                </a:solidFill>
                <a:latin typeface="Calibri" pitchFamily="34" charset="0"/>
                <a:ea typeface="Calibri" pitchFamily="34" charset="-122"/>
                <a:cs typeface="Calibri" pitchFamily="34" charset="-120"/>
              </a:rPr>
              <a:t>O2</a:t>
            </a:r>
            <a:endParaRPr lang="en-US" sz="2800" dirty="0"/>
          </a:p>
        </p:txBody>
      </p:sp>
      <p:sp>
        <p:nvSpPr>
          <p:cNvPr id="13" name="Text 9"/>
          <p:cNvSpPr txBox="1"/>
          <p:nvPr/>
        </p:nvSpPr>
        <p:spPr>
          <a:xfrm>
            <a:off x="3639312" y="2651760"/>
            <a:ext cx="2194560" cy="6400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Risk &amp; trustworthiness</a:t>
            </a:r>
            <a:endParaRPr lang="en-US" sz="1800" dirty="0"/>
          </a:p>
        </p:txBody>
      </p:sp>
      <p:sp>
        <p:nvSpPr>
          <p:cNvPr id="14" name="Text 10"/>
          <p:cNvSpPr txBox="1"/>
          <p:nvPr/>
        </p:nvSpPr>
        <p:spPr>
          <a:xfrm>
            <a:off x="3639312" y="3337560"/>
            <a:ext cx="2148840" cy="192024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How should quantified uncertainty drive accept / review / reject decisions under safety risk?</a:t>
            </a:r>
            <a:endParaRPr lang="en-US" sz="1400" dirty="0"/>
          </a:p>
        </p:txBody>
      </p:sp>
      <p:sp>
        <p:nvSpPr>
          <p:cNvPr id="15" name="Shape 11"/>
          <p:cNvSpPr/>
          <p:nvPr/>
        </p:nvSpPr>
        <p:spPr>
          <a:xfrm>
            <a:off x="6181344" y="1463040"/>
            <a:ext cx="2633472" cy="3931920"/>
          </a:xfrm>
          <a:prstGeom prst="roundRect">
            <a:avLst>
              <a:gd name="adj" fmla="val 4167"/>
            </a:avLst>
          </a:prstGeom>
          <a:solidFill>
            <a:srgbClr val="F2F5F9"/>
          </a:solidFill>
          <a:ln w="12700">
            <a:solidFill>
              <a:srgbClr val="F2F5F9"/>
            </a:solidFill>
            <a:prstDash val="solid"/>
          </a:ln>
        </p:spPr>
      </p:sp>
      <p:sp>
        <p:nvSpPr>
          <p:cNvPr id="16" name="Shape 12"/>
          <p:cNvSpPr/>
          <p:nvPr/>
        </p:nvSpPr>
        <p:spPr>
          <a:xfrm>
            <a:off x="6455664" y="1737360"/>
            <a:ext cx="685800" cy="685800"/>
          </a:xfrm>
          <a:prstGeom prst="ellipse">
            <a:avLst/>
          </a:prstGeom>
          <a:solidFill>
            <a:srgbClr val="E39B2D"/>
          </a:solidFill>
          <a:ln w="12700">
            <a:solidFill>
              <a:srgbClr val="E39B2D"/>
            </a:solidFill>
            <a:prstDash val="solid"/>
          </a:ln>
        </p:spPr>
      </p:sp>
      <p:pic>
        <p:nvPicPr>
          <p:cNvPr id="17" name="Image 2" descr="preencoded.png">    </p:cNvPr>
          <p:cNvPicPr>
            <a:picLocks noChangeAspect="1"/>
          </p:cNvPicPr>
          <p:nvPr/>
        </p:nvPicPr>
        <p:blipFill>
          <a:blip r:embed="rId3"/>
          <a:stretch>
            <a:fillRect/>
          </a:stretch>
        </p:blipFill>
        <p:spPr>
          <a:xfrm>
            <a:off x="6627114" y="1908810"/>
            <a:ext cx="342900" cy="342900"/>
          </a:xfrm>
          <a:prstGeom prst="rect">
            <a:avLst/>
          </a:prstGeom>
        </p:spPr>
      </p:pic>
      <p:sp>
        <p:nvSpPr>
          <p:cNvPr id="18" name="Text 13"/>
          <p:cNvSpPr txBox="1"/>
          <p:nvPr/>
        </p:nvSpPr>
        <p:spPr>
          <a:xfrm>
            <a:off x="7278624" y="1810512"/>
            <a:ext cx="1280160" cy="548640"/>
          </a:xfrm>
          <a:prstGeom prst="rect">
            <a:avLst/>
          </a:prstGeom>
          <a:noFill/>
          <a:ln/>
        </p:spPr>
        <p:txBody>
          <a:bodyPr wrap="square" lIns="0" tIns="0" rIns="0" bIns="0" rtlCol="0" anchor="t"/>
          <a:lstStyle/>
          <a:p>
            <a:pPr indent="0" marL="0">
              <a:buNone/>
            </a:pPr>
            <a:r>
              <a:rPr lang="en-US" sz="2800" b="1" dirty="0">
                <a:solidFill>
                  <a:srgbClr val="E39B2D"/>
                </a:solidFill>
                <a:latin typeface="Calibri" pitchFamily="34" charset="0"/>
                <a:ea typeface="Calibri" pitchFamily="34" charset="-122"/>
                <a:cs typeface="Calibri" pitchFamily="34" charset="-120"/>
              </a:rPr>
              <a:t>O3</a:t>
            </a:r>
            <a:endParaRPr lang="en-US" sz="2800" dirty="0"/>
          </a:p>
        </p:txBody>
      </p:sp>
      <p:sp>
        <p:nvSpPr>
          <p:cNvPr id="19" name="Text 14"/>
          <p:cNvSpPr txBox="1"/>
          <p:nvPr/>
        </p:nvSpPr>
        <p:spPr>
          <a:xfrm>
            <a:off x="6455664" y="2651760"/>
            <a:ext cx="2194560" cy="6400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Uncertainty vs. quality</a:t>
            </a:r>
            <a:endParaRPr lang="en-US" sz="1800" dirty="0"/>
          </a:p>
        </p:txBody>
      </p:sp>
      <p:sp>
        <p:nvSpPr>
          <p:cNvPr id="20" name="Text 15"/>
          <p:cNvSpPr txBox="1"/>
          <p:nvPr/>
        </p:nvSpPr>
        <p:spPr>
          <a:xfrm>
            <a:off x="6455664" y="3337560"/>
            <a:ext cx="2148840" cy="192024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How does uncertainty relate to correctness, fault-detection power and cost of the generated tests?</a:t>
            </a:r>
            <a:endParaRPr lang="en-US" sz="1400" dirty="0"/>
          </a:p>
        </p:txBody>
      </p:sp>
      <p:sp>
        <p:nvSpPr>
          <p:cNvPr id="21" name="Shape 16"/>
          <p:cNvSpPr/>
          <p:nvPr/>
        </p:nvSpPr>
        <p:spPr>
          <a:xfrm>
            <a:off x="8997696" y="1463040"/>
            <a:ext cx="2633472" cy="3931920"/>
          </a:xfrm>
          <a:prstGeom prst="roundRect">
            <a:avLst>
              <a:gd name="adj" fmla="val 4167"/>
            </a:avLst>
          </a:prstGeom>
          <a:solidFill>
            <a:srgbClr val="F2F5F9"/>
          </a:solidFill>
          <a:ln w="12700">
            <a:solidFill>
              <a:srgbClr val="F2F5F9"/>
            </a:solidFill>
            <a:prstDash val="solid"/>
          </a:ln>
        </p:spPr>
      </p:sp>
      <p:sp>
        <p:nvSpPr>
          <p:cNvPr id="22" name="Shape 17"/>
          <p:cNvSpPr/>
          <p:nvPr/>
        </p:nvSpPr>
        <p:spPr>
          <a:xfrm>
            <a:off x="9272016" y="1737360"/>
            <a:ext cx="685800" cy="685800"/>
          </a:xfrm>
          <a:prstGeom prst="ellipse">
            <a:avLst/>
          </a:prstGeom>
          <a:solidFill>
            <a:srgbClr val="6E56CF"/>
          </a:solidFill>
          <a:ln w="12700">
            <a:solidFill>
              <a:srgbClr val="6E56CF"/>
            </a:solidFill>
            <a:prstDash val="solid"/>
          </a:ln>
        </p:spPr>
      </p:sp>
      <p:pic>
        <p:nvPicPr>
          <p:cNvPr id="23" name="Image 3" descr="preencoded.png">    </p:cNvPr>
          <p:cNvPicPr>
            <a:picLocks noChangeAspect="1"/>
          </p:cNvPicPr>
          <p:nvPr/>
        </p:nvPicPr>
        <p:blipFill>
          <a:blip r:embed="rId4"/>
          <a:stretch>
            <a:fillRect/>
          </a:stretch>
        </p:blipFill>
        <p:spPr>
          <a:xfrm>
            <a:off x="9443466" y="1908810"/>
            <a:ext cx="342900" cy="342900"/>
          </a:xfrm>
          <a:prstGeom prst="rect">
            <a:avLst/>
          </a:prstGeom>
        </p:spPr>
      </p:pic>
      <p:sp>
        <p:nvSpPr>
          <p:cNvPr id="24" name="Text 18"/>
          <p:cNvSpPr txBox="1"/>
          <p:nvPr/>
        </p:nvSpPr>
        <p:spPr>
          <a:xfrm>
            <a:off x="10094976" y="1810512"/>
            <a:ext cx="1280160" cy="548640"/>
          </a:xfrm>
          <a:prstGeom prst="rect">
            <a:avLst/>
          </a:prstGeom>
          <a:noFill/>
          <a:ln/>
        </p:spPr>
        <p:txBody>
          <a:bodyPr wrap="square" lIns="0" tIns="0" rIns="0" bIns="0" rtlCol="0" anchor="t"/>
          <a:lstStyle/>
          <a:p>
            <a:pPr indent="0" marL="0">
              <a:buNone/>
            </a:pPr>
            <a:r>
              <a:rPr lang="en-US" sz="2800" b="1" dirty="0">
                <a:solidFill>
                  <a:srgbClr val="6E56CF"/>
                </a:solidFill>
                <a:latin typeface="Calibri" pitchFamily="34" charset="0"/>
                <a:ea typeface="Calibri" pitchFamily="34" charset="-122"/>
                <a:cs typeface="Calibri" pitchFamily="34" charset="-120"/>
              </a:rPr>
              <a:t>O4</a:t>
            </a:r>
            <a:endParaRPr lang="en-US" sz="2800" dirty="0"/>
          </a:p>
        </p:txBody>
      </p:sp>
      <p:sp>
        <p:nvSpPr>
          <p:cNvPr id="25" name="Text 19"/>
          <p:cNvSpPr txBox="1"/>
          <p:nvPr/>
        </p:nvSpPr>
        <p:spPr>
          <a:xfrm>
            <a:off x="9272016" y="2651760"/>
            <a:ext cx="2194560" cy="6400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Future AI models</a:t>
            </a:r>
            <a:endParaRPr lang="en-US" sz="1800" dirty="0"/>
          </a:p>
        </p:txBody>
      </p:sp>
      <p:sp>
        <p:nvSpPr>
          <p:cNvPr id="26" name="Text 20"/>
          <p:cNvSpPr txBox="1"/>
          <p:nvPr/>
        </p:nvSpPr>
        <p:spPr>
          <a:xfrm>
            <a:off x="9272016" y="3337560"/>
            <a:ext cx="2148840" cy="192024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Do the metrics transfer to newer large models and to quantum machine learning models?</a:t>
            </a:r>
            <a:endParaRPr lang="en-US" sz="1400" dirty="0"/>
          </a:p>
        </p:txBody>
      </p:sp>
      <p:sp>
        <p:nvSpPr>
          <p:cNvPr id="27" name="Text 21"/>
          <p:cNvSpPr txBox="1"/>
          <p:nvPr/>
        </p:nvSpPr>
        <p:spPr>
          <a:xfrm>
            <a:off x="548640" y="6144768"/>
            <a:ext cx="11094415" cy="274320"/>
          </a:xfrm>
          <a:prstGeom prst="rect">
            <a:avLst/>
          </a:prstGeom>
          <a:noFill/>
          <a:ln/>
        </p:spPr>
        <p:txBody>
          <a:bodyPr wrap="square" lIns="0" tIns="0" rIns="0" bIns="0" rtlCol="0" anchor="t"/>
          <a:lstStyle/>
          <a:p>
            <a:pPr indent="0" marL="0">
              <a:buNone/>
            </a:pPr>
            <a:r>
              <a:rPr lang="en-US" sz="1000" i="1" dirty="0">
                <a:solidFill>
                  <a:srgbClr val="5B6578"/>
                </a:solidFill>
                <a:latin typeface="Calibri" pitchFamily="34" charset="0"/>
                <a:ea typeface="Calibri" pitchFamily="34" charset="-122"/>
                <a:cs typeface="Calibri" pitchFamily="34" charset="-120"/>
              </a:rPr>
              <a:t>InnoGuard: Hybrid and Generative Intelligence for Trustworthy Autonomous CPS, MSCA Doctoral Network, 2024–2028 [30]</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Building on uncertainty-wise CPS testing</a:t>
            </a:r>
            <a:endParaRPr lang="en-US" sz="3000" dirty="0"/>
          </a:p>
        </p:txBody>
      </p:sp>
      <p:sp>
        <p:nvSpPr>
          <p:cNvPr id="3" name="Shape 1"/>
          <p:cNvSpPr/>
          <p:nvPr/>
        </p:nvSpPr>
        <p:spPr>
          <a:xfrm>
            <a:off x="548640" y="1417320"/>
            <a:ext cx="3566160" cy="4251960"/>
          </a:xfrm>
          <a:prstGeom prst="roundRect">
            <a:avLst>
              <a:gd name="adj" fmla="val 3077"/>
            </a:avLst>
          </a:prstGeom>
          <a:solidFill>
            <a:srgbClr val="F2F5F9"/>
          </a:solidFill>
          <a:ln w="12700">
            <a:solidFill>
              <a:srgbClr val="F2F5F9"/>
            </a:solidFill>
            <a:prstDash val="solid"/>
          </a:ln>
        </p:spPr>
      </p:sp>
      <p:sp>
        <p:nvSpPr>
          <p:cNvPr id="4" name="Shape 2"/>
          <p:cNvSpPr/>
          <p:nvPr/>
        </p:nvSpPr>
        <p:spPr>
          <a:xfrm>
            <a:off x="777240" y="1600200"/>
            <a:ext cx="548640" cy="548640"/>
          </a:xfrm>
          <a:prstGeom prst="ellipse">
            <a:avLst/>
          </a:prstGeom>
          <a:solidFill>
            <a:srgbClr val="0F8B8D"/>
          </a:solidFill>
          <a:ln w="12700">
            <a:solidFill>
              <a:srgbClr val="0F8B8D"/>
            </a:solidFill>
            <a:prstDash val="solid"/>
          </a:ln>
        </p:spPr>
      </p:sp>
      <p:pic>
        <p:nvPicPr>
          <p:cNvPr id="5"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6" name="Text 3"/>
          <p:cNvSpPr txBox="1"/>
          <p:nvPr/>
        </p:nvSpPr>
        <p:spPr>
          <a:xfrm>
            <a:off x="1463040" y="1627632"/>
            <a:ext cx="2514600" cy="548640"/>
          </a:xfrm>
          <a:prstGeom prst="rect">
            <a:avLst/>
          </a:prstGeom>
          <a:noFill/>
          <a:ln/>
        </p:spPr>
        <p:txBody>
          <a:bodyPr wrap="square" lIns="0" tIns="0" rIns="0" bIns="0" rtlCol="0" anchor="ctr"/>
          <a:lstStyle/>
          <a:p>
            <a:pPr indent="0" marL="0">
              <a:buNone/>
            </a:pPr>
            <a:r>
              <a:rPr lang="en-US" sz="1600" b="1" dirty="0">
                <a:solidFill>
                  <a:srgbClr val="13213C"/>
                </a:solidFill>
                <a:latin typeface="Calibri" pitchFamily="34" charset="0"/>
                <a:ea typeface="Calibri" pitchFamily="34" charset="-122"/>
                <a:cs typeface="Calibri" pitchFamily="34" charset="-120"/>
              </a:rPr>
              <a:t>Uncertainty in CPS &amp; DL</a:t>
            </a:r>
            <a:endParaRPr lang="en-US" sz="1600" dirty="0"/>
          </a:p>
        </p:txBody>
      </p:sp>
      <p:sp>
        <p:nvSpPr>
          <p:cNvPr id="7" name="Text 4"/>
          <p:cNvSpPr txBox="1"/>
          <p:nvPr/>
        </p:nvSpPr>
        <p:spPr>
          <a:xfrm>
            <a:off x="777240" y="2377440"/>
            <a:ext cx="3154680" cy="3154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U-Taxonomy &amp; uncertainty-wise test modelling and generation [3, 2, 1]</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Uncertainty-aware prediction validator for DL in CPS [4]</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Uncertainty-wise multi-level oracles; elevator robustness under uncertainty [6, 5]</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Uncertainty &amp; quality of VLA-enabled robots [7]</a:t>
            </a:r>
            <a:endParaRPr lang="en-US" sz="1300" dirty="0"/>
          </a:p>
        </p:txBody>
      </p:sp>
      <p:sp>
        <p:nvSpPr>
          <p:cNvPr id="8" name="Shape 5"/>
          <p:cNvSpPr/>
          <p:nvPr/>
        </p:nvSpPr>
        <p:spPr>
          <a:xfrm>
            <a:off x="4297680" y="1417320"/>
            <a:ext cx="3566160" cy="4251960"/>
          </a:xfrm>
          <a:prstGeom prst="roundRect">
            <a:avLst>
              <a:gd name="adj" fmla="val 3077"/>
            </a:avLst>
          </a:prstGeom>
          <a:solidFill>
            <a:srgbClr val="F2F5F9"/>
          </a:solidFill>
          <a:ln w="12700">
            <a:solidFill>
              <a:srgbClr val="F2F5F9"/>
            </a:solidFill>
            <a:prstDash val="solid"/>
          </a:ln>
        </p:spPr>
      </p:sp>
      <p:sp>
        <p:nvSpPr>
          <p:cNvPr id="9" name="Shape 6"/>
          <p:cNvSpPr/>
          <p:nvPr/>
        </p:nvSpPr>
        <p:spPr>
          <a:xfrm>
            <a:off x="4526280" y="1600200"/>
            <a:ext cx="548640" cy="548640"/>
          </a:xfrm>
          <a:prstGeom prst="ellipse">
            <a:avLst/>
          </a:prstGeom>
          <a:solidFill>
            <a:srgbClr val="3567C8"/>
          </a:solidFill>
          <a:ln w="12700">
            <a:solidFill>
              <a:srgbClr val="3567C8"/>
            </a:solidFill>
            <a:prstDash val="solid"/>
          </a:ln>
        </p:spPr>
      </p:sp>
      <p:pic>
        <p:nvPicPr>
          <p:cNvPr id="10" name="Image 1" descr="preencoded.png">    </p:cNvPr>
          <p:cNvPicPr>
            <a:picLocks noChangeAspect="1"/>
          </p:cNvPicPr>
          <p:nvPr/>
        </p:nvPicPr>
        <p:blipFill>
          <a:blip r:embed="rId2"/>
          <a:stretch>
            <a:fillRect/>
          </a:stretch>
        </p:blipFill>
        <p:spPr>
          <a:xfrm>
            <a:off x="4663440" y="1737360"/>
            <a:ext cx="274320" cy="274320"/>
          </a:xfrm>
          <a:prstGeom prst="rect">
            <a:avLst/>
          </a:prstGeom>
        </p:spPr>
      </p:pic>
      <p:sp>
        <p:nvSpPr>
          <p:cNvPr id="11" name="Text 7"/>
          <p:cNvSpPr txBox="1"/>
          <p:nvPr/>
        </p:nvSpPr>
        <p:spPr>
          <a:xfrm>
            <a:off x="5212080" y="1627632"/>
            <a:ext cx="2514600" cy="548640"/>
          </a:xfrm>
          <a:prstGeom prst="rect">
            <a:avLst/>
          </a:prstGeom>
          <a:noFill/>
          <a:ln/>
        </p:spPr>
        <p:txBody>
          <a:bodyPr wrap="square" lIns="0" tIns="0" rIns="0" bIns="0" rtlCol="0" anchor="ctr"/>
          <a:lstStyle/>
          <a:p>
            <a:pPr indent="0" marL="0">
              <a:buNone/>
            </a:pPr>
            <a:r>
              <a:rPr lang="en-US" sz="1600" b="1" dirty="0">
                <a:solidFill>
                  <a:srgbClr val="13213C"/>
                </a:solidFill>
                <a:latin typeface="Calibri" pitchFamily="34" charset="0"/>
                <a:ea typeface="Calibri" pitchFamily="34" charset="-122"/>
                <a:cs typeface="Calibri" pitchFamily="34" charset="-120"/>
              </a:rPr>
              <a:t>ADS testing &amp; falsification</a:t>
            </a:r>
            <a:endParaRPr lang="en-US" sz="1600" dirty="0"/>
          </a:p>
        </p:txBody>
      </p:sp>
      <p:sp>
        <p:nvSpPr>
          <p:cNvPr id="12" name="Text 8"/>
          <p:cNvSpPr txBox="1"/>
          <p:nvPr/>
        </p:nvSpPr>
        <p:spPr>
          <a:xfrm>
            <a:off x="4526280" y="2377440"/>
            <a:ext cx="3154680" cy="3154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Avoidable-collision scenario generation [12]</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Parameter coverage for ADS testing under uncertainty [13]</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Robustness-guided falsification of AI-enabled hybrid systems [15, 14]</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LLMs assessing driving-scenario realism [8]</a:t>
            </a:r>
            <a:endParaRPr lang="en-US" sz="1300" dirty="0"/>
          </a:p>
        </p:txBody>
      </p:sp>
      <p:sp>
        <p:nvSpPr>
          <p:cNvPr id="13" name="Shape 9"/>
          <p:cNvSpPr/>
          <p:nvPr/>
        </p:nvSpPr>
        <p:spPr>
          <a:xfrm>
            <a:off x="8046720" y="1417320"/>
            <a:ext cx="3566160" cy="4251960"/>
          </a:xfrm>
          <a:prstGeom prst="roundRect">
            <a:avLst>
              <a:gd name="adj" fmla="val 3077"/>
            </a:avLst>
          </a:prstGeom>
          <a:solidFill>
            <a:srgbClr val="F2F5F9"/>
          </a:solidFill>
          <a:ln w="12700">
            <a:solidFill>
              <a:srgbClr val="F2F5F9"/>
            </a:solidFill>
            <a:prstDash val="solid"/>
          </a:ln>
        </p:spPr>
      </p:sp>
      <p:sp>
        <p:nvSpPr>
          <p:cNvPr id="14" name="Shape 10"/>
          <p:cNvSpPr/>
          <p:nvPr/>
        </p:nvSpPr>
        <p:spPr>
          <a:xfrm>
            <a:off x="8275320" y="1600200"/>
            <a:ext cx="548640" cy="548640"/>
          </a:xfrm>
          <a:prstGeom prst="ellipse">
            <a:avLst/>
          </a:prstGeom>
          <a:solidFill>
            <a:srgbClr val="E39B2D"/>
          </a:solidFill>
          <a:ln w="12700">
            <a:solidFill>
              <a:srgbClr val="E39B2D"/>
            </a:solidFill>
            <a:prstDash val="solid"/>
          </a:ln>
        </p:spPr>
      </p:sp>
      <p:pic>
        <p:nvPicPr>
          <p:cNvPr id="15" name="Image 2" descr="preencoded.png">    </p:cNvPr>
          <p:cNvPicPr>
            <a:picLocks noChangeAspect="1"/>
          </p:cNvPicPr>
          <p:nvPr/>
        </p:nvPicPr>
        <p:blipFill>
          <a:blip r:embed="rId3"/>
          <a:stretch>
            <a:fillRect/>
          </a:stretch>
        </p:blipFill>
        <p:spPr>
          <a:xfrm>
            <a:off x="8412480" y="1737360"/>
            <a:ext cx="274320" cy="274320"/>
          </a:xfrm>
          <a:prstGeom prst="rect">
            <a:avLst/>
          </a:prstGeom>
        </p:spPr>
      </p:pic>
      <p:sp>
        <p:nvSpPr>
          <p:cNvPr id="16" name="Text 11"/>
          <p:cNvSpPr txBox="1"/>
          <p:nvPr/>
        </p:nvSpPr>
        <p:spPr>
          <a:xfrm>
            <a:off x="8961120" y="1627632"/>
            <a:ext cx="2514600" cy="548640"/>
          </a:xfrm>
          <a:prstGeom prst="rect">
            <a:avLst/>
          </a:prstGeom>
          <a:noFill/>
          <a:ln/>
        </p:spPr>
        <p:txBody>
          <a:bodyPr wrap="square" lIns="0" tIns="0" rIns="0" bIns="0" rtlCol="0" anchor="ctr"/>
          <a:lstStyle/>
          <a:p>
            <a:pPr indent="0" marL="0">
              <a:buNone/>
            </a:pPr>
            <a:r>
              <a:rPr lang="en-US" sz="1600" b="1" dirty="0">
                <a:solidFill>
                  <a:srgbClr val="13213C"/>
                </a:solidFill>
                <a:latin typeface="Calibri" pitchFamily="34" charset="0"/>
                <a:ea typeface="Calibri" pitchFamily="34" charset="-122"/>
                <a:cs typeface="Calibri" pitchFamily="34" charset="-120"/>
              </a:rPr>
              <a:t>Oracles &amp; industrial CPS</a:t>
            </a:r>
            <a:endParaRPr lang="en-US" sz="1600" dirty="0"/>
          </a:p>
        </p:txBody>
      </p:sp>
      <p:sp>
        <p:nvSpPr>
          <p:cNvPr id="17" name="Text 12"/>
          <p:cNvSpPr txBox="1"/>
          <p:nvPr/>
        </p:nvSpPr>
        <p:spPr>
          <a:xfrm>
            <a:off x="8275320" y="2377440"/>
            <a:ext cx="3154680" cy="3154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ML-based test oracles for elevator dispatching [16]</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Generated metamorphic relations for CPS [17]</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Seeding strategies for search-based test selection [18]</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Foundation models for CPS engineering: road ahead [10, 11]</a:t>
            </a:r>
            <a:endParaRPr lang="en-US" sz="1300" dirty="0"/>
          </a:p>
        </p:txBody>
      </p:sp>
      <p:sp>
        <p:nvSpPr>
          <p:cNvPr id="18" name="Shape 13"/>
          <p:cNvSpPr/>
          <p:nvPr/>
        </p:nvSpPr>
        <p:spPr>
          <a:xfrm>
            <a:off x="548640" y="5760720"/>
            <a:ext cx="11094415" cy="502920"/>
          </a:xfrm>
          <a:prstGeom prst="roundRect">
            <a:avLst>
              <a:gd name="adj" fmla="val 21818"/>
            </a:avLst>
          </a:prstGeom>
          <a:solidFill>
            <a:srgbClr val="FFF4E0"/>
          </a:solidFill>
          <a:ln w="12700">
            <a:solidFill>
              <a:srgbClr val="FFF4E0"/>
            </a:solidFill>
            <a:prstDash val="solid"/>
          </a:ln>
        </p:spPr>
      </p:sp>
      <p:sp>
        <p:nvSpPr>
          <p:cNvPr id="19" name="Text 14"/>
          <p:cNvSpPr txBox="1"/>
          <p:nvPr/>
        </p:nvSpPr>
        <p:spPr>
          <a:xfrm>
            <a:off x="777240" y="5788152"/>
            <a:ext cx="10637215" cy="457200"/>
          </a:xfrm>
          <a:prstGeom prst="rect">
            <a:avLst/>
          </a:prstGeom>
          <a:noFill/>
          <a:ln/>
        </p:spPr>
        <p:txBody>
          <a:bodyPr wrap="square" lIns="0" tIns="0" rIns="0" bIns="0" rtlCol="0" anchor="ctr"/>
          <a:lstStyle/>
          <a:p>
            <a:pPr indent="0" marL="0">
              <a:buNone/>
            </a:pPr>
            <a:r>
              <a:rPr lang="en-US" sz="1400" b="1" dirty="0">
                <a:solidFill>
                  <a:srgbClr val="E39B2D"/>
                </a:solidFill>
                <a:latin typeface="Calibri" pitchFamily="34" charset="0"/>
                <a:ea typeface="Calibri" pitchFamily="34" charset="-122"/>
                <a:cs typeface="Calibri" pitchFamily="34" charset="-120"/>
              </a:rPr>
              <a:t>Gap  </a:t>
            </a:r>
            <a:pPr indent="0" marL="0">
              <a:buNone/>
            </a:pPr>
            <a:r>
              <a:rPr lang="en-US" sz="1400" dirty="0">
                <a:solidFill>
                  <a:srgbClr val="1E2533"/>
                </a:solidFill>
                <a:latin typeface="Calibri" pitchFamily="34" charset="0"/>
                <a:ea typeface="Calibri" pitchFamily="34" charset="-122"/>
                <a:cs typeface="Calibri" pitchFamily="34" charset="-120"/>
              </a:rPr>
              <a:t>Uncertainty has been studied for CPS, DNNs and robot foundation models — not yet for LLMs that generate or assess test artefacts.</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Uncertainty of LLM outputs: what transfers to test artefacts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77440"/>
                <a:gridCol w="4754880"/>
                <a:gridCol w="3959352"/>
              </a:tblGrid>
              <a:tr h="731520">
                <a:tc>
                  <a:txBody>
                    <a:bodyPr/>
                    <a:lstStyle/>
                    <a:p>
                      <a:pPr indent="0" marL="0">
                        <a:buNone/>
                      </a:pPr>
                      <a:r>
                        <a:rPr lang="en-US" sz="1400" b="1" dirty="0">
                          <a:solidFill>
                            <a:srgbClr val="FFFFFF"/>
                          </a:solidFill>
                        </a:rPr>
                        <a:t>Idea</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Evidence</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What I take for test artefacts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r>
              <a:tr h="731520">
                <a:tc>
                  <a:txBody>
                    <a:bodyPr/>
                    <a:lstStyle/>
                    <a:p>
                      <a:pPr indent="0" marL="0">
                        <a:buNone/>
                      </a:pPr>
                      <a:r>
                        <a:rPr lang="en-US" sz="1400" b="1" dirty="0">
                          <a:solidFill>
                            <a:srgbClr val="13213C"/>
                          </a:solidFill>
                        </a:rPr>
                        <a:t>Semantic entropy</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Cluster sampled answers by meaning; entropy over clusters [23, 24]</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Meaning of a test = what it does when executed → behavioural clusters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731520">
                <a:tc>
                  <a:txBody>
                    <a:bodyPr/>
                    <a:lstStyle/>
                    <a:p>
                      <a:pPr indent="0" marL="0">
                        <a:buNone/>
                      </a:pPr>
                      <a:r>
                        <a:rPr lang="en-US" sz="1400" b="1" dirty="0">
                          <a:solidFill>
                            <a:srgbClr val="13213C"/>
                          </a:solidFill>
                        </a:rPr>
                        <a:t>Self-consistency</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Disagreement among sampled outputs flags hallucination [25]</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Black-box: works with ChatGPT-class models without log-probs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3213C"/>
                          </a:solidFill>
                        </a:rPr>
                        <a:t>UQ for LLMs in SE</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Exploratory study of LLM uncertainty, incl. code tasks [26]</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Measures ≠ correctness of executable, safety-relevant tests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731520">
                <a:tc>
                  <a:txBody>
                    <a:bodyPr/>
                    <a:lstStyle/>
                    <a:p>
                      <a:pPr indent="0" marL="0">
                        <a:buNone/>
                      </a:pPr>
                      <a:r>
                        <a:rPr lang="en-US" sz="1400" b="1" dirty="0">
                          <a:solidFill>
                            <a:srgbClr val="13213C"/>
                          </a:solidFill>
                        </a:rPr>
                        <a:t>UQ for DL supervision</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Uncertainty monitors for fail-safe DL systems [28, 4]</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Risk-based reject option → triage of generated tests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5257800"/>
            <a:ext cx="11094415" cy="822960"/>
          </a:xfrm>
          <a:prstGeom prst="roundRect">
            <a:avLst>
              <a:gd name="adj" fmla="val 13333"/>
            </a:avLst>
          </a:prstGeom>
          <a:solidFill>
            <a:srgbClr val="E6F3F3"/>
          </a:solidFill>
          <a:ln w="12700">
            <a:solidFill>
              <a:srgbClr val="E6F3F3"/>
            </a:solidFill>
            <a:prstDash val="solid"/>
          </a:ln>
        </p:spPr>
      </p:sp>
      <p:sp>
        <p:nvSpPr>
          <p:cNvPr id="5" name="Text 2"/>
          <p:cNvSpPr txBox="1"/>
          <p:nvPr/>
        </p:nvSpPr>
        <p:spPr>
          <a:xfrm>
            <a:off x="777240" y="5303520"/>
            <a:ext cx="10637215" cy="731520"/>
          </a:xfrm>
          <a:prstGeom prst="rect">
            <a:avLst/>
          </a:prstGeom>
          <a:noFill/>
          <a:ln/>
        </p:spPr>
        <p:txBody>
          <a:bodyPr wrap="square" lIns="0" tIns="0" rIns="0" bIns="0" rtlCol="0" anchor="ctr"/>
          <a:lstStyle/>
          <a:p>
            <a:pPr indent="0" marL="0">
              <a:buNone/>
            </a:pPr>
            <a:r>
              <a:rPr lang="en-US" sz="1500" b="1" dirty="0">
                <a:solidFill>
                  <a:srgbClr val="0F8B8D"/>
                </a:solidFill>
                <a:latin typeface="Calibri" pitchFamily="34" charset="0"/>
                <a:ea typeface="Calibri" pitchFamily="34" charset="-122"/>
                <a:cs typeface="Calibri" pitchFamily="34" charset="-120"/>
              </a:rPr>
              <a:t>Key idea  </a:t>
            </a:r>
            <a:pPr indent="0" marL="0">
              <a:buNone/>
            </a:pPr>
            <a:r>
              <a:rPr lang="en-US" sz="1500" dirty="0">
                <a:solidFill>
                  <a:srgbClr val="1E2533"/>
                </a:solidFill>
                <a:latin typeface="Calibri" pitchFamily="34" charset="0"/>
                <a:ea typeface="Calibri" pitchFamily="34" charset="-122"/>
                <a:cs typeface="Calibri" pitchFamily="34" charset="-120"/>
              </a:rPr>
              <a:t>For an executable test, two samples mean the same thing if they make the system behave the same way. That gives a CPS-specific variant of semantic entropy: behavioural entropy.</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My starting point: an LLM test generator that trusts blindly</a:t>
            </a:r>
            <a:endParaRPr lang="en-US" sz="3000" dirty="0"/>
          </a:p>
        </p:txBody>
      </p:sp>
      <p:sp>
        <p:nvSpPr>
          <p:cNvPr id="3" name="Shape 1"/>
          <p:cNvSpPr/>
          <p:nvPr/>
        </p:nvSpPr>
        <p:spPr>
          <a:xfrm>
            <a:off x="1153135" y="1463040"/>
            <a:ext cx="640080" cy="640080"/>
          </a:xfrm>
          <a:prstGeom prst="ellipse">
            <a:avLst/>
          </a:prstGeom>
          <a:solidFill>
            <a:srgbClr val="3567C8"/>
          </a:solidFill>
          <a:ln w="12700">
            <a:solidFill>
              <a:srgbClr val="3567C8"/>
            </a:solidFill>
            <a:prstDash val="solid"/>
          </a:ln>
        </p:spPr>
      </p:sp>
      <p:pic>
        <p:nvPicPr>
          <p:cNvPr id="4" name="Image 0" descr="preencoded.png">    </p:cNvPr>
          <p:cNvPicPr>
            <a:picLocks noChangeAspect="1"/>
          </p:cNvPicPr>
          <p:nvPr/>
        </p:nvPicPr>
        <p:blipFill>
          <a:blip r:embed="rId1"/>
          <a:stretch>
            <a:fillRect/>
          </a:stretch>
        </p:blipFill>
        <p:spPr>
          <a:xfrm>
            <a:off x="1313155" y="1623060"/>
            <a:ext cx="320040" cy="320040"/>
          </a:xfrm>
          <a:prstGeom prst="rect">
            <a:avLst/>
          </a:prstGeom>
        </p:spPr>
      </p:pic>
      <p:sp>
        <p:nvSpPr>
          <p:cNvPr id="5" name="Text 2"/>
          <p:cNvSpPr txBox="1"/>
          <p:nvPr/>
        </p:nvSpPr>
        <p:spPr>
          <a:xfrm>
            <a:off x="548640" y="2194560"/>
            <a:ext cx="1849069" cy="36576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Requirements &amp; specs</a:t>
            </a:r>
            <a:endParaRPr lang="en-US" sz="1400" dirty="0"/>
          </a:p>
        </p:txBody>
      </p:sp>
      <p:sp>
        <p:nvSpPr>
          <p:cNvPr id="6" name="Shape 3"/>
          <p:cNvSpPr/>
          <p:nvPr/>
        </p:nvSpPr>
        <p:spPr>
          <a:xfrm>
            <a:off x="1930375" y="1673352"/>
            <a:ext cx="934669" cy="219456"/>
          </a:xfrm>
          <a:prstGeom prst="rightArrow">
            <a:avLst/>
          </a:prstGeom>
          <a:solidFill>
            <a:srgbClr val="DDE3EC"/>
          </a:solidFill>
          <a:ln w="12700">
            <a:solidFill>
              <a:srgbClr val="DDE3EC"/>
            </a:solidFill>
            <a:prstDash val="solid"/>
          </a:ln>
        </p:spPr>
      </p:sp>
      <p:sp>
        <p:nvSpPr>
          <p:cNvPr id="7" name="Shape 4"/>
          <p:cNvSpPr/>
          <p:nvPr/>
        </p:nvSpPr>
        <p:spPr>
          <a:xfrm>
            <a:off x="3002204" y="1463040"/>
            <a:ext cx="640080" cy="640080"/>
          </a:xfrm>
          <a:prstGeom prst="ellipse">
            <a:avLst/>
          </a:prstGeom>
          <a:solidFill>
            <a:srgbClr val="3567C8"/>
          </a:solidFill>
          <a:ln w="12700">
            <a:solidFill>
              <a:srgbClr val="3567C8"/>
            </a:solidFill>
            <a:prstDash val="solid"/>
          </a:ln>
        </p:spPr>
      </p:sp>
      <p:pic>
        <p:nvPicPr>
          <p:cNvPr id="8" name="Image 1" descr="preencoded.png">    </p:cNvPr>
          <p:cNvPicPr>
            <a:picLocks noChangeAspect="1"/>
          </p:cNvPicPr>
          <p:nvPr/>
        </p:nvPicPr>
        <p:blipFill>
          <a:blip r:embed="rId2"/>
          <a:stretch>
            <a:fillRect/>
          </a:stretch>
        </p:blipFill>
        <p:spPr>
          <a:xfrm>
            <a:off x="3162224" y="1623060"/>
            <a:ext cx="320040" cy="320040"/>
          </a:xfrm>
          <a:prstGeom prst="rect">
            <a:avLst/>
          </a:prstGeom>
        </p:spPr>
      </p:pic>
      <p:sp>
        <p:nvSpPr>
          <p:cNvPr id="9" name="Text 5"/>
          <p:cNvSpPr txBox="1"/>
          <p:nvPr/>
        </p:nvSpPr>
        <p:spPr>
          <a:xfrm>
            <a:off x="2397709" y="2194560"/>
            <a:ext cx="1849069" cy="36576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RAG over docs</a:t>
            </a:r>
            <a:endParaRPr lang="en-US" sz="1400" dirty="0"/>
          </a:p>
        </p:txBody>
      </p:sp>
      <p:sp>
        <p:nvSpPr>
          <p:cNvPr id="10" name="Shape 6"/>
          <p:cNvSpPr/>
          <p:nvPr/>
        </p:nvSpPr>
        <p:spPr>
          <a:xfrm>
            <a:off x="3779444" y="1673352"/>
            <a:ext cx="934669" cy="219456"/>
          </a:xfrm>
          <a:prstGeom prst="rightArrow">
            <a:avLst/>
          </a:prstGeom>
          <a:solidFill>
            <a:srgbClr val="DDE3EC"/>
          </a:solidFill>
          <a:ln w="12700">
            <a:solidFill>
              <a:srgbClr val="DDE3EC"/>
            </a:solidFill>
            <a:prstDash val="solid"/>
          </a:ln>
        </p:spPr>
      </p:sp>
      <p:sp>
        <p:nvSpPr>
          <p:cNvPr id="11" name="Shape 7"/>
          <p:cNvSpPr/>
          <p:nvPr/>
        </p:nvSpPr>
        <p:spPr>
          <a:xfrm>
            <a:off x="4851273" y="1463040"/>
            <a:ext cx="640080" cy="640080"/>
          </a:xfrm>
          <a:prstGeom prst="ellipse">
            <a:avLst/>
          </a:prstGeom>
          <a:solidFill>
            <a:srgbClr val="3567C8"/>
          </a:solidFill>
          <a:ln w="12700">
            <a:solidFill>
              <a:srgbClr val="3567C8"/>
            </a:solidFill>
            <a:prstDash val="solid"/>
          </a:ln>
        </p:spPr>
      </p:sp>
      <p:pic>
        <p:nvPicPr>
          <p:cNvPr id="12" name="Image 2" descr="preencoded.png">    </p:cNvPr>
          <p:cNvPicPr>
            <a:picLocks noChangeAspect="1"/>
          </p:cNvPicPr>
          <p:nvPr/>
        </p:nvPicPr>
        <p:blipFill>
          <a:blip r:embed="rId3"/>
          <a:stretch>
            <a:fillRect/>
          </a:stretch>
        </p:blipFill>
        <p:spPr>
          <a:xfrm>
            <a:off x="5011293" y="1623060"/>
            <a:ext cx="320040" cy="320040"/>
          </a:xfrm>
          <a:prstGeom prst="rect">
            <a:avLst/>
          </a:prstGeom>
        </p:spPr>
      </p:pic>
      <p:sp>
        <p:nvSpPr>
          <p:cNvPr id="13" name="Text 8"/>
          <p:cNvSpPr txBox="1"/>
          <p:nvPr/>
        </p:nvSpPr>
        <p:spPr>
          <a:xfrm>
            <a:off x="4246778" y="2194560"/>
            <a:ext cx="1849069" cy="36576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LLM agents</a:t>
            </a:r>
            <a:endParaRPr lang="en-US" sz="1400" dirty="0"/>
          </a:p>
        </p:txBody>
      </p:sp>
      <p:sp>
        <p:nvSpPr>
          <p:cNvPr id="14" name="Shape 9"/>
          <p:cNvSpPr/>
          <p:nvPr/>
        </p:nvSpPr>
        <p:spPr>
          <a:xfrm>
            <a:off x="5628513" y="1673352"/>
            <a:ext cx="934669" cy="219456"/>
          </a:xfrm>
          <a:prstGeom prst="rightArrow">
            <a:avLst/>
          </a:prstGeom>
          <a:solidFill>
            <a:srgbClr val="DDE3EC"/>
          </a:solidFill>
          <a:ln w="12700">
            <a:solidFill>
              <a:srgbClr val="DDE3EC"/>
            </a:solidFill>
            <a:prstDash val="solid"/>
          </a:ln>
        </p:spPr>
      </p:sp>
      <p:sp>
        <p:nvSpPr>
          <p:cNvPr id="15" name="Shape 10"/>
          <p:cNvSpPr/>
          <p:nvPr/>
        </p:nvSpPr>
        <p:spPr>
          <a:xfrm>
            <a:off x="6700342" y="1463040"/>
            <a:ext cx="640080" cy="640080"/>
          </a:xfrm>
          <a:prstGeom prst="ellipse">
            <a:avLst/>
          </a:prstGeom>
          <a:solidFill>
            <a:srgbClr val="3567C8"/>
          </a:solidFill>
          <a:ln w="12700">
            <a:solidFill>
              <a:srgbClr val="3567C8"/>
            </a:solidFill>
            <a:prstDash val="solid"/>
          </a:ln>
        </p:spPr>
      </p:sp>
      <p:pic>
        <p:nvPicPr>
          <p:cNvPr id="16" name="Image 3" descr="preencoded.png">    </p:cNvPr>
          <p:cNvPicPr>
            <a:picLocks noChangeAspect="1"/>
          </p:cNvPicPr>
          <p:nvPr/>
        </p:nvPicPr>
        <p:blipFill>
          <a:blip r:embed="rId4"/>
          <a:stretch>
            <a:fillRect/>
          </a:stretch>
        </p:blipFill>
        <p:spPr>
          <a:xfrm>
            <a:off x="6860362" y="1623060"/>
            <a:ext cx="320040" cy="320040"/>
          </a:xfrm>
          <a:prstGeom prst="rect">
            <a:avLst/>
          </a:prstGeom>
        </p:spPr>
      </p:pic>
      <p:sp>
        <p:nvSpPr>
          <p:cNvPr id="17" name="Text 11"/>
          <p:cNvSpPr txBox="1"/>
          <p:nvPr/>
        </p:nvSpPr>
        <p:spPr>
          <a:xfrm>
            <a:off x="6095848" y="2194560"/>
            <a:ext cx="1849069" cy="36576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Tests &amp; scripts</a:t>
            </a:r>
            <a:endParaRPr lang="en-US" sz="1400" dirty="0"/>
          </a:p>
        </p:txBody>
      </p:sp>
      <p:sp>
        <p:nvSpPr>
          <p:cNvPr id="18" name="Shape 12"/>
          <p:cNvSpPr/>
          <p:nvPr/>
        </p:nvSpPr>
        <p:spPr>
          <a:xfrm>
            <a:off x="7477582" y="1673352"/>
            <a:ext cx="934669" cy="219456"/>
          </a:xfrm>
          <a:prstGeom prst="rightArrow">
            <a:avLst/>
          </a:prstGeom>
          <a:solidFill>
            <a:srgbClr val="DDE3EC"/>
          </a:solidFill>
          <a:ln w="12700">
            <a:solidFill>
              <a:srgbClr val="DDE3EC"/>
            </a:solidFill>
            <a:prstDash val="solid"/>
          </a:ln>
        </p:spPr>
      </p:sp>
      <p:sp>
        <p:nvSpPr>
          <p:cNvPr id="19" name="Shape 13"/>
          <p:cNvSpPr/>
          <p:nvPr/>
        </p:nvSpPr>
        <p:spPr>
          <a:xfrm>
            <a:off x="8549411" y="1463040"/>
            <a:ext cx="640080" cy="640080"/>
          </a:xfrm>
          <a:prstGeom prst="ellipse">
            <a:avLst/>
          </a:prstGeom>
          <a:solidFill>
            <a:srgbClr val="3567C8"/>
          </a:solidFill>
          <a:ln w="12700">
            <a:solidFill>
              <a:srgbClr val="3567C8"/>
            </a:solidFill>
            <a:prstDash val="solid"/>
          </a:ln>
        </p:spPr>
      </p:sp>
      <p:pic>
        <p:nvPicPr>
          <p:cNvPr id="20" name="Image 4" descr="preencoded.png">    </p:cNvPr>
          <p:cNvPicPr>
            <a:picLocks noChangeAspect="1"/>
          </p:cNvPicPr>
          <p:nvPr/>
        </p:nvPicPr>
        <p:blipFill>
          <a:blip r:embed="rId5"/>
          <a:stretch>
            <a:fillRect/>
          </a:stretch>
        </p:blipFill>
        <p:spPr>
          <a:xfrm>
            <a:off x="8709431" y="1623060"/>
            <a:ext cx="320040" cy="320040"/>
          </a:xfrm>
          <a:prstGeom prst="rect">
            <a:avLst/>
          </a:prstGeom>
        </p:spPr>
      </p:pic>
      <p:sp>
        <p:nvSpPr>
          <p:cNvPr id="21" name="Text 14"/>
          <p:cNvSpPr txBox="1"/>
          <p:nvPr/>
        </p:nvSpPr>
        <p:spPr>
          <a:xfrm>
            <a:off x="7944917" y="2194560"/>
            <a:ext cx="1849069" cy="36576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Execution</a:t>
            </a:r>
            <a:endParaRPr lang="en-US" sz="1400" dirty="0"/>
          </a:p>
        </p:txBody>
      </p:sp>
      <p:sp>
        <p:nvSpPr>
          <p:cNvPr id="22" name="Shape 15"/>
          <p:cNvSpPr/>
          <p:nvPr/>
        </p:nvSpPr>
        <p:spPr>
          <a:xfrm>
            <a:off x="9326651" y="1673352"/>
            <a:ext cx="934669" cy="219456"/>
          </a:xfrm>
          <a:prstGeom prst="rightArrow">
            <a:avLst/>
          </a:prstGeom>
          <a:solidFill>
            <a:srgbClr val="DDE3EC"/>
          </a:solidFill>
          <a:ln w="12700">
            <a:solidFill>
              <a:srgbClr val="DDE3EC"/>
            </a:solidFill>
            <a:prstDash val="solid"/>
          </a:ln>
        </p:spPr>
      </p:sp>
      <p:sp>
        <p:nvSpPr>
          <p:cNvPr id="23" name="Shape 16"/>
          <p:cNvSpPr/>
          <p:nvPr/>
        </p:nvSpPr>
        <p:spPr>
          <a:xfrm>
            <a:off x="10398481" y="1463040"/>
            <a:ext cx="640080" cy="640080"/>
          </a:xfrm>
          <a:prstGeom prst="ellipse">
            <a:avLst/>
          </a:prstGeom>
          <a:solidFill>
            <a:srgbClr val="3567C8"/>
          </a:solidFill>
          <a:ln w="12700">
            <a:solidFill>
              <a:srgbClr val="3567C8"/>
            </a:solidFill>
            <a:prstDash val="solid"/>
          </a:ln>
        </p:spPr>
      </p:sp>
      <p:pic>
        <p:nvPicPr>
          <p:cNvPr id="24" name="Image 5" descr="preencoded.png">    </p:cNvPr>
          <p:cNvPicPr>
            <a:picLocks noChangeAspect="1"/>
          </p:cNvPicPr>
          <p:nvPr/>
        </p:nvPicPr>
        <p:blipFill>
          <a:blip r:embed="rId6"/>
          <a:stretch>
            <a:fillRect/>
          </a:stretch>
        </p:blipFill>
        <p:spPr>
          <a:xfrm>
            <a:off x="10558501" y="1623060"/>
            <a:ext cx="320040" cy="320040"/>
          </a:xfrm>
          <a:prstGeom prst="rect">
            <a:avLst/>
          </a:prstGeom>
        </p:spPr>
      </p:pic>
      <p:sp>
        <p:nvSpPr>
          <p:cNvPr id="25" name="Text 17"/>
          <p:cNvSpPr txBox="1"/>
          <p:nvPr/>
        </p:nvSpPr>
        <p:spPr>
          <a:xfrm>
            <a:off x="9793986" y="2194560"/>
            <a:ext cx="1849069" cy="36576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Report</a:t>
            </a:r>
            <a:endParaRPr lang="en-US" sz="1400" dirty="0"/>
          </a:p>
        </p:txBody>
      </p:sp>
      <p:sp>
        <p:nvSpPr>
          <p:cNvPr id="26" name="Shape 18"/>
          <p:cNvSpPr/>
          <p:nvPr/>
        </p:nvSpPr>
        <p:spPr>
          <a:xfrm>
            <a:off x="548640" y="2834640"/>
            <a:ext cx="5440680" cy="3063240"/>
          </a:xfrm>
          <a:prstGeom prst="roundRect">
            <a:avLst>
              <a:gd name="adj" fmla="val 3582"/>
            </a:avLst>
          </a:prstGeom>
          <a:solidFill>
            <a:srgbClr val="F2F5F9"/>
          </a:solidFill>
          <a:ln w="12700">
            <a:solidFill>
              <a:srgbClr val="F2F5F9"/>
            </a:solidFill>
            <a:prstDash val="solid"/>
          </a:ln>
        </p:spPr>
      </p:sp>
      <p:sp>
        <p:nvSpPr>
          <p:cNvPr id="27" name="Text 19"/>
          <p:cNvSpPr txBox="1"/>
          <p:nvPr/>
        </p:nvSpPr>
        <p:spPr>
          <a:xfrm>
            <a:off x="822960" y="2999232"/>
            <a:ext cx="4937760" cy="365760"/>
          </a:xfrm>
          <a:prstGeom prst="rect">
            <a:avLst/>
          </a:prstGeom>
          <a:noFill/>
          <a:ln/>
        </p:spPr>
        <p:txBody>
          <a:bodyPr wrap="square" lIns="0" tIns="0" rIns="0" bIns="0" rtlCol="0" anchor="t"/>
          <a:lstStyle/>
          <a:p>
            <a:pPr indent="0" marL="0">
              <a:buNone/>
            </a:pPr>
            <a:r>
              <a:rPr lang="en-US" sz="1700" b="1" dirty="0">
                <a:solidFill>
                  <a:srgbClr val="13213C"/>
                </a:solidFill>
                <a:latin typeface="Calibri" pitchFamily="34" charset="0"/>
                <a:ea typeface="Calibri" pitchFamily="34" charset="-122"/>
                <a:cs typeface="Calibri" pitchFamily="34" charset="-120"/>
              </a:rPr>
              <a:t>Trust today: hand-written rules</a:t>
            </a:r>
            <a:endParaRPr lang="en-US" sz="1700" dirty="0"/>
          </a:p>
        </p:txBody>
      </p:sp>
      <p:sp>
        <p:nvSpPr>
          <p:cNvPr id="28" name="Text 20"/>
          <p:cNvSpPr txBox="1"/>
          <p:nvPr/>
        </p:nvSpPr>
        <p:spPr>
          <a:xfrm>
            <a:off x="822960" y="3474720"/>
            <a:ext cx="4937760" cy="2286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Schema validation and JSON repair of LLM output</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Grounding checks: references and quotes must exist in the source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AI-only expectations are parked as NEEDS_REVIEW</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Fault-injection gate: a test must fail on a corrupted system</a:t>
            </a:r>
            <a:endParaRPr lang="en-US" sz="1400" dirty="0"/>
          </a:p>
        </p:txBody>
      </p:sp>
      <p:sp>
        <p:nvSpPr>
          <p:cNvPr id="29" name="Shape 21"/>
          <p:cNvSpPr/>
          <p:nvPr/>
        </p:nvSpPr>
        <p:spPr>
          <a:xfrm>
            <a:off x="6199632" y="2834640"/>
            <a:ext cx="5440680" cy="3063240"/>
          </a:xfrm>
          <a:prstGeom prst="roundRect">
            <a:avLst>
              <a:gd name="adj" fmla="val 3582"/>
            </a:avLst>
          </a:prstGeom>
          <a:solidFill>
            <a:srgbClr val="FDECEA"/>
          </a:solidFill>
          <a:ln w="12700">
            <a:solidFill>
              <a:srgbClr val="FDECEA"/>
            </a:solidFill>
            <a:prstDash val="solid"/>
          </a:ln>
        </p:spPr>
      </p:sp>
      <p:sp>
        <p:nvSpPr>
          <p:cNvPr id="30" name="Text 22"/>
          <p:cNvSpPr txBox="1"/>
          <p:nvPr/>
        </p:nvSpPr>
        <p:spPr>
          <a:xfrm>
            <a:off x="6473952" y="2999232"/>
            <a:ext cx="4937760" cy="365760"/>
          </a:xfrm>
          <a:prstGeom prst="rect">
            <a:avLst/>
          </a:prstGeom>
          <a:noFill/>
          <a:ln/>
        </p:spPr>
        <p:txBody>
          <a:bodyPr wrap="square" lIns="0" tIns="0" rIns="0" bIns="0" rtlCol="0" anchor="t"/>
          <a:lstStyle/>
          <a:p>
            <a:pPr indent="0" marL="0">
              <a:buNone/>
            </a:pPr>
            <a:r>
              <a:rPr lang="en-US" sz="1700" b="1" dirty="0">
                <a:solidFill>
                  <a:srgbClr val="C8463D"/>
                </a:solidFill>
                <a:latin typeface="Calibri" pitchFamily="34" charset="0"/>
                <a:ea typeface="Calibri" pitchFamily="34" charset="-122"/>
                <a:cs typeface="Calibri" pitchFamily="34" charset="-120"/>
              </a:rPr>
              <a:t>The blind spot</a:t>
            </a:r>
            <a:endParaRPr lang="en-US" sz="1700" dirty="0"/>
          </a:p>
        </p:txBody>
      </p:sp>
      <p:sp>
        <p:nvSpPr>
          <p:cNvPr id="31" name="Text 23"/>
          <p:cNvSpPr txBox="1"/>
          <p:nvPr/>
        </p:nvSpPr>
        <p:spPr>
          <a:xfrm>
            <a:off x="6473952" y="3474720"/>
            <a:ext cx="4937760" cy="2286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Rules are binary and uncalibrated: pass the gate = trusted</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A valid, grounded test can still miss the requirement or carry a wrong oracle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No signal says which tests a human must look at</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No link between confidence and safety risk</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UQ-TestGen: an uncertainty-aware end-to-end pipeline</a:t>
            </a:r>
            <a:endParaRPr lang="en-US" sz="3000" dirty="0"/>
          </a:p>
        </p:txBody>
      </p:sp>
      <p:sp>
        <p:nvSpPr>
          <p:cNvPr id="3" name="Shape 1"/>
          <p:cNvSpPr/>
          <p:nvPr/>
        </p:nvSpPr>
        <p:spPr>
          <a:xfrm>
            <a:off x="603504" y="1371600"/>
            <a:ext cx="1475188" cy="1965960"/>
          </a:xfrm>
          <a:prstGeom prst="roundRect">
            <a:avLst>
              <a:gd name="adj" fmla="val 7438"/>
            </a:avLst>
          </a:prstGeom>
          <a:solidFill>
            <a:srgbClr val="F2F5F9"/>
          </a:solidFill>
          <a:ln w="12700">
            <a:solidFill>
              <a:srgbClr val="F2F5F9"/>
            </a:solidFill>
            <a:prstDash val="solid"/>
          </a:ln>
        </p:spPr>
      </p:sp>
      <p:sp>
        <p:nvSpPr>
          <p:cNvPr id="4" name="Shape 2"/>
          <p:cNvSpPr/>
          <p:nvPr/>
        </p:nvSpPr>
        <p:spPr>
          <a:xfrm>
            <a:off x="1039346" y="1536192"/>
            <a:ext cx="603504" cy="603504"/>
          </a:xfrm>
          <a:prstGeom prst="ellipse">
            <a:avLst/>
          </a:prstGeom>
          <a:solidFill>
            <a:srgbClr val="5B6578"/>
          </a:solidFill>
          <a:ln w="12700">
            <a:solidFill>
              <a:srgbClr val="5B6578"/>
            </a:solidFill>
            <a:prstDash val="solid"/>
          </a:ln>
        </p:spPr>
      </p:sp>
      <p:pic>
        <p:nvPicPr>
          <p:cNvPr id="5" name="Image 0" descr="preencoded.png">    </p:cNvPr>
          <p:cNvPicPr>
            <a:picLocks noChangeAspect="1"/>
          </p:cNvPicPr>
          <p:nvPr/>
        </p:nvPicPr>
        <p:blipFill>
          <a:blip r:embed="rId1"/>
          <a:stretch>
            <a:fillRect/>
          </a:stretch>
        </p:blipFill>
        <p:spPr>
          <a:xfrm>
            <a:off x="1190222" y="1687068"/>
            <a:ext cx="301752" cy="301752"/>
          </a:xfrm>
          <a:prstGeom prst="rect">
            <a:avLst/>
          </a:prstGeom>
        </p:spPr>
      </p:pic>
      <p:sp>
        <p:nvSpPr>
          <p:cNvPr id="6" name="Text 3"/>
          <p:cNvSpPr txBox="1"/>
          <p:nvPr/>
        </p:nvSpPr>
        <p:spPr>
          <a:xfrm>
            <a:off x="640080" y="2240280"/>
            <a:ext cx="1402036" cy="36576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Requirement</a:t>
            </a:r>
            <a:endParaRPr lang="en-US" sz="1500" dirty="0"/>
          </a:p>
        </p:txBody>
      </p:sp>
      <p:sp>
        <p:nvSpPr>
          <p:cNvPr id="7" name="Text 4"/>
          <p:cNvSpPr txBox="1"/>
          <p:nvPr/>
        </p:nvSpPr>
        <p:spPr>
          <a:xfrm>
            <a:off x="658368" y="2606040"/>
            <a:ext cx="1365460" cy="68580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natural language</a:t>
            </a:r>
            <a:endParaRPr lang="en-US" sz="1200" dirty="0"/>
          </a:p>
        </p:txBody>
      </p:sp>
      <p:sp>
        <p:nvSpPr>
          <p:cNvPr id="8" name="Shape 5"/>
          <p:cNvSpPr/>
          <p:nvPr/>
        </p:nvSpPr>
        <p:spPr>
          <a:xfrm>
            <a:off x="2188420" y="1371600"/>
            <a:ext cx="1475188" cy="1965960"/>
          </a:xfrm>
          <a:prstGeom prst="roundRect">
            <a:avLst>
              <a:gd name="adj" fmla="val 7438"/>
            </a:avLst>
          </a:prstGeom>
          <a:solidFill>
            <a:srgbClr val="F2F5F9"/>
          </a:solidFill>
          <a:ln w="12700">
            <a:solidFill>
              <a:srgbClr val="F2F5F9"/>
            </a:solidFill>
            <a:prstDash val="solid"/>
          </a:ln>
        </p:spPr>
      </p:sp>
      <p:sp>
        <p:nvSpPr>
          <p:cNvPr id="9" name="Shape 6"/>
          <p:cNvSpPr/>
          <p:nvPr/>
        </p:nvSpPr>
        <p:spPr>
          <a:xfrm>
            <a:off x="2624263" y="1536192"/>
            <a:ext cx="603504" cy="603504"/>
          </a:xfrm>
          <a:prstGeom prst="ellipse">
            <a:avLst/>
          </a:prstGeom>
          <a:solidFill>
            <a:srgbClr val="3567C8"/>
          </a:solidFill>
          <a:ln w="12700">
            <a:solidFill>
              <a:srgbClr val="3567C8"/>
            </a:solidFill>
            <a:prstDash val="solid"/>
          </a:ln>
        </p:spPr>
      </p:sp>
      <p:pic>
        <p:nvPicPr>
          <p:cNvPr id="10" name="Image 1" descr="preencoded.png">    </p:cNvPr>
          <p:cNvPicPr>
            <a:picLocks noChangeAspect="1"/>
          </p:cNvPicPr>
          <p:nvPr/>
        </p:nvPicPr>
        <p:blipFill>
          <a:blip r:embed="rId2"/>
          <a:stretch>
            <a:fillRect/>
          </a:stretch>
        </p:blipFill>
        <p:spPr>
          <a:xfrm>
            <a:off x="2775139" y="1687068"/>
            <a:ext cx="301752" cy="301752"/>
          </a:xfrm>
          <a:prstGeom prst="rect">
            <a:avLst/>
          </a:prstGeom>
        </p:spPr>
      </p:pic>
      <p:sp>
        <p:nvSpPr>
          <p:cNvPr id="11" name="Text 7"/>
          <p:cNvSpPr txBox="1"/>
          <p:nvPr/>
        </p:nvSpPr>
        <p:spPr>
          <a:xfrm>
            <a:off x="2224996" y="2240280"/>
            <a:ext cx="1402036" cy="36576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N samples</a:t>
            </a:r>
            <a:endParaRPr lang="en-US" sz="1500" dirty="0"/>
          </a:p>
        </p:txBody>
      </p:sp>
      <p:sp>
        <p:nvSpPr>
          <p:cNvPr id="12" name="Text 8"/>
          <p:cNvSpPr txBox="1"/>
          <p:nvPr/>
        </p:nvSpPr>
        <p:spPr>
          <a:xfrm>
            <a:off x="2243284" y="2606040"/>
            <a:ext cx="1365460" cy="68580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LLM: scenario + oracle + confidence</a:t>
            </a:r>
            <a:endParaRPr lang="en-US" sz="1200" dirty="0"/>
          </a:p>
        </p:txBody>
      </p:sp>
      <p:sp>
        <p:nvSpPr>
          <p:cNvPr id="13" name="Shape 9"/>
          <p:cNvSpPr/>
          <p:nvPr/>
        </p:nvSpPr>
        <p:spPr>
          <a:xfrm>
            <a:off x="3773337" y="1371600"/>
            <a:ext cx="1475188" cy="1965960"/>
          </a:xfrm>
          <a:prstGeom prst="roundRect">
            <a:avLst>
              <a:gd name="adj" fmla="val 7438"/>
            </a:avLst>
          </a:prstGeom>
          <a:solidFill>
            <a:srgbClr val="F2F5F9"/>
          </a:solidFill>
          <a:ln w="12700">
            <a:solidFill>
              <a:srgbClr val="F2F5F9"/>
            </a:solidFill>
            <a:prstDash val="solid"/>
          </a:ln>
        </p:spPr>
      </p:sp>
      <p:sp>
        <p:nvSpPr>
          <p:cNvPr id="14" name="Shape 10"/>
          <p:cNvSpPr/>
          <p:nvPr/>
        </p:nvSpPr>
        <p:spPr>
          <a:xfrm>
            <a:off x="4209179" y="1536192"/>
            <a:ext cx="603504" cy="603504"/>
          </a:xfrm>
          <a:prstGeom prst="ellipse">
            <a:avLst/>
          </a:prstGeom>
          <a:solidFill>
            <a:srgbClr val="5B6578"/>
          </a:solidFill>
          <a:ln w="12700">
            <a:solidFill>
              <a:srgbClr val="5B6578"/>
            </a:solidFill>
            <a:prstDash val="solid"/>
          </a:ln>
        </p:spPr>
      </p:sp>
      <p:pic>
        <p:nvPicPr>
          <p:cNvPr id="15" name="Image 2" descr="preencoded.png">    </p:cNvPr>
          <p:cNvPicPr>
            <a:picLocks noChangeAspect="1"/>
          </p:cNvPicPr>
          <p:nvPr/>
        </p:nvPicPr>
        <p:blipFill>
          <a:blip r:embed="rId3"/>
          <a:stretch>
            <a:fillRect/>
          </a:stretch>
        </p:blipFill>
        <p:spPr>
          <a:xfrm>
            <a:off x="4360055" y="1687068"/>
            <a:ext cx="301752" cy="301752"/>
          </a:xfrm>
          <a:prstGeom prst="rect">
            <a:avLst/>
          </a:prstGeom>
        </p:spPr>
      </p:pic>
      <p:sp>
        <p:nvSpPr>
          <p:cNvPr id="16" name="Text 11"/>
          <p:cNvSpPr txBox="1"/>
          <p:nvPr/>
        </p:nvSpPr>
        <p:spPr>
          <a:xfrm>
            <a:off x="3809913" y="2240280"/>
            <a:ext cx="1402036" cy="36576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Rule gate</a:t>
            </a:r>
            <a:endParaRPr lang="en-US" sz="1500" dirty="0"/>
          </a:p>
        </p:txBody>
      </p:sp>
      <p:sp>
        <p:nvSpPr>
          <p:cNvPr id="17" name="Text 12"/>
          <p:cNvSpPr txBox="1"/>
          <p:nvPr/>
        </p:nvSpPr>
        <p:spPr>
          <a:xfrm>
            <a:off x="3828201" y="2606040"/>
            <a:ext cx="1365460" cy="68580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schema &amp; physics (v1)</a:t>
            </a:r>
            <a:endParaRPr lang="en-US" sz="1200" dirty="0"/>
          </a:p>
        </p:txBody>
      </p:sp>
      <p:sp>
        <p:nvSpPr>
          <p:cNvPr id="18" name="Shape 13"/>
          <p:cNvSpPr/>
          <p:nvPr/>
        </p:nvSpPr>
        <p:spPr>
          <a:xfrm>
            <a:off x="5358253" y="1371600"/>
            <a:ext cx="1475188" cy="1965960"/>
          </a:xfrm>
          <a:prstGeom prst="roundRect">
            <a:avLst>
              <a:gd name="adj" fmla="val 7438"/>
            </a:avLst>
          </a:prstGeom>
          <a:solidFill>
            <a:srgbClr val="F2F5F9"/>
          </a:solidFill>
          <a:ln w="12700">
            <a:solidFill>
              <a:srgbClr val="F2F5F9"/>
            </a:solidFill>
            <a:prstDash val="solid"/>
          </a:ln>
        </p:spPr>
      </p:sp>
      <p:sp>
        <p:nvSpPr>
          <p:cNvPr id="19" name="Shape 14"/>
          <p:cNvSpPr/>
          <p:nvPr/>
        </p:nvSpPr>
        <p:spPr>
          <a:xfrm>
            <a:off x="5794096" y="1536192"/>
            <a:ext cx="603504" cy="603504"/>
          </a:xfrm>
          <a:prstGeom prst="ellipse">
            <a:avLst/>
          </a:prstGeom>
          <a:solidFill>
            <a:srgbClr val="3567C8"/>
          </a:solidFill>
          <a:ln w="12700">
            <a:solidFill>
              <a:srgbClr val="3567C8"/>
            </a:solidFill>
            <a:prstDash val="solid"/>
          </a:ln>
        </p:spPr>
      </p:sp>
      <p:pic>
        <p:nvPicPr>
          <p:cNvPr id="20" name="Image 3" descr="preencoded.png">    </p:cNvPr>
          <p:cNvPicPr>
            <a:picLocks noChangeAspect="1"/>
          </p:cNvPicPr>
          <p:nvPr/>
        </p:nvPicPr>
        <p:blipFill>
          <a:blip r:embed="rId4"/>
          <a:stretch>
            <a:fillRect/>
          </a:stretch>
        </p:blipFill>
        <p:spPr>
          <a:xfrm>
            <a:off x="5944972" y="1687068"/>
            <a:ext cx="301752" cy="301752"/>
          </a:xfrm>
          <a:prstGeom prst="rect">
            <a:avLst/>
          </a:prstGeom>
        </p:spPr>
      </p:pic>
      <p:sp>
        <p:nvSpPr>
          <p:cNvPr id="21" name="Text 15"/>
          <p:cNvSpPr txBox="1"/>
          <p:nvPr/>
        </p:nvSpPr>
        <p:spPr>
          <a:xfrm>
            <a:off x="5394829" y="2240280"/>
            <a:ext cx="1402036" cy="36576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Simulate</a:t>
            </a:r>
            <a:endParaRPr lang="en-US" sz="1500" dirty="0"/>
          </a:p>
        </p:txBody>
      </p:sp>
      <p:sp>
        <p:nvSpPr>
          <p:cNvPr id="22" name="Text 16"/>
          <p:cNvSpPr txBox="1"/>
          <p:nvPr/>
        </p:nvSpPr>
        <p:spPr>
          <a:xfrm>
            <a:off x="5413117" y="2606040"/>
            <a:ext cx="1365460" cy="68580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highway-env, ACC/AEB SUT</a:t>
            </a:r>
            <a:endParaRPr lang="en-US" sz="1200" dirty="0"/>
          </a:p>
        </p:txBody>
      </p:sp>
      <p:sp>
        <p:nvSpPr>
          <p:cNvPr id="23" name="Shape 17"/>
          <p:cNvSpPr/>
          <p:nvPr/>
        </p:nvSpPr>
        <p:spPr>
          <a:xfrm>
            <a:off x="6943170" y="1371600"/>
            <a:ext cx="1475188" cy="1965960"/>
          </a:xfrm>
          <a:prstGeom prst="roundRect">
            <a:avLst>
              <a:gd name="adj" fmla="val 7438"/>
            </a:avLst>
          </a:prstGeom>
          <a:solidFill>
            <a:srgbClr val="F2F5F9"/>
          </a:solidFill>
          <a:ln w="12700">
            <a:solidFill>
              <a:srgbClr val="F2F5F9"/>
            </a:solidFill>
            <a:prstDash val="solid"/>
          </a:ln>
        </p:spPr>
      </p:sp>
      <p:sp>
        <p:nvSpPr>
          <p:cNvPr id="24" name="Shape 18"/>
          <p:cNvSpPr/>
          <p:nvPr/>
        </p:nvSpPr>
        <p:spPr>
          <a:xfrm>
            <a:off x="7379012" y="1536192"/>
            <a:ext cx="603504" cy="603504"/>
          </a:xfrm>
          <a:prstGeom prst="ellipse">
            <a:avLst/>
          </a:prstGeom>
          <a:solidFill>
            <a:srgbClr val="0F8B8D"/>
          </a:solidFill>
          <a:ln w="12700">
            <a:solidFill>
              <a:srgbClr val="0F8B8D"/>
            </a:solidFill>
            <a:prstDash val="solid"/>
          </a:ln>
        </p:spPr>
      </p:sp>
      <p:pic>
        <p:nvPicPr>
          <p:cNvPr id="25" name="Image 4" descr="preencoded.png">    </p:cNvPr>
          <p:cNvPicPr>
            <a:picLocks noChangeAspect="1"/>
          </p:cNvPicPr>
          <p:nvPr/>
        </p:nvPicPr>
        <p:blipFill>
          <a:blip r:embed="rId5"/>
          <a:stretch>
            <a:fillRect/>
          </a:stretch>
        </p:blipFill>
        <p:spPr>
          <a:xfrm>
            <a:off x="7529888" y="1687068"/>
            <a:ext cx="301752" cy="301752"/>
          </a:xfrm>
          <a:prstGeom prst="rect">
            <a:avLst/>
          </a:prstGeom>
        </p:spPr>
      </p:pic>
      <p:sp>
        <p:nvSpPr>
          <p:cNvPr id="26" name="Text 19"/>
          <p:cNvSpPr txBox="1"/>
          <p:nvPr/>
        </p:nvSpPr>
        <p:spPr>
          <a:xfrm>
            <a:off x="6979746" y="2240280"/>
            <a:ext cx="1402036" cy="36576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Quantify</a:t>
            </a:r>
            <a:endParaRPr lang="en-US" sz="1500" dirty="0"/>
          </a:p>
        </p:txBody>
      </p:sp>
      <p:sp>
        <p:nvSpPr>
          <p:cNvPr id="27" name="Text 20"/>
          <p:cNvSpPr txBox="1"/>
          <p:nvPr/>
        </p:nvSpPr>
        <p:spPr>
          <a:xfrm>
            <a:off x="6998034" y="2606040"/>
            <a:ext cx="1365460" cy="68580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4 uncertainty signals</a:t>
            </a:r>
            <a:endParaRPr lang="en-US" sz="1200" dirty="0"/>
          </a:p>
        </p:txBody>
      </p:sp>
      <p:sp>
        <p:nvSpPr>
          <p:cNvPr id="28" name="Shape 21"/>
          <p:cNvSpPr/>
          <p:nvPr/>
        </p:nvSpPr>
        <p:spPr>
          <a:xfrm>
            <a:off x="8528086" y="1371600"/>
            <a:ext cx="1475188" cy="1965960"/>
          </a:xfrm>
          <a:prstGeom prst="roundRect">
            <a:avLst>
              <a:gd name="adj" fmla="val 7438"/>
            </a:avLst>
          </a:prstGeom>
          <a:solidFill>
            <a:srgbClr val="F2F5F9"/>
          </a:solidFill>
          <a:ln w="12700">
            <a:solidFill>
              <a:srgbClr val="F2F5F9"/>
            </a:solidFill>
            <a:prstDash val="solid"/>
          </a:ln>
        </p:spPr>
      </p:sp>
      <p:sp>
        <p:nvSpPr>
          <p:cNvPr id="29" name="Shape 22"/>
          <p:cNvSpPr/>
          <p:nvPr/>
        </p:nvSpPr>
        <p:spPr>
          <a:xfrm>
            <a:off x="8963929" y="1536192"/>
            <a:ext cx="603504" cy="603504"/>
          </a:xfrm>
          <a:prstGeom prst="ellipse">
            <a:avLst/>
          </a:prstGeom>
          <a:solidFill>
            <a:srgbClr val="0F8B8D"/>
          </a:solidFill>
          <a:ln w="12700">
            <a:solidFill>
              <a:srgbClr val="0F8B8D"/>
            </a:solidFill>
            <a:prstDash val="solid"/>
          </a:ln>
        </p:spPr>
      </p:sp>
      <p:pic>
        <p:nvPicPr>
          <p:cNvPr id="30" name="Image 5" descr="preencoded.png">    </p:cNvPr>
          <p:cNvPicPr>
            <a:picLocks noChangeAspect="1"/>
          </p:cNvPicPr>
          <p:nvPr/>
        </p:nvPicPr>
        <p:blipFill>
          <a:blip r:embed="rId6"/>
          <a:stretch>
            <a:fillRect/>
          </a:stretch>
        </p:blipFill>
        <p:spPr>
          <a:xfrm>
            <a:off x="9114805" y="1687068"/>
            <a:ext cx="301752" cy="301752"/>
          </a:xfrm>
          <a:prstGeom prst="rect">
            <a:avLst/>
          </a:prstGeom>
        </p:spPr>
      </p:pic>
      <p:sp>
        <p:nvSpPr>
          <p:cNvPr id="31" name="Text 23"/>
          <p:cNvSpPr txBox="1"/>
          <p:nvPr/>
        </p:nvSpPr>
        <p:spPr>
          <a:xfrm>
            <a:off x="8564662" y="2240280"/>
            <a:ext cx="1402036" cy="36576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Triage</a:t>
            </a:r>
            <a:endParaRPr lang="en-US" sz="1500" dirty="0"/>
          </a:p>
        </p:txBody>
      </p:sp>
      <p:sp>
        <p:nvSpPr>
          <p:cNvPr id="32" name="Text 24"/>
          <p:cNvSpPr txBox="1"/>
          <p:nvPr/>
        </p:nvSpPr>
        <p:spPr>
          <a:xfrm>
            <a:off x="8582950" y="2606040"/>
            <a:ext cx="1365460" cy="68580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accept / review / reject</a:t>
            </a:r>
            <a:endParaRPr lang="en-US" sz="1200" dirty="0"/>
          </a:p>
        </p:txBody>
      </p:sp>
      <p:sp>
        <p:nvSpPr>
          <p:cNvPr id="33" name="Shape 25"/>
          <p:cNvSpPr/>
          <p:nvPr/>
        </p:nvSpPr>
        <p:spPr>
          <a:xfrm>
            <a:off x="10113003" y="1371600"/>
            <a:ext cx="1475188" cy="1965960"/>
          </a:xfrm>
          <a:prstGeom prst="roundRect">
            <a:avLst>
              <a:gd name="adj" fmla="val 7438"/>
            </a:avLst>
          </a:prstGeom>
          <a:solidFill>
            <a:srgbClr val="F2F5F9"/>
          </a:solidFill>
          <a:ln w="12700">
            <a:solidFill>
              <a:srgbClr val="F2F5F9"/>
            </a:solidFill>
            <a:prstDash val="solid"/>
          </a:ln>
        </p:spPr>
      </p:sp>
      <p:sp>
        <p:nvSpPr>
          <p:cNvPr id="34" name="Shape 26"/>
          <p:cNvSpPr/>
          <p:nvPr/>
        </p:nvSpPr>
        <p:spPr>
          <a:xfrm>
            <a:off x="10548845" y="1536192"/>
            <a:ext cx="603504" cy="603504"/>
          </a:xfrm>
          <a:prstGeom prst="ellipse">
            <a:avLst/>
          </a:prstGeom>
          <a:solidFill>
            <a:srgbClr val="E39B2D"/>
          </a:solidFill>
          <a:ln w="12700">
            <a:solidFill>
              <a:srgbClr val="E39B2D"/>
            </a:solidFill>
            <a:prstDash val="solid"/>
          </a:ln>
        </p:spPr>
      </p:sp>
      <p:pic>
        <p:nvPicPr>
          <p:cNvPr id="35" name="Image 6" descr="preencoded.png">    </p:cNvPr>
          <p:cNvPicPr>
            <a:picLocks noChangeAspect="1"/>
          </p:cNvPicPr>
          <p:nvPr/>
        </p:nvPicPr>
        <p:blipFill>
          <a:blip r:embed="rId7"/>
          <a:stretch>
            <a:fillRect/>
          </a:stretch>
        </p:blipFill>
        <p:spPr>
          <a:xfrm>
            <a:off x="10699721" y="1687068"/>
            <a:ext cx="301752" cy="301752"/>
          </a:xfrm>
          <a:prstGeom prst="rect">
            <a:avLst/>
          </a:prstGeom>
        </p:spPr>
      </p:pic>
      <p:sp>
        <p:nvSpPr>
          <p:cNvPr id="36" name="Text 27"/>
          <p:cNvSpPr txBox="1"/>
          <p:nvPr/>
        </p:nvSpPr>
        <p:spPr>
          <a:xfrm>
            <a:off x="10149579" y="2240280"/>
            <a:ext cx="1402036" cy="36576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Ground truth</a:t>
            </a:r>
            <a:endParaRPr lang="en-US" sz="1500" dirty="0"/>
          </a:p>
        </p:txBody>
      </p:sp>
      <p:sp>
        <p:nvSpPr>
          <p:cNvPr id="37" name="Text 28"/>
          <p:cNvSpPr txBox="1"/>
          <p:nvPr/>
        </p:nvSpPr>
        <p:spPr>
          <a:xfrm>
            <a:off x="10167867" y="2606040"/>
            <a:ext cx="1365460" cy="68580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8 seeded faults (research)</a:t>
            </a:r>
            <a:endParaRPr lang="en-US" sz="1200" dirty="0"/>
          </a:p>
        </p:txBody>
      </p:sp>
      <p:pic>
        <p:nvPicPr>
          <p:cNvPr id="38" name="Image 7" descr="D:\hnp\uq-testgen\deck\assets\frame_c.png">    </p:cNvPr>
          <p:cNvPicPr>
            <a:picLocks noChangeAspect="1"/>
          </p:cNvPicPr>
          <p:nvPr/>
        </p:nvPicPr>
        <p:blipFill>
          <a:blip r:embed="rId8"/>
          <a:stretch>
            <a:fillRect/>
          </a:stretch>
        </p:blipFill>
        <p:spPr>
          <a:xfrm>
            <a:off x="548640" y="3611880"/>
            <a:ext cx="6675120" cy="1084707"/>
          </a:xfrm>
          <a:prstGeom prst="rect">
            <a:avLst/>
          </a:prstGeom>
        </p:spPr>
      </p:pic>
      <p:sp>
        <p:nvSpPr>
          <p:cNvPr id="39" name="Text 29"/>
          <p:cNvSpPr txBox="1"/>
          <p:nvPr/>
        </p:nvSpPr>
        <p:spPr>
          <a:xfrm>
            <a:off x="548640" y="4754880"/>
            <a:ext cx="6675120" cy="548640"/>
          </a:xfrm>
          <a:prstGeom prst="rect">
            <a:avLst/>
          </a:prstGeom>
          <a:noFill/>
          <a:ln/>
        </p:spPr>
        <p:txBody>
          <a:bodyPr wrap="square" lIns="0" tIns="0" rIns="0" bIns="0" rtlCol="0" anchor="t"/>
          <a:lstStyle/>
          <a:p>
            <a:pPr indent="0" marL="0">
              <a:buNone/>
            </a:pPr>
            <a:r>
              <a:rPr lang="en-US" sz="1200" i="1" dirty="0">
                <a:solidFill>
                  <a:srgbClr val="5B6578"/>
                </a:solidFill>
                <a:latin typeface="Calibri" pitchFamily="34" charset="0"/>
                <a:ea typeface="Calibri" pitchFamily="34" charset="-122"/>
                <a:cs typeface="Calibri" pitchFamily="34" charset="-120"/>
              </a:rPr>
              <a:t>System under test: adaptive cruise control with emergency braking and lane keeping in highway-env [29]. Green = ego, blue = scripted traffic.</a:t>
            </a:r>
            <a:endParaRPr lang="en-US" sz="1200" dirty="0"/>
          </a:p>
        </p:txBody>
      </p:sp>
      <p:sp>
        <p:nvSpPr>
          <p:cNvPr id="40" name="Shape 30"/>
          <p:cNvSpPr/>
          <p:nvPr/>
        </p:nvSpPr>
        <p:spPr>
          <a:xfrm>
            <a:off x="7498080" y="3611880"/>
            <a:ext cx="4142232" cy="2286000"/>
          </a:xfrm>
          <a:prstGeom prst="roundRect">
            <a:avLst>
              <a:gd name="adj" fmla="val 4800"/>
            </a:avLst>
          </a:prstGeom>
          <a:solidFill>
            <a:srgbClr val="E6F3F3"/>
          </a:solidFill>
          <a:ln w="12700">
            <a:solidFill>
              <a:srgbClr val="E6F3F3"/>
            </a:solidFill>
            <a:prstDash val="solid"/>
          </a:ln>
        </p:spPr>
      </p:sp>
      <p:sp>
        <p:nvSpPr>
          <p:cNvPr id="41" name="Text 31"/>
          <p:cNvSpPr txBox="1"/>
          <p:nvPr/>
        </p:nvSpPr>
        <p:spPr>
          <a:xfrm>
            <a:off x="7726680" y="3730752"/>
            <a:ext cx="3749040" cy="365760"/>
          </a:xfrm>
          <a:prstGeom prst="rect">
            <a:avLst/>
          </a:prstGeom>
          <a:noFill/>
          <a:ln/>
        </p:spPr>
        <p:txBody>
          <a:bodyPr wrap="square" lIns="0" tIns="0" rIns="0" bIns="0" rtlCol="0" anchor="t"/>
          <a:lstStyle/>
          <a:p>
            <a:pPr indent="0" marL="0">
              <a:buNone/>
            </a:pPr>
            <a:r>
              <a:rPr lang="en-US" sz="1600" b="1" dirty="0">
                <a:solidFill>
                  <a:srgbClr val="0F8B8D"/>
                </a:solidFill>
                <a:latin typeface="Calibri" pitchFamily="34" charset="0"/>
                <a:ea typeface="Calibri" pitchFamily="34" charset="-122"/>
                <a:cs typeface="Calibri" pitchFamily="34" charset="-120"/>
              </a:rPr>
              <a:t>What is new vs. v1</a:t>
            </a:r>
            <a:endParaRPr lang="en-US" sz="1600" dirty="0"/>
          </a:p>
        </p:txBody>
      </p:sp>
      <p:sp>
        <p:nvSpPr>
          <p:cNvPr id="42" name="Text 32"/>
          <p:cNvSpPr txBox="1"/>
          <p:nvPr/>
        </p:nvSpPr>
        <p:spPr>
          <a:xfrm>
            <a:off x="7726680" y="4160520"/>
            <a:ext cx="3749040" cy="16916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Sample N tests instead of one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Uncertainty without ground truth</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Risk-based triage replaces the binary gate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Fault-injection ground truth to evaluate the signals</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Four uncertainty signals — no ground truth needed</a:t>
            </a:r>
            <a:endParaRPr lang="en-US" sz="3000" dirty="0"/>
          </a:p>
        </p:txBody>
      </p:sp>
      <p:sp>
        <p:nvSpPr>
          <p:cNvPr id="3" name="Shape 1"/>
          <p:cNvSpPr/>
          <p:nvPr/>
        </p:nvSpPr>
        <p:spPr>
          <a:xfrm>
            <a:off x="548640" y="1371600"/>
            <a:ext cx="5440680" cy="2011680"/>
          </a:xfrm>
          <a:prstGeom prst="roundRect">
            <a:avLst>
              <a:gd name="adj" fmla="val 5455"/>
            </a:avLst>
          </a:prstGeom>
          <a:solidFill>
            <a:srgbClr val="F2F5F9"/>
          </a:solidFill>
          <a:ln w="12700">
            <a:solidFill>
              <a:srgbClr val="F2F5F9"/>
            </a:solidFill>
            <a:prstDash val="solid"/>
          </a:ln>
        </p:spPr>
      </p:sp>
      <p:sp>
        <p:nvSpPr>
          <p:cNvPr id="4" name="Shape 2"/>
          <p:cNvSpPr/>
          <p:nvPr/>
        </p:nvSpPr>
        <p:spPr>
          <a:xfrm>
            <a:off x="822960" y="1645920"/>
            <a:ext cx="640080" cy="640080"/>
          </a:xfrm>
          <a:prstGeom prst="ellipse">
            <a:avLst/>
          </a:prstGeom>
          <a:solidFill>
            <a:srgbClr val="5B6578"/>
          </a:solidFill>
          <a:ln w="12700">
            <a:solidFill>
              <a:srgbClr val="5B6578"/>
            </a:solidFill>
            <a:prstDash val="solid"/>
          </a:ln>
        </p:spPr>
      </p:sp>
      <p:pic>
        <p:nvPicPr>
          <p:cNvPr id="5" name="Image 0" descr="preencoded.png">    </p:cNvPr>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1645920" y="1600200"/>
            <a:ext cx="4114800" cy="4114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Verbalised confidence</a:t>
            </a:r>
            <a:endParaRPr lang="en-US" sz="1800" dirty="0"/>
          </a:p>
        </p:txBody>
      </p:sp>
      <p:sp>
        <p:nvSpPr>
          <p:cNvPr id="7" name="Text 4"/>
          <p:cNvSpPr txBox="1"/>
          <p:nvPr/>
        </p:nvSpPr>
        <p:spPr>
          <a:xfrm>
            <a:off x="1645920" y="2029968"/>
            <a:ext cx="4114800" cy="365760"/>
          </a:xfrm>
          <a:prstGeom prst="rect">
            <a:avLst/>
          </a:prstGeom>
          <a:noFill/>
          <a:ln/>
        </p:spPr>
        <p:txBody>
          <a:bodyPr wrap="square" lIns="0" tIns="0" rIns="0" bIns="0" rtlCol="0" anchor="t"/>
          <a:lstStyle/>
          <a:p>
            <a:pPr indent="0" marL="0">
              <a:buNone/>
            </a:pPr>
            <a:r>
              <a:rPr lang="en-US" sz="1400" b="1" dirty="0">
                <a:solidFill>
                  <a:srgbClr val="1E2533"/>
                </a:solidFill>
                <a:latin typeface="Courier New" pitchFamily="34" charset="0"/>
                <a:ea typeface="Courier New" pitchFamily="34" charset="-122"/>
                <a:cs typeface="Courier New" pitchFamily="34" charset="-120"/>
              </a:rPr>
              <a:t>U = 1 − c</a:t>
            </a:r>
            <a:endParaRPr lang="en-US" sz="1400" dirty="0"/>
          </a:p>
        </p:txBody>
      </p:sp>
      <p:sp>
        <p:nvSpPr>
          <p:cNvPr id="8" name="Text 5"/>
          <p:cNvSpPr txBox="1"/>
          <p:nvPr/>
        </p:nvSpPr>
        <p:spPr>
          <a:xfrm>
            <a:off x="1645920" y="2423160"/>
            <a:ext cx="4160520" cy="86868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The LLM's own probability that the test is correct. Baseline.</a:t>
            </a:r>
            <a:endParaRPr lang="en-US" sz="1400" dirty="0"/>
          </a:p>
        </p:txBody>
      </p:sp>
      <p:sp>
        <p:nvSpPr>
          <p:cNvPr id="9" name="Shape 6"/>
          <p:cNvSpPr/>
          <p:nvPr/>
        </p:nvSpPr>
        <p:spPr>
          <a:xfrm>
            <a:off x="6172200" y="1371600"/>
            <a:ext cx="5440680" cy="2011680"/>
          </a:xfrm>
          <a:prstGeom prst="roundRect">
            <a:avLst>
              <a:gd name="adj" fmla="val 5455"/>
            </a:avLst>
          </a:prstGeom>
          <a:solidFill>
            <a:srgbClr val="F2F5F9"/>
          </a:solidFill>
          <a:ln w="12700">
            <a:solidFill>
              <a:srgbClr val="F2F5F9"/>
            </a:solidFill>
            <a:prstDash val="solid"/>
          </a:ln>
        </p:spPr>
      </p:sp>
      <p:sp>
        <p:nvSpPr>
          <p:cNvPr id="10" name="Shape 7"/>
          <p:cNvSpPr/>
          <p:nvPr/>
        </p:nvSpPr>
        <p:spPr>
          <a:xfrm>
            <a:off x="6446520" y="1645920"/>
            <a:ext cx="640080" cy="640080"/>
          </a:xfrm>
          <a:prstGeom prst="ellipse">
            <a:avLst/>
          </a:prstGeom>
          <a:solidFill>
            <a:srgbClr val="3567C8"/>
          </a:solidFill>
          <a:ln w="12700">
            <a:solidFill>
              <a:srgbClr val="3567C8"/>
            </a:solidFill>
            <a:prstDash val="solid"/>
          </a:ln>
        </p:spPr>
      </p:sp>
      <p:pic>
        <p:nvPicPr>
          <p:cNvPr id="11" name="Image 1" descr="preencoded.png">    </p:cNvPr>
          <p:cNvPicPr>
            <a:picLocks noChangeAspect="1"/>
          </p:cNvPicPr>
          <p:nvPr/>
        </p:nvPicPr>
        <p:blipFill>
          <a:blip r:embed="rId2"/>
          <a:stretch>
            <a:fillRect/>
          </a:stretch>
        </p:blipFill>
        <p:spPr>
          <a:xfrm>
            <a:off x="6606540" y="1805940"/>
            <a:ext cx="320040" cy="320040"/>
          </a:xfrm>
          <a:prstGeom prst="rect">
            <a:avLst/>
          </a:prstGeom>
        </p:spPr>
      </p:pic>
      <p:sp>
        <p:nvSpPr>
          <p:cNvPr id="12" name="Text 8"/>
          <p:cNvSpPr txBox="1"/>
          <p:nvPr/>
        </p:nvSpPr>
        <p:spPr>
          <a:xfrm>
            <a:off x="7269480" y="1600200"/>
            <a:ext cx="4114800" cy="4114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Structural entropy</a:t>
            </a:r>
            <a:endParaRPr lang="en-US" sz="1800" dirty="0"/>
          </a:p>
        </p:txBody>
      </p:sp>
      <p:sp>
        <p:nvSpPr>
          <p:cNvPr id="13" name="Text 9"/>
          <p:cNvSpPr txBox="1"/>
          <p:nvPr/>
        </p:nvSpPr>
        <p:spPr>
          <a:xfrm>
            <a:off x="7269480" y="2029968"/>
            <a:ext cx="4114800" cy="365760"/>
          </a:xfrm>
          <a:prstGeom prst="rect">
            <a:avLst/>
          </a:prstGeom>
          <a:noFill/>
          <a:ln/>
        </p:spPr>
        <p:txBody>
          <a:bodyPr wrap="square" lIns="0" tIns="0" rIns="0" bIns="0" rtlCol="0" anchor="t"/>
          <a:lstStyle/>
          <a:p>
            <a:pPr indent="0" marL="0">
              <a:buNone/>
            </a:pPr>
            <a:r>
              <a:rPr lang="en-US" sz="1400" b="1" dirty="0">
                <a:solidFill>
                  <a:srgbClr val="3567C8"/>
                </a:solidFill>
                <a:latin typeface="Courier New" pitchFamily="34" charset="0"/>
                <a:ea typeface="Courier New" pitchFamily="34" charset="-122"/>
                <a:cs typeface="Courier New" pitchFamily="34" charset="-120"/>
              </a:rPr>
              <a:t>U = −log p(cluster) / log N</a:t>
            </a:r>
            <a:endParaRPr lang="en-US" sz="1400" dirty="0"/>
          </a:p>
        </p:txBody>
      </p:sp>
      <p:sp>
        <p:nvSpPr>
          <p:cNvPr id="14" name="Text 10"/>
          <p:cNvSpPr txBox="1"/>
          <p:nvPr/>
        </p:nvSpPr>
        <p:spPr>
          <a:xfrm>
            <a:off x="7269480" y="2423160"/>
            <a:ext cx="4160520" cy="86868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Cluster samples by oracle templates, event types and traffic layout — semantic entropy on the artefact [23].</a:t>
            </a:r>
            <a:endParaRPr lang="en-US" sz="1400" dirty="0"/>
          </a:p>
        </p:txBody>
      </p:sp>
      <p:sp>
        <p:nvSpPr>
          <p:cNvPr id="15" name="Shape 11"/>
          <p:cNvSpPr/>
          <p:nvPr/>
        </p:nvSpPr>
        <p:spPr>
          <a:xfrm>
            <a:off x="548640" y="3566160"/>
            <a:ext cx="5440680" cy="2011680"/>
          </a:xfrm>
          <a:prstGeom prst="roundRect">
            <a:avLst>
              <a:gd name="adj" fmla="val 5455"/>
            </a:avLst>
          </a:prstGeom>
          <a:solidFill>
            <a:srgbClr val="E6F3F3"/>
          </a:solidFill>
          <a:ln w="12700">
            <a:solidFill>
              <a:srgbClr val="E6F3F3"/>
            </a:solidFill>
            <a:prstDash val="solid"/>
          </a:ln>
        </p:spPr>
      </p:sp>
      <p:sp>
        <p:nvSpPr>
          <p:cNvPr id="16" name="Shape 12"/>
          <p:cNvSpPr/>
          <p:nvPr/>
        </p:nvSpPr>
        <p:spPr>
          <a:xfrm>
            <a:off x="822960" y="3840480"/>
            <a:ext cx="640080" cy="640080"/>
          </a:xfrm>
          <a:prstGeom prst="ellipse">
            <a:avLst/>
          </a:prstGeom>
          <a:solidFill>
            <a:srgbClr val="0F8B8D"/>
          </a:solidFill>
          <a:ln w="12700">
            <a:solidFill>
              <a:srgbClr val="0F8B8D"/>
            </a:solidFill>
            <a:prstDash val="solid"/>
          </a:ln>
        </p:spPr>
      </p:sp>
      <p:pic>
        <p:nvPicPr>
          <p:cNvPr id="17" name="Image 2" descr="preencoded.png">    </p:cNvPr>
          <p:cNvPicPr>
            <a:picLocks noChangeAspect="1"/>
          </p:cNvPicPr>
          <p:nvPr/>
        </p:nvPicPr>
        <p:blipFill>
          <a:blip r:embed="rId3"/>
          <a:stretch>
            <a:fillRect/>
          </a:stretch>
        </p:blipFill>
        <p:spPr>
          <a:xfrm>
            <a:off x="982980" y="4000500"/>
            <a:ext cx="320040" cy="320040"/>
          </a:xfrm>
          <a:prstGeom prst="rect">
            <a:avLst/>
          </a:prstGeom>
        </p:spPr>
      </p:pic>
      <p:sp>
        <p:nvSpPr>
          <p:cNvPr id="18" name="Text 13"/>
          <p:cNvSpPr txBox="1"/>
          <p:nvPr/>
        </p:nvSpPr>
        <p:spPr>
          <a:xfrm>
            <a:off x="1645920" y="3794760"/>
            <a:ext cx="4114800" cy="4114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Behavioural entropy (new)</a:t>
            </a:r>
            <a:endParaRPr lang="en-US" sz="1800" dirty="0"/>
          </a:p>
        </p:txBody>
      </p:sp>
      <p:sp>
        <p:nvSpPr>
          <p:cNvPr id="19" name="Text 14"/>
          <p:cNvSpPr txBox="1"/>
          <p:nvPr/>
        </p:nvSpPr>
        <p:spPr>
          <a:xfrm>
            <a:off x="1645920" y="4224528"/>
            <a:ext cx="4114800" cy="365760"/>
          </a:xfrm>
          <a:prstGeom prst="rect">
            <a:avLst/>
          </a:prstGeom>
          <a:noFill/>
          <a:ln/>
        </p:spPr>
        <p:txBody>
          <a:bodyPr wrap="square" lIns="0" tIns="0" rIns="0" bIns="0" rtlCol="0" anchor="t"/>
          <a:lstStyle/>
          <a:p>
            <a:pPr indent="0" marL="0">
              <a:buNone/>
            </a:pPr>
            <a:r>
              <a:rPr lang="en-US" sz="1400" b="1" dirty="0">
                <a:solidFill>
                  <a:srgbClr val="0F8B8D"/>
                </a:solidFill>
                <a:latin typeface="Courier New" pitchFamily="34" charset="0"/>
                <a:ea typeface="Courier New" pitchFamily="34" charset="-122"/>
                <a:cs typeface="Courier New" pitchFamily="34" charset="-120"/>
              </a:rPr>
              <a:t>U = −log p(behaviour) / log N</a:t>
            </a:r>
            <a:endParaRPr lang="en-US" sz="1400" dirty="0"/>
          </a:p>
        </p:txBody>
      </p:sp>
      <p:sp>
        <p:nvSpPr>
          <p:cNvPr id="20" name="Text 15"/>
          <p:cNvSpPr txBox="1"/>
          <p:nvPr/>
        </p:nvSpPr>
        <p:spPr>
          <a:xfrm>
            <a:off x="1645920" y="4617720"/>
            <a:ext cx="4160520" cy="86868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Cluster samples by what they do on the SUT: own verdict, collision, emergency braking, minimum-gap band.</a:t>
            </a:r>
            <a:endParaRPr lang="en-US" sz="1400" dirty="0"/>
          </a:p>
        </p:txBody>
      </p:sp>
      <p:sp>
        <p:nvSpPr>
          <p:cNvPr id="21" name="Shape 16"/>
          <p:cNvSpPr/>
          <p:nvPr/>
        </p:nvSpPr>
        <p:spPr>
          <a:xfrm>
            <a:off x="6172200" y="3566160"/>
            <a:ext cx="5440680" cy="2011680"/>
          </a:xfrm>
          <a:prstGeom prst="roundRect">
            <a:avLst>
              <a:gd name="adj" fmla="val 5455"/>
            </a:avLst>
          </a:prstGeom>
          <a:solidFill>
            <a:srgbClr val="F2F5F9"/>
          </a:solidFill>
          <a:ln w="12700">
            <a:solidFill>
              <a:srgbClr val="F2F5F9"/>
            </a:solidFill>
            <a:prstDash val="solid"/>
          </a:ln>
        </p:spPr>
      </p:sp>
      <p:sp>
        <p:nvSpPr>
          <p:cNvPr id="22" name="Shape 17"/>
          <p:cNvSpPr/>
          <p:nvPr/>
        </p:nvSpPr>
        <p:spPr>
          <a:xfrm>
            <a:off x="6446520" y="3840480"/>
            <a:ext cx="640080" cy="640080"/>
          </a:xfrm>
          <a:prstGeom prst="ellipse">
            <a:avLst/>
          </a:prstGeom>
          <a:solidFill>
            <a:srgbClr val="6E56CF"/>
          </a:solidFill>
          <a:ln w="12700">
            <a:solidFill>
              <a:srgbClr val="6E56CF"/>
            </a:solidFill>
            <a:prstDash val="solid"/>
          </a:ln>
        </p:spPr>
      </p:sp>
      <p:pic>
        <p:nvPicPr>
          <p:cNvPr id="23" name="Image 3" descr="preencoded.png">    </p:cNvPr>
          <p:cNvPicPr>
            <a:picLocks noChangeAspect="1"/>
          </p:cNvPicPr>
          <p:nvPr/>
        </p:nvPicPr>
        <p:blipFill>
          <a:blip r:embed="rId4"/>
          <a:stretch>
            <a:fillRect/>
          </a:stretch>
        </p:blipFill>
        <p:spPr>
          <a:xfrm>
            <a:off x="6606540" y="4000500"/>
            <a:ext cx="320040" cy="320040"/>
          </a:xfrm>
          <a:prstGeom prst="rect">
            <a:avLst/>
          </a:prstGeom>
        </p:spPr>
      </p:pic>
      <p:sp>
        <p:nvSpPr>
          <p:cNvPr id="24" name="Text 18"/>
          <p:cNvSpPr txBox="1"/>
          <p:nvPr/>
        </p:nvSpPr>
        <p:spPr>
          <a:xfrm>
            <a:off x="7269480" y="3794760"/>
            <a:ext cx="4114800" cy="4114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Oracle disagreement</a:t>
            </a:r>
            <a:endParaRPr lang="en-US" sz="1800" dirty="0"/>
          </a:p>
        </p:txBody>
      </p:sp>
      <p:sp>
        <p:nvSpPr>
          <p:cNvPr id="25" name="Text 19"/>
          <p:cNvSpPr txBox="1"/>
          <p:nvPr/>
        </p:nvSpPr>
        <p:spPr>
          <a:xfrm>
            <a:off x="7269480" y="4224528"/>
            <a:ext cx="4114800" cy="365760"/>
          </a:xfrm>
          <a:prstGeom prst="rect">
            <a:avLst/>
          </a:prstGeom>
          <a:noFill/>
          <a:ln/>
        </p:spPr>
        <p:txBody>
          <a:bodyPr wrap="square" lIns="0" tIns="0" rIns="0" bIns="0" rtlCol="0" anchor="t"/>
          <a:lstStyle/>
          <a:p>
            <a:pPr indent="0" marL="0">
              <a:buNone/>
            </a:pPr>
            <a:r>
              <a:rPr lang="en-US" sz="1400" b="1" dirty="0">
                <a:solidFill>
                  <a:srgbClr val="6E56CF"/>
                </a:solidFill>
                <a:latin typeface="Courier New" pitchFamily="34" charset="0"/>
                <a:ea typeface="Courier New" pitchFamily="34" charset="-122"/>
                <a:cs typeface="Courier New" pitchFamily="34" charset="-120"/>
              </a:rPr>
              <a:t>U = disagreeing peers / (N − 1)</a:t>
            </a:r>
            <a:endParaRPr lang="en-US" sz="1400" dirty="0"/>
          </a:p>
        </p:txBody>
      </p:sp>
      <p:sp>
        <p:nvSpPr>
          <p:cNvPr id="26" name="Text 20"/>
          <p:cNvSpPr txBox="1"/>
          <p:nvPr/>
        </p:nvSpPr>
        <p:spPr>
          <a:xfrm>
            <a:off x="7269480" y="4617720"/>
            <a:ext cx="4160520" cy="86868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Apply every peer's oracle to this sample's trace; disagreement means an ambiguous requirement.</a:t>
            </a:r>
            <a:endParaRPr lang="en-US" sz="1400" dirty="0"/>
          </a:p>
        </p:txBody>
      </p:sp>
      <p:sp>
        <p:nvSpPr>
          <p:cNvPr id="27" name="Text 21"/>
          <p:cNvSpPr txBox="1"/>
          <p:nvPr/>
        </p:nvSpPr>
        <p:spPr>
          <a:xfrm>
            <a:off x="548640" y="5833872"/>
            <a:ext cx="11094415" cy="365760"/>
          </a:xfrm>
          <a:prstGeom prst="rect">
            <a:avLst/>
          </a:prstGeom>
          <a:noFill/>
          <a:ln/>
        </p:spPr>
        <p:txBody>
          <a:bodyPr wrap="square" lIns="0" tIns="0" rIns="0" bIns="0" rtlCol="0" anchor="t"/>
          <a:lstStyle/>
          <a:p>
            <a:pPr indent="0" marL="0">
              <a:buNone/>
            </a:pPr>
            <a:r>
              <a:rPr lang="en-US" sz="1200" i="1" dirty="0">
                <a:solidFill>
                  <a:srgbClr val="5B6578"/>
                </a:solidFill>
                <a:latin typeface="Calibri" pitchFamily="34" charset="0"/>
                <a:ea typeface="Calibri" pitchFamily="34" charset="-122"/>
                <a:cs typeface="Calibri" pitchFamily="34" charset="-120"/>
              </a:rPr>
              <a:t>Combined score = mean(structural, behavioural); oracle disagreement was uninformative on a development round and is reported only.</a:t>
            </a:r>
            <a:endParaRPr lang="en-US" sz="12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Demo: one requirement, end to end, live LLM</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80160"/>
            <a:ext cx="7589520" cy="4743450"/>
          </a:xfrm>
          <a:prstGeom prst="rect">
            <a:avLst/>
          </a:prstGeom>
        </p:spPr>
      </p:pic>
      <p:sp>
        <p:nvSpPr>
          <p:cNvPr id="4" name="Shape 1"/>
          <p:cNvSpPr/>
          <p:nvPr/>
        </p:nvSpPr>
        <p:spPr>
          <a:xfrm>
            <a:off x="8412480" y="1280160"/>
            <a:ext cx="3230575" cy="4743450"/>
          </a:xfrm>
          <a:prstGeom prst="roundRect">
            <a:avLst>
              <a:gd name="adj" fmla="val 3397"/>
            </a:avLst>
          </a:prstGeom>
          <a:solidFill>
            <a:srgbClr val="F2F5F9"/>
          </a:solidFill>
          <a:ln w="12700">
            <a:solidFill>
              <a:srgbClr val="F2F5F9"/>
            </a:solidFill>
            <a:prstDash val="solid"/>
          </a:ln>
        </p:spPr>
      </p:sp>
      <p:sp>
        <p:nvSpPr>
          <p:cNvPr id="5" name="Text 2"/>
          <p:cNvSpPr txBox="1"/>
          <p:nvPr/>
        </p:nvSpPr>
        <p:spPr>
          <a:xfrm>
            <a:off x="8641080" y="1463040"/>
            <a:ext cx="2468880" cy="365760"/>
          </a:xfrm>
          <a:prstGeom prst="rect">
            <a:avLst/>
          </a:prstGeom>
          <a:noFill/>
          <a:ln/>
        </p:spPr>
        <p:txBody>
          <a:bodyPr wrap="square" lIns="0" tIns="0" rIns="0" bIns="0" rtlCol="0" anchor="t"/>
          <a:lstStyle/>
          <a:p>
            <a:pPr indent="0" marL="0">
              <a:buNone/>
            </a:pPr>
            <a:r>
              <a:rPr lang="en-US" sz="1600" b="1" dirty="0">
                <a:solidFill>
                  <a:srgbClr val="13213C"/>
                </a:solidFill>
                <a:latin typeface="Calibri" pitchFamily="34" charset="0"/>
                <a:ea typeface="Calibri" pitchFamily="34" charset="-122"/>
                <a:cs typeface="Calibri" pitchFamily="34" charset="-120"/>
              </a:rPr>
              <a:t>What you see</a:t>
            </a:r>
            <a:endParaRPr lang="en-US" sz="1600" dirty="0"/>
          </a:p>
        </p:txBody>
      </p:sp>
      <p:sp>
        <p:nvSpPr>
          <p:cNvPr id="6" name="Text 3"/>
          <p:cNvSpPr txBox="1"/>
          <p:nvPr/>
        </p:nvSpPr>
        <p:spPr>
          <a:xfrm>
            <a:off x="8641080" y="1920240"/>
            <a:ext cx="2514600" cy="392049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R6: a cut-out reveals a stopped car</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8 samples from gpt-5.6-luna</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Live stages: generate → gate → simulate → quantify → triage → ground truth</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Most uncertain test = the irrelevant one</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Replay on a seeded fault: the oracle catches it</a:t>
            </a:r>
            <a:endParaRPr lang="en-US" sz="1300" dirty="0"/>
          </a:p>
        </p:txBody>
      </p:sp>
      <p:sp>
        <p:nvSpPr>
          <p:cNvPr id="7" name="Text 4"/>
          <p:cNvSpPr txBox="1"/>
          <p:nvPr/>
        </p:nvSpPr>
        <p:spPr>
          <a:xfrm>
            <a:off x="548640" y="6096762"/>
            <a:ext cx="7589520" cy="274320"/>
          </a:xfrm>
          <a:prstGeom prst="rect">
            <a:avLst/>
          </a:prstGeom>
          <a:noFill/>
          <a:ln/>
        </p:spPr>
        <p:txBody>
          <a:bodyPr wrap="square" lIns="0" tIns="0" rIns="0" bIns="0" rtlCol="0" anchor="t"/>
          <a:lstStyle/>
          <a:p>
            <a:pPr indent="0" marL="0">
              <a:buNone/>
            </a:pPr>
            <a:r>
              <a:rPr lang="en-US" sz="1100" i="1" dirty="0">
                <a:solidFill>
                  <a:srgbClr val="5B6578"/>
                </a:solidFill>
                <a:latin typeface="Calibri" pitchFamily="34" charset="0"/>
                <a:ea typeface="Calibri" pitchFamily="34" charset="-122"/>
                <a:cs typeface="Calibri" pitchFamily="34" charset="-120"/>
              </a:rPr>
              <a:t>1 min 44 s · recorded from the running prototype</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Experiment: 210 generated tests, 1,890 simulations</a:t>
            </a:r>
            <a:endParaRPr lang="en-US" sz="3000" dirty="0"/>
          </a:p>
        </p:txBody>
      </p:sp>
      <p:sp>
        <p:nvSpPr>
          <p:cNvPr id="3" name="Shape 1"/>
          <p:cNvSpPr/>
          <p:nvPr/>
        </p:nvSpPr>
        <p:spPr>
          <a:xfrm>
            <a:off x="548640" y="1371600"/>
            <a:ext cx="2633472" cy="2148840"/>
          </a:xfrm>
          <a:prstGeom prst="roundRect">
            <a:avLst>
              <a:gd name="adj" fmla="val 5106"/>
            </a:avLst>
          </a:prstGeom>
          <a:solidFill>
            <a:srgbClr val="F2F5F9"/>
          </a:solidFill>
          <a:ln w="12700">
            <a:solidFill>
              <a:srgbClr val="F2F5F9"/>
            </a:solidFill>
            <a:prstDash val="solid"/>
          </a:ln>
        </p:spPr>
      </p:sp>
      <p:sp>
        <p:nvSpPr>
          <p:cNvPr id="4" name="Text 2"/>
          <p:cNvSpPr txBox="1"/>
          <p:nvPr/>
        </p:nvSpPr>
        <p:spPr>
          <a:xfrm>
            <a:off x="822960" y="1463040"/>
            <a:ext cx="2194560" cy="868680"/>
          </a:xfrm>
          <a:prstGeom prst="rect">
            <a:avLst/>
          </a:prstGeom>
          <a:noFill/>
          <a:ln/>
        </p:spPr>
        <p:txBody>
          <a:bodyPr wrap="square" lIns="0" tIns="0" rIns="0" bIns="0" rtlCol="0" anchor="t"/>
          <a:lstStyle/>
          <a:p>
            <a:pPr indent="0" marL="0">
              <a:buNone/>
            </a:pPr>
            <a:r>
              <a:rPr lang="en-US" sz="4800" b="1" dirty="0">
                <a:solidFill>
                  <a:srgbClr val="0F8B8D"/>
                </a:solidFill>
                <a:latin typeface="Cambria" pitchFamily="34" charset="0"/>
                <a:ea typeface="Cambria" pitchFamily="34" charset="-122"/>
                <a:cs typeface="Cambria" pitchFamily="34" charset="-120"/>
              </a:rPr>
              <a:t>7</a:t>
            </a:r>
            <a:endParaRPr lang="en-US" sz="4800" dirty="0"/>
          </a:p>
        </p:txBody>
      </p:sp>
      <p:sp>
        <p:nvSpPr>
          <p:cNvPr id="5" name="Text 3"/>
          <p:cNvSpPr txBox="1"/>
          <p:nvPr/>
        </p:nvSpPr>
        <p:spPr>
          <a:xfrm>
            <a:off x="822960" y="2331720"/>
            <a:ext cx="2194560" cy="365760"/>
          </a:xfrm>
          <a:prstGeom prst="rect">
            <a:avLst/>
          </a:prstGeom>
          <a:noFill/>
          <a:ln/>
        </p:spPr>
        <p:txBody>
          <a:bodyPr wrap="square" lIns="0" tIns="0" rIns="0" bIns="0" rtlCol="0" anchor="t"/>
          <a:lstStyle/>
          <a:p>
            <a:pPr indent="0" marL="0">
              <a:buNone/>
            </a:pPr>
            <a:r>
              <a:rPr lang="en-US" sz="1500" b="1" dirty="0">
                <a:solidFill>
                  <a:srgbClr val="13213C"/>
                </a:solidFill>
                <a:latin typeface="Calibri" pitchFamily="34" charset="0"/>
                <a:ea typeface="Calibri" pitchFamily="34" charset="-122"/>
                <a:cs typeface="Calibri" pitchFamily="34" charset="-120"/>
              </a:rPr>
              <a:t>ACC requirements</a:t>
            </a:r>
            <a:endParaRPr lang="en-US" sz="1500" dirty="0"/>
          </a:p>
        </p:txBody>
      </p:sp>
      <p:sp>
        <p:nvSpPr>
          <p:cNvPr id="6" name="Text 4"/>
          <p:cNvSpPr txBox="1"/>
          <p:nvPr/>
        </p:nvSpPr>
        <p:spPr>
          <a:xfrm>
            <a:off x="822960" y="2697480"/>
            <a:ext cx="2194560" cy="73152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time gap, braking, cut-in, set speed, stop &amp; go, cut-out, comfort</a:t>
            </a:r>
            <a:endParaRPr lang="en-US" sz="1200" dirty="0"/>
          </a:p>
        </p:txBody>
      </p:sp>
      <p:sp>
        <p:nvSpPr>
          <p:cNvPr id="7" name="Shape 5"/>
          <p:cNvSpPr/>
          <p:nvPr/>
        </p:nvSpPr>
        <p:spPr>
          <a:xfrm>
            <a:off x="3364992" y="1371600"/>
            <a:ext cx="2633472" cy="2148840"/>
          </a:xfrm>
          <a:prstGeom prst="roundRect">
            <a:avLst>
              <a:gd name="adj" fmla="val 5106"/>
            </a:avLst>
          </a:prstGeom>
          <a:solidFill>
            <a:srgbClr val="F2F5F9"/>
          </a:solidFill>
          <a:ln w="12700">
            <a:solidFill>
              <a:srgbClr val="F2F5F9"/>
            </a:solidFill>
            <a:prstDash val="solid"/>
          </a:ln>
        </p:spPr>
      </p:sp>
      <p:sp>
        <p:nvSpPr>
          <p:cNvPr id="8" name="Text 6"/>
          <p:cNvSpPr txBox="1"/>
          <p:nvPr/>
        </p:nvSpPr>
        <p:spPr>
          <a:xfrm>
            <a:off x="3639312" y="1463040"/>
            <a:ext cx="2194560" cy="868680"/>
          </a:xfrm>
          <a:prstGeom prst="rect">
            <a:avLst/>
          </a:prstGeom>
          <a:noFill/>
          <a:ln/>
        </p:spPr>
        <p:txBody>
          <a:bodyPr wrap="square" lIns="0" tIns="0" rIns="0" bIns="0" rtlCol="0" anchor="t"/>
          <a:lstStyle/>
          <a:p>
            <a:pPr indent="0" marL="0">
              <a:buNone/>
            </a:pPr>
            <a:r>
              <a:rPr lang="en-US" sz="4800" b="1" dirty="0">
                <a:solidFill>
                  <a:srgbClr val="0F8B8D"/>
                </a:solidFill>
                <a:latin typeface="Cambria" pitchFamily="34" charset="0"/>
                <a:ea typeface="Cambria" pitchFamily="34" charset="-122"/>
                <a:cs typeface="Cambria" pitchFamily="34" charset="-120"/>
              </a:rPr>
              <a:t>3</a:t>
            </a:r>
            <a:endParaRPr lang="en-US" sz="4800" dirty="0"/>
          </a:p>
        </p:txBody>
      </p:sp>
      <p:sp>
        <p:nvSpPr>
          <p:cNvPr id="9" name="Text 7"/>
          <p:cNvSpPr txBox="1"/>
          <p:nvPr/>
        </p:nvSpPr>
        <p:spPr>
          <a:xfrm>
            <a:off x="3639312" y="2331720"/>
            <a:ext cx="2194560" cy="365760"/>
          </a:xfrm>
          <a:prstGeom prst="rect">
            <a:avLst/>
          </a:prstGeom>
          <a:noFill/>
          <a:ln/>
        </p:spPr>
        <p:txBody>
          <a:bodyPr wrap="square" lIns="0" tIns="0" rIns="0" bIns="0" rtlCol="0" anchor="t"/>
          <a:lstStyle/>
          <a:p>
            <a:pPr indent="0" marL="0">
              <a:buNone/>
            </a:pPr>
            <a:r>
              <a:rPr lang="en-US" sz="1500" b="1" dirty="0">
                <a:solidFill>
                  <a:srgbClr val="13213C"/>
                </a:solidFill>
                <a:latin typeface="Calibri" pitchFamily="34" charset="0"/>
                <a:ea typeface="Calibri" pitchFamily="34" charset="-122"/>
                <a:cs typeface="Calibri" pitchFamily="34" charset="-120"/>
              </a:rPr>
              <a:t>LLMs via ChatGPT login</a:t>
            </a:r>
            <a:endParaRPr lang="en-US" sz="1500" dirty="0"/>
          </a:p>
        </p:txBody>
      </p:sp>
      <p:sp>
        <p:nvSpPr>
          <p:cNvPr id="10" name="Text 8"/>
          <p:cNvSpPr txBox="1"/>
          <p:nvPr/>
        </p:nvSpPr>
        <p:spPr>
          <a:xfrm>
            <a:off x="3639312" y="2697480"/>
            <a:ext cx="2194560" cy="73152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gpt-5.6-luna · gpt-5.6-terra · gpt-6-astra</a:t>
            </a:r>
            <a:endParaRPr lang="en-US" sz="1200" dirty="0"/>
          </a:p>
        </p:txBody>
      </p:sp>
      <p:sp>
        <p:nvSpPr>
          <p:cNvPr id="11" name="Shape 9"/>
          <p:cNvSpPr/>
          <p:nvPr/>
        </p:nvSpPr>
        <p:spPr>
          <a:xfrm>
            <a:off x="6181344" y="1371600"/>
            <a:ext cx="2633472" cy="2148840"/>
          </a:xfrm>
          <a:prstGeom prst="roundRect">
            <a:avLst>
              <a:gd name="adj" fmla="val 5106"/>
            </a:avLst>
          </a:prstGeom>
          <a:solidFill>
            <a:srgbClr val="F2F5F9"/>
          </a:solidFill>
          <a:ln w="12700">
            <a:solidFill>
              <a:srgbClr val="F2F5F9"/>
            </a:solidFill>
            <a:prstDash val="solid"/>
          </a:ln>
        </p:spPr>
      </p:sp>
      <p:sp>
        <p:nvSpPr>
          <p:cNvPr id="12" name="Text 10"/>
          <p:cNvSpPr txBox="1"/>
          <p:nvPr/>
        </p:nvSpPr>
        <p:spPr>
          <a:xfrm>
            <a:off x="6455664" y="1463040"/>
            <a:ext cx="2194560" cy="868680"/>
          </a:xfrm>
          <a:prstGeom prst="rect">
            <a:avLst/>
          </a:prstGeom>
          <a:noFill/>
          <a:ln/>
        </p:spPr>
        <p:txBody>
          <a:bodyPr wrap="square" lIns="0" tIns="0" rIns="0" bIns="0" rtlCol="0" anchor="t"/>
          <a:lstStyle/>
          <a:p>
            <a:pPr indent="0" marL="0">
              <a:buNone/>
            </a:pPr>
            <a:r>
              <a:rPr lang="en-US" sz="4800" b="1" dirty="0">
                <a:solidFill>
                  <a:srgbClr val="0F8B8D"/>
                </a:solidFill>
                <a:latin typeface="Cambria" pitchFamily="34" charset="0"/>
                <a:ea typeface="Cambria" pitchFamily="34" charset="-122"/>
                <a:cs typeface="Cambria" pitchFamily="34" charset="-120"/>
              </a:rPr>
              <a:t>10</a:t>
            </a:r>
            <a:endParaRPr lang="en-US" sz="4800" dirty="0"/>
          </a:p>
        </p:txBody>
      </p:sp>
      <p:sp>
        <p:nvSpPr>
          <p:cNvPr id="13" name="Text 11"/>
          <p:cNvSpPr txBox="1"/>
          <p:nvPr/>
        </p:nvSpPr>
        <p:spPr>
          <a:xfrm>
            <a:off x="6455664" y="2331720"/>
            <a:ext cx="2194560" cy="365760"/>
          </a:xfrm>
          <a:prstGeom prst="rect">
            <a:avLst/>
          </a:prstGeom>
          <a:noFill/>
          <a:ln/>
        </p:spPr>
        <p:txBody>
          <a:bodyPr wrap="square" lIns="0" tIns="0" rIns="0" bIns="0" rtlCol="0" anchor="t"/>
          <a:lstStyle/>
          <a:p>
            <a:pPr indent="0" marL="0">
              <a:buNone/>
            </a:pPr>
            <a:r>
              <a:rPr lang="en-US" sz="1500" b="1" dirty="0">
                <a:solidFill>
                  <a:srgbClr val="13213C"/>
                </a:solidFill>
                <a:latin typeface="Calibri" pitchFamily="34" charset="0"/>
                <a:ea typeface="Calibri" pitchFamily="34" charset="-122"/>
                <a:cs typeface="Calibri" pitchFamily="34" charset="-120"/>
              </a:rPr>
              <a:t>samples per requirement</a:t>
            </a:r>
            <a:endParaRPr lang="en-US" sz="1500" dirty="0"/>
          </a:p>
        </p:txBody>
      </p:sp>
      <p:sp>
        <p:nvSpPr>
          <p:cNvPr id="14" name="Text 12"/>
          <p:cNvSpPr txBox="1"/>
          <p:nvPr/>
        </p:nvSpPr>
        <p:spPr>
          <a:xfrm>
            <a:off x="6455664" y="2697480"/>
            <a:ext cx="2194560" cy="73152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independent sessions, N = 10</a:t>
            </a:r>
            <a:endParaRPr lang="en-US" sz="1200" dirty="0"/>
          </a:p>
        </p:txBody>
      </p:sp>
      <p:sp>
        <p:nvSpPr>
          <p:cNvPr id="15" name="Shape 13"/>
          <p:cNvSpPr/>
          <p:nvPr/>
        </p:nvSpPr>
        <p:spPr>
          <a:xfrm>
            <a:off x="8997696" y="1371600"/>
            <a:ext cx="2633472" cy="2148840"/>
          </a:xfrm>
          <a:prstGeom prst="roundRect">
            <a:avLst>
              <a:gd name="adj" fmla="val 5106"/>
            </a:avLst>
          </a:prstGeom>
          <a:solidFill>
            <a:srgbClr val="F2F5F9"/>
          </a:solidFill>
          <a:ln w="12700">
            <a:solidFill>
              <a:srgbClr val="F2F5F9"/>
            </a:solidFill>
            <a:prstDash val="solid"/>
          </a:ln>
        </p:spPr>
      </p:sp>
      <p:sp>
        <p:nvSpPr>
          <p:cNvPr id="16" name="Text 14"/>
          <p:cNvSpPr txBox="1"/>
          <p:nvPr/>
        </p:nvSpPr>
        <p:spPr>
          <a:xfrm>
            <a:off x="9272016" y="1463040"/>
            <a:ext cx="2194560" cy="868680"/>
          </a:xfrm>
          <a:prstGeom prst="rect">
            <a:avLst/>
          </a:prstGeom>
          <a:noFill/>
          <a:ln/>
        </p:spPr>
        <p:txBody>
          <a:bodyPr wrap="square" lIns="0" tIns="0" rIns="0" bIns="0" rtlCol="0" anchor="t"/>
          <a:lstStyle/>
          <a:p>
            <a:pPr indent="0" marL="0">
              <a:buNone/>
            </a:pPr>
            <a:r>
              <a:rPr lang="en-US" sz="4800" b="1" dirty="0">
                <a:solidFill>
                  <a:srgbClr val="0F8B8D"/>
                </a:solidFill>
                <a:latin typeface="Cambria" pitchFamily="34" charset="0"/>
                <a:ea typeface="Cambria" pitchFamily="34" charset="-122"/>
                <a:cs typeface="Cambria" pitchFamily="34" charset="-120"/>
              </a:rPr>
              <a:t>8</a:t>
            </a:r>
            <a:endParaRPr lang="en-US" sz="4800" dirty="0"/>
          </a:p>
        </p:txBody>
      </p:sp>
      <p:sp>
        <p:nvSpPr>
          <p:cNvPr id="17" name="Text 15"/>
          <p:cNvSpPr txBox="1"/>
          <p:nvPr/>
        </p:nvSpPr>
        <p:spPr>
          <a:xfrm>
            <a:off x="9272016" y="2331720"/>
            <a:ext cx="2194560" cy="365760"/>
          </a:xfrm>
          <a:prstGeom prst="rect">
            <a:avLst/>
          </a:prstGeom>
          <a:noFill/>
          <a:ln/>
        </p:spPr>
        <p:txBody>
          <a:bodyPr wrap="square" lIns="0" tIns="0" rIns="0" bIns="0" rtlCol="0" anchor="t"/>
          <a:lstStyle/>
          <a:p>
            <a:pPr indent="0" marL="0">
              <a:buNone/>
            </a:pPr>
            <a:r>
              <a:rPr lang="en-US" sz="1500" b="1" dirty="0">
                <a:solidFill>
                  <a:srgbClr val="13213C"/>
                </a:solidFill>
                <a:latin typeface="Calibri" pitchFamily="34" charset="0"/>
                <a:ea typeface="Calibri" pitchFamily="34" charset="-122"/>
                <a:cs typeface="Calibri" pitchFamily="34" charset="-120"/>
              </a:rPr>
              <a:t>seeded controller faults</a:t>
            </a:r>
            <a:endParaRPr lang="en-US" sz="1500" dirty="0"/>
          </a:p>
        </p:txBody>
      </p:sp>
      <p:sp>
        <p:nvSpPr>
          <p:cNvPr id="18" name="Text 16"/>
          <p:cNvSpPr txBox="1"/>
          <p:nvPr/>
        </p:nvSpPr>
        <p:spPr>
          <a:xfrm>
            <a:off x="9272016" y="2697480"/>
            <a:ext cx="2194560" cy="73152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gap, AEB, perception, actuator, logic</a:t>
            </a:r>
            <a:endParaRPr lang="en-US" sz="1200" dirty="0"/>
          </a:p>
        </p:txBody>
      </p:sp>
      <p:sp>
        <p:nvSpPr>
          <p:cNvPr id="19" name="Text 17"/>
          <p:cNvSpPr txBox="1"/>
          <p:nvPr/>
        </p:nvSpPr>
        <p:spPr>
          <a:xfrm>
            <a:off x="548640" y="3794760"/>
            <a:ext cx="5486400" cy="365760"/>
          </a:xfrm>
          <a:prstGeom prst="rect">
            <a:avLst/>
          </a:prstGeom>
          <a:noFill/>
          <a:ln/>
        </p:spPr>
        <p:txBody>
          <a:bodyPr wrap="square" lIns="0" tIns="0" rIns="0" bIns="0" rtlCol="0" anchor="t"/>
          <a:lstStyle/>
          <a:p>
            <a:pPr indent="0" marL="0">
              <a:buNone/>
            </a:pPr>
            <a:r>
              <a:rPr lang="en-US" sz="1700" b="1" dirty="0">
                <a:solidFill>
                  <a:srgbClr val="13213C"/>
                </a:solidFill>
                <a:latin typeface="Calibri" pitchFamily="34" charset="0"/>
                <a:ea typeface="Calibri" pitchFamily="34" charset="-122"/>
                <a:cs typeface="Calibri" pitchFamily="34" charset="-120"/>
              </a:rPr>
              <a:t>Ground truth per generated test</a:t>
            </a:r>
            <a:endParaRPr lang="en-US" sz="1700" dirty="0"/>
          </a:p>
        </p:txBody>
      </p:sp>
      <p:sp>
        <p:nvSpPr>
          <p:cNvPr id="20" name="Text 18"/>
          <p:cNvSpPr txBox="1"/>
          <p:nvPr/>
        </p:nvSpPr>
        <p:spPr>
          <a:xfrm>
            <a:off x="548640" y="4206240"/>
            <a:ext cx="11094415" cy="1737360"/>
          </a:xfrm>
          <a:prstGeom prst="rect">
            <a:avLst/>
          </a:prstGeom>
          <a:noFill/>
          <a:ln/>
        </p:spPr>
        <p:txBody>
          <a:bodyPr wrap="square" lIns="0" tIns="0" rIns="0" bIns="0" rtlCol="0" anchor="t"/>
          <a:lstStyle/>
          <a:p>
            <a:pPr marL="177800" indent="-177800">
              <a:buSzPct val="100000"/>
              <a:buChar char="•"/>
            </a:pPr>
            <a:r>
              <a:rPr lang="en-US" sz="1400" b="1" dirty="0">
                <a:solidFill>
                  <a:srgbClr val="1E2533"/>
                </a:solidFill>
                <a:latin typeface="Calibri" pitchFamily="34" charset="0"/>
                <a:ea typeface="Calibri" pitchFamily="34" charset="-122"/>
                <a:cs typeface="Calibri" pitchFamily="34" charset="-120"/>
              </a:rPr>
              <a:t>Correct: </a:t>
            </a:r>
            <a:pPr indent="0" marL="0">
              <a:spcAft>
                <a:spcPts val="600"/>
              </a:spcAft>
              <a:buNone/>
            </a:pPr>
            <a:r>
              <a:rPr lang="en-US" sz="1400" dirty="0">
                <a:solidFill>
                  <a:srgbClr val="1E2533"/>
                </a:solidFill>
                <a:latin typeface="Calibri" pitchFamily="34" charset="0"/>
                <a:ea typeface="Calibri" pitchFamily="34" charset="-122"/>
                <a:cs typeface="Calibri" pitchFamily="34" charset="-120"/>
              </a:rPr>
              <a:t>scenario exercises the requirement inside its ODD, and its oracle agrees with the reference formalisation on the correct SUT and all 8 faulty versions</a:t>
            </a:r>
            <a:endParaRPr lang="en-US" sz="1400" dirty="0"/>
          </a:p>
          <a:p>
            <a:pPr marL="177800" indent="-177800">
              <a:buSzPct val="100000"/>
              <a:buChar char="•"/>
            </a:pPr>
            <a:r>
              <a:rPr lang="en-US" sz="1400" b="1" dirty="0">
                <a:solidFill>
                  <a:srgbClr val="1E2533"/>
                </a:solidFill>
                <a:latin typeface="Calibri" pitchFamily="34" charset="0"/>
                <a:ea typeface="Calibri" pitchFamily="34" charset="-122"/>
                <a:cs typeface="Calibri" pitchFamily="34" charset="-120"/>
              </a:rPr>
              <a:t>Effective: </a:t>
            </a:r>
            <a:pPr indent="0" marL="0">
              <a:spcAft>
                <a:spcPts val="600"/>
              </a:spcAft>
              <a:buNone/>
            </a:pPr>
            <a:r>
              <a:rPr lang="en-US" sz="1400" dirty="0">
                <a:solidFill>
                  <a:srgbClr val="1E2533"/>
                </a:solidFill>
                <a:latin typeface="Calibri" pitchFamily="34" charset="0"/>
                <a:ea typeface="Calibri" pitchFamily="34" charset="-122"/>
                <a:cs typeface="Calibri" pitchFamily="34" charset="-120"/>
              </a:rPr>
              <a:t>mutation score of the test's own oracle</a:t>
            </a:r>
            <a:endParaRPr lang="en-US" sz="1400" dirty="0"/>
          </a:p>
          <a:p>
            <a:pPr marL="177800" indent="-177800">
              <a:buSzPct val="100000"/>
              <a:buChar char="•"/>
            </a:pPr>
            <a:r>
              <a:rPr lang="en-US" sz="1400" b="1" dirty="0">
                <a:solidFill>
                  <a:srgbClr val="1E2533"/>
                </a:solidFill>
                <a:latin typeface="Calibri" pitchFamily="34" charset="0"/>
                <a:ea typeface="Calibri" pitchFamily="34" charset="-122"/>
                <a:cs typeface="Calibri" pitchFamily="34" charset="-120"/>
              </a:rPr>
              <a:t>Method: </a:t>
            </a:r>
            <a:pPr indent="0" marL="0">
              <a:spcAft>
                <a:spcPts val="600"/>
              </a:spcAft>
              <a:buNone/>
            </a:pPr>
            <a:r>
              <a:rPr lang="en-US" sz="1400" dirty="0">
                <a:solidFill>
                  <a:srgbClr val="1E2533"/>
                </a:solidFill>
                <a:latin typeface="Calibri" pitchFamily="34" charset="0"/>
                <a:ea typeface="Calibri" pitchFamily="34" charset="-122"/>
                <a:cs typeface="Calibri" pitchFamily="34" charset="-120"/>
              </a:rPr>
              <a:t>metric design fixed on a development round (5 requirements); all numbers here from a fresh held-out round</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Behavioural entropy beats the LLM's self-confidence</a:t>
            </a:r>
            <a:endParaRPr lang="en-US" sz="3000" dirty="0"/>
          </a:p>
        </p:txBody>
      </p:sp>
      <p:graphicFrame>
        <p:nvGraphicFramePr>
          <p:cNvPr id="3" name="Chart 0" descr=""/>
          <p:cNvGraphicFramePr/>
          <p:nvPr/>
        </p:nvGraphicFramePr>
        <p:xfrm>
          <a:off x="548640" y="132588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772400" y="1325880"/>
            <a:ext cx="3867912" cy="4480560"/>
          </a:xfrm>
          <a:prstGeom prst="roundRect">
            <a:avLst>
              <a:gd name="adj" fmla="val 2837"/>
            </a:avLst>
          </a:prstGeom>
          <a:solidFill>
            <a:srgbClr val="F2F5F9"/>
          </a:solidFill>
          <a:ln w="12700">
            <a:solidFill>
              <a:srgbClr val="F2F5F9"/>
            </a:solidFill>
            <a:prstDash val="solid"/>
          </a:ln>
        </p:spPr>
      </p:sp>
      <p:sp>
        <p:nvSpPr>
          <p:cNvPr id="5" name="Text 2"/>
          <p:cNvSpPr txBox="1"/>
          <p:nvPr/>
        </p:nvSpPr>
        <p:spPr>
          <a:xfrm>
            <a:off x="8046720" y="1463040"/>
            <a:ext cx="3383280" cy="822960"/>
          </a:xfrm>
          <a:prstGeom prst="rect">
            <a:avLst/>
          </a:prstGeom>
          <a:noFill/>
          <a:ln/>
        </p:spPr>
        <p:txBody>
          <a:bodyPr wrap="square" lIns="0" tIns="0" rIns="0" bIns="0" rtlCol="0" anchor="t"/>
          <a:lstStyle/>
          <a:p>
            <a:pPr indent="0" marL="0">
              <a:buNone/>
            </a:pPr>
            <a:r>
              <a:rPr lang="en-US" sz="4800" b="1" dirty="0">
                <a:solidFill>
                  <a:srgbClr val="0F8B8D"/>
                </a:solidFill>
                <a:latin typeface="Cambria" pitchFamily="34" charset="0"/>
                <a:ea typeface="Cambria" pitchFamily="34" charset="-122"/>
                <a:cs typeface="Cambria" pitchFamily="34" charset="-120"/>
              </a:rPr>
              <a:t>0.90</a:t>
            </a:r>
            <a:endParaRPr lang="en-US" sz="4800" dirty="0"/>
          </a:p>
        </p:txBody>
      </p:sp>
      <p:sp>
        <p:nvSpPr>
          <p:cNvPr id="6" name="Text 3"/>
          <p:cNvSpPr txBox="1"/>
          <p:nvPr/>
        </p:nvSpPr>
        <p:spPr>
          <a:xfrm>
            <a:off x="8046720" y="2286000"/>
            <a:ext cx="3383280" cy="64008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AUROC of behavioural entropy vs. 0.74 for the LLM's own confidence</a:t>
            </a:r>
            <a:endParaRPr lang="en-US" sz="1400" dirty="0"/>
          </a:p>
        </p:txBody>
      </p:sp>
      <p:sp>
        <p:nvSpPr>
          <p:cNvPr id="7" name="Text 4"/>
          <p:cNvSpPr txBox="1"/>
          <p:nvPr/>
        </p:nvSpPr>
        <p:spPr>
          <a:xfrm>
            <a:off x="8046720" y="3063240"/>
            <a:ext cx="3429000" cy="26517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Ranks the 17 incorrect tests (of 210) mostly at the top</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Batch level: behavioural entropy vs. share of correct tests, Spearman ρ = -0.85</a:t>
            </a:r>
            <a:endParaRPr lang="en-US" sz="1300" dirty="0"/>
          </a:p>
          <a:p>
            <a:pPr marL="177800" indent="-177800">
              <a:buSzPct val="100000"/>
              <a:buChar char="•"/>
            </a:pPr>
            <a:r>
              <a:rPr lang="en-US" sz="1300" b="1" dirty="0">
                <a:solidFill>
                  <a:srgbClr val="1E2533"/>
                </a:solidFill>
                <a:latin typeface="Calibri" pitchFamily="34" charset="0"/>
                <a:ea typeface="Calibri" pitchFamily="34" charset="-122"/>
                <a:cs typeface="Calibri" pitchFamily="34" charset="-120"/>
              </a:rPr>
              <a:t>Honest caveat: </a:t>
            </a:r>
            <a:pPr indent="0" marL="0">
              <a:spcAft>
                <a:spcPts val="600"/>
              </a:spcAft>
              <a:buNone/>
            </a:pPr>
            <a:r>
              <a:rPr lang="en-US" sz="1300" dirty="0">
                <a:solidFill>
                  <a:srgbClr val="1E2533"/>
                </a:solidFill>
                <a:latin typeface="Calibri" pitchFamily="34" charset="0"/>
                <a:ea typeface="Calibri" pitchFamily="34" charset="-122"/>
                <a:cs typeface="Calibri" pitchFamily="34" charset="-120"/>
              </a:rPr>
              <a:t>within one requirement the signal drops to 0.71 — it mostly flags hard requirements</a:t>
            </a:r>
            <a:endParaRPr lang="en-US" sz="1300" dirty="0"/>
          </a:p>
        </p:txBody>
      </p:sp>
      <p:sp>
        <p:nvSpPr>
          <p:cNvPr id="8" name="Text 5"/>
          <p:cNvSpPr txBox="1"/>
          <p:nvPr/>
        </p:nvSpPr>
        <p:spPr>
          <a:xfrm>
            <a:off x="548640" y="6144768"/>
            <a:ext cx="11094415" cy="274320"/>
          </a:xfrm>
          <a:prstGeom prst="rect">
            <a:avLst/>
          </a:prstGeom>
          <a:noFill/>
          <a:ln/>
        </p:spPr>
        <p:txBody>
          <a:bodyPr wrap="square" lIns="0" tIns="0" rIns="0" bIns="0" rtlCol="0" anchor="t"/>
          <a:lstStyle/>
          <a:p>
            <a:pPr indent="0" marL="0">
              <a:buNone/>
            </a:pPr>
            <a:r>
              <a:rPr lang="en-US" sz="1000" i="1" dirty="0">
                <a:solidFill>
                  <a:srgbClr val="5B6578"/>
                </a:solidFill>
                <a:latin typeface="Calibri" pitchFamily="34" charset="0"/>
                <a:ea typeface="Calibri" pitchFamily="34" charset="-122"/>
                <a:cs typeface="Calibri" pitchFamily="34" charset="-120"/>
              </a:rPr>
              <a:t>Held-out round, 210 tests; within-batch AUROC averaged over the 6 batches that contain incorrect tests.</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Risk-based triage: 77% auto-accepted at 98.8% precision</a:t>
            </a:r>
            <a:endParaRPr lang="en-US" sz="3000" dirty="0"/>
          </a:p>
        </p:txBody>
      </p:sp>
      <p:graphicFrame>
        <p:nvGraphicFramePr>
          <p:cNvPr id="3" name="Chart 0" descr=""/>
          <p:cNvGraphicFramePr/>
          <p:nvPr/>
        </p:nvGraphicFramePr>
        <p:xfrm>
          <a:off x="548640" y="1325880"/>
          <a:ext cx="5852160" cy="44805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720840" y="1325880"/>
            <a:ext cx="4919472" cy="1078992"/>
          </a:xfrm>
          <a:prstGeom prst="roundRect">
            <a:avLst>
              <a:gd name="adj" fmla="val 10169"/>
            </a:avLst>
          </a:prstGeom>
          <a:solidFill>
            <a:srgbClr val="E7F4EC"/>
          </a:solidFill>
          <a:ln w="12700">
            <a:solidFill>
              <a:srgbClr val="E7F4EC"/>
            </a:solidFill>
            <a:prstDash val="solid"/>
          </a:ln>
        </p:spPr>
      </p:sp>
      <p:sp>
        <p:nvSpPr>
          <p:cNvPr id="5" name="Text 2"/>
          <p:cNvSpPr txBox="1"/>
          <p:nvPr/>
        </p:nvSpPr>
        <p:spPr>
          <a:xfrm>
            <a:off x="6949440" y="1435608"/>
            <a:ext cx="1097280" cy="822960"/>
          </a:xfrm>
          <a:prstGeom prst="rect">
            <a:avLst/>
          </a:prstGeom>
          <a:noFill/>
          <a:ln/>
        </p:spPr>
        <p:txBody>
          <a:bodyPr wrap="square" lIns="0" tIns="0" rIns="0" bIns="0" rtlCol="0" anchor="ctr"/>
          <a:lstStyle/>
          <a:p>
            <a:pPr indent="0" marL="0">
              <a:buNone/>
            </a:pPr>
            <a:r>
              <a:rPr lang="en-US" sz="4000" b="1" dirty="0">
                <a:solidFill>
                  <a:srgbClr val="2E8B57"/>
                </a:solidFill>
                <a:latin typeface="Cambria" pitchFamily="34" charset="0"/>
                <a:ea typeface="Cambria" pitchFamily="34" charset="-122"/>
                <a:cs typeface="Cambria" pitchFamily="34" charset="-120"/>
              </a:rPr>
              <a:t>162</a:t>
            </a:r>
            <a:endParaRPr lang="en-US" sz="4000" dirty="0"/>
          </a:p>
        </p:txBody>
      </p:sp>
      <p:sp>
        <p:nvSpPr>
          <p:cNvPr id="6" name="Text 3"/>
          <p:cNvSpPr txBox="1"/>
          <p:nvPr/>
        </p:nvSpPr>
        <p:spPr>
          <a:xfrm>
            <a:off x="8092440" y="1463040"/>
            <a:ext cx="3429000" cy="822960"/>
          </a:xfrm>
          <a:prstGeom prst="rect">
            <a:avLst/>
          </a:prstGeom>
          <a:noFill/>
          <a:ln/>
        </p:spPr>
        <p:txBody>
          <a:bodyPr wrap="square" lIns="0" tIns="0" rIns="0" bIns="0" rtlCol="0" anchor="ctr"/>
          <a:lstStyle/>
          <a:p>
            <a:pPr indent="0" marL="0">
              <a:buNone/>
            </a:pPr>
            <a:r>
              <a:rPr lang="en-US" sz="1600" b="1" dirty="0">
                <a:solidFill>
                  <a:srgbClr val="13213C"/>
                </a:solidFill>
                <a:latin typeface="Calibri" pitchFamily="34" charset="0"/>
                <a:ea typeface="Calibri" pitchFamily="34" charset="-122"/>
                <a:cs typeface="Calibri" pitchFamily="34" charset="-120"/>
              </a:rPr>
              <a:t>Auto-accept</a:t>
            </a:r>
            <a:endParaRPr lang="en-US" sz="1600" dirty="0"/>
          </a:p>
          <a:p>
            <a:pPr indent="0" marL="0">
              <a:buNone/>
            </a:pPr>
            <a:r>
              <a:rPr lang="en-US" sz="1400" dirty="0">
                <a:solidFill>
                  <a:srgbClr val="1E2533"/>
                </a:solidFill>
                <a:latin typeface="Calibri" pitchFamily="34" charset="0"/>
                <a:ea typeface="Calibri" pitchFamily="34" charset="-122"/>
                <a:cs typeface="Calibri" pitchFamily="34" charset="-120"/>
              </a:rPr>
              <a:t>160 correct · precision 99%</a:t>
            </a:r>
            <a:endParaRPr lang="en-US" sz="1600" dirty="0"/>
          </a:p>
        </p:txBody>
      </p:sp>
      <p:sp>
        <p:nvSpPr>
          <p:cNvPr id="7" name="Shape 4"/>
          <p:cNvSpPr/>
          <p:nvPr/>
        </p:nvSpPr>
        <p:spPr>
          <a:xfrm>
            <a:off x="6720840" y="2532888"/>
            <a:ext cx="4919472" cy="1078992"/>
          </a:xfrm>
          <a:prstGeom prst="roundRect">
            <a:avLst>
              <a:gd name="adj" fmla="val 10169"/>
            </a:avLst>
          </a:prstGeom>
          <a:solidFill>
            <a:srgbClr val="FFF4E0"/>
          </a:solidFill>
          <a:ln w="12700">
            <a:solidFill>
              <a:srgbClr val="FFF4E0"/>
            </a:solidFill>
            <a:prstDash val="solid"/>
          </a:ln>
        </p:spPr>
      </p:sp>
      <p:sp>
        <p:nvSpPr>
          <p:cNvPr id="8" name="Text 5"/>
          <p:cNvSpPr txBox="1"/>
          <p:nvPr/>
        </p:nvSpPr>
        <p:spPr>
          <a:xfrm>
            <a:off x="6949440" y="2642616"/>
            <a:ext cx="1097280" cy="822960"/>
          </a:xfrm>
          <a:prstGeom prst="rect">
            <a:avLst/>
          </a:prstGeom>
          <a:noFill/>
          <a:ln/>
        </p:spPr>
        <p:txBody>
          <a:bodyPr wrap="square" lIns="0" tIns="0" rIns="0" bIns="0" rtlCol="0" anchor="ctr"/>
          <a:lstStyle/>
          <a:p>
            <a:pPr indent="0" marL="0">
              <a:buNone/>
            </a:pPr>
            <a:r>
              <a:rPr lang="en-US" sz="4000" b="1" dirty="0">
                <a:solidFill>
                  <a:srgbClr val="E39B2D"/>
                </a:solidFill>
                <a:latin typeface="Cambria" pitchFamily="34" charset="0"/>
                <a:ea typeface="Cambria" pitchFamily="34" charset="-122"/>
                <a:cs typeface="Cambria" pitchFamily="34" charset="-120"/>
              </a:rPr>
              <a:t>39</a:t>
            </a:r>
            <a:endParaRPr lang="en-US" sz="4000" dirty="0"/>
          </a:p>
        </p:txBody>
      </p:sp>
      <p:sp>
        <p:nvSpPr>
          <p:cNvPr id="9" name="Text 6"/>
          <p:cNvSpPr txBox="1"/>
          <p:nvPr/>
        </p:nvSpPr>
        <p:spPr>
          <a:xfrm>
            <a:off x="8092440" y="2670048"/>
            <a:ext cx="3429000" cy="822960"/>
          </a:xfrm>
          <a:prstGeom prst="rect">
            <a:avLst/>
          </a:prstGeom>
          <a:noFill/>
          <a:ln/>
        </p:spPr>
        <p:txBody>
          <a:bodyPr wrap="square" lIns="0" tIns="0" rIns="0" bIns="0" rtlCol="0" anchor="ctr"/>
          <a:lstStyle/>
          <a:p>
            <a:pPr indent="0" marL="0">
              <a:buNone/>
            </a:pPr>
            <a:r>
              <a:rPr lang="en-US" sz="1600" b="1" dirty="0">
                <a:solidFill>
                  <a:srgbClr val="13213C"/>
                </a:solidFill>
                <a:latin typeface="Calibri" pitchFamily="34" charset="0"/>
                <a:ea typeface="Calibri" pitchFamily="34" charset="-122"/>
                <a:cs typeface="Calibri" pitchFamily="34" charset="-120"/>
              </a:rPr>
              <a:t>Human review</a:t>
            </a:r>
            <a:endParaRPr lang="en-US" sz="1600" dirty="0"/>
          </a:p>
          <a:p>
            <a:pPr indent="0" marL="0">
              <a:buNone/>
            </a:pPr>
            <a:r>
              <a:rPr lang="en-US" sz="1400" dirty="0">
                <a:solidFill>
                  <a:srgbClr val="1E2533"/>
                </a:solidFill>
                <a:latin typeface="Calibri" pitchFamily="34" charset="0"/>
                <a:ea typeface="Calibri" pitchFamily="34" charset="-122"/>
                <a:cs typeface="Calibri" pitchFamily="34" charset="-120"/>
              </a:rPr>
              <a:t>30 correct · precision 77%</a:t>
            </a:r>
            <a:endParaRPr lang="en-US" sz="1600" dirty="0"/>
          </a:p>
        </p:txBody>
      </p:sp>
      <p:sp>
        <p:nvSpPr>
          <p:cNvPr id="10" name="Shape 7"/>
          <p:cNvSpPr/>
          <p:nvPr/>
        </p:nvSpPr>
        <p:spPr>
          <a:xfrm>
            <a:off x="6720840" y="3739896"/>
            <a:ext cx="4919472" cy="1078992"/>
          </a:xfrm>
          <a:prstGeom prst="roundRect">
            <a:avLst>
              <a:gd name="adj" fmla="val 10169"/>
            </a:avLst>
          </a:prstGeom>
          <a:solidFill>
            <a:srgbClr val="FDECEA"/>
          </a:solidFill>
          <a:ln w="12700">
            <a:solidFill>
              <a:srgbClr val="FDECEA"/>
            </a:solidFill>
            <a:prstDash val="solid"/>
          </a:ln>
        </p:spPr>
      </p:sp>
      <p:sp>
        <p:nvSpPr>
          <p:cNvPr id="11" name="Text 8"/>
          <p:cNvSpPr txBox="1"/>
          <p:nvPr/>
        </p:nvSpPr>
        <p:spPr>
          <a:xfrm>
            <a:off x="6949440" y="3849624"/>
            <a:ext cx="1097280" cy="822960"/>
          </a:xfrm>
          <a:prstGeom prst="rect">
            <a:avLst/>
          </a:prstGeom>
          <a:noFill/>
          <a:ln/>
        </p:spPr>
        <p:txBody>
          <a:bodyPr wrap="square" lIns="0" tIns="0" rIns="0" bIns="0" rtlCol="0" anchor="ctr"/>
          <a:lstStyle/>
          <a:p>
            <a:pPr indent="0" marL="0">
              <a:buNone/>
            </a:pPr>
            <a:r>
              <a:rPr lang="en-US" sz="4000" b="1" dirty="0">
                <a:solidFill>
                  <a:srgbClr val="C8463D"/>
                </a:solidFill>
                <a:latin typeface="Cambria" pitchFamily="34" charset="0"/>
                <a:ea typeface="Cambria" pitchFamily="34" charset="-122"/>
                <a:cs typeface="Cambria" pitchFamily="34" charset="-120"/>
              </a:rPr>
              <a:t>9</a:t>
            </a:r>
            <a:endParaRPr lang="en-US" sz="4000" dirty="0"/>
          </a:p>
        </p:txBody>
      </p:sp>
      <p:sp>
        <p:nvSpPr>
          <p:cNvPr id="12" name="Text 9"/>
          <p:cNvSpPr txBox="1"/>
          <p:nvPr/>
        </p:nvSpPr>
        <p:spPr>
          <a:xfrm>
            <a:off x="8092440" y="3877056"/>
            <a:ext cx="3429000" cy="822960"/>
          </a:xfrm>
          <a:prstGeom prst="rect">
            <a:avLst/>
          </a:prstGeom>
          <a:noFill/>
          <a:ln/>
        </p:spPr>
        <p:txBody>
          <a:bodyPr wrap="square" lIns="0" tIns="0" rIns="0" bIns="0" rtlCol="0" anchor="ctr"/>
          <a:lstStyle/>
          <a:p>
            <a:pPr indent="0" marL="0">
              <a:buNone/>
            </a:pPr>
            <a:r>
              <a:rPr lang="en-US" sz="1600" b="1" dirty="0">
                <a:solidFill>
                  <a:srgbClr val="13213C"/>
                </a:solidFill>
                <a:latin typeface="Calibri" pitchFamily="34" charset="0"/>
                <a:ea typeface="Calibri" pitchFamily="34" charset="-122"/>
                <a:cs typeface="Calibri" pitchFamily="34" charset="-120"/>
              </a:rPr>
              <a:t>Reject / regenerate</a:t>
            </a:r>
            <a:endParaRPr lang="en-US" sz="1600" dirty="0"/>
          </a:p>
          <a:p>
            <a:pPr indent="0" marL="0">
              <a:buNone/>
            </a:pPr>
            <a:r>
              <a:rPr lang="en-US" sz="1400" dirty="0">
                <a:solidFill>
                  <a:srgbClr val="1E2533"/>
                </a:solidFill>
                <a:latin typeface="Calibri" pitchFamily="34" charset="0"/>
                <a:ea typeface="Calibri" pitchFamily="34" charset="-122"/>
                <a:cs typeface="Calibri" pitchFamily="34" charset="-120"/>
              </a:rPr>
              <a:t>3 correct · precision 33%</a:t>
            </a:r>
            <a:endParaRPr lang="en-US" sz="1600" dirty="0"/>
          </a:p>
        </p:txBody>
      </p:sp>
      <p:sp>
        <p:nvSpPr>
          <p:cNvPr id="13" name="Shape 10"/>
          <p:cNvSpPr/>
          <p:nvPr/>
        </p:nvSpPr>
        <p:spPr>
          <a:xfrm>
            <a:off x="6720840" y="4983480"/>
            <a:ext cx="4919472" cy="822960"/>
          </a:xfrm>
          <a:prstGeom prst="roundRect">
            <a:avLst>
              <a:gd name="adj" fmla="val 13333"/>
            </a:avLst>
          </a:prstGeom>
          <a:solidFill>
            <a:srgbClr val="F2F5F9"/>
          </a:solidFill>
          <a:ln w="12700">
            <a:solidFill>
              <a:srgbClr val="F2F5F9"/>
            </a:solidFill>
            <a:prstDash val="solid"/>
          </a:ln>
        </p:spPr>
      </p:sp>
      <p:sp>
        <p:nvSpPr>
          <p:cNvPr id="14" name="Text 11"/>
          <p:cNvSpPr txBox="1"/>
          <p:nvPr/>
        </p:nvSpPr>
        <p:spPr>
          <a:xfrm>
            <a:off x="6949440" y="5029200"/>
            <a:ext cx="4526280" cy="731520"/>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Cost: ~16 s and ~2900 tokens per sample; ~1.0 s to simulate one test on 9 versions.</a:t>
            </a:r>
            <a:endParaRPr lang="en-US" sz="1300" dirty="0"/>
          </a:p>
        </p:txBody>
      </p:sp>
      <p:sp>
        <p:nvSpPr>
          <p:cNvPr id="15" name="Text 12"/>
          <p:cNvSpPr txBox="1"/>
          <p:nvPr/>
        </p:nvSpPr>
        <p:spPr>
          <a:xfrm>
            <a:off x="548640" y="6144768"/>
            <a:ext cx="11094415" cy="274320"/>
          </a:xfrm>
          <a:prstGeom prst="rect">
            <a:avLst/>
          </a:prstGeom>
          <a:noFill/>
          <a:ln/>
        </p:spPr>
        <p:txBody>
          <a:bodyPr wrap="square" lIns="0" tIns="0" rIns="0" bIns="0" rtlCol="0" anchor="t"/>
          <a:lstStyle/>
          <a:p>
            <a:pPr indent="0" marL="0">
              <a:buNone/>
            </a:pPr>
            <a:r>
              <a:rPr lang="en-US" sz="1000" i="1" dirty="0">
                <a:solidFill>
                  <a:srgbClr val="5B6578"/>
                </a:solidFill>
                <a:latin typeface="Calibri" pitchFamily="34" charset="0"/>
                <a:ea typeface="Calibri" pitchFamily="34" charset="-122"/>
                <a:cs typeface="Calibri" pitchFamily="34" charset="-120"/>
              </a:rPr>
              <a:t>Accepting all tests gives 92% correct. Thresholds (accept ≤ 0.25 &lt; review &lt; 0.55 ≤ reject) are heuristic; calibrating them against risk is objective O2.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What the demo cannot do yet becomes the research agenda</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937760"/>
                <a:gridCol w="5239512"/>
                <a:gridCol w="914400"/>
              </a:tblGrid>
              <a:tr h="960120">
                <a:tc>
                  <a:txBody>
                    <a:bodyPr/>
                    <a:lstStyle/>
                    <a:p>
                      <a:pPr indent="0" marL="0">
                        <a:buNone/>
                      </a:pPr>
                      <a:r>
                        <a:rPr lang="en-US" sz="1400" b="1" dirty="0">
                          <a:solidFill>
                            <a:srgbClr val="FFFFFF"/>
                          </a:solidFill>
                        </a:rPr>
                        <a:t>Gap seen in the demo</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Research direction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Obj.</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r>
              <a:tr h="960120">
                <a:tc>
                  <a:txBody>
                    <a:bodyPr/>
                    <a:lstStyle/>
                    <a:p>
                      <a:pPr indent="0" marL="0">
                        <a:buNone/>
                      </a:pPr>
                      <a:r>
                        <a:rPr lang="en-US" sz="1400" dirty="0">
                          <a:solidFill>
                            <a:srgbClr val="000000"/>
                          </a:solidFill>
                        </a:rPr>
                        <a:t>Per-test signal is weak within a requirement (AUROC 0.71); black-box only</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White-box (log-prob) and trajectory-level metrics; semantic oracle equivalence; calibration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algn="ctr" indent="0" marL="0">
                        <a:buNone/>
                      </a:pPr>
                      <a:r>
                        <a:rPr lang="en-US" sz="1800" b="1" dirty="0">
                          <a:solidFill>
                            <a:srgbClr val="0F8B8D"/>
                          </a:solidFill>
                        </a:rPr>
                        <a:t>O1</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960120">
                <a:tc>
                  <a:txBody>
                    <a:bodyPr/>
                    <a:lstStyle/>
                    <a:p>
                      <a:pPr indent="0" marL="0">
                        <a:buNone/>
                      </a:pPr>
                      <a:r>
                        <a:rPr lang="en-US" sz="1400" dirty="0">
                          <a:solidFill>
                            <a:srgbClr val="000000"/>
                          </a:solidFill>
                        </a:rPr>
                        <a:t>Thresholds are heuristic; risk ignores the severity of the requirement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Risk = uncertainty × consequence; conformal / selective guarantees; cost-aware review budget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3567C8"/>
                          </a:solidFill>
                        </a:rPr>
                        <a:t>O2</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960120">
                <a:tc>
                  <a:txBody>
                    <a:bodyPr/>
                    <a:lstStyle/>
                    <a:p>
                      <a:pPr indent="0" marL="0">
                        <a:buNone/>
                      </a:pPr>
                      <a:r>
                        <a:rPr lang="en-US" sz="1400" dirty="0">
                          <a:solidFill>
                            <a:srgbClr val="000000"/>
                          </a:solidFill>
                        </a:rPr>
                        <a:t>Uncertainty vs. effectiveness only hinted (ρ = -0.28 with mutation score); cost of N samples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Large study: correctness, fault detection, flakiness, latency and token cost vs. uncertainty</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algn="ctr" indent="0" marL="0">
                        <a:buNone/>
                      </a:pPr>
                      <a:r>
                        <a:rPr lang="en-US" sz="1800" b="1" dirty="0">
                          <a:solidFill>
                            <a:srgbClr val="E39B2D"/>
                          </a:solidFill>
                        </a:rPr>
                        <a:t>O3</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960120">
                <a:tc>
                  <a:txBody>
                    <a:bodyPr/>
                    <a:lstStyle/>
                    <a:p>
                      <a:pPr indent="0" marL="0">
                        <a:buNone/>
                      </a:pPr>
                      <a:r>
                        <a:rPr lang="en-US" sz="1400" dirty="0">
                          <a:solidFill>
                            <a:srgbClr val="000000"/>
                          </a:solidFill>
                        </a:rPr>
                        <a:t>3 hosted LLMs, 1 simulator, 1 SUT, seeded faults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Open-source ACPS + industrial cases + InnoGuard platform; newer models; quantum ML models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6E56CF"/>
                          </a:solidFill>
                        </a:rPr>
                        <a:t>O4</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Research questions and how I will answer them</a:t>
            </a:r>
            <a:endParaRPr lang="en-US" sz="3000" dirty="0"/>
          </a:p>
        </p:txBody>
      </p:sp>
      <p:sp>
        <p:nvSpPr>
          <p:cNvPr id="3" name="Shape 1"/>
          <p:cNvSpPr/>
          <p:nvPr/>
        </p:nvSpPr>
        <p:spPr>
          <a:xfrm>
            <a:off x="548640" y="1325880"/>
            <a:ext cx="11094415" cy="1024128"/>
          </a:xfrm>
          <a:prstGeom prst="roundRect">
            <a:avLst>
              <a:gd name="adj" fmla="val 10714"/>
            </a:avLst>
          </a:prstGeom>
          <a:solidFill>
            <a:srgbClr val="F2F5F9"/>
          </a:solidFill>
          <a:ln w="12700">
            <a:solidFill>
              <a:srgbClr val="F2F5F9"/>
            </a:solidFill>
            <a:prstDash val="solid"/>
          </a:ln>
        </p:spPr>
      </p:sp>
      <p:sp>
        <p:nvSpPr>
          <p:cNvPr id="4" name="Text 2"/>
          <p:cNvSpPr txBox="1"/>
          <p:nvPr/>
        </p:nvSpPr>
        <p:spPr>
          <a:xfrm>
            <a:off x="777240" y="1490472"/>
            <a:ext cx="914400" cy="685800"/>
          </a:xfrm>
          <a:prstGeom prst="rect">
            <a:avLst/>
          </a:prstGeom>
          <a:noFill/>
          <a:ln/>
        </p:spPr>
        <p:txBody>
          <a:bodyPr wrap="square" lIns="0" tIns="0" rIns="0" bIns="0" rtlCol="0" anchor="ctr"/>
          <a:lstStyle/>
          <a:p>
            <a:pPr indent="0" marL="0">
              <a:buNone/>
            </a:pPr>
            <a:r>
              <a:rPr lang="en-US" sz="2400" b="1" dirty="0">
                <a:solidFill>
                  <a:srgbClr val="0F8B8D"/>
                </a:solidFill>
                <a:latin typeface="Cambria" pitchFamily="34" charset="0"/>
                <a:ea typeface="Cambria" pitchFamily="34" charset="-122"/>
                <a:cs typeface="Cambria" pitchFamily="34" charset="-120"/>
              </a:rPr>
              <a:t>RQ1</a:t>
            </a:r>
            <a:endParaRPr lang="en-US" sz="2400" dirty="0"/>
          </a:p>
        </p:txBody>
      </p:sp>
      <p:sp>
        <p:nvSpPr>
          <p:cNvPr id="5" name="Text 3"/>
          <p:cNvSpPr txBox="1"/>
          <p:nvPr/>
        </p:nvSpPr>
        <p:spPr>
          <a:xfrm>
            <a:off x="1783080" y="1435608"/>
            <a:ext cx="4572000" cy="804672"/>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Which uncertainty metrics best predict the correctness of AI-generated test artefacts?</a:t>
            </a:r>
            <a:endParaRPr lang="en-US" sz="1500" dirty="0"/>
          </a:p>
        </p:txBody>
      </p:sp>
      <p:sp>
        <p:nvSpPr>
          <p:cNvPr id="6" name="Text 4"/>
          <p:cNvSpPr txBox="1"/>
          <p:nvPr/>
        </p:nvSpPr>
        <p:spPr>
          <a:xfrm>
            <a:off x="6537960" y="1435608"/>
            <a:ext cx="4892040" cy="804672"/>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Metric suite: behavioural / semantic / oracle / white-box; AUROC, calibration error; LLMs and VLMs as generators and judges</a:t>
            </a:r>
            <a:endParaRPr lang="en-US" sz="1300" dirty="0"/>
          </a:p>
        </p:txBody>
      </p:sp>
      <p:sp>
        <p:nvSpPr>
          <p:cNvPr id="7" name="Shape 5"/>
          <p:cNvSpPr/>
          <p:nvPr/>
        </p:nvSpPr>
        <p:spPr>
          <a:xfrm>
            <a:off x="548640" y="2496312"/>
            <a:ext cx="11094415" cy="1024128"/>
          </a:xfrm>
          <a:prstGeom prst="roundRect">
            <a:avLst>
              <a:gd name="adj" fmla="val 10714"/>
            </a:avLst>
          </a:prstGeom>
          <a:solidFill>
            <a:srgbClr val="F2F5F9"/>
          </a:solidFill>
          <a:ln w="12700">
            <a:solidFill>
              <a:srgbClr val="F2F5F9"/>
            </a:solidFill>
            <a:prstDash val="solid"/>
          </a:ln>
        </p:spPr>
      </p:sp>
      <p:sp>
        <p:nvSpPr>
          <p:cNvPr id="8" name="Text 6"/>
          <p:cNvSpPr txBox="1"/>
          <p:nvPr/>
        </p:nvSpPr>
        <p:spPr>
          <a:xfrm>
            <a:off x="777240" y="2660904"/>
            <a:ext cx="914400" cy="685800"/>
          </a:xfrm>
          <a:prstGeom prst="rect">
            <a:avLst/>
          </a:prstGeom>
          <a:noFill/>
          <a:ln/>
        </p:spPr>
        <p:txBody>
          <a:bodyPr wrap="square" lIns="0" tIns="0" rIns="0" bIns="0" rtlCol="0" anchor="ctr"/>
          <a:lstStyle/>
          <a:p>
            <a:pPr indent="0" marL="0">
              <a:buNone/>
            </a:pPr>
            <a:r>
              <a:rPr lang="en-US" sz="2400" b="1" dirty="0">
                <a:solidFill>
                  <a:srgbClr val="3567C8"/>
                </a:solidFill>
                <a:latin typeface="Cambria" pitchFamily="34" charset="0"/>
                <a:ea typeface="Cambria" pitchFamily="34" charset="-122"/>
                <a:cs typeface="Cambria" pitchFamily="34" charset="-120"/>
              </a:rPr>
              <a:t>RQ2</a:t>
            </a:r>
            <a:endParaRPr lang="en-US" sz="2400" dirty="0"/>
          </a:p>
        </p:txBody>
      </p:sp>
      <p:sp>
        <p:nvSpPr>
          <p:cNvPr id="9" name="Text 7"/>
          <p:cNvSpPr txBox="1"/>
          <p:nvPr/>
        </p:nvSpPr>
        <p:spPr>
          <a:xfrm>
            <a:off x="1783080" y="2606040"/>
            <a:ext cx="4572000" cy="804672"/>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How can uncertainty support risk-based acceptance of generated artefacts?</a:t>
            </a:r>
            <a:endParaRPr lang="en-US" sz="1500" dirty="0"/>
          </a:p>
        </p:txBody>
      </p:sp>
      <p:sp>
        <p:nvSpPr>
          <p:cNvPr id="10" name="Text 8"/>
          <p:cNvSpPr txBox="1"/>
          <p:nvPr/>
        </p:nvSpPr>
        <p:spPr>
          <a:xfrm>
            <a:off x="6537960" y="2606040"/>
            <a:ext cx="4892040" cy="804672"/>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Risk model linking uncertainty to hazard severity; selective-prediction guarantees; review-effort savings in user studies</a:t>
            </a:r>
            <a:endParaRPr lang="en-US" sz="1300" dirty="0"/>
          </a:p>
        </p:txBody>
      </p:sp>
      <p:sp>
        <p:nvSpPr>
          <p:cNvPr id="11" name="Shape 9"/>
          <p:cNvSpPr/>
          <p:nvPr/>
        </p:nvSpPr>
        <p:spPr>
          <a:xfrm>
            <a:off x="548640" y="3666744"/>
            <a:ext cx="11094415" cy="1024128"/>
          </a:xfrm>
          <a:prstGeom prst="roundRect">
            <a:avLst>
              <a:gd name="adj" fmla="val 10714"/>
            </a:avLst>
          </a:prstGeom>
          <a:solidFill>
            <a:srgbClr val="F2F5F9"/>
          </a:solidFill>
          <a:ln w="12700">
            <a:solidFill>
              <a:srgbClr val="F2F5F9"/>
            </a:solidFill>
            <a:prstDash val="solid"/>
          </a:ln>
        </p:spPr>
      </p:sp>
      <p:sp>
        <p:nvSpPr>
          <p:cNvPr id="12" name="Text 10"/>
          <p:cNvSpPr txBox="1"/>
          <p:nvPr/>
        </p:nvSpPr>
        <p:spPr>
          <a:xfrm>
            <a:off x="777240" y="3831336"/>
            <a:ext cx="914400" cy="685800"/>
          </a:xfrm>
          <a:prstGeom prst="rect">
            <a:avLst/>
          </a:prstGeom>
          <a:noFill/>
          <a:ln/>
        </p:spPr>
        <p:txBody>
          <a:bodyPr wrap="square" lIns="0" tIns="0" rIns="0" bIns="0" rtlCol="0" anchor="ctr"/>
          <a:lstStyle/>
          <a:p>
            <a:pPr indent="0" marL="0">
              <a:buNone/>
            </a:pPr>
            <a:r>
              <a:rPr lang="en-US" sz="2400" b="1" dirty="0">
                <a:solidFill>
                  <a:srgbClr val="E39B2D"/>
                </a:solidFill>
                <a:latin typeface="Cambria" pitchFamily="34" charset="0"/>
                <a:ea typeface="Cambria" pitchFamily="34" charset="-122"/>
                <a:cs typeface="Cambria" pitchFamily="34" charset="-120"/>
              </a:rPr>
              <a:t>RQ3</a:t>
            </a:r>
            <a:endParaRPr lang="en-US" sz="2400" dirty="0"/>
          </a:p>
        </p:txBody>
      </p:sp>
      <p:sp>
        <p:nvSpPr>
          <p:cNvPr id="13" name="Text 11"/>
          <p:cNvSpPr txBox="1"/>
          <p:nvPr/>
        </p:nvSpPr>
        <p:spPr>
          <a:xfrm>
            <a:off x="1783080" y="3776472"/>
            <a:ext cx="4572000" cy="804672"/>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How does uncertainty relate to effectiveness and non-functional properties?</a:t>
            </a:r>
            <a:endParaRPr lang="en-US" sz="1500" dirty="0"/>
          </a:p>
        </p:txBody>
      </p:sp>
      <p:sp>
        <p:nvSpPr>
          <p:cNvPr id="14" name="Text 12"/>
          <p:cNvSpPr txBox="1"/>
          <p:nvPr/>
        </p:nvSpPr>
        <p:spPr>
          <a:xfrm>
            <a:off x="6537960" y="3776472"/>
            <a:ext cx="4892040" cy="804672"/>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Mutation score, failure severity, flakiness, execution time and token cost; mixed-effects statistics</a:t>
            </a:r>
            <a:endParaRPr lang="en-US" sz="1300" dirty="0"/>
          </a:p>
        </p:txBody>
      </p:sp>
      <p:sp>
        <p:nvSpPr>
          <p:cNvPr id="15" name="Shape 13"/>
          <p:cNvSpPr/>
          <p:nvPr/>
        </p:nvSpPr>
        <p:spPr>
          <a:xfrm>
            <a:off x="548640" y="4837176"/>
            <a:ext cx="11094415" cy="1024128"/>
          </a:xfrm>
          <a:prstGeom prst="roundRect">
            <a:avLst>
              <a:gd name="adj" fmla="val 10714"/>
            </a:avLst>
          </a:prstGeom>
          <a:solidFill>
            <a:srgbClr val="F2F5F9"/>
          </a:solidFill>
          <a:ln w="12700">
            <a:solidFill>
              <a:srgbClr val="F2F5F9"/>
            </a:solidFill>
            <a:prstDash val="solid"/>
          </a:ln>
        </p:spPr>
      </p:sp>
      <p:sp>
        <p:nvSpPr>
          <p:cNvPr id="16" name="Text 14"/>
          <p:cNvSpPr txBox="1"/>
          <p:nvPr/>
        </p:nvSpPr>
        <p:spPr>
          <a:xfrm>
            <a:off x="777240" y="5001768"/>
            <a:ext cx="914400" cy="685800"/>
          </a:xfrm>
          <a:prstGeom prst="rect">
            <a:avLst/>
          </a:prstGeom>
          <a:noFill/>
          <a:ln/>
        </p:spPr>
        <p:txBody>
          <a:bodyPr wrap="square" lIns="0" tIns="0" rIns="0" bIns="0" rtlCol="0" anchor="ctr"/>
          <a:lstStyle/>
          <a:p>
            <a:pPr indent="0" marL="0">
              <a:buNone/>
            </a:pPr>
            <a:r>
              <a:rPr lang="en-US" sz="2400" b="1" dirty="0">
                <a:solidFill>
                  <a:srgbClr val="6E56CF"/>
                </a:solidFill>
                <a:latin typeface="Cambria" pitchFamily="34" charset="0"/>
                <a:ea typeface="Cambria" pitchFamily="34" charset="-122"/>
                <a:cs typeface="Cambria" pitchFamily="34" charset="-120"/>
              </a:rPr>
              <a:t>RQ4</a:t>
            </a:r>
            <a:endParaRPr lang="en-US" sz="2400" dirty="0"/>
          </a:p>
        </p:txBody>
      </p:sp>
      <p:sp>
        <p:nvSpPr>
          <p:cNvPr id="17" name="Text 15"/>
          <p:cNvSpPr txBox="1"/>
          <p:nvPr/>
        </p:nvSpPr>
        <p:spPr>
          <a:xfrm>
            <a:off x="1783080" y="4946904"/>
            <a:ext cx="4572000" cy="804672"/>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Do the metrics transfer to advanced and quantum ML models?</a:t>
            </a:r>
            <a:endParaRPr lang="en-US" sz="1500" dirty="0"/>
          </a:p>
        </p:txBody>
      </p:sp>
      <p:sp>
        <p:nvSpPr>
          <p:cNvPr id="18" name="Text 16"/>
          <p:cNvSpPr txBox="1"/>
          <p:nvPr/>
        </p:nvSpPr>
        <p:spPr>
          <a:xfrm>
            <a:off x="6537960" y="4946904"/>
            <a:ext cx="4892040" cy="804672"/>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Re-apply metrics to newer foundation models and to QML-based oracles/predictors [20, 21]</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36-month plan with secondment and publications</a:t>
            </a:r>
            <a:endParaRPr lang="en-US" sz="3000" dirty="0"/>
          </a:p>
        </p:txBody>
      </p:sp>
      <p:sp>
        <p:nvSpPr>
          <p:cNvPr id="3" name="Shape 1"/>
          <p:cNvSpPr/>
          <p:nvPr/>
        </p:nvSpPr>
        <p:spPr>
          <a:xfrm>
            <a:off x="3493008" y="1325880"/>
            <a:ext cx="2686202" cy="365760"/>
          </a:xfrm>
          <a:prstGeom prst="roundRect">
            <a:avLst>
              <a:gd name="adj" fmla="val 30000"/>
            </a:avLst>
          </a:prstGeom>
          <a:solidFill>
            <a:srgbClr val="E9EEF5"/>
          </a:solidFill>
          <a:ln w="12700">
            <a:solidFill>
              <a:srgbClr val="E9EEF5"/>
            </a:solidFill>
            <a:prstDash val="solid"/>
          </a:ln>
        </p:spPr>
      </p:sp>
      <p:sp>
        <p:nvSpPr>
          <p:cNvPr id="4" name="Text 2"/>
          <p:cNvSpPr txBox="1"/>
          <p:nvPr/>
        </p:nvSpPr>
        <p:spPr>
          <a:xfrm>
            <a:off x="3474720" y="1371600"/>
            <a:ext cx="2722778" cy="274320"/>
          </a:xfrm>
          <a:prstGeom prst="rect">
            <a:avLst/>
          </a:prstGeom>
          <a:noFill/>
          <a:ln/>
        </p:spPr>
        <p:txBody>
          <a:bodyPr wrap="square" lIns="0" tIns="0" rIns="0" bIns="0" rtlCol="0" anchor="t"/>
          <a:lstStyle/>
          <a:p>
            <a:pPr algn="ctr" indent="0" marL="0">
              <a:buNone/>
            </a:pPr>
            <a:r>
              <a:rPr lang="en-US" sz="1300" b="1" dirty="0">
                <a:solidFill>
                  <a:srgbClr val="13213C"/>
                </a:solidFill>
                <a:latin typeface="Calibri" pitchFamily="34" charset="0"/>
                <a:ea typeface="Calibri" pitchFamily="34" charset="-122"/>
                <a:cs typeface="Calibri" pitchFamily="34" charset="-120"/>
              </a:rPr>
              <a:t>Year 1</a:t>
            </a:r>
            <a:endParaRPr lang="en-US" sz="1300" dirty="0"/>
          </a:p>
        </p:txBody>
      </p:sp>
      <p:sp>
        <p:nvSpPr>
          <p:cNvPr id="5" name="Shape 3"/>
          <p:cNvSpPr/>
          <p:nvPr/>
        </p:nvSpPr>
        <p:spPr>
          <a:xfrm>
            <a:off x="6215786" y="1325880"/>
            <a:ext cx="2686202" cy="365760"/>
          </a:xfrm>
          <a:prstGeom prst="roundRect">
            <a:avLst>
              <a:gd name="adj" fmla="val 30000"/>
            </a:avLst>
          </a:prstGeom>
          <a:solidFill>
            <a:srgbClr val="F2F5F9"/>
          </a:solidFill>
          <a:ln w="12700">
            <a:solidFill>
              <a:srgbClr val="F2F5F9"/>
            </a:solidFill>
            <a:prstDash val="solid"/>
          </a:ln>
        </p:spPr>
      </p:sp>
      <p:sp>
        <p:nvSpPr>
          <p:cNvPr id="6" name="Text 4"/>
          <p:cNvSpPr txBox="1"/>
          <p:nvPr/>
        </p:nvSpPr>
        <p:spPr>
          <a:xfrm>
            <a:off x="6197498" y="1371600"/>
            <a:ext cx="2722778" cy="274320"/>
          </a:xfrm>
          <a:prstGeom prst="rect">
            <a:avLst/>
          </a:prstGeom>
          <a:noFill/>
          <a:ln/>
        </p:spPr>
        <p:txBody>
          <a:bodyPr wrap="square" lIns="0" tIns="0" rIns="0" bIns="0" rtlCol="0" anchor="t"/>
          <a:lstStyle/>
          <a:p>
            <a:pPr algn="ctr" indent="0" marL="0">
              <a:buNone/>
            </a:pPr>
            <a:r>
              <a:rPr lang="en-US" sz="1300" b="1" dirty="0">
                <a:solidFill>
                  <a:srgbClr val="13213C"/>
                </a:solidFill>
                <a:latin typeface="Calibri" pitchFamily="34" charset="0"/>
                <a:ea typeface="Calibri" pitchFamily="34" charset="-122"/>
                <a:cs typeface="Calibri" pitchFamily="34" charset="-120"/>
              </a:rPr>
              <a:t>Year 2</a:t>
            </a:r>
            <a:endParaRPr lang="en-US" sz="1300" dirty="0"/>
          </a:p>
        </p:txBody>
      </p:sp>
      <p:sp>
        <p:nvSpPr>
          <p:cNvPr id="7" name="Shape 5"/>
          <p:cNvSpPr/>
          <p:nvPr/>
        </p:nvSpPr>
        <p:spPr>
          <a:xfrm>
            <a:off x="8938565" y="1325880"/>
            <a:ext cx="2686202" cy="365760"/>
          </a:xfrm>
          <a:prstGeom prst="roundRect">
            <a:avLst>
              <a:gd name="adj" fmla="val 30000"/>
            </a:avLst>
          </a:prstGeom>
          <a:solidFill>
            <a:srgbClr val="E9EEF5"/>
          </a:solidFill>
          <a:ln w="12700">
            <a:solidFill>
              <a:srgbClr val="E9EEF5"/>
            </a:solidFill>
            <a:prstDash val="solid"/>
          </a:ln>
        </p:spPr>
      </p:sp>
      <p:sp>
        <p:nvSpPr>
          <p:cNvPr id="8" name="Text 6"/>
          <p:cNvSpPr txBox="1"/>
          <p:nvPr/>
        </p:nvSpPr>
        <p:spPr>
          <a:xfrm>
            <a:off x="8920277" y="1371600"/>
            <a:ext cx="2722778" cy="274320"/>
          </a:xfrm>
          <a:prstGeom prst="rect">
            <a:avLst/>
          </a:prstGeom>
          <a:noFill/>
          <a:ln/>
        </p:spPr>
        <p:txBody>
          <a:bodyPr wrap="square" lIns="0" tIns="0" rIns="0" bIns="0" rtlCol="0" anchor="t"/>
          <a:lstStyle/>
          <a:p>
            <a:pPr algn="ctr" indent="0" marL="0">
              <a:buNone/>
            </a:pPr>
            <a:r>
              <a:rPr lang="en-US" sz="1300" b="1" dirty="0">
                <a:solidFill>
                  <a:srgbClr val="13213C"/>
                </a:solidFill>
                <a:latin typeface="Calibri" pitchFamily="34" charset="0"/>
                <a:ea typeface="Calibri" pitchFamily="34" charset="-122"/>
                <a:cs typeface="Calibri" pitchFamily="34" charset="-120"/>
              </a:rPr>
              <a:t>Year 3</a:t>
            </a:r>
            <a:endParaRPr lang="en-US" sz="1300" dirty="0"/>
          </a:p>
        </p:txBody>
      </p:sp>
      <p:sp>
        <p:nvSpPr>
          <p:cNvPr id="9" name="Text 7"/>
          <p:cNvSpPr txBox="1"/>
          <p:nvPr/>
        </p:nvSpPr>
        <p:spPr>
          <a:xfrm>
            <a:off x="548640" y="1828800"/>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WP1 Survey &amp; ACPS benchmark</a:t>
            </a:r>
            <a:endParaRPr lang="en-US" sz="1300" dirty="0"/>
          </a:p>
        </p:txBody>
      </p:sp>
      <p:sp>
        <p:nvSpPr>
          <p:cNvPr id="10" name="Shape 8"/>
          <p:cNvSpPr/>
          <p:nvPr/>
        </p:nvSpPr>
        <p:spPr>
          <a:xfrm>
            <a:off x="3474720" y="1883664"/>
            <a:ext cx="2042084" cy="237744"/>
          </a:xfrm>
          <a:prstGeom prst="roundRect">
            <a:avLst>
              <a:gd name="adj" fmla="val 30769"/>
            </a:avLst>
          </a:prstGeom>
          <a:solidFill>
            <a:srgbClr val="5B6578"/>
          </a:solidFill>
          <a:ln w="12700">
            <a:solidFill>
              <a:srgbClr val="5B6578"/>
            </a:solidFill>
            <a:prstDash val="solid"/>
          </a:ln>
        </p:spPr>
      </p:sp>
      <p:sp>
        <p:nvSpPr>
          <p:cNvPr id="11" name="Text 9"/>
          <p:cNvSpPr txBox="1"/>
          <p:nvPr/>
        </p:nvSpPr>
        <p:spPr>
          <a:xfrm>
            <a:off x="548640" y="2249424"/>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WP2 UQ metrics (O1)</a:t>
            </a:r>
            <a:endParaRPr lang="en-US" sz="1300" dirty="0"/>
          </a:p>
        </p:txBody>
      </p:sp>
      <p:sp>
        <p:nvSpPr>
          <p:cNvPr id="12" name="Shape 10"/>
          <p:cNvSpPr/>
          <p:nvPr/>
        </p:nvSpPr>
        <p:spPr>
          <a:xfrm>
            <a:off x="4155415" y="2304288"/>
            <a:ext cx="3403473" cy="237744"/>
          </a:xfrm>
          <a:prstGeom prst="roundRect">
            <a:avLst>
              <a:gd name="adj" fmla="val 30769"/>
            </a:avLst>
          </a:prstGeom>
          <a:solidFill>
            <a:srgbClr val="0F8B8D"/>
          </a:solidFill>
          <a:ln w="12700">
            <a:solidFill>
              <a:srgbClr val="0F8B8D"/>
            </a:solidFill>
            <a:prstDash val="solid"/>
          </a:ln>
        </p:spPr>
      </p:sp>
      <p:sp>
        <p:nvSpPr>
          <p:cNvPr id="13" name="Text 11"/>
          <p:cNvSpPr txBox="1"/>
          <p:nvPr/>
        </p:nvSpPr>
        <p:spPr>
          <a:xfrm>
            <a:off x="548640" y="2670048"/>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WP3 Uncertainty vs. quality study (O3)</a:t>
            </a:r>
            <a:endParaRPr lang="en-US" sz="1300" dirty="0"/>
          </a:p>
        </p:txBody>
      </p:sp>
      <p:sp>
        <p:nvSpPr>
          <p:cNvPr id="14" name="Shape 12"/>
          <p:cNvSpPr/>
          <p:nvPr/>
        </p:nvSpPr>
        <p:spPr>
          <a:xfrm>
            <a:off x="5516804" y="2724912"/>
            <a:ext cx="4311066" cy="237744"/>
          </a:xfrm>
          <a:prstGeom prst="roundRect">
            <a:avLst>
              <a:gd name="adj" fmla="val 30769"/>
            </a:avLst>
          </a:prstGeom>
          <a:solidFill>
            <a:srgbClr val="E39B2D"/>
          </a:solidFill>
          <a:ln w="12700">
            <a:solidFill>
              <a:srgbClr val="E39B2D"/>
            </a:solidFill>
            <a:prstDash val="solid"/>
          </a:ln>
        </p:spPr>
      </p:sp>
      <p:sp>
        <p:nvSpPr>
          <p:cNvPr id="15" name="Text 13"/>
          <p:cNvSpPr txBox="1"/>
          <p:nvPr/>
        </p:nvSpPr>
        <p:spPr>
          <a:xfrm>
            <a:off x="548640" y="3090672"/>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WP4 Risk &amp; trust methods (O2)</a:t>
            </a:r>
            <a:endParaRPr lang="en-US" sz="1300" dirty="0"/>
          </a:p>
        </p:txBody>
      </p:sp>
      <p:sp>
        <p:nvSpPr>
          <p:cNvPr id="16" name="Shape 14"/>
          <p:cNvSpPr/>
          <p:nvPr/>
        </p:nvSpPr>
        <p:spPr>
          <a:xfrm>
            <a:off x="6197498" y="3145536"/>
            <a:ext cx="3403473" cy="237744"/>
          </a:xfrm>
          <a:prstGeom prst="roundRect">
            <a:avLst>
              <a:gd name="adj" fmla="val 30769"/>
            </a:avLst>
          </a:prstGeom>
          <a:solidFill>
            <a:srgbClr val="3567C8"/>
          </a:solidFill>
          <a:ln w="12700">
            <a:solidFill>
              <a:srgbClr val="3567C8"/>
            </a:solidFill>
            <a:prstDash val="solid"/>
          </a:ln>
        </p:spPr>
      </p:sp>
      <p:sp>
        <p:nvSpPr>
          <p:cNvPr id="17" name="Text 15"/>
          <p:cNvSpPr txBox="1"/>
          <p:nvPr/>
        </p:nvSpPr>
        <p:spPr>
          <a:xfrm>
            <a:off x="548640" y="3511296"/>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Secondment · Mondragon</a:t>
            </a:r>
            <a:endParaRPr lang="en-US" sz="1300" dirty="0"/>
          </a:p>
        </p:txBody>
      </p:sp>
      <p:sp>
        <p:nvSpPr>
          <p:cNvPr id="18" name="Shape 16"/>
          <p:cNvSpPr/>
          <p:nvPr/>
        </p:nvSpPr>
        <p:spPr>
          <a:xfrm>
            <a:off x="7558888" y="3566160"/>
            <a:ext cx="1134491" cy="237744"/>
          </a:xfrm>
          <a:prstGeom prst="roundRect">
            <a:avLst>
              <a:gd name="adj" fmla="val 30769"/>
            </a:avLst>
          </a:prstGeom>
          <a:solidFill>
            <a:srgbClr val="13213C"/>
          </a:solidFill>
          <a:ln w="12700">
            <a:solidFill>
              <a:srgbClr val="13213C"/>
            </a:solidFill>
            <a:prstDash val="solid"/>
          </a:ln>
        </p:spPr>
      </p:sp>
      <p:sp>
        <p:nvSpPr>
          <p:cNvPr id="19" name="Text 17"/>
          <p:cNvSpPr txBox="1"/>
          <p:nvPr/>
        </p:nvSpPr>
        <p:spPr>
          <a:xfrm>
            <a:off x="548640" y="3931920"/>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WP5 Industrial &amp; InnoGuard eval.</a:t>
            </a:r>
            <a:endParaRPr lang="en-US" sz="1300" dirty="0"/>
          </a:p>
        </p:txBody>
      </p:sp>
      <p:sp>
        <p:nvSpPr>
          <p:cNvPr id="20" name="Shape 18"/>
          <p:cNvSpPr/>
          <p:nvPr/>
        </p:nvSpPr>
        <p:spPr>
          <a:xfrm>
            <a:off x="8239582" y="3986784"/>
            <a:ext cx="2495880" cy="237744"/>
          </a:xfrm>
          <a:prstGeom prst="roundRect">
            <a:avLst>
              <a:gd name="adj" fmla="val 30769"/>
            </a:avLst>
          </a:prstGeom>
          <a:solidFill>
            <a:srgbClr val="2E8B57"/>
          </a:solidFill>
          <a:ln w="12700">
            <a:solidFill>
              <a:srgbClr val="2E8B57"/>
            </a:solidFill>
            <a:prstDash val="solid"/>
          </a:ln>
        </p:spPr>
      </p:sp>
      <p:sp>
        <p:nvSpPr>
          <p:cNvPr id="21" name="Text 19"/>
          <p:cNvSpPr txBox="1"/>
          <p:nvPr/>
        </p:nvSpPr>
        <p:spPr>
          <a:xfrm>
            <a:off x="548640" y="4352544"/>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WP6 Advanced &amp; quantum ML (O4)</a:t>
            </a:r>
            <a:endParaRPr lang="en-US" sz="1300" dirty="0"/>
          </a:p>
        </p:txBody>
      </p:sp>
      <p:sp>
        <p:nvSpPr>
          <p:cNvPr id="22" name="Shape 20"/>
          <p:cNvSpPr/>
          <p:nvPr/>
        </p:nvSpPr>
        <p:spPr>
          <a:xfrm>
            <a:off x="9147175" y="4407408"/>
            <a:ext cx="2042084" cy="237744"/>
          </a:xfrm>
          <a:prstGeom prst="roundRect">
            <a:avLst>
              <a:gd name="adj" fmla="val 30769"/>
            </a:avLst>
          </a:prstGeom>
          <a:solidFill>
            <a:srgbClr val="6E56CF"/>
          </a:solidFill>
          <a:ln w="12700">
            <a:solidFill>
              <a:srgbClr val="6E56CF"/>
            </a:solidFill>
            <a:prstDash val="solid"/>
          </a:ln>
        </p:spPr>
      </p:sp>
      <p:sp>
        <p:nvSpPr>
          <p:cNvPr id="23" name="Text 21"/>
          <p:cNvSpPr txBox="1"/>
          <p:nvPr/>
        </p:nvSpPr>
        <p:spPr>
          <a:xfrm>
            <a:off x="548640" y="4773168"/>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Thesis</a:t>
            </a:r>
            <a:endParaRPr lang="en-US" sz="1300" dirty="0"/>
          </a:p>
        </p:txBody>
      </p:sp>
      <p:sp>
        <p:nvSpPr>
          <p:cNvPr id="24" name="Shape 22"/>
          <p:cNvSpPr/>
          <p:nvPr/>
        </p:nvSpPr>
        <p:spPr>
          <a:xfrm>
            <a:off x="10281666" y="4828032"/>
            <a:ext cx="1361389" cy="237744"/>
          </a:xfrm>
          <a:prstGeom prst="roundRect">
            <a:avLst>
              <a:gd name="adj" fmla="val 30769"/>
            </a:avLst>
          </a:prstGeom>
          <a:solidFill>
            <a:srgbClr val="C8463D"/>
          </a:solidFill>
          <a:ln w="12700">
            <a:solidFill>
              <a:srgbClr val="C8463D"/>
            </a:solidFill>
            <a:prstDash val="solid"/>
          </a:ln>
        </p:spPr>
      </p:sp>
      <p:sp>
        <p:nvSpPr>
          <p:cNvPr id="25" name="Shape 23"/>
          <p:cNvSpPr/>
          <p:nvPr/>
        </p:nvSpPr>
        <p:spPr>
          <a:xfrm>
            <a:off x="5293627" y="5303520"/>
            <a:ext cx="219456" cy="219456"/>
          </a:xfrm>
          <a:prstGeom prst="diamond">
            <a:avLst/>
          </a:prstGeom>
          <a:solidFill>
            <a:srgbClr val="E39B2D"/>
          </a:solidFill>
          <a:ln w="12700">
            <a:solidFill>
              <a:srgbClr val="E39B2D"/>
            </a:solidFill>
            <a:prstDash val="solid"/>
          </a:ln>
        </p:spPr>
      </p:sp>
      <p:sp>
        <p:nvSpPr>
          <p:cNvPr id="26" name="Text 24"/>
          <p:cNvSpPr txBox="1"/>
          <p:nvPr/>
        </p:nvSpPr>
        <p:spPr>
          <a:xfrm>
            <a:off x="4488955" y="5559552"/>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P1 mapping study</a:t>
            </a:r>
            <a:endParaRPr lang="en-US" sz="1100" dirty="0"/>
          </a:p>
        </p:txBody>
      </p:sp>
      <p:sp>
        <p:nvSpPr>
          <p:cNvPr id="27" name="Shape 25"/>
          <p:cNvSpPr/>
          <p:nvPr/>
        </p:nvSpPr>
        <p:spPr>
          <a:xfrm>
            <a:off x="6881914" y="5303520"/>
            <a:ext cx="219456" cy="219456"/>
          </a:xfrm>
          <a:prstGeom prst="diamond">
            <a:avLst/>
          </a:prstGeom>
          <a:solidFill>
            <a:srgbClr val="E39B2D"/>
          </a:solidFill>
          <a:ln w="12700">
            <a:solidFill>
              <a:srgbClr val="E39B2D"/>
            </a:solidFill>
            <a:prstDash val="solid"/>
          </a:ln>
        </p:spPr>
      </p:sp>
      <p:sp>
        <p:nvSpPr>
          <p:cNvPr id="28" name="Text 26"/>
          <p:cNvSpPr txBox="1"/>
          <p:nvPr/>
        </p:nvSpPr>
        <p:spPr>
          <a:xfrm>
            <a:off x="6077242" y="5852160"/>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P2 metrics · ICST/ISSTA</a:t>
            </a:r>
            <a:endParaRPr lang="en-US" sz="1100" dirty="0"/>
          </a:p>
        </p:txBody>
      </p:sp>
      <p:sp>
        <p:nvSpPr>
          <p:cNvPr id="29" name="Shape 27"/>
          <p:cNvSpPr/>
          <p:nvPr/>
        </p:nvSpPr>
        <p:spPr>
          <a:xfrm>
            <a:off x="8697100" y="5303520"/>
            <a:ext cx="219456" cy="219456"/>
          </a:xfrm>
          <a:prstGeom prst="diamond">
            <a:avLst/>
          </a:prstGeom>
          <a:solidFill>
            <a:srgbClr val="E39B2D"/>
          </a:solidFill>
          <a:ln w="12700">
            <a:solidFill>
              <a:srgbClr val="E39B2D"/>
            </a:solidFill>
            <a:prstDash val="solid"/>
          </a:ln>
        </p:spPr>
      </p:sp>
      <p:sp>
        <p:nvSpPr>
          <p:cNvPr id="30" name="Text 28"/>
          <p:cNvSpPr txBox="1"/>
          <p:nvPr/>
        </p:nvSpPr>
        <p:spPr>
          <a:xfrm>
            <a:off x="7892428" y="5559552"/>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P3 industrial study</a:t>
            </a:r>
            <a:endParaRPr lang="en-US" sz="1100" dirty="0"/>
          </a:p>
        </p:txBody>
      </p:sp>
      <p:sp>
        <p:nvSpPr>
          <p:cNvPr id="31" name="Shape 29"/>
          <p:cNvSpPr/>
          <p:nvPr/>
        </p:nvSpPr>
        <p:spPr>
          <a:xfrm>
            <a:off x="9831591" y="5303520"/>
            <a:ext cx="219456" cy="219456"/>
          </a:xfrm>
          <a:prstGeom prst="diamond">
            <a:avLst/>
          </a:prstGeom>
          <a:solidFill>
            <a:srgbClr val="E39B2D"/>
          </a:solidFill>
          <a:ln w="12700">
            <a:solidFill>
              <a:srgbClr val="E39B2D"/>
            </a:solidFill>
            <a:prstDash val="solid"/>
          </a:ln>
        </p:spPr>
      </p:sp>
      <p:sp>
        <p:nvSpPr>
          <p:cNvPr id="32" name="Text 30"/>
          <p:cNvSpPr txBox="1"/>
          <p:nvPr/>
        </p:nvSpPr>
        <p:spPr>
          <a:xfrm>
            <a:off x="9026919" y="5852160"/>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P4 journal · TOSEM/TSE</a:t>
            </a:r>
            <a:endParaRPr lang="en-US" sz="1100" dirty="0"/>
          </a:p>
        </p:txBody>
      </p:sp>
      <p:sp>
        <p:nvSpPr>
          <p:cNvPr id="33" name="Shape 31"/>
          <p:cNvSpPr/>
          <p:nvPr/>
        </p:nvSpPr>
        <p:spPr>
          <a:xfrm>
            <a:off x="10966082" y="5303520"/>
            <a:ext cx="219456" cy="219456"/>
          </a:xfrm>
          <a:prstGeom prst="diamond">
            <a:avLst/>
          </a:prstGeom>
          <a:solidFill>
            <a:srgbClr val="E39B2D"/>
          </a:solidFill>
          <a:ln w="12700">
            <a:solidFill>
              <a:srgbClr val="E39B2D"/>
            </a:solidFill>
            <a:prstDash val="solid"/>
          </a:ln>
        </p:spPr>
      </p:sp>
      <p:sp>
        <p:nvSpPr>
          <p:cNvPr id="34" name="Text 32"/>
          <p:cNvSpPr txBox="1"/>
          <p:nvPr/>
        </p:nvSpPr>
        <p:spPr>
          <a:xfrm>
            <a:off x="10161410" y="5559552"/>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P5 QML · ASE/ICSE</a:t>
            </a:r>
            <a:endParaRPr lang="en-US" sz="1100" dirty="0"/>
          </a:p>
        </p:txBody>
      </p:sp>
      <p:sp>
        <p:nvSpPr>
          <p:cNvPr id="35" name="Text 33"/>
          <p:cNvSpPr txBox="1"/>
          <p:nvPr/>
        </p:nvSpPr>
        <p:spPr>
          <a:xfrm>
            <a:off x="548640" y="5266944"/>
            <a:ext cx="2834640" cy="292608"/>
          </a:xfrm>
          <a:prstGeom prst="rect">
            <a:avLst/>
          </a:prstGeom>
          <a:noFill/>
          <a:ln/>
        </p:spPr>
        <p:txBody>
          <a:bodyPr wrap="square" lIns="0" tIns="0" rIns="0" bIns="0" rtlCol="0" anchor="t"/>
          <a:lstStyle/>
          <a:p>
            <a:pPr indent="0" marL="0">
              <a:buNone/>
            </a:pPr>
            <a:r>
              <a:rPr lang="en-US" sz="1300" b="1" dirty="0">
                <a:solidFill>
                  <a:srgbClr val="E39B2D"/>
                </a:solidFill>
                <a:latin typeface="Calibri" pitchFamily="34" charset="0"/>
                <a:ea typeface="Calibri" pitchFamily="34" charset="-122"/>
                <a:cs typeface="Calibri" pitchFamily="34" charset="-120"/>
              </a:rPr>
              <a:t>Publications</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Expected contributions to InnoGuard</a:t>
            </a:r>
            <a:endParaRPr lang="en-US" sz="3000" dirty="0"/>
          </a:p>
        </p:txBody>
      </p:sp>
      <p:sp>
        <p:nvSpPr>
          <p:cNvPr id="3" name="Shape 1"/>
          <p:cNvSpPr/>
          <p:nvPr/>
        </p:nvSpPr>
        <p:spPr>
          <a:xfrm>
            <a:off x="548640" y="1481328"/>
            <a:ext cx="640080" cy="640080"/>
          </a:xfrm>
          <a:prstGeom prst="ellipse">
            <a:avLst/>
          </a:prstGeom>
          <a:solidFill>
            <a:srgbClr val="0F8B8D"/>
          </a:solidFill>
          <a:ln w="12700">
            <a:solidFill>
              <a:srgbClr val="0F8B8D"/>
            </a:solidFill>
            <a:prstDash val="solid"/>
          </a:ln>
        </p:spPr>
      </p:sp>
      <p:pic>
        <p:nvPicPr>
          <p:cNvPr id="4" name="Image 0" descr="preencoded.png">    </p:cNvPr>
          <p:cNvPicPr>
            <a:picLocks noChangeAspect="1"/>
          </p:cNvPicPr>
          <p:nvPr/>
        </p:nvPicPr>
        <p:blipFill>
          <a:blip r:embed="rId1"/>
          <a:stretch>
            <a:fillRect/>
          </a:stretch>
        </p:blipFill>
        <p:spPr>
          <a:xfrm>
            <a:off x="708660" y="1641348"/>
            <a:ext cx="320040" cy="320040"/>
          </a:xfrm>
          <a:prstGeom prst="rect">
            <a:avLst/>
          </a:prstGeom>
        </p:spPr>
      </p:pic>
      <p:sp>
        <p:nvSpPr>
          <p:cNvPr id="5" name="Text 2"/>
          <p:cNvSpPr txBox="1"/>
          <p:nvPr/>
        </p:nvSpPr>
        <p:spPr>
          <a:xfrm>
            <a:off x="1417320" y="1444752"/>
            <a:ext cx="1828800" cy="731520"/>
          </a:xfrm>
          <a:prstGeom prst="rect">
            <a:avLst/>
          </a:prstGeom>
          <a:noFill/>
          <a:ln/>
        </p:spPr>
        <p:txBody>
          <a:bodyPr wrap="square" lIns="0" tIns="0" rIns="0" bIns="0" rtlCol="0" anchor="ctr"/>
          <a:lstStyle/>
          <a:p>
            <a:pPr indent="0" marL="0">
              <a:buNone/>
            </a:pPr>
            <a:r>
              <a:rPr lang="en-US" sz="1800" b="1" dirty="0">
                <a:solidFill>
                  <a:srgbClr val="13213C"/>
                </a:solidFill>
                <a:latin typeface="Calibri" pitchFamily="34" charset="0"/>
                <a:ea typeface="Calibri" pitchFamily="34" charset="-122"/>
                <a:cs typeface="Calibri" pitchFamily="34" charset="-120"/>
              </a:rPr>
              <a:t>Metrics</a:t>
            </a:r>
            <a:endParaRPr lang="en-US" sz="1800" dirty="0"/>
          </a:p>
        </p:txBody>
      </p:sp>
      <p:sp>
        <p:nvSpPr>
          <p:cNvPr id="6" name="Text 3"/>
          <p:cNvSpPr txBox="1"/>
          <p:nvPr/>
        </p:nvSpPr>
        <p:spPr>
          <a:xfrm>
            <a:off x="3200400" y="1444752"/>
            <a:ext cx="4023360" cy="731520"/>
          </a:xfrm>
          <a:prstGeom prst="rect">
            <a:avLst/>
          </a:prstGeom>
          <a:noFill/>
          <a:ln/>
        </p:spPr>
        <p:txBody>
          <a:bodyPr wrap="square" lIns="0" tIns="0" rIns="0" bIns="0" rtlCol="0" anchor="ctr"/>
          <a:lstStyle/>
          <a:p>
            <a:pPr indent="0" marL="0">
              <a:buNone/>
            </a:pPr>
            <a:r>
              <a:rPr lang="en-US" sz="1400" dirty="0">
                <a:solidFill>
                  <a:srgbClr val="1E2533"/>
                </a:solidFill>
                <a:latin typeface="Calibri" pitchFamily="34" charset="0"/>
                <a:ea typeface="Calibri" pitchFamily="34" charset="-122"/>
                <a:cs typeface="Calibri" pitchFamily="34" charset="-120"/>
              </a:rPr>
              <a:t>Uncertainty metrics for AI-generated test artefacts, incl. behavioural entropy for executable CPS tests</a:t>
            </a:r>
            <a:endParaRPr lang="en-US" sz="1400" dirty="0"/>
          </a:p>
        </p:txBody>
      </p:sp>
      <p:sp>
        <p:nvSpPr>
          <p:cNvPr id="7" name="Shape 4"/>
          <p:cNvSpPr/>
          <p:nvPr/>
        </p:nvSpPr>
        <p:spPr>
          <a:xfrm>
            <a:off x="548640" y="2505456"/>
            <a:ext cx="640080" cy="640080"/>
          </a:xfrm>
          <a:prstGeom prst="ellipse">
            <a:avLst/>
          </a:prstGeom>
          <a:solidFill>
            <a:srgbClr val="3567C8"/>
          </a:solidFill>
          <a:ln w="12700">
            <a:solidFill>
              <a:srgbClr val="3567C8"/>
            </a:solidFill>
            <a:prstDash val="solid"/>
          </a:ln>
        </p:spPr>
      </p:sp>
      <p:pic>
        <p:nvPicPr>
          <p:cNvPr id="8" name="Image 1" descr="preencoded.png">    </p:cNvPr>
          <p:cNvPicPr>
            <a:picLocks noChangeAspect="1"/>
          </p:cNvPicPr>
          <p:nvPr/>
        </p:nvPicPr>
        <p:blipFill>
          <a:blip r:embed="rId2"/>
          <a:stretch>
            <a:fillRect/>
          </a:stretch>
        </p:blipFill>
        <p:spPr>
          <a:xfrm>
            <a:off x="708660" y="2665476"/>
            <a:ext cx="320040" cy="320040"/>
          </a:xfrm>
          <a:prstGeom prst="rect">
            <a:avLst/>
          </a:prstGeom>
        </p:spPr>
      </p:pic>
      <p:sp>
        <p:nvSpPr>
          <p:cNvPr id="9" name="Text 5"/>
          <p:cNvSpPr txBox="1"/>
          <p:nvPr/>
        </p:nvSpPr>
        <p:spPr>
          <a:xfrm>
            <a:off x="1417320" y="2468880"/>
            <a:ext cx="1828800" cy="731520"/>
          </a:xfrm>
          <a:prstGeom prst="rect">
            <a:avLst/>
          </a:prstGeom>
          <a:noFill/>
          <a:ln/>
        </p:spPr>
        <p:txBody>
          <a:bodyPr wrap="square" lIns="0" tIns="0" rIns="0" bIns="0" rtlCol="0" anchor="ctr"/>
          <a:lstStyle/>
          <a:p>
            <a:pPr indent="0" marL="0">
              <a:buNone/>
            </a:pPr>
            <a:r>
              <a:rPr lang="en-US" sz="1800" b="1" dirty="0">
                <a:solidFill>
                  <a:srgbClr val="13213C"/>
                </a:solidFill>
                <a:latin typeface="Calibri" pitchFamily="34" charset="0"/>
                <a:ea typeface="Calibri" pitchFamily="34" charset="-122"/>
                <a:cs typeface="Calibri" pitchFamily="34" charset="-120"/>
              </a:rPr>
              <a:t>Methods</a:t>
            </a:r>
            <a:endParaRPr lang="en-US" sz="1800" dirty="0"/>
          </a:p>
        </p:txBody>
      </p:sp>
      <p:sp>
        <p:nvSpPr>
          <p:cNvPr id="10" name="Text 6"/>
          <p:cNvSpPr txBox="1"/>
          <p:nvPr/>
        </p:nvSpPr>
        <p:spPr>
          <a:xfrm>
            <a:off x="3200400" y="2468880"/>
            <a:ext cx="4023360" cy="731520"/>
          </a:xfrm>
          <a:prstGeom prst="rect">
            <a:avLst/>
          </a:prstGeom>
          <a:noFill/>
          <a:ln/>
        </p:spPr>
        <p:txBody>
          <a:bodyPr wrap="square" lIns="0" tIns="0" rIns="0" bIns="0" rtlCol="0" anchor="ctr"/>
          <a:lstStyle/>
          <a:p>
            <a:pPr indent="0" marL="0">
              <a:buNone/>
            </a:pPr>
            <a:r>
              <a:rPr lang="en-US" sz="1400" dirty="0">
                <a:solidFill>
                  <a:srgbClr val="1E2533"/>
                </a:solidFill>
                <a:latin typeface="Calibri" pitchFamily="34" charset="0"/>
                <a:ea typeface="Calibri" pitchFamily="34" charset="-122"/>
                <a:cs typeface="Calibri" pitchFamily="34" charset="-120"/>
              </a:rPr>
              <a:t>Risk-based acceptance of AI-generated artefacts with calibrated, safety-aware thresholds</a:t>
            </a:r>
            <a:endParaRPr lang="en-US" sz="1400" dirty="0"/>
          </a:p>
        </p:txBody>
      </p:sp>
      <p:sp>
        <p:nvSpPr>
          <p:cNvPr id="11" name="Shape 7"/>
          <p:cNvSpPr/>
          <p:nvPr/>
        </p:nvSpPr>
        <p:spPr>
          <a:xfrm>
            <a:off x="548640" y="3529584"/>
            <a:ext cx="640080" cy="640080"/>
          </a:xfrm>
          <a:prstGeom prst="ellipse">
            <a:avLst/>
          </a:prstGeom>
          <a:solidFill>
            <a:srgbClr val="E39B2D"/>
          </a:solidFill>
          <a:ln w="12700">
            <a:solidFill>
              <a:srgbClr val="E39B2D"/>
            </a:solidFill>
            <a:prstDash val="solid"/>
          </a:ln>
        </p:spPr>
      </p:sp>
      <p:pic>
        <p:nvPicPr>
          <p:cNvPr id="12" name="Image 2" descr="preencoded.png">    </p:cNvPr>
          <p:cNvPicPr>
            <a:picLocks noChangeAspect="1"/>
          </p:cNvPicPr>
          <p:nvPr/>
        </p:nvPicPr>
        <p:blipFill>
          <a:blip r:embed="rId3"/>
          <a:stretch>
            <a:fillRect/>
          </a:stretch>
        </p:blipFill>
        <p:spPr>
          <a:xfrm>
            <a:off x="708660" y="3689604"/>
            <a:ext cx="320040" cy="320040"/>
          </a:xfrm>
          <a:prstGeom prst="rect">
            <a:avLst/>
          </a:prstGeom>
        </p:spPr>
      </p:pic>
      <p:sp>
        <p:nvSpPr>
          <p:cNvPr id="13" name="Text 8"/>
          <p:cNvSpPr txBox="1"/>
          <p:nvPr/>
        </p:nvSpPr>
        <p:spPr>
          <a:xfrm>
            <a:off x="1417320" y="3493008"/>
            <a:ext cx="1828800" cy="731520"/>
          </a:xfrm>
          <a:prstGeom prst="rect">
            <a:avLst/>
          </a:prstGeom>
          <a:noFill/>
          <a:ln/>
        </p:spPr>
        <p:txBody>
          <a:bodyPr wrap="square" lIns="0" tIns="0" rIns="0" bIns="0" rtlCol="0" anchor="ctr"/>
          <a:lstStyle/>
          <a:p>
            <a:pPr indent="0" marL="0">
              <a:buNone/>
            </a:pPr>
            <a:r>
              <a:rPr lang="en-US" sz="1800" b="1" dirty="0">
                <a:solidFill>
                  <a:srgbClr val="13213C"/>
                </a:solidFill>
                <a:latin typeface="Calibri" pitchFamily="34" charset="0"/>
                <a:ea typeface="Calibri" pitchFamily="34" charset="-122"/>
                <a:cs typeface="Calibri" pitchFamily="34" charset="-120"/>
              </a:rPr>
              <a:t>Evidence</a:t>
            </a:r>
            <a:endParaRPr lang="en-US" sz="1800" dirty="0"/>
          </a:p>
        </p:txBody>
      </p:sp>
      <p:sp>
        <p:nvSpPr>
          <p:cNvPr id="14" name="Text 9"/>
          <p:cNvSpPr txBox="1"/>
          <p:nvPr/>
        </p:nvSpPr>
        <p:spPr>
          <a:xfrm>
            <a:off x="3200400" y="3493008"/>
            <a:ext cx="4023360" cy="731520"/>
          </a:xfrm>
          <a:prstGeom prst="rect">
            <a:avLst/>
          </a:prstGeom>
          <a:noFill/>
          <a:ln/>
        </p:spPr>
        <p:txBody>
          <a:bodyPr wrap="square" lIns="0" tIns="0" rIns="0" bIns="0" rtlCol="0" anchor="ctr"/>
          <a:lstStyle/>
          <a:p>
            <a:pPr indent="0" marL="0">
              <a:buNone/>
            </a:pPr>
            <a:r>
              <a:rPr lang="en-US" sz="1400" dirty="0">
                <a:solidFill>
                  <a:srgbClr val="1E2533"/>
                </a:solidFill>
                <a:latin typeface="Calibri" pitchFamily="34" charset="0"/>
                <a:ea typeface="Calibri" pitchFamily="34" charset="-122"/>
                <a:cs typeface="Calibri" pitchFamily="34" charset="-120"/>
              </a:rPr>
              <a:t>Empirical laws linking uncertainty to correctness, fault detection and cost across models</a:t>
            </a:r>
            <a:endParaRPr lang="en-US" sz="1400" dirty="0"/>
          </a:p>
        </p:txBody>
      </p:sp>
      <p:sp>
        <p:nvSpPr>
          <p:cNvPr id="15" name="Shape 10"/>
          <p:cNvSpPr/>
          <p:nvPr/>
        </p:nvSpPr>
        <p:spPr>
          <a:xfrm>
            <a:off x="548640" y="4553712"/>
            <a:ext cx="640080" cy="640080"/>
          </a:xfrm>
          <a:prstGeom prst="ellipse">
            <a:avLst/>
          </a:prstGeom>
          <a:solidFill>
            <a:srgbClr val="6E56CF"/>
          </a:solidFill>
          <a:ln w="12700">
            <a:solidFill>
              <a:srgbClr val="6E56CF"/>
            </a:solidFill>
            <a:prstDash val="solid"/>
          </a:ln>
        </p:spPr>
      </p:sp>
      <p:pic>
        <p:nvPicPr>
          <p:cNvPr id="16" name="Image 3" descr="preencoded.png">    </p:cNvPr>
          <p:cNvPicPr>
            <a:picLocks noChangeAspect="1"/>
          </p:cNvPicPr>
          <p:nvPr/>
        </p:nvPicPr>
        <p:blipFill>
          <a:blip r:embed="rId4"/>
          <a:stretch>
            <a:fillRect/>
          </a:stretch>
        </p:blipFill>
        <p:spPr>
          <a:xfrm>
            <a:off x="708660" y="4713732"/>
            <a:ext cx="320040" cy="320040"/>
          </a:xfrm>
          <a:prstGeom prst="rect">
            <a:avLst/>
          </a:prstGeom>
        </p:spPr>
      </p:pic>
      <p:sp>
        <p:nvSpPr>
          <p:cNvPr id="17" name="Text 11"/>
          <p:cNvSpPr txBox="1"/>
          <p:nvPr/>
        </p:nvSpPr>
        <p:spPr>
          <a:xfrm>
            <a:off x="1417320" y="4517136"/>
            <a:ext cx="1828800" cy="731520"/>
          </a:xfrm>
          <a:prstGeom prst="rect">
            <a:avLst/>
          </a:prstGeom>
          <a:noFill/>
          <a:ln/>
        </p:spPr>
        <p:txBody>
          <a:bodyPr wrap="square" lIns="0" tIns="0" rIns="0" bIns="0" rtlCol="0" anchor="ctr"/>
          <a:lstStyle/>
          <a:p>
            <a:pPr indent="0" marL="0">
              <a:buNone/>
            </a:pPr>
            <a:r>
              <a:rPr lang="en-US" sz="1800" b="1" dirty="0">
                <a:solidFill>
                  <a:srgbClr val="13213C"/>
                </a:solidFill>
                <a:latin typeface="Calibri" pitchFamily="34" charset="0"/>
                <a:ea typeface="Calibri" pitchFamily="34" charset="-122"/>
                <a:cs typeface="Calibri" pitchFamily="34" charset="-120"/>
              </a:rPr>
              <a:t>Open science</a:t>
            </a:r>
            <a:endParaRPr lang="en-US" sz="1800" dirty="0"/>
          </a:p>
        </p:txBody>
      </p:sp>
      <p:sp>
        <p:nvSpPr>
          <p:cNvPr id="18" name="Text 12"/>
          <p:cNvSpPr txBox="1"/>
          <p:nvPr/>
        </p:nvSpPr>
        <p:spPr>
          <a:xfrm>
            <a:off x="3200400" y="4517136"/>
            <a:ext cx="4023360" cy="731520"/>
          </a:xfrm>
          <a:prstGeom prst="rect">
            <a:avLst/>
          </a:prstGeom>
          <a:noFill/>
          <a:ln/>
        </p:spPr>
        <p:txBody>
          <a:bodyPr wrap="square" lIns="0" tIns="0" rIns="0" bIns="0" rtlCol="0" anchor="ctr"/>
          <a:lstStyle/>
          <a:p>
            <a:pPr indent="0" marL="0">
              <a:buNone/>
            </a:pPr>
            <a:r>
              <a:rPr lang="en-US" sz="1400" dirty="0">
                <a:solidFill>
                  <a:srgbClr val="1E2533"/>
                </a:solidFill>
                <a:latin typeface="Calibri" pitchFamily="34" charset="0"/>
                <a:ea typeface="Calibri" pitchFamily="34" charset="-122"/>
                <a:cs typeface="Calibri" pitchFamily="34" charset="-120"/>
              </a:rPr>
              <a:t>Open benchmark, tool and replication packages; integration with the InnoGuard platform</a:t>
            </a:r>
            <a:endParaRPr lang="en-US" sz="1400" dirty="0"/>
          </a:p>
        </p:txBody>
      </p:sp>
      <p:sp>
        <p:nvSpPr>
          <p:cNvPr id="19" name="Shape 13"/>
          <p:cNvSpPr/>
          <p:nvPr/>
        </p:nvSpPr>
        <p:spPr>
          <a:xfrm>
            <a:off x="7406640" y="1371600"/>
            <a:ext cx="4233672" cy="4023360"/>
          </a:xfrm>
          <a:prstGeom prst="roundRect">
            <a:avLst>
              <a:gd name="adj" fmla="val 2727"/>
            </a:avLst>
          </a:prstGeom>
          <a:solidFill>
            <a:srgbClr val="F2F5F9"/>
          </a:solidFill>
          <a:ln w="12700">
            <a:solidFill>
              <a:srgbClr val="F2F5F9"/>
            </a:solidFill>
            <a:prstDash val="solid"/>
          </a:ln>
        </p:spPr>
      </p:sp>
      <p:sp>
        <p:nvSpPr>
          <p:cNvPr id="20" name="Text 14"/>
          <p:cNvSpPr txBox="1"/>
          <p:nvPr/>
        </p:nvSpPr>
        <p:spPr>
          <a:xfrm>
            <a:off x="7635240" y="1536192"/>
            <a:ext cx="3840480" cy="365760"/>
          </a:xfrm>
          <a:prstGeom prst="rect">
            <a:avLst/>
          </a:prstGeom>
          <a:noFill/>
          <a:ln/>
        </p:spPr>
        <p:txBody>
          <a:bodyPr wrap="square" lIns="0" tIns="0" rIns="0" bIns="0" rtlCol="0" anchor="t"/>
          <a:lstStyle/>
          <a:p>
            <a:pPr indent="0" marL="0">
              <a:buNone/>
            </a:pPr>
            <a:r>
              <a:rPr lang="en-US" sz="1600" b="1" dirty="0">
                <a:solidFill>
                  <a:srgbClr val="13213C"/>
                </a:solidFill>
                <a:latin typeface="Calibri" pitchFamily="34" charset="0"/>
                <a:ea typeface="Calibri" pitchFamily="34" charset="-122"/>
                <a:cs typeface="Calibri" pitchFamily="34" charset="-120"/>
              </a:rPr>
              <a:t>Dissemination &amp; network</a:t>
            </a:r>
            <a:endParaRPr lang="en-US" sz="1600" dirty="0"/>
          </a:p>
        </p:txBody>
      </p:sp>
      <p:sp>
        <p:nvSpPr>
          <p:cNvPr id="21" name="Text 15"/>
          <p:cNvSpPr txBox="1"/>
          <p:nvPr/>
        </p:nvSpPr>
        <p:spPr>
          <a:xfrm>
            <a:off x="7635240" y="1965960"/>
            <a:ext cx="3840480" cy="3291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Venues: ICSE, FSE, ASE, ISSTA, ICST; TOSEM, TSE, EMSE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Joint papers across the network, building on the team's foundation-model road maps [10, 11]</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Secondment at Mondragon: industrial CPS case and oracle expertise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Training, summer schools and outreach of the doctoral network</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515600" cy="109728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Why me, why this team</a:t>
            </a:r>
            <a:endParaRPr lang="en-US" sz="4000" dirty="0"/>
          </a:p>
        </p:txBody>
      </p:sp>
      <p:sp>
        <p:nvSpPr>
          <p:cNvPr id="3" name="Shape 1"/>
          <p:cNvSpPr/>
          <p:nvPr/>
        </p:nvSpPr>
        <p:spPr>
          <a:xfrm>
            <a:off x="548640" y="3429000"/>
            <a:ext cx="566928" cy="566928"/>
          </a:xfrm>
          <a:prstGeom prst="ellipse">
            <a:avLst/>
          </a:prstGeom>
          <a:solidFill>
            <a:srgbClr val="0F8B8D"/>
          </a:solidFill>
          <a:ln w="12700">
            <a:solidFill>
              <a:srgbClr val="0F8B8D"/>
            </a:solidFill>
            <a:prstDash val="solid"/>
          </a:ln>
        </p:spPr>
      </p:sp>
      <p:pic>
        <p:nvPicPr>
          <p:cNvPr id="4" name="Image 0" descr="preencoded.png">    </p:cNvPr>
          <p:cNvPicPr>
            <a:picLocks noChangeAspect="1"/>
          </p:cNvPicPr>
          <p:nvPr/>
        </p:nvPicPr>
        <p:blipFill>
          <a:blip r:embed="rId1"/>
          <a:stretch>
            <a:fillRect/>
          </a:stretch>
        </p:blipFill>
        <p:spPr>
          <a:xfrm>
            <a:off x="690372" y="3570732"/>
            <a:ext cx="283464" cy="283464"/>
          </a:xfrm>
          <a:prstGeom prst="rect">
            <a:avLst/>
          </a:prstGeom>
        </p:spPr>
      </p:pic>
      <p:sp>
        <p:nvSpPr>
          <p:cNvPr id="5" name="Text 2"/>
          <p:cNvSpPr txBox="1"/>
          <p:nvPr/>
        </p:nvSpPr>
        <p:spPr>
          <a:xfrm>
            <a:off x="1325880" y="3429000"/>
            <a:ext cx="7132320" cy="56692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CPS tester by training  </a:t>
            </a:r>
            <a:pPr indent="0" marL="0">
              <a:buNone/>
            </a:pPr>
            <a:r>
              <a:rPr lang="en-US" sz="1600" dirty="0">
                <a:solidFill>
                  <a:srgbClr val="CFE3F1"/>
                </a:solidFill>
                <a:latin typeface="Calibri" pitchFamily="34" charset="0"/>
                <a:ea typeface="Calibri" pitchFamily="34" charset="-122"/>
                <a:cs typeface="Calibri" pitchFamily="34" charset="-120"/>
              </a:rPr>
              <a:t>automotive ECU testing, standards and test benches</a:t>
            </a:r>
            <a:endParaRPr lang="en-US" sz="1600" dirty="0"/>
          </a:p>
        </p:txBody>
      </p:sp>
      <p:sp>
        <p:nvSpPr>
          <p:cNvPr id="6" name="Shape 3"/>
          <p:cNvSpPr/>
          <p:nvPr/>
        </p:nvSpPr>
        <p:spPr>
          <a:xfrm>
            <a:off x="548640" y="4297680"/>
            <a:ext cx="566928" cy="566928"/>
          </a:xfrm>
          <a:prstGeom prst="ellipse">
            <a:avLst/>
          </a:prstGeom>
          <a:solidFill>
            <a:srgbClr val="0F8B8D"/>
          </a:solidFill>
          <a:ln w="12700">
            <a:solidFill>
              <a:srgbClr val="0F8B8D"/>
            </a:solidFill>
            <a:prstDash val="solid"/>
          </a:ln>
        </p:spPr>
      </p:sp>
      <p:pic>
        <p:nvPicPr>
          <p:cNvPr id="7" name="Image 1" descr="preencoded.png">    </p:cNvPr>
          <p:cNvPicPr>
            <a:picLocks noChangeAspect="1"/>
          </p:cNvPicPr>
          <p:nvPr/>
        </p:nvPicPr>
        <p:blipFill>
          <a:blip r:embed="rId2"/>
          <a:stretch>
            <a:fillRect/>
          </a:stretch>
        </p:blipFill>
        <p:spPr>
          <a:xfrm>
            <a:off x="690372" y="4439412"/>
            <a:ext cx="283464" cy="283464"/>
          </a:xfrm>
          <a:prstGeom prst="rect">
            <a:avLst/>
          </a:prstGeom>
        </p:spPr>
      </p:pic>
      <p:sp>
        <p:nvSpPr>
          <p:cNvPr id="8" name="Text 4"/>
          <p:cNvSpPr txBox="1"/>
          <p:nvPr/>
        </p:nvSpPr>
        <p:spPr>
          <a:xfrm>
            <a:off x="1325880" y="4297680"/>
            <a:ext cx="7132320" cy="56692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Verification researcher  </a:t>
            </a:r>
            <a:pPr indent="0" marL="0">
              <a:buNone/>
            </a:pPr>
            <a:r>
              <a:rPr lang="en-US" sz="1600" dirty="0">
                <a:solidFill>
                  <a:srgbClr val="CFE3F1"/>
                </a:solidFill>
                <a:latin typeface="Calibri" pitchFamily="34" charset="0"/>
                <a:ea typeface="Calibri" pitchFamily="34" charset="-122"/>
                <a:cs typeface="Calibri" pitchFamily="34" charset="-120"/>
              </a:rPr>
              <a:t>falsification and test generation for controller software</a:t>
            </a:r>
            <a:endParaRPr lang="en-US" sz="1600" dirty="0"/>
          </a:p>
        </p:txBody>
      </p:sp>
      <p:sp>
        <p:nvSpPr>
          <p:cNvPr id="9" name="Shape 5"/>
          <p:cNvSpPr/>
          <p:nvPr/>
        </p:nvSpPr>
        <p:spPr>
          <a:xfrm>
            <a:off x="548640" y="5166360"/>
            <a:ext cx="566928" cy="566928"/>
          </a:xfrm>
          <a:prstGeom prst="ellipse">
            <a:avLst/>
          </a:prstGeom>
          <a:solidFill>
            <a:srgbClr val="0F8B8D"/>
          </a:solidFill>
          <a:ln w="12700">
            <a:solidFill>
              <a:srgbClr val="0F8B8D"/>
            </a:solidFill>
            <a:prstDash val="solid"/>
          </a:ln>
        </p:spPr>
      </p:sp>
      <p:pic>
        <p:nvPicPr>
          <p:cNvPr id="10" name="Image 2" descr="preencoded.png">    </p:cNvPr>
          <p:cNvPicPr>
            <a:picLocks noChangeAspect="1"/>
          </p:cNvPicPr>
          <p:nvPr/>
        </p:nvPicPr>
        <p:blipFill>
          <a:blip r:embed="rId3"/>
          <a:stretch>
            <a:fillRect/>
          </a:stretch>
        </p:blipFill>
        <p:spPr>
          <a:xfrm>
            <a:off x="690372" y="5308092"/>
            <a:ext cx="283464" cy="283464"/>
          </a:xfrm>
          <a:prstGeom prst="rect">
            <a:avLst/>
          </a:prstGeom>
        </p:spPr>
      </p:pic>
      <p:sp>
        <p:nvSpPr>
          <p:cNvPr id="11" name="Text 6"/>
          <p:cNvSpPr txBox="1"/>
          <p:nvPr/>
        </p:nvSpPr>
        <p:spPr>
          <a:xfrm>
            <a:off x="1325880" y="5166360"/>
            <a:ext cx="7132320" cy="56692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Builder of AI testing tools  </a:t>
            </a:r>
            <a:pPr indent="0" marL="0">
              <a:buNone/>
            </a:pPr>
            <a:r>
              <a:rPr lang="en-US" sz="1600" dirty="0">
                <a:solidFill>
                  <a:srgbClr val="CFE3F1"/>
                </a:solidFill>
                <a:latin typeface="Calibri" pitchFamily="34" charset="0"/>
                <a:ea typeface="Calibri" pitchFamily="34" charset="-122"/>
                <a:cs typeface="Calibri" pitchFamily="34" charset="-120"/>
              </a:rPr>
              <a:t>a working uncertainty-aware prototype, today</a:t>
            </a:r>
            <a:endParaRPr lang="en-US" sz="1600" dirty="0"/>
          </a:p>
        </p:txBody>
      </p:sp>
      <p:sp>
        <p:nvSpPr>
          <p:cNvPr id="12" name="Text 7"/>
          <p:cNvSpPr txBox="1"/>
          <p:nvPr/>
        </p:nvSpPr>
        <p:spPr>
          <a:xfrm>
            <a:off x="8412480" y="3429000"/>
            <a:ext cx="3200400" cy="1097280"/>
          </a:xfrm>
          <a:prstGeom prst="rect">
            <a:avLst/>
          </a:prstGeom>
          <a:noFill/>
          <a:ln/>
        </p:spPr>
        <p:txBody>
          <a:bodyPr wrap="square" lIns="0" tIns="0" rIns="0" bIns="0" rtlCol="0" anchor="t"/>
          <a:lstStyle/>
          <a:p>
            <a:pPr algn="r" indent="0" marL="0">
              <a:buNone/>
            </a:pPr>
            <a:r>
              <a:rPr lang="en-US" sz="2800" b="1" dirty="0">
                <a:solidFill>
                  <a:srgbClr val="FFFFFF"/>
                </a:solidFill>
                <a:latin typeface="Cambria" pitchFamily="34" charset="0"/>
                <a:ea typeface="Cambria" pitchFamily="34" charset="-122"/>
                <a:cs typeface="Cambria" pitchFamily="34" charset="-120"/>
              </a:rPr>
              <a:t>Thank you</a:t>
            </a:r>
            <a:endParaRPr lang="en-US" sz="2800" dirty="0"/>
          </a:p>
          <a:p>
            <a:pPr algn="r" indent="0" marL="0">
              <a:buNone/>
            </a:pPr>
            <a:r>
              <a:rPr lang="en-US" sz="1600" dirty="0">
                <a:solidFill>
                  <a:srgbClr val="CFE3F1"/>
                </a:solidFill>
                <a:latin typeface="Calibri" pitchFamily="34" charset="0"/>
                <a:ea typeface="Calibri" pitchFamily="34" charset="-122"/>
                <a:cs typeface="Calibri" pitchFamily="34" charset="-120"/>
              </a:rPr>
              <a:t>zavinhle@gmail.com</a:t>
            </a: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Results per model and requirement</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1188720"/>
                <a:gridCol w="1280160"/>
                <a:gridCol w="1737360"/>
                <a:gridCol w="1737360"/>
                <a:gridCol w="1371600"/>
                <a:gridCol w="1399032"/>
              </a:tblGrid>
              <a:tr h="384048">
                <a:tc>
                  <a:txBody>
                    <a:bodyPr/>
                    <a:lstStyle/>
                    <a:p>
                      <a:pPr indent="0" marL="0">
                        <a:buNone/>
                      </a:pPr>
                      <a:r>
                        <a:rPr lang="en-US" sz="1300" b="1" dirty="0">
                          <a:solidFill>
                            <a:srgbClr val="FFFFFF"/>
                          </a:solidFill>
                        </a:rPr>
                        <a:t>Model</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Valid</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Correct</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Mutation score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Self-confidence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Latency</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Tokens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r>
              <a:tr h="384048">
                <a:tc>
                  <a:txBody>
                    <a:bodyPr/>
                    <a:lstStyle/>
                    <a:p>
                      <a:pPr indent="0" marL="0">
                        <a:buNone/>
                      </a:pPr>
                      <a:r>
                        <a:rPr lang="en-US" sz="1300" dirty="0">
                          <a:solidFill>
                            <a:srgbClr val="000000"/>
                          </a:solidFill>
                        </a:rPr>
                        <a:t>gpt-5.6-luna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87%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22%</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13.9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2546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384048">
                <a:tc>
                  <a:txBody>
                    <a:bodyPr/>
                    <a:lstStyle/>
                    <a:p>
                      <a:pPr indent="0" marL="0">
                        <a:buNone/>
                      </a:pPr>
                      <a:r>
                        <a:rPr lang="en-US" sz="1300" dirty="0">
                          <a:solidFill>
                            <a:srgbClr val="000000"/>
                          </a:solidFill>
                        </a:rPr>
                        <a:t>gpt-5.6-terra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89%</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25%</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94%</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16.9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2526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00000"/>
                          </a:solidFill>
                        </a:rPr>
                        <a:t>gpt-6-astra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27%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16.5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3501</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bl>
          </a:graphicData>
        </a:graphic>
      </p:graphicFrame>
      <p:graphicFrame>
        <p:nvGraphicFramePr>
          <p:cNvPr id="4" name="Chart 0" descr=""/>
          <p:cNvGraphicFramePr/>
          <p:nvPr/>
        </p:nvGraphicFramePr>
        <p:xfrm>
          <a:off x="548640" y="3108960"/>
          <a:ext cx="11094415" cy="29718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Threats to validity and mitigations</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645920"/>
                <a:gridCol w="4754880"/>
                <a:gridCol w="4690872"/>
              </a:tblGrid>
              <a:tr h="914400">
                <a:tc>
                  <a:txBody>
                    <a:bodyPr/>
                    <a:lstStyle/>
                    <a:p>
                      <a:pPr indent="0" marL="0">
                        <a:buNone/>
                      </a:pPr>
                      <a:r>
                        <a:rPr lang="en-US" sz="1400" b="1" dirty="0">
                          <a:solidFill>
                            <a:srgbClr val="FFFFFF"/>
                          </a:solidFill>
                        </a:rPr>
                        <a:t>Threat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In this prototype</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Mitigation in the PhD</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r>
              <a:tr h="914400">
                <a:tc>
                  <a:txBody>
                    <a:bodyPr/>
                    <a:lstStyle/>
                    <a:p>
                      <a:pPr indent="0" marL="0">
                        <a:buNone/>
                      </a:pPr>
                      <a:r>
                        <a:rPr lang="en-US" sz="1400" b="1" dirty="0">
                          <a:solidFill>
                            <a:srgbClr val="13213C"/>
                          </a:solidFill>
                        </a:rPr>
                        <a:t>Construct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Correctness = agreement with my reference formalisation; mutants approximate real faults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Expert-validated oracles; real fault data from industrial partners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914400">
                <a:tc>
                  <a:txBody>
                    <a:bodyPr/>
                    <a:lstStyle/>
                    <a:p>
                      <a:pPr indent="0" marL="0">
                        <a:buNone/>
                      </a:pPr>
                      <a:r>
                        <a:rPr lang="en-US" sz="1400" b="1" dirty="0">
                          <a:solidFill>
                            <a:srgbClr val="13213C"/>
                          </a:solidFill>
                        </a:rPr>
                        <a:t>Internal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Metric design chosen on a development round; heuristic thresholds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Held-out evaluation; pre-registered designs; calibration on separate data</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914400">
                <a:tc>
                  <a:txBody>
                    <a:bodyPr/>
                    <a:lstStyle/>
                    <a:p>
                      <a:pPr indent="0" marL="0">
                        <a:buNone/>
                      </a:pPr>
                      <a:r>
                        <a:rPr lang="en-US" sz="1400" b="1" dirty="0">
                          <a:solidFill>
                            <a:srgbClr val="13213C"/>
                          </a:solidFill>
                        </a:rPr>
                        <a:t>External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One SUT, one simulator, 7 requirements, 3 hosted LLMs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Open-source ACPS, industrial cases, InnoGuard platform, open-weight models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914400">
                <a:tc>
                  <a:txBody>
                    <a:bodyPr/>
                    <a:lstStyle/>
                    <a:p>
                      <a:pPr indent="0" marL="0">
                        <a:buNone/>
                      </a:pPr>
                      <a:r>
                        <a:rPr lang="en-US" sz="1400" b="1" dirty="0">
                          <a:solidFill>
                            <a:srgbClr val="13213C"/>
                          </a:solidFill>
                        </a:rPr>
                        <a:t>Conclusion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17 incorrect tests in 6 batches; small N per batch</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Larger N, repeated runs, effect sizes and confidence intervals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Towards uncertainty of quantum ML models (O4)</a:t>
            </a:r>
            <a:endParaRPr lang="en-US" sz="3000" dirty="0"/>
          </a:p>
        </p:txBody>
      </p:sp>
      <p:sp>
        <p:nvSpPr>
          <p:cNvPr id="3" name="Text 1"/>
          <p:cNvSpPr txBox="1"/>
          <p:nvPr/>
        </p:nvSpPr>
        <p:spPr>
          <a:xfrm>
            <a:off x="548640" y="1417320"/>
            <a:ext cx="6766560" cy="4389120"/>
          </a:xfrm>
          <a:prstGeom prst="rect">
            <a:avLst/>
          </a:prstGeom>
          <a:noFill/>
          <a:ln/>
        </p:spPr>
        <p:txBody>
          <a:bodyPr wrap="square" lIns="0" tIns="0" rIns="0" bIns="0" rtlCol="0" anchor="t"/>
          <a:lstStyle/>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Starting point: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QML is already used for test oracles of autonomous mobile robots and QoS prediction of elevator software [20, 21]</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Sources of uncertainty: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shot noise, hardware noise and model (epistemic) uncertainty add to data uncertainty</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Transfer test: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do behavioural / sampling-based metrics still predict wrong oracle verdicts when the model is quantum? Repeated shots are natural samples</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Coverage &amp; mutation for quantum programs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as ground-truth tools [19]</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Road map: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quantum AI for software engineering [22]</a:t>
            </a:r>
            <a:endParaRPr lang="en-US" sz="1600" dirty="0"/>
          </a:p>
        </p:txBody>
      </p:sp>
      <p:sp>
        <p:nvSpPr>
          <p:cNvPr id="4" name="Shape 2"/>
          <p:cNvSpPr/>
          <p:nvPr/>
        </p:nvSpPr>
        <p:spPr>
          <a:xfrm>
            <a:off x="8595360" y="2011680"/>
            <a:ext cx="2194560" cy="2194560"/>
          </a:xfrm>
          <a:prstGeom prst="ellipse">
            <a:avLst/>
          </a:prstGeom>
          <a:solidFill>
            <a:srgbClr val="6E56CF"/>
          </a:solidFill>
          <a:ln w="12700">
            <a:solidFill>
              <a:srgbClr val="6E56CF"/>
            </a:solidFill>
            <a:prstDash val="solid"/>
          </a:ln>
        </p:spPr>
      </p:sp>
      <p:pic>
        <p:nvPicPr>
          <p:cNvPr id="5" name="Image 0" descr="preencoded.png">    </p:cNvPr>
          <p:cNvPicPr>
            <a:picLocks noChangeAspect="1"/>
          </p:cNvPicPr>
          <p:nvPr/>
        </p:nvPicPr>
        <p:blipFill>
          <a:blip r:embed="rId1"/>
          <a:stretch>
            <a:fillRect/>
          </a:stretch>
        </p:blipFill>
        <p:spPr>
          <a:xfrm>
            <a:off x="9144000" y="2560320"/>
            <a:ext cx="1097280" cy="1097280"/>
          </a:xfrm>
          <a:prstGeom prst="rect">
            <a:avLst/>
          </a:prstGeom>
        </p:spPr>
      </p:pic>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References (1/2)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 M. Zhang, S. Ali, and T. Yue, "Uncertainty-wise test case generation and minimization for cyber-physical systems," J. Syst. Softw., vol. 153, pp. 1–21, 2019, doi: 10.1016/j.jss.2019.03.011.</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 M. Zhang, S. Ali, T. Yue, R. Norgren, and O. Okariz, "Uncertainty-wise cyber-physical system test modeling," Softw. Syst. Model., vol. 18, no. 2, pp. 1379–1418, 2019, doi: 10.1007/s10270-017-0609-6.</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[3] M. Zhang, B. Selic, S. Ali, T. Yue, O. Okariz, and R. Norgren, "Understanding uncertainty in cyber-physical systems: A conceptual model," in Proc. ECMFA, LNCS 9764, 2016, pp. 247–264, doi: 10.1007/978-3-319-42061-5_16.</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[4] F. O. Catak, T. Yue, and S. Ali, "Uncertainty-aware prediction validator in deep learning models for cyber-physical system data," ACM TOSEM, vol. 31, no. 4, pp. 1–31, 2022, doi: 10.1145/3527451.</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[5] L. Han, S. Ali, T. Yue, A. Arrieta, and M. Arratibel, "Uncertainty-aware robustness assessment of industrial elevator systems," ACM TOSEM, vol. 32, no. 4, pp. 1–51, 2023, doi: 10.1145/3576041.</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[6] P. Valle, A. Arrieta, L. Han, S. Ali, and T. Yue, "Defining and generating multi-level and uncertainty-wise test oracles for cyber-physical systems," Softw. Syst. Model., vol. 24, no. 3, pp. 679–704, 2025, doi: 10.1007/s10270-025-01271-8.</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[7] P. Valle, C. Lu, S. Ali, and A. Arrieta, "Evaluating uncertainty and quality of vision-language-action-enabled robots," arXiv:2507.17049, 2025.</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[8] J. Wu, C. Lu, A. Arrieta, T. Yue, and S. Ali, "Reality bites: Assessing the realism of driving scenarios with large language models," in Proc. IEEE/ACM FORGE, 2024, pp. 40–51, doi: 10.1145/3650105.3652296.</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[9] H. Sartaj, J. Boudjadar, M. Frasheri, S. Ali, and P. G. Larsen, "Identifying uncertainty in self-adaptive robotics with large language models," IEEE Softw., vol. 43, no. 1, pp. 89–97, 2026, doi: 10.1109/MS.2025.3620578.</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[10] C. Lu, P. Valle, J. Wu, E. Isaku, H. Sartaj, A. Arrieta, and S. Ali, "Foundation models for software engineering of cyber-physical systems: The road ahead," ACM TOSEM, vol. 35, no. 9, pp. 1–58, 2026, doi: 10.1145/3830403.</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[11] S. Ali, P. Arcaini, and A. Arrieta, "Foundation models for the digital twins creation of cyber-physical systems," in Proc. ISoLA 2024, LNCS, Springer, 2025, pp. 9–26, doi: 10.1007/978-3-031-75390-9_2.</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[12] A. Calò, P. Arcaini, S. Ali, F. Hauer, and F. Ishikawa, "Generating avoidable collision scenarios for testing autonomous driving systems," in Proc. IEEE ICST, 2020, pp. 375–386, doi: 10.1109/ICST46399.2020.00045.</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[13] T. Laurent, S. Klikovits, P. Arcaini, F. Ishikawa, and A. Ventresque, "Parameter coverage for testing of autonomous driving systems under uncertainty," ACM TOSEM, vol. 32, no. 3, pp. 1–31, 2023, doi: 10.1145/3550270.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[14] Z. Zhang, D. Lyu, P. Arcaini, L. Ma, I. Hasuo, and J. Zhao, "FalsifAI: Falsification of AI-enabled hybrid control systems guided by time-aware coverage criteria," IEEE TSE, vol. 49, no. 4, pp. 1842–1859, 2023, doi: 10.1109/TSE.2022.3194640.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[15] Z. Zhang, D. Lyu, P. Arcaini, L. Ma, I. Hasuo, and J. Zhao, "Effective hybrid system falsification using Monte Carlo tree search guided by QB-robustness," in Proc. CAV, LNCS, 2021, pp. 595–618, doi: 10.1007/978-3-030-81685-8_29.</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[16] A. Arrieta, J. Ayerdi, M. Illarramendi, A. Agirre, G. Sagardui, and M. Arratibel, "Using machine learning to build test oracles: An industrial case study on elevators dispatching algorithms," in Proc. IEEE/ACM AST, 2021, pp. 30–39, doi: 10.1109/AST52587.2021.00012.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References (2/2)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[17] J. Ayerdi, V. Terragni, A. Arrieta, P. Tonella, G. Sagardui, and M. Arratibel, "Generating metamorphic relations for cyber-physical systems with genetic programming: An industrial case study," in Proc. ESEC/FSE, 2021, pp. 1264–1274, doi: 10.1145/3468264.3473920.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[18] A. Arrieta, P. Valle, J. A. Agirre, and G. Sagardui, "Some seeds are strong: Seeding strategies for search-based test case selection," ACM TOSEM, vol. 32, no. 1, pp. 1–47, 2023, doi: 10.1145/3532182.</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[19] S. Ali, P. Arcaini, X. Wang, and T. Yue, "Assessing the effectiveness of input and output coverage criteria for testing quantum programs," in Proc. IEEE ICST, 2021, pp. 13–23, doi: 10.1109/ICST49551.2021.00014.</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[20] X. Wang, Q. Xu, P. Arcaini, S. Ali, and T. Peyrucain, "Quantum machine learning-based test oracle for autonomous mobile robots," in Proc. IEEE/ACM ASE, 2025, pp. 3695–3706, doi: 10.1109/ASE63991.2025.00306.</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[21] X. Wang, S. Ali, A. Arrieta, P. Arcaini, and M. Arratibel, "Application of quantum extreme learning machines for QoS prediction of elevators' software in an industrial context," in Companion Proc. ACM FSE, 2024, pp. 399–410, doi: 10.1145/3663529.3663859.</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[22] X. Wang, S. Ali, and P. Arcaini, "Quantum artificial intelligence for software engineering: The road ahead," ACM TOSEM, vol. 35, no. 9, pp. 1–42, 2026, doi: 10.1145/3827610.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[23] L. Kuhn, Y. Gal, and S. Farquhar, "Semantic uncertainty: Linguistic invariances for uncertainty estimation in natural language generation," in Proc. ICLR, 2023. arXiv:2302.09664.</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[24] S. Farquhar, J. Kossen, L. Kuhn, and Y. Gal, "Detecting hallucinations in large language models using semantic entropy," Nature, vol. 630, no. 8017, pp. 625–630, 2024, doi: 10.1038/s41586-024-07421-0.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[25] P. Manakul, A. Liusie, and M. J. F. Gales, "SelfCheckGPT: Zero-resource black-box hallucination detection for generative large language models," in Proc. EMNLP, 2023, pp. 9004–9017, doi: 10.18653/v1/2023.emnlp-main.557.</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[26] Y. Huang, J. Song, Z. Wang, S. Zhao, H. Chen, F. Juefei-Xu, and L. Ma, "Look before you leap: An exploratory study of uncertainty analysis for large language models," IEEE TSE, vol. 51, no. 2, pp. 413–429, 2025, doi: 10.1109/TSE.2024.3519464.</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[27] J. Wang, Y. Huang, C. Chen, Z. Liu, S. Wang, and Q. Wang, "Software testing with large language models: Survey, landscape, and vision," IEEE TSE, vol. 50, no. 4, pp. 911–936, 2024, doi: 10.1109/TSE.2024.3368208.</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[28] M. Weiss and P. Tonella, "Fail-safe execution of deep learning based systems through uncertainty monitoring," in Proc. IEEE ICST, 2021, pp. 24–35, doi: 10.1109/ICST49551.2021.00015.</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[29] E. Leurent, "An environment for autonomous driving decision-making," GitHub repository, 2018. https://github.com/Farama-Foundation/HighwayEnv</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[31] Z. V. Le, S. Hong, and Y. Choi, "Performance of test generation techniques on property checking: A case study," Korea Congress of Computing (KCC), 2025.</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[32] Z. V. Le, S. Hong, and Y. Choi, "Stateful system, stateless techniques: Initial assessment on test generation for property checking of controller software," Korea Conference on Software Engineering (KCSE), 2026.</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InnoGuard Interview">
  <a:themeElements>
    <a:clrScheme name="InnoGuard Interview">
      <a:dk1>
        <a:srgbClr val="1E2533"/>
      </a:dk1>
      <a:lt1>
        <a:srgbClr val="FFFFFF"/>
      </a:lt1>
      <a:dk2>
        <a:srgbClr val="13213C"/>
      </a:dk2>
      <a:lt2>
        <a:srgbClr val="F2F5F9"/>
      </a:lt2>
      <a:accent1>
        <a:srgbClr val="0F8B8D"/>
      </a:accent1>
      <a:accent2>
        <a:srgbClr val="E39B2D"/>
      </a:accent2>
      <a:accent3>
        <a:srgbClr val="C8463D"/>
      </a:accent3>
      <a:accent4>
        <a:srgbClr val="3567C8"/>
      </a:accent4>
      <a:accent5>
        <a:srgbClr val="6E56CF"/>
      </a:accent5>
      <a:accent6>
        <a:srgbClr val="2E8B57"/>
      </a:accent6>
      <a:hlink>
        <a:srgbClr val="3567C8"/>
      </a:hlink>
      <a:folHlink>
        <a:srgbClr val="6E56CF"/>
      </a:folHlink>
    </a:clrScheme>
    <a:fontScheme name="InnoGuard Inter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can we trust AI-generated tests? PhD research proposal</dc:title>
  <dc:subject>PptxGenJS Presentation</dc:subject>
  <dc:creator>Za Vinh Le</dc:creator>
  <cp:lastModifiedBy>Za Vinh Le</cp:lastModifiedBy>
  <cp:revision>1</cp:revision>
  <dcterms:created xsi:type="dcterms:W3CDTF">2026-10-26T09:38:12Z</dcterms:created>
  <dcterms:modified xsi:type="dcterms:W3CDTF">2026-10-26T09:38:12Z</dcterms:modified>
</cp:coreProperties>
</file>
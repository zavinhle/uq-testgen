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7" r:id="rId3"/>
    <p:sldId id="278" r:id="rId4"/>
    <p:sldId id="260" r:id="rId5"/>
    <p:sldId id="27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047273-5134-1B34-9BB5-4B040650920D}">
          <p14:sldIdLst>
            <p14:sldId id="256"/>
          </p14:sldIdLst>
        </p14:section>
        <p14:section name="A · The problem I hit (Demo 1)" id="{7CB31AD3-2173-C118-479C-3CF3B0A622F3}">
          <p14:sldIdLst>
            <p14:sldId id="277"/>
            <p14:sldId id="278"/>
            <p14:sldId id="260"/>
            <p14:sldId id="279"/>
            <p14:sldId id="261"/>
            <p14:sldId id="262"/>
          </p14:sldIdLst>
        </p14:section>
        <p14:section name="B · The PhD plan" id="{412C0BE4-6EA0-9AA4-2DCD-79540D27899C}">
          <p14:sldIdLst>
            <p14:sldId id="263"/>
            <p14:sldId id="264"/>
            <p14:sldId id="265"/>
            <p14:sldId id="266"/>
            <p14:sldId id="267"/>
            <p14:sldId id="268"/>
          </p14:sldIdLst>
        </p14:section>
        <p14:section name="C · What I can contribute" id="{03556DD3-1E2B-7DF6-7E99-B7D8504A12EA}">
          <p14:sldIdLst>
            <p14:sldId id="269"/>
            <p14:sldId id="270"/>
            <p14:sldId id="271"/>
          </p14:sldIdLst>
        </p14:section>
        <p14:section name="Backup" id="{C61593C6-5102-FA52-BA51-8BCDB6E68A39}">
          <p14:sldIdLst>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8535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invitation. My talk has three parts: first a real problem I hit with my own AI testing tool, shown in a demo; then how I want to solve it in the PhD, along the four objectives of the position; and finally what I bring.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motivation comes from my daily work as a tester. For every release we read the specification, write test cases, write scripts, run them and file bugs — and when the specification changes, we do it again. The bottleneck is test design, not execution. LLMs can now read specifications and write tests, so I asked: can one pipeline go from the document to the report?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QA-Flow, the tool I started from. Its six stages: the requirements document plus a discovery of the running application; retrieval over the documents; three LLM agents; a closed step language that code compiles into Playwright scripts; execution of web, API and security tests; and a report. Trust is handled by four hand-written rules. The demo application, ShopLite, contains seven planted defects so we know what should be 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QA-Flow extracted 34 requirements and ran 62 tests, and it found 5 of the 7 planted defects. But when I re-ran every failing test on a build with the planted defects fixed, 6 of the 18 FAILs still failed: the bug was in the AI's test, not in the shop. Every one of them passed all four trust rules. So the rules cannot tell a wrong test from a real defect. Let me show you one up close.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Before the results, here is how to read the report. PASS: the test's check held, and the test also fails on a broken version of the shop, so we know it can catch bugs. FAIL: the check did not hold, so the tool reports a bug in the shop. REVIEW: the tool does not trust the test, for example because it passes even on a broken shop, so a person decides. And a false alarm: a FAIL where the mistake is in the AI's own test, not in the shop. The tool cannot tell these apart; I found them afterwards by re-running every FAIL on a shop with the planted bugs removed.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one of these wrong tests up close, because it explains the whole problem. The requirement says the code SAVE10 gives ten percent off. On the left is what a correct test would do: put a pair of shoes for 89 euros in the cart, enter SAVE10, and expect 80 euros 10. ShopLite has a planted bug and shows 79 euros, so the correct test fails and finds the bug. On the right is what the AI's test actually did: it opened the cart without adding anything, so the cart was empty, it never reached the discount, it saw zero euros and failed. The report files this as a bug, but the bug is in the test, and the real discount bug was never tested. The privacy tests made the same kind of mistake: they logged in the wrong way, got 'not logged in', and never checked whether one customer can see another customer's orders.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none of QA-Flow's rules catch it? Look at what each rule checks. The schema check: the answer is well-formed, passed. Grounding: the pages and fields exist and the quote is word-for-word, passed. The review flag: the test has a source, so it is not flagged. The fault-injection gate only looks at passing tests, and this one failed. So every rule checks the form of the test, and no rule asks whether the test really tests the requirement. A test can be wrong in three ways: the wrong scenario, the wrong check, or a test that catches no bug. In a web shop that wastes time. In an autonomous car, a wrong test means false safety, and AI is already being used to engineer exactly these systems.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leads to the question of my PhD: when can we trust an AI-generated test? My idea is simple: ask the AI for the same test several times and compare what the tests do. If they agree, we can trust them more; if they scatter, a human should look. This idea works for chatbot answers, in work on semantic entropy and self-consistency, but nobody has studied it for executable tests. It builds directly on your work: uncertainty-wise testing of cyber-physical systems, testing of driving systems and falsification, industrial oracles for elevators, and the use of foundation models in CPS engineering.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What Demo 1 cannot do yet maps onto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thing Demo 1 cannot do becomes an objective. The rules cannot tell a wrong test from a real defect: I need uncertainty signals for every generated test, that is O1. Every FAIL looks the same, so a human checks all of them: I need risk-based decisions, O2. Wrong tests hid real bugs, and we have no measure of what a generated test is worth: a study of uncertainty against correctness, bug-finding power and cost, O3. And everything so far is one web shop and one model: the PhD moves to autonomous systems, industrial cases and newer models, O4.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evaluated on open-source ACPS, industrial cases through the network such as the Mondragon elevator systems, and the InnoGuard platform, with fault-injection or expert ground truth.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 open benchmark that includes both QA-Flow-style web/API artefacts and ACPS tests, and the first metric suite. Year 2: the empirical study, risk methods and the planned secondment at Mondragon. Year 3: industrial and InnoGuard-platform evaluation, the quantum ML extension, and the thesis. Secondment dates are indicative.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 metrics, risk methods, empirical evidence and open artefacts — published at the main SE venues and developed jointly across the network, with the Mondragon secondment as the industrial anchor.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from hardware to automotive software testing at Bosch, then research on falsification and test generation for controller software at Kyungpook National University, and now LLM-based testing in industry — which is where QA-Flow comes from. The common thread is making automated testing of safety-relevant software trustworthy.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bring maps onto the preferred profile: CPS testing practice, verification research, hands-on LLM tooling — QA-Flow in this talk — and empirical studies. And why this team: uncertainty-wise CPS testing at Simula, ADS testing and falsification with Prof. Arcaini, industrial oracles at Mondragon. My work sits exactly where these meet.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QA-Flow lets AI write and run tests end to end, and it finds real bugs. But its rules cannot spot the AI's own wrong tests. My PhD is about measuring when AI-generated tests can be trusted, with metrics, risk methods, evidence and transfer to autonomous systems, along O1 to O4. Thank you — I look forward to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the QA-Flow run behind Demo 1: which planted defects were found by which tests, and how many outputs each trust rule caught.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planted defects and my own ground truth define what counts as wrong; one shop, one model and one run; and small numbers. Each has a mitigation in the plan.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shot-based sampling is a natural analogue to sampling an LLM, so the same disagreement-based metrics can be tested, with quantum noise as an extra source of uncertainty.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rtlCol="0"/>
          <a:lstStyle>
            <a:lvl1pPr marL="0" indent="0" algn="l">
              <a:buNone/>
              <a:defRPr lang="en-US" sz="4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000" b="1" dirty="0">
                <a:solidFill>
                  <a:srgbClr val="13213C"/>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400" b="1" kern="0" spc="10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3"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libri" pitchFamily="34" charset="0"/>
                <a:ea typeface="Calibri" pitchFamily="34" charset="-122"/>
                <a:cs typeface="Calibri" pitchFamily="34" charset="-120"/>
              </a:rPr>
              <a:t>When can we trust AI-generated tests?</a:t>
            </a:r>
            <a:endParaRPr lang="en-US" sz="4000" dirty="0"/>
          </a:p>
          <a:p>
            <a:pPr marL="0" indent="0" algn="l">
              <a:buNone/>
            </a:pPr>
            <a:r>
              <a:rPr lang="en-US" sz="4000" b="1" dirty="0">
                <a:solidFill>
                  <a:srgbClr val="FFFFFF"/>
                </a:solidFill>
                <a:latin typeface="Calibri" pitchFamily="34" charset="0"/>
                <a:ea typeface="Calibri" pitchFamily="34" charset="-122"/>
                <a:cs typeface="Calibri" pitchFamily="34" charset="-120"/>
              </a:rPr>
              <a:t>Uncertainty quantification for risk-based testing of autonomous CPS</a:t>
            </a:r>
            <a:endParaRPr lang="en-US" sz="4000" dirty="0"/>
          </a:p>
        </p:txBody>
      </p:sp>
      <p:sp>
        <p:nvSpPr>
          <p:cNvPr id="4" name="Text 2"/>
          <p:cNvSpPr txBox="1"/>
          <p:nvPr/>
        </p:nvSpPr>
        <p:spPr>
          <a:xfrm>
            <a:off x="548640" y="4526280"/>
            <a:ext cx="8229600" cy="45720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Za Vinh Le</a:t>
            </a:r>
            <a:endParaRPr lang="en-US" sz="2000" dirty="0"/>
          </a:p>
        </p:txBody>
      </p:sp>
      <p:pic>
        <p:nvPicPr>
          <p:cNvPr id="5" name="Image 0" descr="D:\git\phd\uq-testgen\deck\assets\strip.png"/>
          <p:cNvPicPr>
            <a:picLocks noChangeAspect="1"/>
          </p:cNvPicPr>
          <p:nvPr/>
        </p:nvPicPr>
        <p:blipFill>
          <a:blip r:embed="rId3"/>
          <a:stretch>
            <a:fillRect/>
          </a:stretch>
        </p:blipFill>
        <p:spPr>
          <a:xfrm>
            <a:off x="0" y="5641848"/>
            <a:ext cx="12191695" cy="121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MOTIVATION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Write tests manually does not scale</a:t>
            </a:r>
            <a:endParaRPr lang="en-US" sz="3000" dirty="0"/>
          </a:p>
        </p:txBody>
      </p:sp>
      <p:sp>
        <p:nvSpPr>
          <p:cNvPr id="4" name="Shape 2"/>
          <p:cNvSpPr/>
          <p:nvPr/>
        </p:nvSpPr>
        <p:spPr>
          <a:xfrm>
            <a:off x="1338042"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498062" y="1577340"/>
            <a:ext cx="320040" cy="320040"/>
          </a:xfrm>
          <a:prstGeom prst="rect">
            <a:avLst/>
          </a:prstGeom>
        </p:spPr>
      </p:pic>
      <p:sp>
        <p:nvSpPr>
          <p:cNvPr id="6" name="Text 3"/>
          <p:cNvSpPr txBox="1"/>
          <p:nvPr/>
        </p:nvSpPr>
        <p:spPr>
          <a:xfrm>
            <a:off x="548640"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Read the spec</a:t>
            </a:r>
            <a:endParaRPr lang="en-US" sz="1500" dirty="0"/>
          </a:p>
        </p:txBody>
      </p:sp>
      <p:sp>
        <p:nvSpPr>
          <p:cNvPr id="7" name="Text 4"/>
          <p:cNvSpPr txBox="1"/>
          <p:nvPr/>
        </p:nvSpPr>
        <p:spPr>
          <a:xfrm>
            <a:off x="548640"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8" name="Shape 5"/>
          <p:cNvSpPr/>
          <p:nvPr/>
        </p:nvSpPr>
        <p:spPr>
          <a:xfrm>
            <a:off x="2115282"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9" name="Shape 6"/>
          <p:cNvSpPr/>
          <p:nvPr/>
        </p:nvSpPr>
        <p:spPr>
          <a:xfrm>
            <a:off x="3556925"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716945" y="1577340"/>
            <a:ext cx="320040" cy="320040"/>
          </a:xfrm>
          <a:prstGeom prst="rect">
            <a:avLst/>
          </a:prstGeom>
        </p:spPr>
      </p:pic>
      <p:sp>
        <p:nvSpPr>
          <p:cNvPr id="11" name="Text 7"/>
          <p:cNvSpPr txBox="1"/>
          <p:nvPr/>
        </p:nvSpPr>
        <p:spPr>
          <a:xfrm>
            <a:off x="2767523"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Write test cases</a:t>
            </a:r>
            <a:endParaRPr lang="en-US" sz="1500" dirty="0"/>
          </a:p>
        </p:txBody>
      </p:sp>
      <p:sp>
        <p:nvSpPr>
          <p:cNvPr id="12" name="Text 8"/>
          <p:cNvSpPr txBox="1"/>
          <p:nvPr/>
        </p:nvSpPr>
        <p:spPr>
          <a:xfrm>
            <a:off x="2767523"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3" name="Shape 9"/>
          <p:cNvSpPr/>
          <p:nvPr/>
        </p:nvSpPr>
        <p:spPr>
          <a:xfrm>
            <a:off x="4334165"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14" name="Shape 10"/>
          <p:cNvSpPr/>
          <p:nvPr/>
        </p:nvSpPr>
        <p:spPr>
          <a:xfrm>
            <a:off x="5775808"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935828" y="1577340"/>
            <a:ext cx="320040" cy="320040"/>
          </a:xfrm>
          <a:prstGeom prst="rect">
            <a:avLst/>
          </a:prstGeom>
        </p:spPr>
      </p:pic>
      <p:sp>
        <p:nvSpPr>
          <p:cNvPr id="16" name="Text 11"/>
          <p:cNvSpPr txBox="1"/>
          <p:nvPr/>
        </p:nvSpPr>
        <p:spPr>
          <a:xfrm>
            <a:off x="4986406"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Write scripts</a:t>
            </a:r>
            <a:endParaRPr lang="en-US" sz="1500" dirty="0"/>
          </a:p>
        </p:txBody>
      </p:sp>
      <p:sp>
        <p:nvSpPr>
          <p:cNvPr id="17" name="Text 12"/>
          <p:cNvSpPr txBox="1"/>
          <p:nvPr/>
        </p:nvSpPr>
        <p:spPr>
          <a:xfrm>
            <a:off x="4986406"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8" name="Shape 13"/>
          <p:cNvSpPr/>
          <p:nvPr/>
        </p:nvSpPr>
        <p:spPr>
          <a:xfrm>
            <a:off x="6553048"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4"/>
          <p:cNvSpPr/>
          <p:nvPr/>
        </p:nvSpPr>
        <p:spPr>
          <a:xfrm>
            <a:off x="7994691"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154711" y="1577340"/>
            <a:ext cx="320040" cy="320040"/>
          </a:xfrm>
          <a:prstGeom prst="rect">
            <a:avLst/>
          </a:prstGeom>
        </p:spPr>
      </p:pic>
      <p:sp>
        <p:nvSpPr>
          <p:cNvPr id="21" name="Text 15"/>
          <p:cNvSpPr txBox="1"/>
          <p:nvPr/>
        </p:nvSpPr>
        <p:spPr>
          <a:xfrm>
            <a:off x="7205289"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Run scripts</a:t>
            </a:r>
            <a:endParaRPr lang="en-US" sz="1500" dirty="0"/>
          </a:p>
        </p:txBody>
      </p:sp>
      <p:sp>
        <p:nvSpPr>
          <p:cNvPr id="22" name="Text 16"/>
          <p:cNvSpPr txBox="1"/>
          <p:nvPr/>
        </p:nvSpPr>
        <p:spPr>
          <a:xfrm>
            <a:off x="7205289"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3" name="Shape 17"/>
          <p:cNvSpPr/>
          <p:nvPr/>
        </p:nvSpPr>
        <p:spPr>
          <a:xfrm>
            <a:off x="8771931"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24" name="Shape 18"/>
          <p:cNvSpPr/>
          <p:nvPr/>
        </p:nvSpPr>
        <p:spPr>
          <a:xfrm>
            <a:off x="10213574"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10373594" y="1577340"/>
            <a:ext cx="320040" cy="320040"/>
          </a:xfrm>
          <a:prstGeom prst="rect">
            <a:avLst/>
          </a:prstGeom>
        </p:spPr>
      </p:pic>
      <p:sp>
        <p:nvSpPr>
          <p:cNvPr id="26" name="Text 19"/>
          <p:cNvSpPr txBox="1"/>
          <p:nvPr/>
        </p:nvSpPr>
        <p:spPr>
          <a:xfrm>
            <a:off x="9424172"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Test reports</a:t>
            </a:r>
          </a:p>
        </p:txBody>
      </p:sp>
      <p:sp>
        <p:nvSpPr>
          <p:cNvPr id="27" name="Text 20"/>
          <p:cNvSpPr txBox="1"/>
          <p:nvPr/>
        </p:nvSpPr>
        <p:spPr>
          <a:xfrm>
            <a:off x="9424172"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8" name="Text 21"/>
          <p:cNvSpPr txBox="1"/>
          <p:nvPr/>
        </p:nvSpPr>
        <p:spPr>
          <a:xfrm>
            <a:off x="548640" y="3063240"/>
            <a:ext cx="6492240" cy="2377440"/>
          </a:xfrm>
          <a:prstGeom prst="rect">
            <a:avLst/>
          </a:prstGeom>
          <a:noFill/>
          <a:ln/>
        </p:spPr>
        <p:txBody>
          <a:bodyPr wrap="square" lIns="0" tIns="0" rIns="0" bIns="0" rtlCol="0" anchor="t"/>
          <a:lstStyle/>
          <a:p>
            <a:pPr marL="177800" indent="-177800">
              <a:lnSpc>
                <a:spcPct val="150000"/>
              </a:lnSpc>
              <a:buSzPct val="100000"/>
              <a:buChar char="•"/>
            </a:pPr>
            <a:r>
              <a:rPr lang="en-US" sz="1700" b="1" dirty="0">
                <a:solidFill>
                  <a:srgbClr val="1E2533"/>
                </a:solidFill>
                <a:latin typeface="Calibri" pitchFamily="34" charset="0"/>
                <a:ea typeface="Calibri" pitchFamily="34" charset="-122"/>
                <a:cs typeface="Calibri" pitchFamily="34" charset="-120"/>
              </a:rPr>
              <a:t>Every release: </a:t>
            </a:r>
            <a:r>
              <a:rPr lang="en-US" sz="1700" dirty="0">
                <a:solidFill>
                  <a:srgbClr val="1E2533"/>
                </a:solidFill>
                <a:latin typeface="Calibri" pitchFamily="34" charset="0"/>
                <a:ea typeface="Calibri" pitchFamily="34" charset="-122"/>
                <a:cs typeface="Calibri" pitchFamily="34" charset="-120"/>
              </a:rPr>
              <a:t>tests are rewritten by hand</a:t>
            </a:r>
            <a:endParaRPr lang="en-US" sz="1700" dirty="0"/>
          </a:p>
          <a:p>
            <a:pPr marL="177800" indent="-177800">
              <a:lnSpc>
                <a:spcPct val="150000"/>
              </a:lnSpc>
              <a:buSzPct val="100000"/>
              <a:buChar char="•"/>
            </a:pPr>
            <a:r>
              <a:rPr lang="en-US" sz="1700" b="1" dirty="0">
                <a:solidFill>
                  <a:srgbClr val="1E2533"/>
                </a:solidFill>
                <a:latin typeface="Calibri" pitchFamily="34" charset="0"/>
                <a:ea typeface="Calibri" pitchFamily="34" charset="-122"/>
                <a:cs typeface="Calibri" pitchFamily="34" charset="-120"/>
              </a:rPr>
              <a:t>AI can now read a spec and write tests [27]</a:t>
            </a:r>
            <a:endParaRPr lang="en-US" sz="1700" dirty="0"/>
          </a:p>
        </p:txBody>
      </p:sp>
      <p:sp>
        <p:nvSpPr>
          <p:cNvPr id="29" name="Shape 22"/>
          <p:cNvSpPr/>
          <p:nvPr/>
        </p:nvSpPr>
        <p:spPr>
          <a:xfrm>
            <a:off x="7315200" y="3063240"/>
            <a:ext cx="4325112" cy="1280160"/>
          </a:xfrm>
          <a:prstGeom prst="roundRect">
            <a:avLst>
              <a:gd name="adj" fmla="val 4898"/>
            </a:avLst>
          </a:prstGeom>
          <a:solidFill>
            <a:srgbClr val="EEF0FE"/>
          </a:solidFill>
          <a:ln w="12700">
            <a:solidFill>
              <a:srgbClr val="EEF0FE"/>
            </a:solidFill>
            <a:prstDash val="solid"/>
          </a:ln>
        </p:spPr>
        <p:txBody>
          <a:bodyPr/>
          <a:lstStyle/>
          <a:p>
            <a:endParaRPr lang="en-US"/>
          </a:p>
        </p:txBody>
      </p:sp>
      <p:sp>
        <p:nvSpPr>
          <p:cNvPr id="30" name="Text 23"/>
          <p:cNvSpPr txBox="1"/>
          <p:nvPr/>
        </p:nvSpPr>
        <p:spPr>
          <a:xfrm>
            <a:off x="7589520" y="3246120"/>
            <a:ext cx="3840480" cy="365760"/>
          </a:xfrm>
          <a:prstGeom prst="rect">
            <a:avLst/>
          </a:prstGeom>
          <a:noFill/>
          <a:ln/>
        </p:spPr>
        <p:txBody>
          <a:bodyPr wrap="square" lIns="0" tIns="0" rIns="0" bIns="0" rtlCol="0" anchor="t"/>
          <a:lstStyle/>
          <a:p>
            <a:pPr marL="0" indent="0">
              <a:buNone/>
            </a:pPr>
            <a:r>
              <a:rPr lang="en-US" sz="1600" b="1" dirty="0">
                <a:solidFill>
                  <a:srgbClr val="4F46E5"/>
                </a:solidFill>
                <a:latin typeface="Calibri" pitchFamily="34" charset="0"/>
                <a:ea typeface="Calibri" pitchFamily="34" charset="-122"/>
                <a:cs typeface="Calibri" pitchFamily="34" charset="-120"/>
              </a:rPr>
              <a:t>Goal</a:t>
            </a:r>
          </a:p>
        </p:txBody>
      </p:sp>
      <p:sp>
        <p:nvSpPr>
          <p:cNvPr id="31" name="Text 24"/>
          <p:cNvSpPr txBox="1"/>
          <p:nvPr/>
        </p:nvSpPr>
        <p:spPr>
          <a:xfrm>
            <a:off x="7589520" y="3535680"/>
            <a:ext cx="3840480" cy="701040"/>
          </a:xfrm>
          <a:prstGeom prst="rect">
            <a:avLst/>
          </a:prstGeom>
          <a:noFill/>
          <a:ln/>
        </p:spPr>
        <p:txBody>
          <a:bodyPr wrap="square" lIns="0" tIns="0" rIns="0" bIns="0" rtlCol="0" anchor="t"/>
          <a:lstStyle/>
          <a:p>
            <a:pPr marL="0" indent="0">
              <a:lnSpc>
                <a:spcPct val="150000"/>
              </a:lnSpc>
              <a:buNone/>
            </a:pPr>
            <a:r>
              <a:rPr lang="en-US" sz="1500" dirty="0">
                <a:solidFill>
                  <a:srgbClr val="1E2533"/>
                </a:solidFill>
                <a:latin typeface="Calibri" pitchFamily="34" charset="0"/>
                <a:ea typeface="Calibri" pitchFamily="34" charset="-122"/>
                <a:cs typeface="Calibri" pitchFamily="34" charset="-120"/>
              </a:rPr>
              <a:t>One tool: from the requirements document to a bug report, with AI writing the tests</a:t>
            </a:r>
          </a:p>
        </p:txBody>
      </p:sp>
      <p:sp>
        <p:nvSpPr>
          <p:cNvPr id="32" name="Text 25"/>
          <p:cNvSpPr txBox="1"/>
          <p:nvPr/>
        </p:nvSpPr>
        <p:spPr>
          <a:xfrm>
            <a:off x="548640" y="5897880"/>
            <a:ext cx="11094415" cy="53035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33"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IMPLEMENTATION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QA-Flow: From requirements to reports</a:t>
            </a:r>
            <a:endParaRPr lang="en-US" sz="3000" dirty="0"/>
          </a:p>
        </p:txBody>
      </p:sp>
      <p:sp>
        <p:nvSpPr>
          <p:cNvPr id="4" name="Shape 2"/>
          <p:cNvSpPr/>
          <p:nvPr/>
        </p:nvSpPr>
        <p:spPr>
          <a:xfrm>
            <a:off x="1153135"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313155" y="1485900"/>
            <a:ext cx="320040" cy="320040"/>
          </a:xfrm>
          <a:prstGeom prst="rect">
            <a:avLst/>
          </a:prstGeom>
        </p:spPr>
      </p:pic>
      <p:sp>
        <p:nvSpPr>
          <p:cNvPr id="6" name="Text 3"/>
          <p:cNvSpPr txBox="1"/>
          <p:nvPr/>
        </p:nvSpPr>
        <p:spPr>
          <a:xfrm>
            <a:off x="548640"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Requirements</a:t>
            </a:r>
            <a:endParaRPr lang="en-US" sz="1400" dirty="0"/>
          </a:p>
        </p:txBody>
      </p:sp>
      <p:sp>
        <p:nvSpPr>
          <p:cNvPr id="8" name="Shape 5"/>
          <p:cNvSpPr/>
          <p:nvPr/>
        </p:nvSpPr>
        <p:spPr>
          <a:xfrm>
            <a:off x="1930375"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9" name="Shape 6"/>
          <p:cNvSpPr/>
          <p:nvPr/>
        </p:nvSpPr>
        <p:spPr>
          <a:xfrm>
            <a:off x="3002204"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162224" y="1485900"/>
            <a:ext cx="320040" cy="320040"/>
          </a:xfrm>
          <a:prstGeom prst="rect">
            <a:avLst/>
          </a:prstGeom>
        </p:spPr>
      </p:pic>
      <p:sp>
        <p:nvSpPr>
          <p:cNvPr id="11" name="Text 7"/>
          <p:cNvSpPr txBox="1"/>
          <p:nvPr/>
        </p:nvSpPr>
        <p:spPr>
          <a:xfrm>
            <a:off x="2397709"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3" name="Shape 9"/>
          <p:cNvSpPr/>
          <p:nvPr/>
        </p:nvSpPr>
        <p:spPr>
          <a:xfrm>
            <a:off x="3779444"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4" name="Shape 10"/>
          <p:cNvSpPr/>
          <p:nvPr/>
        </p:nvSpPr>
        <p:spPr>
          <a:xfrm>
            <a:off x="4851273"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011293" y="1485900"/>
            <a:ext cx="320040" cy="320040"/>
          </a:xfrm>
          <a:prstGeom prst="rect">
            <a:avLst/>
          </a:prstGeom>
        </p:spPr>
      </p:pic>
      <p:sp>
        <p:nvSpPr>
          <p:cNvPr id="16" name="Text 11"/>
          <p:cNvSpPr txBox="1"/>
          <p:nvPr/>
        </p:nvSpPr>
        <p:spPr>
          <a:xfrm>
            <a:off x="4246778"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8" name="Shape 13"/>
          <p:cNvSpPr/>
          <p:nvPr/>
        </p:nvSpPr>
        <p:spPr>
          <a:xfrm>
            <a:off x="5628513"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4"/>
          <p:cNvSpPr/>
          <p:nvPr/>
        </p:nvSpPr>
        <p:spPr>
          <a:xfrm>
            <a:off x="6700342"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860362" y="1485900"/>
            <a:ext cx="320040" cy="320040"/>
          </a:xfrm>
          <a:prstGeom prst="rect">
            <a:avLst/>
          </a:prstGeom>
        </p:spPr>
      </p:pic>
      <p:sp>
        <p:nvSpPr>
          <p:cNvPr id="21" name="Text 15"/>
          <p:cNvSpPr txBox="1"/>
          <p:nvPr/>
        </p:nvSpPr>
        <p:spPr>
          <a:xfrm>
            <a:off x="6095848"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Tests and Scripts</a:t>
            </a:r>
            <a:endParaRPr lang="en-US" sz="1400" dirty="0"/>
          </a:p>
        </p:txBody>
      </p:sp>
      <p:sp>
        <p:nvSpPr>
          <p:cNvPr id="23" name="Shape 17"/>
          <p:cNvSpPr/>
          <p:nvPr/>
        </p:nvSpPr>
        <p:spPr>
          <a:xfrm>
            <a:off x="7477582"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4" name="Shape 18"/>
          <p:cNvSpPr/>
          <p:nvPr/>
        </p:nvSpPr>
        <p:spPr>
          <a:xfrm>
            <a:off x="8549411"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8709431" y="1485900"/>
            <a:ext cx="320040" cy="320040"/>
          </a:xfrm>
          <a:prstGeom prst="rect">
            <a:avLst/>
          </a:prstGeom>
        </p:spPr>
      </p:pic>
      <p:sp>
        <p:nvSpPr>
          <p:cNvPr id="26" name="Text 19"/>
          <p:cNvSpPr txBox="1"/>
          <p:nvPr/>
        </p:nvSpPr>
        <p:spPr>
          <a:xfrm>
            <a:off x="7944917"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8" name="Shape 21"/>
          <p:cNvSpPr/>
          <p:nvPr/>
        </p:nvSpPr>
        <p:spPr>
          <a:xfrm>
            <a:off x="9326651"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9" name="Shape 22"/>
          <p:cNvSpPr/>
          <p:nvPr/>
        </p:nvSpPr>
        <p:spPr>
          <a:xfrm>
            <a:off x="10398481"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10558501" y="1485900"/>
            <a:ext cx="320040" cy="320040"/>
          </a:xfrm>
          <a:prstGeom prst="rect">
            <a:avLst/>
          </a:prstGeom>
        </p:spPr>
      </p:pic>
      <p:sp>
        <p:nvSpPr>
          <p:cNvPr id="31" name="Text 23"/>
          <p:cNvSpPr txBox="1"/>
          <p:nvPr/>
        </p:nvSpPr>
        <p:spPr>
          <a:xfrm>
            <a:off x="9793986"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Reports</a:t>
            </a:r>
            <a:endParaRPr lang="en-US" sz="1400" dirty="0"/>
          </a:p>
        </p:txBody>
      </p:sp>
      <p:sp>
        <p:nvSpPr>
          <p:cNvPr id="33" name="Shape 25"/>
          <p:cNvSpPr/>
          <p:nvPr/>
        </p:nvSpPr>
        <p:spPr>
          <a:xfrm>
            <a:off x="548640" y="2926080"/>
            <a:ext cx="5440680" cy="2926080"/>
          </a:xfrm>
          <a:prstGeom prst="roundRect">
            <a:avLst>
              <a:gd name="adj" fmla="val 3750"/>
            </a:avLst>
          </a:prstGeom>
          <a:solidFill>
            <a:srgbClr val="F2F5F9"/>
          </a:solidFill>
          <a:ln w="12700">
            <a:solidFill>
              <a:srgbClr val="F2F5F9"/>
            </a:solidFill>
            <a:prstDash val="solid"/>
          </a:ln>
        </p:spPr>
        <p:txBody>
          <a:bodyPr/>
          <a:lstStyle/>
          <a:p>
            <a:endParaRPr lang="en-US"/>
          </a:p>
        </p:txBody>
      </p:sp>
      <p:sp>
        <p:nvSpPr>
          <p:cNvPr id="34" name="Text 26"/>
          <p:cNvSpPr txBox="1"/>
          <p:nvPr/>
        </p:nvSpPr>
        <p:spPr>
          <a:xfrm>
            <a:off x="822960" y="3090672"/>
            <a:ext cx="493776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How QA-Flow checks AI-generated tests</a:t>
            </a:r>
            <a:endParaRPr lang="en-US" sz="1700" dirty="0"/>
          </a:p>
        </p:txBody>
      </p:sp>
      <p:sp>
        <p:nvSpPr>
          <p:cNvPr id="35" name="Text 27"/>
          <p:cNvSpPr txBox="1"/>
          <p:nvPr/>
        </p:nvSpPr>
        <p:spPr>
          <a:xfrm>
            <a:off x="822960"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b="0">
                <a:solidFill>
                  <a:srgbClr val="1E2533"/>
                </a:solidFill>
                <a:latin typeface="Calibri" pitchFamily="34" charset="0"/>
                <a:ea typeface="Calibri" pitchFamily="34" charset="-122"/>
                <a:cs typeface="Calibri" pitchFamily="34" charset="-120"/>
              </a:rPr>
              <a:t>Check the evidence: Each test must link to a requirement</a:t>
            </a:r>
            <a:endParaRPr lang="en-US" sz="1500" dirty="0"/>
          </a:p>
          <a:p>
            <a:pPr marL="177800" indent="-177800">
              <a:spcAft>
                <a:spcPts val="600"/>
              </a:spcAft>
              <a:buSzPct val="100000"/>
              <a:buChar char="•"/>
            </a:pPr>
            <a:r>
              <a:rPr lang="en-US" sz="1500" dirty="0" b="0">
                <a:solidFill>
                  <a:srgbClr val="1E2533"/>
                </a:solidFill>
                <a:latin typeface="Calibri" pitchFamily="34" charset="0"/>
                <a:ea typeface="Calibri" pitchFamily="34" charset="-122"/>
                <a:cs typeface="Calibri" pitchFamily="34" charset="-120"/>
              </a:rPr>
              <a:t>Flag tests that need review: Tests without enough evidence receive Human Review</a:t>
            </a:r>
            <a:endParaRPr lang="en-US" sz="1500" dirty="0"/>
          </a:p>
          <a:p>
            <a:pPr marL="177800" indent="-177800">
              <a:spcAft>
                <a:spcPts val="600"/>
              </a:spcAft>
              <a:buSzPct val="100000"/>
              <a:buChar char="•"/>
            </a:pPr>
            <a:r>
              <a:rPr lang="en-US" sz="1500" dirty="0" b="0">
                <a:solidFill>
                  <a:srgbClr val="1E2533"/>
                </a:solidFill>
                <a:latin typeface="Calibri" pitchFamily="34" charset="0"/>
                <a:ea typeface="Calibri" pitchFamily="34" charset="-122"/>
                <a:cs typeface="Calibri" pitchFamily="34" charset="-120"/>
              </a:rPr>
              <a:t>Check whether tests detect bugs: Run passing tests again with deliberately added bugs. If a test passes every version, flag it for review.</a:t>
            </a:r>
            <a:endParaRPr lang="en-US" sz="1500" dirty="0"/>
          </a:p>
        </p:txBody>
      </p:sp>
      <p:sp>
        <p:nvSpPr>
          <p:cNvPr id="36" name="Shape 28"/>
          <p:cNvSpPr/>
          <p:nvPr/>
        </p:nvSpPr>
        <p:spPr>
          <a:xfrm>
            <a:off x="6199632" y="2926080"/>
            <a:ext cx="5440680" cy="2926080"/>
          </a:xfrm>
          <a:prstGeom prst="roundRect">
            <a:avLst>
              <a:gd name="adj" fmla="val 3750"/>
            </a:avLst>
          </a:prstGeom>
          <a:solidFill>
            <a:srgbClr val="EEF0FE"/>
          </a:solidFill>
          <a:ln w="12700">
            <a:solidFill>
              <a:srgbClr val="EEF0FE"/>
            </a:solidFill>
            <a:prstDash val="solid"/>
          </a:ln>
        </p:spPr>
        <p:txBody>
          <a:bodyPr/>
          <a:lstStyle/>
          <a:p>
            <a:endParaRPr lang="en-US"/>
          </a:p>
        </p:txBody>
      </p:sp>
      <p:sp>
        <p:nvSpPr>
          <p:cNvPr id="37" name="Text 29"/>
          <p:cNvSpPr txBox="1"/>
          <p:nvPr/>
        </p:nvSpPr>
        <p:spPr>
          <a:xfrm>
            <a:off x="6473952" y="3090672"/>
            <a:ext cx="4937760" cy="365760"/>
          </a:xfrm>
          <a:prstGeom prst="rect">
            <a:avLst/>
          </a:prstGeom>
          <a:noFill/>
          <a:ln/>
        </p:spPr>
        <p:txBody>
          <a:bodyPr wrap="square" lIns="0" tIns="0" rIns="0" bIns="0" rtlCol="0" anchor="t"/>
          <a:lstStyle/>
          <a:p>
            <a:pPr marL="0" indent="0">
              <a:buNone/>
            </a:pPr>
            <a:r>
              <a:rPr lang="en-US" sz="1700" b="1" dirty="0">
                <a:solidFill>
                  <a:srgbClr val="4F46E5"/>
                </a:solidFill>
                <a:latin typeface="Calibri" pitchFamily="34" charset="0"/>
                <a:ea typeface="Calibri" pitchFamily="34" charset="-122"/>
                <a:cs typeface="Calibri" pitchFamily="34" charset="-120"/>
              </a:rPr>
              <a:t>Demo application: A shopping website</a:t>
            </a:r>
            <a:endParaRPr lang="en-US" sz="1700" dirty="0"/>
          </a:p>
        </p:txBody>
      </p:sp>
      <p:sp>
        <p:nvSpPr>
          <p:cNvPr id="38" name="Text 30"/>
          <p:cNvSpPr txBox="1"/>
          <p:nvPr/>
        </p:nvSpPr>
        <p:spPr>
          <a:xfrm>
            <a:off x="6473952"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b="0">
                <a:solidFill>
                  <a:srgbClr val="1E2533"/>
                </a:solidFill>
                <a:latin typeface="Calibri" pitchFamily="34" charset="0"/>
                <a:ea typeface="Calibri" pitchFamily="34" charset="-122"/>
                <a:cs typeface="Calibri" pitchFamily="34" charset="-120"/>
              </a:rPr>
              <a:t>Inputs: Software Requirement Specifications (SRS)</a:t>
            </a:r>
            <a:endParaRPr lang="en-US" sz="1500" dirty="0"/>
          </a:p>
          <a:p>
            <a:pPr marL="177800" indent="-177800">
              <a:spcAft>
                <a:spcPts val="600"/>
              </a:spcAft>
              <a:buSzPct val="100000"/>
              <a:buChar char="•"/>
            </a:pPr>
            <a:r>
              <a:rPr lang="en-US" sz="1500" dirty="0" b="0">
                <a:solidFill>
                  <a:srgbClr val="1E2533"/>
                </a:solidFill>
                <a:latin typeface="Calibri" pitchFamily="34" charset="0"/>
                <a:ea typeface="Calibri" pitchFamily="34" charset="-122"/>
                <a:cs typeface="Calibri" pitchFamily="34" charset="-120"/>
              </a:rPr>
              <a:t>Testing Type: Web, API, Security Testing</a:t>
            </a:r>
            <a:endParaRPr lang="en-US" sz="1500" dirty="0"/>
          </a:p>
          <a:p>
            <a:pPr marL="177800" indent="-177800">
              <a:spcAft>
                <a:spcPts val="600"/>
              </a:spcAft>
              <a:buSzPct val="100000"/>
              <a:buChar char="•"/>
            </a:pPr>
            <a:r>
              <a:rPr lang="en-US" sz="1500" dirty="0" b="0">
                <a:solidFill>
                  <a:srgbClr val="1E2533"/>
                </a:solidFill>
                <a:latin typeface="Calibri" pitchFamily="34" charset="0"/>
                <a:ea typeface="Calibri" pitchFamily="34" charset="-122"/>
                <a:cs typeface="Calibri" pitchFamily="34" charset="-120"/>
              </a:rPr>
              <a:t>LLM: Chat GPT</a:t>
            </a:r>
            <a:endParaRPr lang="en-US" sz="1500" dirty="0"/>
          </a:p>
        </p:txBody>
      </p:sp>
      <p:sp>
        <p:nvSpPr>
          <p:cNvPr id="3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DEMO RESULTS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AI-generated tests can report bugs that are not real</a:t>
            </a:r>
            <a:endParaRPr lang="en-US" sz="3000" dirty="0"/>
          </a:p>
        </p:txBody>
      </p:sp>
      <p:sp>
        <p:nvSpPr>
          <p:cNvPr id="4" name="Shape 2"/>
          <p:cNvSpPr/>
          <p:nvPr/>
        </p:nvSpPr>
        <p:spPr>
          <a:xfrm>
            <a:off x="1810512" y="1307592"/>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5" name="Text 3"/>
          <p:cNvSpPr txBox="1"/>
          <p:nvPr/>
        </p:nvSpPr>
        <p:spPr>
          <a:xfrm>
            <a:off x="2039112" y="1399032"/>
            <a:ext cx="2286000" cy="731520"/>
          </a:xfrm>
          <a:prstGeom prst="rect">
            <a:avLst/>
          </a:prstGeom>
          <a:noFill/>
          <a:ln/>
        </p:spPr>
        <p:txBody>
          <a:bodyPr wrap="square" lIns="0" tIns="0" rIns="0" bIns="0" rtlCol="0" anchor="ctr"/>
          <a:lstStyle/>
          <a:p>
            <a:pPr marL="0" indent="0">
              <a:buNone/>
            </a:pPr>
            <a:r>
              <a:rPr lang="en-US" sz="4000" b="1" dirty="0">
                <a:solidFill>
                  <a:srgbClr val="4F46E5"/>
                </a:solidFill>
                <a:latin typeface="Cambria" pitchFamily="34" charset="0"/>
                <a:ea typeface="Cambria" pitchFamily="34" charset="-122"/>
                <a:cs typeface="Cambria" pitchFamily="34" charset="-120"/>
              </a:rPr>
              <a:t>34</a:t>
            </a:r>
            <a:endParaRPr lang="en-US" sz="4000" dirty="0"/>
          </a:p>
        </p:txBody>
      </p:sp>
      <p:sp>
        <p:nvSpPr>
          <p:cNvPr id="6" name="Text 4"/>
          <p:cNvSpPr txBox="1"/>
          <p:nvPr/>
        </p:nvSpPr>
        <p:spPr>
          <a:xfrm>
            <a:off x="2039112" y="2157984"/>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requirements</a:t>
            </a:r>
            <a:endParaRPr lang="en-US" sz="1500" dirty="0"/>
          </a:p>
        </p:txBody>
      </p:sp>
      <p:sp>
        <p:nvSpPr>
          <p:cNvPr id="7" name="Text 5"/>
          <p:cNvSpPr txBox="1"/>
          <p:nvPr/>
        </p:nvSpPr>
        <p:spPr>
          <a:xfrm>
            <a:off x="2039112" y="2478024"/>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from the document</a:t>
            </a:r>
            <a:endParaRPr lang="en-US" sz="1100" dirty="0"/>
          </a:p>
        </p:txBody>
      </p:sp>
      <p:sp>
        <p:nvSpPr>
          <p:cNvPr id="8" name="Shape 6"/>
          <p:cNvSpPr/>
          <p:nvPr/>
        </p:nvSpPr>
        <p:spPr>
          <a:xfrm>
            <a:off x="4626864" y="1307592"/>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9" name="Text 7"/>
          <p:cNvSpPr txBox="1"/>
          <p:nvPr/>
        </p:nvSpPr>
        <p:spPr>
          <a:xfrm>
            <a:off x="4855464" y="1399032"/>
            <a:ext cx="2286000" cy="731520"/>
          </a:xfrm>
          <a:prstGeom prst="rect">
            <a:avLst/>
          </a:prstGeom>
          <a:noFill/>
          <a:ln/>
        </p:spPr>
        <p:txBody>
          <a:bodyPr wrap="square" lIns="0" tIns="0" rIns="0" bIns="0" rtlCol="0" anchor="ctr"/>
          <a:lstStyle/>
          <a:p>
            <a:pPr marL="0" indent="0">
              <a:buNone/>
            </a:pPr>
            <a:r>
              <a:rPr lang="en-US" sz="4000" b="1" dirty="0">
                <a:solidFill>
                  <a:srgbClr val="4F46E5"/>
                </a:solidFill>
                <a:latin typeface="Cambria" pitchFamily="34" charset="0"/>
                <a:ea typeface="Cambria" pitchFamily="34" charset="-122"/>
                <a:cs typeface="Cambria" pitchFamily="34" charset="-120"/>
              </a:rPr>
              <a:t>62</a:t>
            </a:r>
            <a:endParaRPr lang="en-US" sz="4000" dirty="0"/>
          </a:p>
        </p:txBody>
      </p:sp>
      <p:sp>
        <p:nvSpPr>
          <p:cNvPr id="10" name="Text 8"/>
          <p:cNvSpPr txBox="1"/>
          <p:nvPr/>
        </p:nvSpPr>
        <p:spPr>
          <a:xfrm>
            <a:off x="4855464" y="2157984"/>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tests</a:t>
            </a:r>
            <a:endParaRPr lang="en-US" sz="1500" dirty="0"/>
          </a:p>
        </p:txBody>
      </p:sp>
      <p:sp>
        <p:nvSpPr>
          <p:cNvPr id="11" name="Text 9"/>
          <p:cNvSpPr txBox="1"/>
          <p:nvPr/>
        </p:nvSpPr>
        <p:spPr>
          <a:xfrm>
            <a:off x="4855464" y="2478024"/>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web 23 · API 26 · security 13</a:t>
            </a:r>
            <a:endParaRPr lang="en-US" sz="1100" dirty="0"/>
          </a:p>
        </p:txBody>
      </p:sp>
      <p:sp>
        <p:nvSpPr>
          <p:cNvPr id="12" name="Shape 10"/>
          <p:cNvSpPr/>
          <p:nvPr/>
        </p:nvSpPr>
        <p:spPr>
          <a:xfrm>
            <a:off x="7443216" y="1307592"/>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13" name="Text 11"/>
          <p:cNvSpPr txBox="1"/>
          <p:nvPr/>
        </p:nvSpPr>
        <p:spPr>
          <a:xfrm>
            <a:off x="7671816" y="1399032"/>
            <a:ext cx="2286000" cy="731520"/>
          </a:xfrm>
          <a:prstGeom prst="rect">
            <a:avLst/>
          </a:prstGeom>
          <a:noFill/>
          <a:ln/>
        </p:spPr>
        <p:txBody>
          <a:bodyPr wrap="square" lIns="0" tIns="0" rIns="0" bIns="0" rtlCol="0" anchor="ctr"/>
          <a:lstStyle/>
          <a:p>
            <a:pPr marL="0" indent="0">
              <a:buNone/>
            </a:pPr>
            <a:r>
              <a:rPr lang="en-US" sz="3000" b="1" dirty="0">
                <a:solidFill>
                  <a:srgbClr val="4F46E5"/>
                </a:solidFill>
                <a:latin typeface="Cambria" pitchFamily="34" charset="0"/>
                <a:ea typeface="Cambria" pitchFamily="34" charset="-122"/>
                <a:cs typeface="Cambria" pitchFamily="34" charset="-120"/>
              </a:rPr>
              <a:t>31 / 18 / 13</a:t>
            </a:r>
            <a:endParaRPr lang="en-US" sz="3000" dirty="0"/>
          </a:p>
        </p:txBody>
      </p:sp>
      <p:sp>
        <p:nvSpPr>
          <p:cNvPr id="14" name="Text 12"/>
          <p:cNvSpPr txBox="1"/>
          <p:nvPr/>
        </p:nvSpPr>
        <p:spPr>
          <a:xfrm>
            <a:off x="7671816" y="2157984"/>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PASS / FAIL / REVIEW</a:t>
            </a:r>
            <a:endParaRPr lang="en-US" sz="1500" dirty="0"/>
          </a:p>
        </p:txBody>
      </p:sp>
      <p:sp>
        <p:nvSpPr>
          <p:cNvPr id="15" name="Text 13"/>
          <p:cNvSpPr txBox="1"/>
          <p:nvPr/>
        </p:nvSpPr>
        <p:spPr>
          <a:xfrm>
            <a:off x="7671816" y="2478024"/>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decided by the tool</a:t>
            </a:r>
            <a:endParaRPr lang="en-US" sz="1100" dirty="0"/>
          </a:p>
        </p:txBody>
      </p:sp>
      <p:sp>
        <p:nvSpPr>
          <p:cNvPr id="23" name="Shape 21"/>
          <p:cNvSpPr/>
          <p:nvPr/>
        </p:nvSpPr>
        <p:spPr>
          <a:xfrm>
            <a:off x="3260489" y="3474720"/>
            <a:ext cx="5440680" cy="2606040"/>
          </a:xfrm>
          <a:prstGeom prst="roundRect">
            <a:avLst>
              <a:gd name="adj" fmla="val 4211"/>
            </a:avLst>
          </a:prstGeom>
          <a:solidFill>
            <a:srgbClr val="FDECEA"/>
          </a:solidFill>
          <a:ln w="12700">
            <a:solidFill>
              <a:srgbClr val="FDECEA"/>
            </a:solidFill>
            <a:prstDash val="solid"/>
          </a:ln>
        </p:spPr>
        <p:txBody>
          <a:bodyPr/>
          <a:lstStyle/>
          <a:p>
            <a:endParaRPr lang="en-US"/>
          </a:p>
        </p:txBody>
      </p:sp>
      <p:sp>
        <p:nvSpPr>
          <p:cNvPr id="24" name="Text 22"/>
          <p:cNvSpPr txBox="1"/>
          <p:nvPr/>
        </p:nvSpPr>
        <p:spPr>
          <a:xfrm>
            <a:off x="3534809" y="3611880"/>
            <a:ext cx="4937760" cy="365760"/>
          </a:xfrm>
          <a:prstGeom prst="rect">
            <a:avLst/>
          </a:prstGeom>
          <a:noFill/>
          <a:ln/>
        </p:spPr>
        <p:txBody>
          <a:bodyPr wrap="square" lIns="0" tIns="0" rIns="0" bIns="0" rtlCol="0" anchor="t"/>
          <a:lstStyle/>
          <a:p>
            <a:pPr marL="0" indent="0">
              <a:buNone/>
            </a:pPr>
            <a:r>
              <a:rPr lang="en-US" sz="1600" b="1" dirty="0">
                <a:solidFill>
                  <a:srgbClr val="C8463D"/>
                </a:solidFill>
                <a:latin typeface="Calibri" pitchFamily="34" charset="0"/>
                <a:ea typeface="Calibri" pitchFamily="34" charset="-122"/>
                <a:cs typeface="Calibri" pitchFamily="34" charset="-120"/>
              </a:rPr>
              <a:t>6 FAILs are mistakes in the AI's own tests</a:t>
            </a:r>
            <a:endParaRPr lang="en-US" sz="1600" dirty="0"/>
          </a:p>
        </p:txBody>
      </p:sp>
      <p:sp>
        <p:nvSpPr>
          <p:cNvPr id="25" name="Text 23"/>
          <p:cNvSpPr txBox="1"/>
          <p:nvPr/>
        </p:nvSpPr>
        <p:spPr>
          <a:xfrm>
            <a:off x="3534809" y="4023360"/>
            <a:ext cx="4937760" cy="2011680"/>
          </a:xfrm>
          <a:prstGeom prst="rect">
            <a:avLst/>
          </a:prstGeom>
          <a:noFill/>
          <a:ln/>
        </p:spPr>
        <p:txBody>
          <a:bodyPr wrap="square" lIns="0" tIns="0" rIns="0" bIns="0" rtlCol="0" anchor="t"/>
          <a:lstStyle/>
          <a:p>
            <a:pPr marL="177800" indent="-177800">
              <a:spcAft>
                <a:spcPts val="600"/>
              </a:spcAft>
              <a:buSzPct val="100000"/>
              <a:buChar char="•"/>
            </a:pPr>
            <a:endParaRPr lang="en-US" sz="1300" dirty="0"/>
          </a:p>
          <a:p>
            <a:pPr marL="177800" indent="-177800">
              <a:spcAft>
                <a:spcPts val="600"/>
              </a:spcAft>
              <a:buSzPct val="100000"/>
              <a:buChar char="•"/>
            </a:pPr>
            <a:r>
              <a:rPr lang="en-US" sz="1300" dirty="0" b="0">
                <a:solidFill>
                  <a:srgbClr val="1E2533"/>
                </a:solidFill>
                <a:latin typeface="Calibri" pitchFamily="34" charset="0"/>
                <a:ea typeface="Calibri" pitchFamily="34" charset="-122"/>
                <a:cs typeface="Calibri" pitchFamily="34" charset="-120"/>
              </a:rPr>
              <a:t>They passed every trust rule</a:t>
            </a:r>
            <a:endParaRPr lang="en-US" sz="1300" dirty="0"/>
          </a:p>
          <a:p>
            <a:pPr marL="177800" indent="-177800">
              <a:spcAft>
                <a:spcPts val="600"/>
              </a:spcAft>
              <a:buSzPct val="100000"/>
              <a:buChar char="•"/>
            </a:pPr>
            <a:r>
              <a:rPr lang="en-US" sz="1300" dirty="0" b="0">
                <a:solidFill>
                  <a:srgbClr val="1E2533"/>
                </a:solidFill>
                <a:latin typeface="Calibri" pitchFamily="34" charset="0"/>
                <a:ea typeface="Calibri" pitchFamily="34" charset="-122"/>
                <a:cs typeface="Calibri" pitchFamily="34" charset="-120"/>
              </a:rPr>
              <a:t>The report shows them as real bugs</a:t>
            </a:r>
            <a:endParaRPr lang="en-US" sz="1300" dirty="0"/>
          </a:p>
        </p:txBody>
      </p:sp>
      <p:sp>
        <p:nvSpPr>
          <p:cNvPr id="27"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PASS, FAIL, REVIEW and false alarm mean</a:t>
            </a:r>
            <a:endParaRPr lang="en-US" sz="3000" dirty="0"/>
          </a:p>
        </p:txBody>
      </p:sp>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HOW TO READ THE REPORT</a:t>
            </a:r>
            <a:endParaRPr lang="en-US" sz="1100" dirty="0"/>
          </a:p>
        </p:txBody>
      </p:sp>
      <p:sp>
        <p:nvSpPr>
          <p:cNvPr id="4" name="Rounded Rectangle 3"/>
          <p:cNvSpPr/>
          <p:nvPr/>
        </p:nvSpPr>
        <p:spPr>
          <a:xfrm>
            <a:off x="548640" y="1371600"/>
            <a:ext cx="2670048" cy="3977639"/>
          </a:xfrm>
          <a:prstGeom prst="roundRect">
            <a:avLst>
              <a:gd name="adj" fmla="val 6000"/>
            </a:avLst>
          </a:prstGeom>
          <a:solidFill>
            <a:srgbClr val="E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36192"/>
            <a:ext cx="2240280" cy="502920"/>
          </a:xfrm>
          <a:prstGeom prst="rect">
            <a:avLst/>
          </a:prstGeom>
          <a:noFill/>
        </p:spPr>
        <p:txBody>
          <a:bodyPr wrap="square" lIns="0" tIns="0" rIns="0" bIns="0" anchor="t">
            <a:spAutoFit/>
          </a:bodyPr>
          <a:lstStyle/>
          <a:p>
            <a:pPr>
              <a:spcAft>
                <a:spcPts val="800"/>
              </a:spcAft>
            </a:pPr>
            <a:r>
              <a:rPr sz="2400" b="1" i="0">
                <a:solidFill>
                  <a:srgbClr val="2E8B57"/>
                </a:solidFill>
                <a:latin typeface="Calibri"/>
              </a:rPr>
              <a:t>PASS</a:t>
            </a:r>
          </a:p>
        </p:txBody>
      </p:sp>
      <p:sp>
        <p:nvSpPr>
          <p:cNvPr id="6" name="TextBox 5"/>
          <p:cNvSpPr txBox="1"/>
          <p:nvPr/>
        </p:nvSpPr>
        <p:spPr>
          <a:xfrm>
            <a:off x="777240" y="2148840"/>
            <a:ext cx="2240280" cy="795089"/>
          </a:xfrm>
          <a:prstGeom prst="rect">
            <a:avLst/>
          </a:prstGeom>
          <a:noFill/>
        </p:spPr>
        <p:txBody>
          <a:bodyPr wrap="square" lIns="0" tIns="0" rIns="0" bIns="0" anchor="t">
            <a:spAutoFit/>
          </a:bodyPr>
          <a:lstStyle/>
          <a:p>
            <a:pPr>
              <a:spcAft>
                <a:spcPts val="800"/>
              </a:spcAft>
            </a:pPr>
            <a:r>
              <a:rPr sz="1500" b="0" i="0" dirty="0">
                <a:solidFill>
                  <a:srgbClr val="1E2533"/>
                </a:solidFill>
                <a:latin typeface="Calibri"/>
              </a:rPr>
              <a:t>The check held, and the test fails on a broken shops</a:t>
            </a:r>
            <a:endParaRPr lang="vi-VN" sz="1500" b="0" i="0" dirty="0">
              <a:solidFill>
                <a:srgbClr val="1E2533"/>
              </a:solidFill>
              <a:latin typeface="Calibri"/>
            </a:endParaRPr>
          </a:p>
          <a:p>
            <a:pPr>
              <a:spcAft>
                <a:spcPts val="800"/>
              </a:spcAft>
            </a:pPr>
            <a:r>
              <a:rPr lang="vi-VN" sz="1500" dirty="0">
                <a:solidFill>
                  <a:srgbClr val="1E2533"/>
                </a:solidFill>
                <a:latin typeface="Calibri"/>
              </a:rPr>
              <a:t>I</a:t>
            </a:r>
            <a:r>
              <a:rPr sz="1500" b="0" i="0" dirty="0">
                <a:solidFill>
                  <a:srgbClr val="1E2533"/>
                </a:solidFill>
                <a:latin typeface="Calibri"/>
              </a:rPr>
              <a:t>t can catch bugs.</a:t>
            </a:r>
          </a:p>
        </p:txBody>
      </p:sp>
      <p:sp>
        <p:nvSpPr>
          <p:cNvPr id="7" name="TextBox 6"/>
          <p:cNvSpPr txBox="1"/>
          <p:nvPr/>
        </p:nvSpPr>
        <p:spPr>
          <a:xfrm>
            <a:off x="777240" y="3611880"/>
            <a:ext cx="2240280" cy="1005840"/>
          </a:xfrm>
          <a:prstGeom prst="rect">
            <a:avLst/>
          </a:prstGeom>
          <a:noFill/>
        </p:spPr>
        <p:txBody>
          <a:bodyPr wrap="square" lIns="0" tIns="0" rIns="0" bIns="0" anchor="t">
            <a:spAutoFit/>
          </a:bodyPr>
          <a:lstStyle/>
          <a:p>
            <a:pPr>
              <a:spcAft>
                <a:spcPts val="800"/>
              </a:spcAft>
            </a:pPr>
          </a:p>
        </p:txBody>
      </p:sp>
      <p:sp>
        <p:nvSpPr>
          <p:cNvPr id="8" name="TextBox 7"/>
          <p:cNvSpPr txBox="1"/>
          <p:nvPr/>
        </p:nvSpPr>
        <p:spPr>
          <a:xfrm>
            <a:off x="777240" y="4754880"/>
            <a:ext cx="2240280" cy="411480"/>
          </a:xfrm>
          <a:prstGeom prst="rect">
            <a:avLst/>
          </a:prstGeom>
          <a:noFill/>
        </p:spPr>
        <p:txBody>
          <a:bodyPr wrap="square" lIns="0" tIns="0" rIns="0" bIns="0" anchor="t">
            <a:spAutoFit/>
          </a:bodyPr>
          <a:lstStyle/>
          <a:p>
            <a:pPr>
              <a:spcAft>
                <a:spcPts val="800"/>
              </a:spcAft>
            </a:pPr>
            <a:r>
              <a:rPr sz="1600" b="1" i="0">
                <a:solidFill>
                  <a:srgbClr val="2E8B57"/>
                </a:solidFill>
                <a:latin typeface="Calibri"/>
              </a:rPr>
              <a:t>31 in Demo 1</a:t>
            </a:r>
          </a:p>
        </p:txBody>
      </p:sp>
      <p:sp>
        <p:nvSpPr>
          <p:cNvPr id="9" name="Rounded Rectangle 8"/>
          <p:cNvSpPr/>
          <p:nvPr/>
        </p:nvSpPr>
        <p:spPr>
          <a:xfrm>
            <a:off x="3364992" y="1371600"/>
            <a:ext cx="2670048" cy="3977639"/>
          </a:xfrm>
          <a:prstGeom prst="roundRect">
            <a:avLst>
              <a:gd name="adj" fmla="val 6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93592" y="1536192"/>
            <a:ext cx="2240280" cy="502920"/>
          </a:xfrm>
          <a:prstGeom prst="rect">
            <a:avLst/>
          </a:prstGeom>
          <a:noFill/>
        </p:spPr>
        <p:txBody>
          <a:bodyPr wrap="square" lIns="0" tIns="0" rIns="0" bIns="0" anchor="t">
            <a:spAutoFit/>
          </a:bodyPr>
          <a:lstStyle/>
          <a:p>
            <a:pPr>
              <a:spcAft>
                <a:spcPts val="800"/>
              </a:spcAft>
            </a:pPr>
            <a:r>
              <a:rPr sz="2400" b="1" i="0">
                <a:solidFill>
                  <a:srgbClr val="C8463D"/>
                </a:solidFill>
                <a:latin typeface="Calibri"/>
              </a:rPr>
              <a:t>FAIL</a:t>
            </a:r>
          </a:p>
        </p:txBody>
      </p:sp>
      <p:sp>
        <p:nvSpPr>
          <p:cNvPr id="11" name="TextBox 10"/>
          <p:cNvSpPr txBox="1"/>
          <p:nvPr/>
        </p:nvSpPr>
        <p:spPr>
          <a:xfrm>
            <a:off x="3593592" y="2148840"/>
            <a:ext cx="2240280" cy="795089"/>
          </a:xfrm>
          <a:prstGeom prst="rect">
            <a:avLst/>
          </a:prstGeom>
          <a:noFill/>
        </p:spPr>
        <p:txBody>
          <a:bodyPr wrap="square" lIns="0" tIns="0" rIns="0" bIns="0" anchor="t">
            <a:spAutoFit/>
          </a:bodyPr>
          <a:lstStyle/>
          <a:p>
            <a:pPr>
              <a:spcAft>
                <a:spcPts val="800"/>
              </a:spcAft>
            </a:pPr>
            <a:r>
              <a:rPr sz="1500" b="0" i="0" dirty="0">
                <a:solidFill>
                  <a:srgbClr val="1E2533"/>
                </a:solidFill>
                <a:latin typeface="Calibri"/>
              </a:rPr>
              <a:t>The check did not hold </a:t>
            </a:r>
            <a:endParaRPr lang="vi-VN" sz="1500" b="0" i="0" dirty="0">
              <a:solidFill>
                <a:srgbClr val="1E2533"/>
              </a:solidFill>
              <a:latin typeface="Calibri"/>
            </a:endParaRPr>
          </a:p>
          <a:p>
            <a:pPr>
              <a:spcAft>
                <a:spcPts val="800"/>
              </a:spcAft>
            </a:pPr>
            <a:r>
              <a:rPr lang="vi-VN" sz="1500" dirty="0">
                <a:solidFill>
                  <a:srgbClr val="1E2533"/>
                </a:solidFill>
                <a:latin typeface="Calibri"/>
              </a:rPr>
              <a:t>T</a:t>
            </a:r>
            <a:r>
              <a:rPr sz="1500" b="0" i="0" dirty="0">
                <a:solidFill>
                  <a:srgbClr val="1E2533"/>
                </a:solidFill>
                <a:latin typeface="Calibri"/>
              </a:rPr>
              <a:t>he tool reports a bug in the shop.</a:t>
            </a:r>
          </a:p>
        </p:txBody>
      </p:sp>
      <p:sp>
        <p:nvSpPr>
          <p:cNvPr id="12" name="TextBox 11"/>
          <p:cNvSpPr txBox="1"/>
          <p:nvPr/>
        </p:nvSpPr>
        <p:spPr>
          <a:xfrm>
            <a:off x="3593592" y="3611880"/>
            <a:ext cx="2240280" cy="1005840"/>
          </a:xfrm>
          <a:prstGeom prst="rect">
            <a:avLst/>
          </a:prstGeom>
          <a:noFill/>
        </p:spPr>
        <p:txBody>
          <a:bodyPr wrap="square" lIns="0" tIns="0" rIns="0" bIns="0" anchor="t">
            <a:spAutoFit/>
          </a:bodyPr>
          <a:lstStyle/>
          <a:p>
            <a:pPr>
              <a:spcAft>
                <a:spcPts val="800"/>
              </a:spcAft>
            </a:pPr>
          </a:p>
        </p:txBody>
      </p:sp>
      <p:sp>
        <p:nvSpPr>
          <p:cNvPr id="13" name="TextBox 12"/>
          <p:cNvSpPr txBox="1"/>
          <p:nvPr/>
        </p:nvSpPr>
        <p:spPr>
          <a:xfrm>
            <a:off x="3593592" y="4754880"/>
            <a:ext cx="2240280" cy="411480"/>
          </a:xfrm>
          <a:prstGeom prst="rect">
            <a:avLst/>
          </a:prstGeom>
          <a:noFill/>
        </p:spPr>
        <p:txBody>
          <a:bodyPr wrap="square" lIns="0" tIns="0" rIns="0" bIns="0" anchor="t">
            <a:spAutoFit/>
          </a:bodyPr>
          <a:lstStyle/>
          <a:p>
            <a:pPr>
              <a:spcAft>
                <a:spcPts val="800"/>
              </a:spcAft>
            </a:pPr>
            <a:r>
              <a:rPr sz="1600" b="1" i="0">
                <a:solidFill>
                  <a:srgbClr val="C8463D"/>
                </a:solidFill>
                <a:latin typeface="Calibri"/>
              </a:rPr>
              <a:t>18 in Demo 1</a:t>
            </a:r>
          </a:p>
        </p:txBody>
      </p:sp>
      <p:sp>
        <p:nvSpPr>
          <p:cNvPr id="14" name="Rounded Rectangle 13"/>
          <p:cNvSpPr/>
          <p:nvPr/>
        </p:nvSpPr>
        <p:spPr>
          <a:xfrm>
            <a:off x="6181344" y="1371600"/>
            <a:ext cx="2670048" cy="3977639"/>
          </a:xfrm>
          <a:prstGeom prst="roundRect">
            <a:avLst>
              <a:gd name="adj" fmla="val 6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9944" y="1536192"/>
            <a:ext cx="2240280" cy="502920"/>
          </a:xfrm>
          <a:prstGeom prst="rect">
            <a:avLst/>
          </a:prstGeom>
          <a:noFill/>
        </p:spPr>
        <p:txBody>
          <a:bodyPr wrap="square" lIns="0" tIns="0" rIns="0" bIns="0" anchor="t">
            <a:spAutoFit/>
          </a:bodyPr>
          <a:lstStyle/>
          <a:p>
            <a:pPr>
              <a:spcAft>
                <a:spcPts val="800"/>
              </a:spcAft>
            </a:pPr>
            <a:r>
              <a:rPr sz="2400" b="1" i="0">
                <a:solidFill>
                  <a:srgbClr val="B45309"/>
                </a:solidFill>
                <a:latin typeface="Calibri"/>
              </a:rPr>
              <a:t>REVIEW</a:t>
            </a:r>
          </a:p>
        </p:txBody>
      </p:sp>
      <p:sp>
        <p:nvSpPr>
          <p:cNvPr id="16" name="TextBox 15"/>
          <p:cNvSpPr txBox="1"/>
          <p:nvPr/>
        </p:nvSpPr>
        <p:spPr>
          <a:xfrm>
            <a:off x="6409944" y="2148840"/>
            <a:ext cx="2240280" cy="795089"/>
          </a:xfrm>
          <a:prstGeom prst="rect">
            <a:avLst/>
          </a:prstGeom>
          <a:noFill/>
        </p:spPr>
        <p:txBody>
          <a:bodyPr wrap="square" lIns="0" tIns="0" rIns="0" bIns="0" anchor="t">
            <a:spAutoFit/>
          </a:bodyPr>
          <a:lstStyle/>
          <a:p>
            <a:pPr>
              <a:spcAft>
                <a:spcPts val="800"/>
              </a:spcAft>
            </a:pPr>
            <a:r>
              <a:rPr sz="1500" b="0" i="0" dirty="0">
                <a:solidFill>
                  <a:srgbClr val="1E2533"/>
                </a:solidFill>
                <a:latin typeface="Calibri"/>
              </a:rPr>
              <a:t>The tool does not trust the test</a:t>
            </a:r>
            <a:endParaRPr lang="vi-VN" sz="1500" b="0" i="0" dirty="0">
              <a:solidFill>
                <a:srgbClr val="1E2533"/>
              </a:solidFill>
              <a:latin typeface="Calibri"/>
            </a:endParaRPr>
          </a:p>
          <a:p>
            <a:pPr>
              <a:spcAft>
                <a:spcPts val="800"/>
              </a:spcAft>
            </a:pPr>
            <a:r>
              <a:rPr lang="vi-VN" sz="1500" dirty="0">
                <a:solidFill>
                  <a:srgbClr val="1E2533"/>
                </a:solidFill>
                <a:latin typeface="Calibri"/>
              </a:rPr>
              <a:t>A</a:t>
            </a:r>
            <a:r>
              <a:rPr sz="1500" b="0" i="0" dirty="0">
                <a:solidFill>
                  <a:srgbClr val="1E2533"/>
                </a:solidFill>
                <a:latin typeface="Calibri"/>
              </a:rPr>
              <a:t> person decides.</a:t>
            </a:r>
          </a:p>
        </p:txBody>
      </p:sp>
      <p:sp>
        <p:nvSpPr>
          <p:cNvPr id="17" name="TextBox 16"/>
          <p:cNvSpPr txBox="1"/>
          <p:nvPr/>
        </p:nvSpPr>
        <p:spPr>
          <a:xfrm>
            <a:off x="6409944" y="3611880"/>
            <a:ext cx="2240280" cy="1005840"/>
          </a:xfrm>
          <a:prstGeom prst="rect">
            <a:avLst/>
          </a:prstGeom>
          <a:noFill/>
        </p:spPr>
        <p:txBody>
          <a:bodyPr wrap="square" lIns="0" tIns="0" rIns="0" bIns="0" anchor="t">
            <a:spAutoFit/>
          </a:bodyPr>
          <a:lstStyle/>
          <a:p>
            <a:pPr>
              <a:spcAft>
                <a:spcPts val="800"/>
              </a:spcAft>
            </a:pPr>
          </a:p>
        </p:txBody>
      </p:sp>
      <p:sp>
        <p:nvSpPr>
          <p:cNvPr id="18" name="TextBox 17"/>
          <p:cNvSpPr txBox="1"/>
          <p:nvPr/>
        </p:nvSpPr>
        <p:spPr>
          <a:xfrm>
            <a:off x="6409944" y="4754880"/>
            <a:ext cx="2240280" cy="411480"/>
          </a:xfrm>
          <a:prstGeom prst="rect">
            <a:avLst/>
          </a:prstGeom>
          <a:noFill/>
        </p:spPr>
        <p:txBody>
          <a:bodyPr wrap="square" lIns="0" tIns="0" rIns="0" bIns="0" anchor="t">
            <a:spAutoFit/>
          </a:bodyPr>
          <a:lstStyle/>
          <a:p>
            <a:pPr>
              <a:spcAft>
                <a:spcPts val="800"/>
              </a:spcAft>
            </a:pPr>
            <a:r>
              <a:rPr sz="1600" b="1" i="0">
                <a:solidFill>
                  <a:srgbClr val="B45309"/>
                </a:solidFill>
                <a:latin typeface="Calibri"/>
              </a:rPr>
              <a:t>13 in Demo 1</a:t>
            </a:r>
          </a:p>
        </p:txBody>
      </p:sp>
      <p:sp>
        <p:nvSpPr>
          <p:cNvPr id="19" name="Rounded Rectangle 18"/>
          <p:cNvSpPr/>
          <p:nvPr/>
        </p:nvSpPr>
        <p:spPr>
          <a:xfrm>
            <a:off x="8997696" y="1371600"/>
            <a:ext cx="2670048" cy="3977639"/>
          </a:xfrm>
          <a:prstGeom prst="roundRect">
            <a:avLst>
              <a:gd name="adj" fmla="val 6000"/>
            </a:avLst>
          </a:prstGeom>
          <a:solidFill>
            <a:srgbClr val="EF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26296" y="1536192"/>
            <a:ext cx="2240280" cy="502920"/>
          </a:xfrm>
          <a:prstGeom prst="rect">
            <a:avLst/>
          </a:prstGeom>
          <a:noFill/>
        </p:spPr>
        <p:txBody>
          <a:bodyPr wrap="square" lIns="0" tIns="0" rIns="0" bIns="0" anchor="t">
            <a:spAutoFit/>
          </a:bodyPr>
          <a:lstStyle/>
          <a:p>
            <a:pPr>
              <a:spcAft>
                <a:spcPts val="800"/>
              </a:spcAft>
            </a:pPr>
            <a:r>
              <a:rPr sz="2400" b="1" i="0">
                <a:solidFill>
                  <a:srgbClr val="6E56CF"/>
                </a:solidFill>
                <a:latin typeface="Calibri"/>
              </a:rPr>
              <a:t>FALSE ALARM</a:t>
            </a:r>
          </a:p>
        </p:txBody>
      </p:sp>
      <p:sp>
        <p:nvSpPr>
          <p:cNvPr id="21" name="TextBox 20"/>
          <p:cNvSpPr txBox="1"/>
          <p:nvPr/>
        </p:nvSpPr>
        <p:spPr>
          <a:xfrm>
            <a:off x="9226296" y="2148840"/>
            <a:ext cx="2240280" cy="1371600"/>
          </a:xfrm>
          <a:prstGeom prst="rect">
            <a:avLst/>
          </a:prstGeom>
          <a:noFill/>
        </p:spPr>
        <p:txBody>
          <a:bodyPr wrap="square" lIns="0" tIns="0" rIns="0" bIns="0" anchor="t">
            <a:spAutoFit/>
          </a:bodyPr>
          <a:lstStyle/>
          <a:p>
            <a:pPr>
              <a:spcAft>
                <a:spcPts val="800"/>
              </a:spcAft>
            </a:pPr>
            <a:r>
              <a:rPr sz="1500" b="0" i="0">
                <a:solidFill>
                  <a:srgbClr val="1E2533"/>
                </a:solidFill>
                <a:latin typeface="Calibri"/>
              </a:rPr>
              <a:t>A FAIL where the mistake is in the AI's test, not in the shop. The tool cannot tell.</a:t>
            </a:r>
          </a:p>
        </p:txBody>
      </p:sp>
      <p:sp>
        <p:nvSpPr>
          <p:cNvPr id="22" name="TextBox 21"/>
          <p:cNvSpPr txBox="1"/>
          <p:nvPr/>
        </p:nvSpPr>
        <p:spPr>
          <a:xfrm>
            <a:off x="9226296" y="3611880"/>
            <a:ext cx="2240280" cy="1005840"/>
          </a:xfrm>
          <a:prstGeom prst="rect">
            <a:avLst/>
          </a:prstGeom>
          <a:noFill/>
        </p:spPr>
        <p:txBody>
          <a:bodyPr wrap="square" lIns="0" tIns="0" rIns="0" bIns="0" anchor="t">
            <a:spAutoFit/>
          </a:bodyPr>
          <a:lstStyle/>
          <a:p>
            <a:pPr>
              <a:spcAft>
                <a:spcPts val="800"/>
              </a:spcAft>
            </a:pPr>
          </a:p>
        </p:txBody>
      </p:sp>
      <p:sp>
        <p:nvSpPr>
          <p:cNvPr id="23" name="TextBox 22"/>
          <p:cNvSpPr txBox="1"/>
          <p:nvPr/>
        </p:nvSpPr>
        <p:spPr>
          <a:xfrm>
            <a:off x="9226296" y="4754880"/>
            <a:ext cx="2240280" cy="411480"/>
          </a:xfrm>
          <a:prstGeom prst="rect">
            <a:avLst/>
          </a:prstGeom>
          <a:noFill/>
        </p:spPr>
        <p:txBody>
          <a:bodyPr wrap="square" lIns="0" tIns="0" rIns="0" bIns="0" anchor="t">
            <a:spAutoFit/>
          </a:bodyPr>
          <a:lstStyle/>
          <a:p>
            <a:pPr>
              <a:spcAft>
                <a:spcPts val="800"/>
              </a:spcAft>
            </a:pPr>
            <a:r>
              <a:rPr sz="1600" b="1" i="0">
                <a:solidFill>
                  <a:srgbClr val="6E56CF"/>
                </a:solidFill>
                <a:latin typeface="Calibri"/>
              </a:rPr>
              <a:t>6 of the 18 FAILs</a:t>
            </a:r>
          </a:p>
        </p:txBody>
      </p:sp>
      <p:sp>
        <p:nvSpPr>
          <p:cNvPr id="24" name="TextBox 23"/>
          <p:cNvSpPr txBox="1"/>
          <p:nvPr/>
        </p:nvSpPr>
        <p:spPr>
          <a:xfrm>
            <a:off x="548640" y="5577840"/>
            <a:ext cx="11091672" cy="548640"/>
          </a:xfrm>
          <a:prstGeom prst="rect">
            <a:avLst/>
          </a:prstGeom>
          <a:noFill/>
        </p:spPr>
        <p:txBody>
          <a:bodyPr wrap="square" lIns="0" tIns="0" rIns="0" bIns="0" anchor="t">
            <a:spAutoFit/>
          </a:bodyPr>
          <a:lstStyle/>
          <a:p>
            <a:pPr>
              <a:spcAft>
                <a:spcPts val="800"/>
              </a:spcAft>
            </a:pPr>
            <a:r>
              <a:rPr sz="1400" b="1" i="0" dirty="0">
                <a:solidFill>
                  <a:srgbClr val="13213C"/>
                </a:solidFill>
                <a:latin typeface="Calibri"/>
              </a:rPr>
              <a:t>The tool decides PASS / FAIL / REVIEW by itself. False alarms were found only afterwards, by re-running every FAIL on a shop with the planted bugs removed.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PART A · A CLOSER LOOK</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Inside one wrong test: the SAVE10 discount code</a:t>
            </a:r>
            <a:endParaRPr lang="en-US" sz="3000" dirty="0"/>
          </a:p>
        </p:txBody>
      </p:sp>
      <p:sp>
        <p:nvSpPr>
          <p:cNvPr id="4" name="Text 2"/>
          <p:cNvSpPr txBox="1"/>
          <p:nvPr/>
        </p:nvSpPr>
        <p:spPr>
          <a:xfrm>
            <a:off x="548640" y="1188720"/>
            <a:ext cx="11094415" cy="411480"/>
          </a:xfrm>
          <a:prstGeom prst="rect">
            <a:avLst/>
          </a:prstGeom>
          <a:noFill/>
          <a:ln/>
        </p:spPr>
        <p:txBody>
          <a:bodyPr wrap="square" lIns="0" tIns="0" rIns="0" bIns="0" rtlCol="0" anchor="ctr"/>
          <a:lstStyle/>
          <a:p>
            <a:pPr marL="0" indent="0">
              <a:buNone/>
            </a:pPr>
            <a:r>
              <a:rPr lang="en-US" sz="1500" b="1" dirty="0">
                <a:solidFill>
                  <a:srgbClr val="1E2533"/>
                </a:solidFill>
                <a:latin typeface="Calibri" pitchFamily="34" charset="0"/>
                <a:ea typeface="Calibri" pitchFamily="34" charset="-122"/>
                <a:cs typeface="Calibri" pitchFamily="34" charset="-120"/>
              </a:rPr>
              <a:t>Requirement:  </a:t>
            </a:r>
            <a:r>
              <a:rPr lang="en-US" sz="1500" dirty="0">
                <a:solidFill>
                  <a:srgbClr val="1E2533"/>
                </a:solidFill>
                <a:latin typeface="Calibri" pitchFamily="34" charset="0"/>
                <a:ea typeface="Calibri" pitchFamily="34" charset="-122"/>
                <a:cs typeface="Calibri" pitchFamily="34" charset="-120"/>
              </a:rPr>
              <a:t>“SAVE10 gives 10% off.”</a:t>
            </a:r>
            <a:r>
              <a:rPr lang="en-US" sz="1500" dirty="0">
                <a:solidFill>
                  <a:srgbClr val="5B6578"/>
                </a:solidFill>
                <a:latin typeface="Calibri" pitchFamily="34" charset="0"/>
                <a:ea typeface="Calibri" pitchFamily="34" charset="-122"/>
                <a:cs typeface="Calibri" pitchFamily="34" charset="-120"/>
              </a:rPr>
              <a:t>   Planted bug in the shop: SAVE10 takes off €10 instead.</a:t>
            </a:r>
            <a:endParaRPr lang="en-US" sz="1500" dirty="0"/>
          </a:p>
        </p:txBody>
      </p:sp>
      <p:sp>
        <p:nvSpPr>
          <p:cNvPr id="5" name="Shape 3"/>
          <p:cNvSpPr/>
          <p:nvPr/>
        </p:nvSpPr>
        <p:spPr>
          <a:xfrm>
            <a:off x="548640" y="1783080"/>
            <a:ext cx="5440680" cy="3429000"/>
          </a:xfrm>
          <a:prstGeom prst="roundRect">
            <a:avLst>
              <a:gd name="adj" fmla="val 3200"/>
            </a:avLst>
          </a:prstGeom>
          <a:solidFill>
            <a:srgbClr val="E7F4EC"/>
          </a:solidFill>
          <a:ln w="12700">
            <a:solidFill>
              <a:srgbClr val="E7F4EC"/>
            </a:solidFill>
            <a:prstDash val="solid"/>
          </a:ln>
        </p:spPr>
        <p:txBody>
          <a:bodyPr/>
          <a:lstStyle/>
          <a:p>
            <a:endParaRPr lang="en-US"/>
          </a:p>
        </p:txBody>
      </p:sp>
      <p:sp>
        <p:nvSpPr>
          <p:cNvPr id="6" name="Text 4"/>
          <p:cNvSpPr txBox="1"/>
          <p:nvPr/>
        </p:nvSpPr>
        <p:spPr>
          <a:xfrm>
            <a:off x="822960" y="1892808"/>
            <a:ext cx="4892040" cy="365760"/>
          </a:xfrm>
          <a:prstGeom prst="rect">
            <a:avLst/>
          </a:prstGeom>
          <a:noFill/>
          <a:ln/>
        </p:spPr>
        <p:txBody>
          <a:bodyPr wrap="square" lIns="0" tIns="0" rIns="0" bIns="0" rtlCol="0" anchor="t"/>
          <a:lstStyle/>
          <a:p>
            <a:pPr marL="0" indent="0">
              <a:buNone/>
            </a:pPr>
            <a:r>
              <a:rPr lang="en-US" sz="1800" b="1" dirty="0">
                <a:solidFill>
                  <a:srgbClr val="2E8B57"/>
                </a:solidFill>
                <a:latin typeface="Calibri" pitchFamily="34" charset="0"/>
                <a:ea typeface="Calibri" pitchFamily="34" charset="-122"/>
                <a:cs typeface="Calibri" pitchFamily="34" charset="-120"/>
              </a:rPr>
              <a:t>What a correct test would do</a:t>
            </a:r>
            <a:endParaRPr lang="en-US" sz="1800" dirty="0"/>
          </a:p>
        </p:txBody>
      </p:sp>
      <p:sp>
        <p:nvSpPr>
          <p:cNvPr id="7" name="Shape 5"/>
          <p:cNvSpPr/>
          <p:nvPr/>
        </p:nvSpPr>
        <p:spPr>
          <a:xfrm>
            <a:off x="822960" y="2395728"/>
            <a:ext cx="502920" cy="502920"/>
          </a:xfrm>
          <a:prstGeom prst="ellipse">
            <a:avLst/>
          </a:prstGeom>
          <a:solidFill>
            <a:srgbClr val="2E8B57"/>
          </a:solidFill>
          <a:ln w="12700">
            <a:solidFill>
              <a:srgbClr val="2E8B57"/>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48690" y="2521458"/>
            <a:ext cx="251460" cy="251460"/>
          </a:xfrm>
          <a:prstGeom prst="rect">
            <a:avLst/>
          </a:prstGeom>
        </p:spPr>
      </p:pic>
      <p:sp>
        <p:nvSpPr>
          <p:cNvPr id="9" name="Text 6"/>
          <p:cNvSpPr txBox="1"/>
          <p:nvPr/>
        </p:nvSpPr>
        <p:spPr>
          <a:xfrm>
            <a:off x="1508760" y="23957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1. Put shoes (€89.00) in the cart</a:t>
            </a:r>
            <a:endParaRPr lang="en-US" sz="1600" dirty="0"/>
          </a:p>
        </p:txBody>
      </p:sp>
      <p:sp>
        <p:nvSpPr>
          <p:cNvPr id="10" name="Shape 7"/>
          <p:cNvSpPr/>
          <p:nvPr/>
        </p:nvSpPr>
        <p:spPr>
          <a:xfrm>
            <a:off x="822960" y="3081528"/>
            <a:ext cx="502920" cy="502920"/>
          </a:xfrm>
          <a:prstGeom prst="ellipse">
            <a:avLst/>
          </a:prstGeom>
          <a:solidFill>
            <a:srgbClr val="2E8B57"/>
          </a:solidFill>
          <a:ln w="12700">
            <a:solidFill>
              <a:srgbClr val="2E8B57"/>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948690" y="3207258"/>
            <a:ext cx="251460" cy="251460"/>
          </a:xfrm>
          <a:prstGeom prst="rect">
            <a:avLst/>
          </a:prstGeom>
        </p:spPr>
      </p:pic>
      <p:sp>
        <p:nvSpPr>
          <p:cNvPr id="12" name="Text 8"/>
          <p:cNvSpPr txBox="1"/>
          <p:nvPr/>
        </p:nvSpPr>
        <p:spPr>
          <a:xfrm>
            <a:off x="1508760" y="30815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2. Enter the code SAVE10</a:t>
            </a:r>
            <a:endParaRPr lang="en-US" sz="1600" dirty="0"/>
          </a:p>
        </p:txBody>
      </p:sp>
      <p:sp>
        <p:nvSpPr>
          <p:cNvPr id="13" name="Shape 9"/>
          <p:cNvSpPr/>
          <p:nvPr/>
        </p:nvSpPr>
        <p:spPr>
          <a:xfrm>
            <a:off x="822960" y="3767328"/>
            <a:ext cx="502920" cy="502920"/>
          </a:xfrm>
          <a:prstGeom prst="ellipse">
            <a:avLst/>
          </a:prstGeom>
          <a:solidFill>
            <a:srgbClr val="2E8B57"/>
          </a:solidFill>
          <a:ln w="12700">
            <a:solidFill>
              <a:srgbClr val="2E8B57"/>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948690" y="3893058"/>
            <a:ext cx="251460" cy="251460"/>
          </a:xfrm>
          <a:prstGeom prst="rect">
            <a:avLst/>
          </a:prstGeom>
        </p:spPr>
      </p:pic>
      <p:sp>
        <p:nvSpPr>
          <p:cNvPr id="15" name="Text 10"/>
          <p:cNvSpPr txBox="1"/>
          <p:nvPr/>
        </p:nvSpPr>
        <p:spPr>
          <a:xfrm>
            <a:off x="1508760" y="37673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3. Expect €80.10 → sees €79.00</a:t>
            </a:r>
            <a:endParaRPr lang="en-US" sz="1600" dirty="0"/>
          </a:p>
        </p:txBody>
      </p:sp>
      <p:sp>
        <p:nvSpPr>
          <p:cNvPr id="16" name="Shape 11"/>
          <p:cNvSpPr/>
          <p:nvPr/>
        </p:nvSpPr>
        <p:spPr>
          <a:xfrm>
            <a:off x="822960" y="4526280"/>
            <a:ext cx="4892040" cy="502920"/>
          </a:xfrm>
          <a:prstGeom prst="roundRect">
            <a:avLst>
              <a:gd name="adj" fmla="val 14545"/>
            </a:avLst>
          </a:prstGeom>
          <a:solidFill>
            <a:srgbClr val="FFFFFF"/>
          </a:solidFill>
          <a:ln w="19050">
            <a:solidFill>
              <a:srgbClr val="2E8B57"/>
            </a:solidFill>
            <a:prstDash val="solid"/>
          </a:ln>
        </p:spPr>
        <p:txBody>
          <a:bodyPr/>
          <a:lstStyle/>
          <a:p>
            <a:endParaRPr lang="en-US"/>
          </a:p>
        </p:txBody>
      </p:sp>
      <p:sp>
        <p:nvSpPr>
          <p:cNvPr id="17" name="Text 12"/>
          <p:cNvSpPr txBox="1"/>
          <p:nvPr/>
        </p:nvSpPr>
        <p:spPr>
          <a:xfrm>
            <a:off x="960120" y="4526280"/>
            <a:ext cx="4617720" cy="502920"/>
          </a:xfrm>
          <a:prstGeom prst="rect">
            <a:avLst/>
          </a:prstGeom>
          <a:noFill/>
          <a:ln/>
        </p:spPr>
        <p:txBody>
          <a:bodyPr wrap="square" lIns="0" tIns="0" rIns="0" bIns="0" rtlCol="0" anchor="ctr"/>
          <a:lstStyle/>
          <a:p>
            <a:pPr marL="0" indent="0">
              <a:buNone/>
            </a:pPr>
            <a:r>
              <a:rPr lang="en-US" sz="1500" b="1" dirty="0">
                <a:solidFill>
                  <a:srgbClr val="2E8B57"/>
                </a:solidFill>
                <a:latin typeface="Calibri" pitchFamily="34" charset="0"/>
                <a:ea typeface="Calibri" pitchFamily="34" charset="-122"/>
                <a:cs typeface="Calibri" pitchFamily="34" charset="-120"/>
              </a:rPr>
              <a:t>FAIL → the real discount bug is found</a:t>
            </a:r>
            <a:endParaRPr lang="en-US" sz="1500" dirty="0"/>
          </a:p>
        </p:txBody>
      </p:sp>
      <p:sp>
        <p:nvSpPr>
          <p:cNvPr id="18" name="Shape 13"/>
          <p:cNvSpPr/>
          <p:nvPr/>
        </p:nvSpPr>
        <p:spPr>
          <a:xfrm>
            <a:off x="6190488" y="1783080"/>
            <a:ext cx="5440680" cy="3429000"/>
          </a:xfrm>
          <a:prstGeom prst="roundRect">
            <a:avLst>
              <a:gd name="adj" fmla="val 3200"/>
            </a:avLst>
          </a:prstGeom>
          <a:solidFill>
            <a:srgbClr val="FDECEA"/>
          </a:solidFill>
          <a:ln w="12700">
            <a:solidFill>
              <a:srgbClr val="FDECEA"/>
            </a:solidFill>
            <a:prstDash val="solid"/>
          </a:ln>
        </p:spPr>
        <p:txBody>
          <a:bodyPr/>
          <a:lstStyle/>
          <a:p>
            <a:endParaRPr lang="en-US"/>
          </a:p>
        </p:txBody>
      </p:sp>
      <p:sp>
        <p:nvSpPr>
          <p:cNvPr id="19" name="Text 14"/>
          <p:cNvSpPr txBox="1"/>
          <p:nvPr/>
        </p:nvSpPr>
        <p:spPr>
          <a:xfrm>
            <a:off x="6464808" y="1892808"/>
            <a:ext cx="4892040" cy="365760"/>
          </a:xfrm>
          <a:prstGeom prst="rect">
            <a:avLst/>
          </a:prstGeom>
          <a:noFill/>
          <a:ln/>
        </p:spPr>
        <p:txBody>
          <a:bodyPr wrap="square" lIns="0" tIns="0" rIns="0" bIns="0" rtlCol="0" anchor="t"/>
          <a:lstStyle/>
          <a:p>
            <a:pPr marL="0" indent="0">
              <a:buNone/>
            </a:pPr>
            <a:r>
              <a:rPr lang="en-US" sz="1800" b="1" dirty="0">
                <a:solidFill>
                  <a:srgbClr val="C8463D"/>
                </a:solidFill>
                <a:latin typeface="Calibri" pitchFamily="34" charset="0"/>
                <a:ea typeface="Calibri" pitchFamily="34" charset="-122"/>
                <a:cs typeface="Calibri" pitchFamily="34" charset="-120"/>
              </a:rPr>
              <a:t>What the AI's test did</a:t>
            </a:r>
            <a:endParaRPr lang="en-US" sz="1800" dirty="0"/>
          </a:p>
        </p:txBody>
      </p:sp>
      <p:sp>
        <p:nvSpPr>
          <p:cNvPr id="20" name="Shape 15"/>
          <p:cNvSpPr/>
          <p:nvPr/>
        </p:nvSpPr>
        <p:spPr>
          <a:xfrm>
            <a:off x="6464808" y="2395728"/>
            <a:ext cx="502920" cy="502920"/>
          </a:xfrm>
          <a:prstGeom prst="ellipse">
            <a:avLst/>
          </a:prstGeom>
          <a:solidFill>
            <a:srgbClr val="C8463D"/>
          </a:solidFill>
          <a:ln w="12700">
            <a:solidFill>
              <a:srgbClr val="C8463D"/>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90538" y="2521458"/>
            <a:ext cx="251460" cy="251460"/>
          </a:xfrm>
          <a:prstGeom prst="rect">
            <a:avLst/>
          </a:prstGeom>
        </p:spPr>
      </p:pic>
      <p:sp>
        <p:nvSpPr>
          <p:cNvPr id="22" name="Text 16"/>
          <p:cNvSpPr txBox="1"/>
          <p:nvPr/>
        </p:nvSpPr>
        <p:spPr>
          <a:xfrm>
            <a:off x="7150608" y="23957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1. Opened the cart directly — it was empty</a:t>
            </a:r>
            <a:endParaRPr lang="en-US" sz="1600" dirty="0"/>
          </a:p>
        </p:txBody>
      </p:sp>
      <p:sp>
        <p:nvSpPr>
          <p:cNvPr id="23" name="Shape 17"/>
          <p:cNvSpPr/>
          <p:nvPr/>
        </p:nvSpPr>
        <p:spPr>
          <a:xfrm>
            <a:off x="6464808" y="3081528"/>
            <a:ext cx="502920" cy="502920"/>
          </a:xfrm>
          <a:prstGeom prst="ellipse">
            <a:avLst/>
          </a:prstGeom>
          <a:solidFill>
            <a:srgbClr val="C8463D"/>
          </a:solidFill>
          <a:ln w="12700">
            <a:solidFill>
              <a:srgbClr val="C8463D"/>
            </a:solidFill>
            <a:prstDash val="solid"/>
          </a:ln>
        </p:spPr>
        <p:txBody>
          <a:bodyPr/>
          <a:lstStyle/>
          <a:p>
            <a:endParaRPr lang="en-US"/>
          </a:p>
        </p:txBody>
      </p:sp>
      <p:pic>
        <p:nvPicPr>
          <p:cNvPr id="24" name="Image 4" descr="preencoded.png"/>
          <p:cNvPicPr>
            <a:picLocks noChangeAspect="1"/>
          </p:cNvPicPr>
          <p:nvPr/>
        </p:nvPicPr>
        <p:blipFill>
          <a:blip r:embed="rId4"/>
          <a:stretch>
            <a:fillRect/>
          </a:stretch>
        </p:blipFill>
        <p:spPr>
          <a:xfrm>
            <a:off x="6590538" y="3207258"/>
            <a:ext cx="251460" cy="251460"/>
          </a:xfrm>
          <a:prstGeom prst="rect">
            <a:avLst/>
          </a:prstGeom>
        </p:spPr>
      </p:pic>
      <p:sp>
        <p:nvSpPr>
          <p:cNvPr id="25" name="Text 18"/>
          <p:cNvSpPr txBox="1"/>
          <p:nvPr/>
        </p:nvSpPr>
        <p:spPr>
          <a:xfrm>
            <a:off x="7150608" y="30815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2. Never reached the discount</a:t>
            </a:r>
            <a:endParaRPr lang="en-US" sz="1600" dirty="0"/>
          </a:p>
        </p:txBody>
      </p:sp>
      <p:sp>
        <p:nvSpPr>
          <p:cNvPr id="26" name="Shape 19"/>
          <p:cNvSpPr/>
          <p:nvPr/>
        </p:nvSpPr>
        <p:spPr>
          <a:xfrm>
            <a:off x="6464808" y="3767328"/>
            <a:ext cx="502920" cy="502920"/>
          </a:xfrm>
          <a:prstGeom prst="ellipse">
            <a:avLst/>
          </a:prstGeom>
          <a:solidFill>
            <a:srgbClr val="C8463D"/>
          </a:solidFill>
          <a:ln w="12700">
            <a:solidFill>
              <a:srgbClr val="C8463D"/>
            </a:solidFill>
            <a:prstDash val="solid"/>
          </a:ln>
        </p:spPr>
        <p:txBody>
          <a:bodyPr/>
          <a:lstStyle/>
          <a:p>
            <a:endParaRPr lang="en-US"/>
          </a:p>
        </p:txBody>
      </p:sp>
      <p:pic>
        <p:nvPicPr>
          <p:cNvPr id="27" name="Image 5" descr="preencoded.png"/>
          <p:cNvPicPr>
            <a:picLocks noChangeAspect="1"/>
          </p:cNvPicPr>
          <p:nvPr/>
        </p:nvPicPr>
        <p:blipFill>
          <a:blip r:embed="rId5"/>
          <a:stretch>
            <a:fillRect/>
          </a:stretch>
        </p:blipFill>
        <p:spPr>
          <a:xfrm>
            <a:off x="6590538" y="3893058"/>
            <a:ext cx="251460" cy="251460"/>
          </a:xfrm>
          <a:prstGeom prst="rect">
            <a:avLst/>
          </a:prstGeom>
        </p:spPr>
      </p:pic>
      <p:sp>
        <p:nvSpPr>
          <p:cNvPr id="28" name="Text 20"/>
          <p:cNvSpPr txBox="1"/>
          <p:nvPr/>
        </p:nvSpPr>
        <p:spPr>
          <a:xfrm>
            <a:off x="7150608" y="37673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3. Saw €0.00 → stopped</a:t>
            </a:r>
            <a:endParaRPr lang="en-US" sz="1600" dirty="0"/>
          </a:p>
        </p:txBody>
      </p:sp>
      <p:sp>
        <p:nvSpPr>
          <p:cNvPr id="29" name="Shape 21"/>
          <p:cNvSpPr/>
          <p:nvPr/>
        </p:nvSpPr>
        <p:spPr>
          <a:xfrm>
            <a:off x="6464808" y="4526280"/>
            <a:ext cx="4892040" cy="502920"/>
          </a:xfrm>
          <a:prstGeom prst="roundRect">
            <a:avLst>
              <a:gd name="adj" fmla="val 14545"/>
            </a:avLst>
          </a:prstGeom>
          <a:solidFill>
            <a:srgbClr val="FFFFFF"/>
          </a:solidFill>
          <a:ln w="19050">
            <a:solidFill>
              <a:srgbClr val="C8463D"/>
            </a:solidFill>
            <a:prstDash val="solid"/>
          </a:ln>
        </p:spPr>
        <p:txBody>
          <a:bodyPr/>
          <a:lstStyle/>
          <a:p>
            <a:endParaRPr lang="en-US"/>
          </a:p>
        </p:txBody>
      </p:sp>
      <p:sp>
        <p:nvSpPr>
          <p:cNvPr id="30" name="Text 22"/>
          <p:cNvSpPr txBox="1"/>
          <p:nvPr/>
        </p:nvSpPr>
        <p:spPr>
          <a:xfrm>
            <a:off x="6601968" y="4526280"/>
            <a:ext cx="4617720" cy="502920"/>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FAIL → reported as a bug, but the bug is in the test</a:t>
            </a:r>
            <a:endParaRPr lang="en-US" sz="1500" dirty="0"/>
          </a:p>
        </p:txBody>
      </p:sp>
      <p:sp>
        <p:nvSpPr>
          <p:cNvPr id="31" name="Text 23"/>
          <p:cNvSpPr txBox="1"/>
          <p:nvPr/>
        </p:nvSpPr>
        <p:spPr>
          <a:xfrm>
            <a:off x="548640" y="5394960"/>
            <a:ext cx="11094415" cy="548640"/>
          </a:xfrm>
          <a:prstGeom prst="rect">
            <a:avLst/>
          </a:prstGeom>
          <a:noFill/>
          <a:ln/>
        </p:spPr>
        <p:txBody>
          <a:bodyPr wrap="square" lIns="0" tIns="0" rIns="0" bIns="0" rtlCol="0" anchor="t"/>
          <a:lstStyle/>
          <a:p>
            <a:pPr marL="0" indent="0">
              <a:buNone/>
            </a:pPr>
            <a:r>
              <a:rPr lang="en-US" sz="1400" b="1" dirty="0">
                <a:solidFill>
                  <a:srgbClr val="1E2533"/>
                </a:solidFill>
                <a:latin typeface="Calibri" pitchFamily="34" charset="0"/>
                <a:ea typeface="Calibri" pitchFamily="34" charset="-122"/>
                <a:cs typeface="Calibri" pitchFamily="34" charset="-120"/>
              </a:rPr>
              <a:t>Same for privacy: </a:t>
            </a:r>
            <a:r>
              <a:rPr lang="en-US" sz="1400" dirty="0">
                <a:solidFill>
                  <a:srgbClr val="1E2533"/>
                </a:solidFill>
                <a:latin typeface="Calibri" pitchFamily="34" charset="0"/>
                <a:ea typeface="Calibri" pitchFamily="34" charset="-122"/>
                <a:cs typeface="Calibri" pitchFamily="34" charset="-120"/>
              </a:rPr>
              <a:t>the test logged in the wrong way, so the real data leak was never checked.</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PART A · WHY THE RULES MISS IT</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rules check the form of a test, not its meaning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2962656"/>
        </p:xfrm>
        <a:graphic>
          <a:graphicData uri="http://schemas.openxmlformats.org/drawingml/2006/table">
            <a:tbl>
              <a:tblPr/>
              <a:tblGrid>
                <a:gridCol w="19202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FFFFF"/>
                          </a:solidFill>
                        </a:rPr>
                        <a:t>Trust rule in QA-Flow</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it checks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The wrong SAVE10 test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3213C"/>
                          </a:solidFill>
                        </a:rPr>
                        <a:t>Schema check</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The AI's answer has the right format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b="1" dirty="0">
                          <a:solidFill>
                            <a:srgbClr val="2E8B57"/>
                          </a:solidFill>
                        </a:rPr>
                        <a:t>✓ passed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13213C"/>
                          </a:solidFill>
                        </a:rPr>
                        <a:t>Grounding check</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Pages and fields exist; the quote matches the document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b="1" dirty="0">
                          <a:solidFill>
                            <a:srgbClr val="2E8B57"/>
                          </a:solidFill>
                        </a:rPr>
                        <a:t>✓ passed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13213C"/>
                          </a:solidFill>
                        </a:rPr>
                        <a:t>NEEDS REVIEW flag</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Tests with no source go to a person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b="1" dirty="0">
                          <a:solidFill>
                            <a:srgbClr val="2E8B57"/>
                          </a:solidFill>
                        </a:rPr>
                        <a:t>✓ not flagged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13213C"/>
                          </a:solidFill>
                        </a:rPr>
                        <a:t>Fault-injection gate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A passing test must fail on a broken shop</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b="1" dirty="0">
                          <a:solidFill>
                            <a:srgbClr val="5B6578"/>
                          </a:solidFill>
                        </a:rPr>
                        <a:t>– skipped (the test failed)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4553712"/>
            <a:ext cx="6766560" cy="411480"/>
          </a:xfrm>
          <a:prstGeom prst="rect">
            <a:avLst/>
          </a:prstGeom>
          <a:noFill/>
          <a:ln/>
        </p:spPr>
        <p:txBody>
          <a:bodyPr wrap="square" lIns="0" tIns="0" rIns="0" bIns="0" rtlCol="0" anchor="t"/>
          <a:lstStyle/>
          <a:p>
            <a:pPr marL="0" indent="0">
              <a:buNone/>
            </a:pPr>
            <a:r>
              <a:rPr lang="en-US" sz="1700" b="1" dirty="0">
                <a:solidFill>
                  <a:srgbClr val="C8463D"/>
                </a:solidFill>
                <a:latin typeface="Calibri" pitchFamily="34" charset="0"/>
                <a:ea typeface="Calibri" pitchFamily="34" charset="-122"/>
                <a:cs typeface="Calibri" pitchFamily="34" charset="-120"/>
              </a:rPr>
              <a:t>No rule asks: does this test really test the requirement?</a:t>
            </a:r>
            <a:endParaRPr lang="en-US" sz="1700" dirty="0"/>
          </a:p>
        </p:txBody>
      </p:sp>
      <p:sp>
        <p:nvSpPr>
          <p:cNvPr id="6" name="Text 3"/>
          <p:cNvSpPr txBox="1"/>
          <p:nvPr/>
        </p:nvSpPr>
        <p:spPr>
          <a:xfrm>
            <a:off x="548640" y="4983480"/>
            <a:ext cx="6766560" cy="3200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Three ways a test can be wrong:</a:t>
            </a:r>
            <a:endParaRPr lang="en-US" sz="1400" dirty="0"/>
          </a:p>
        </p:txBody>
      </p:sp>
      <p:sp>
        <p:nvSpPr>
          <p:cNvPr id="7" name="Shape 4"/>
          <p:cNvSpPr/>
          <p:nvPr/>
        </p:nvSpPr>
        <p:spPr>
          <a:xfrm>
            <a:off x="548640" y="5349240"/>
            <a:ext cx="2148840" cy="438912"/>
          </a:xfrm>
          <a:prstGeom prst="rect">
            <a:avLst/>
          </a:prstGeom>
          <a:solidFill>
            <a:srgbClr val="FDECEA"/>
          </a:solidFill>
          <a:ln w="12700">
            <a:solidFill>
              <a:srgbClr val="FDECEA"/>
            </a:solidFill>
            <a:prstDash val="solid"/>
          </a:ln>
        </p:spPr>
        <p:txBody>
          <a:bodyPr/>
          <a:lstStyle/>
          <a:p>
            <a:endParaRPr lang="en-US"/>
          </a:p>
        </p:txBody>
      </p:sp>
      <p:sp>
        <p:nvSpPr>
          <p:cNvPr id="4" name="Text 5"/>
          <p:cNvSpPr txBox="1"/>
          <p:nvPr/>
        </p:nvSpPr>
        <p:spPr>
          <a:xfrm>
            <a:off x="685800" y="5349240"/>
            <a:ext cx="1920240" cy="438912"/>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Wrong scenario</a:t>
            </a:r>
            <a:endParaRPr lang="en-US" sz="1500" dirty="0"/>
          </a:p>
        </p:txBody>
      </p:sp>
      <p:sp>
        <p:nvSpPr>
          <p:cNvPr id="9" name="Shape 6"/>
          <p:cNvSpPr/>
          <p:nvPr/>
        </p:nvSpPr>
        <p:spPr>
          <a:xfrm>
            <a:off x="2834640" y="5349240"/>
            <a:ext cx="2148840" cy="438912"/>
          </a:xfrm>
          <a:prstGeom prst="rect">
            <a:avLst/>
          </a:prstGeom>
          <a:solidFill>
            <a:srgbClr val="FDECEA"/>
          </a:solidFill>
          <a:ln w="12700">
            <a:solidFill>
              <a:srgbClr val="FDECEA"/>
            </a:solidFill>
            <a:prstDash val="solid"/>
          </a:ln>
        </p:spPr>
        <p:txBody>
          <a:bodyPr/>
          <a:lstStyle/>
          <a:p>
            <a:endParaRPr lang="en-US"/>
          </a:p>
        </p:txBody>
      </p:sp>
      <p:sp>
        <p:nvSpPr>
          <p:cNvPr id="10" name="Text 7"/>
          <p:cNvSpPr txBox="1"/>
          <p:nvPr/>
        </p:nvSpPr>
        <p:spPr>
          <a:xfrm>
            <a:off x="2971800" y="5349240"/>
            <a:ext cx="1920240" cy="438912"/>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Wrong check</a:t>
            </a:r>
            <a:endParaRPr lang="en-US" sz="1500" dirty="0"/>
          </a:p>
        </p:txBody>
      </p:sp>
      <p:sp>
        <p:nvSpPr>
          <p:cNvPr id="11" name="Shape 8"/>
          <p:cNvSpPr/>
          <p:nvPr/>
        </p:nvSpPr>
        <p:spPr>
          <a:xfrm>
            <a:off x="5120640" y="5349240"/>
            <a:ext cx="2148840" cy="438912"/>
          </a:xfrm>
          <a:prstGeom prst="rect">
            <a:avLst/>
          </a:prstGeom>
          <a:solidFill>
            <a:srgbClr val="FDECEA"/>
          </a:solidFill>
          <a:ln w="12700">
            <a:solidFill>
              <a:srgbClr val="FDECEA"/>
            </a:solidFill>
            <a:prstDash val="solid"/>
          </a:ln>
        </p:spPr>
        <p:txBody>
          <a:bodyPr/>
          <a:lstStyle/>
          <a:p>
            <a:endParaRPr lang="en-US"/>
          </a:p>
        </p:txBody>
      </p:sp>
      <p:sp>
        <p:nvSpPr>
          <p:cNvPr id="12" name="Text 9"/>
          <p:cNvSpPr txBox="1"/>
          <p:nvPr/>
        </p:nvSpPr>
        <p:spPr>
          <a:xfrm>
            <a:off x="5257800" y="5349240"/>
            <a:ext cx="1920240" cy="438912"/>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Catches no bug</a:t>
            </a:r>
            <a:endParaRPr lang="en-US" sz="1500" dirty="0"/>
          </a:p>
        </p:txBody>
      </p:sp>
      <p:sp>
        <p:nvSpPr>
          <p:cNvPr id="13" name="Shape 10"/>
          <p:cNvSpPr/>
          <p:nvPr/>
        </p:nvSpPr>
        <p:spPr>
          <a:xfrm>
            <a:off x="7635240" y="1325880"/>
            <a:ext cx="4005072" cy="4462272"/>
          </a:xfrm>
          <a:prstGeom prst="roundRect">
            <a:avLst>
              <a:gd name="adj" fmla="val 2740"/>
            </a:avLst>
          </a:prstGeom>
          <a:solidFill>
            <a:srgbClr val="13213C"/>
          </a:solidFill>
          <a:ln w="12700">
            <a:solidFill>
              <a:srgbClr val="13213C"/>
            </a:solidFill>
            <a:prstDash val="solid"/>
          </a:ln>
        </p:spPr>
        <p:txBody>
          <a:bodyPr/>
          <a:lstStyle/>
          <a:p>
            <a:endParaRPr lang="en-US"/>
          </a:p>
        </p:txBody>
      </p:sp>
      <p:sp>
        <p:nvSpPr>
          <p:cNvPr id="14" name="Text 11"/>
          <p:cNvSpPr txBox="1"/>
          <p:nvPr/>
        </p:nvSpPr>
        <p:spPr>
          <a:xfrm>
            <a:off x="7863840" y="1508760"/>
            <a:ext cx="3611880" cy="685800"/>
          </a:xfrm>
          <a:prstGeom prst="rect">
            <a:avLst/>
          </a:prstGeom>
          <a:noFill/>
          <a:ln/>
        </p:spPr>
        <p:txBody>
          <a:bodyPr wrap="square" lIns="0" tIns="0" rIns="0" bIns="0" rtlCol="0" anchor="t"/>
          <a:lstStyle/>
          <a:p>
            <a:pPr marL="0" indent="0">
              <a:buNone/>
            </a:pPr>
            <a:r>
              <a:rPr lang="en-US" sz="1600" b="1" dirty="0">
                <a:solidFill>
                  <a:srgbClr val="E39B2D"/>
                </a:solidFill>
                <a:latin typeface="Calibri" pitchFamily="34" charset="0"/>
                <a:ea typeface="Calibri" pitchFamily="34" charset="-122"/>
                <a:cs typeface="Calibri" pitchFamily="34" charset="-120"/>
              </a:rPr>
              <a:t>Why it matters for self-driving cars</a:t>
            </a:r>
            <a:endParaRPr lang="en-US" sz="1600" dirty="0"/>
          </a:p>
        </p:txBody>
      </p:sp>
      <p:sp>
        <p:nvSpPr>
          <p:cNvPr id="15" name="Text 12"/>
          <p:cNvSpPr txBox="1"/>
          <p:nvPr/>
        </p:nvSpPr>
        <p:spPr>
          <a:xfrm>
            <a:off x="7863840" y="2240280"/>
            <a:ext cx="3611880" cy="3337560"/>
          </a:xfrm>
          <a:prstGeom prst="rect">
            <a:avLst/>
          </a:prstGeom>
          <a:noFill/>
          <a:ln/>
        </p:spPr>
        <p:txBody>
          <a:bodyPr wrap="square" lIns="0" tIns="0" rIns="0" bIns="0" rtlCol="0" anchor="t"/>
          <a:lstStyle/>
          <a:p>
            <a:pPr marL="177800" indent="-177800">
              <a:buSzPct val="100000"/>
              <a:buChar char="•"/>
            </a:pPr>
            <a:r>
              <a:rPr lang="en-US" sz="1400" b="1" dirty="0">
                <a:solidFill>
                  <a:srgbClr val="CFE3F1"/>
                </a:solidFill>
                <a:latin typeface="Calibri" pitchFamily="34" charset="0"/>
                <a:ea typeface="Calibri" pitchFamily="34" charset="-122"/>
                <a:cs typeface="Calibri" pitchFamily="34" charset="-120"/>
              </a:rPr>
              <a:t>AI already helps build them </a:t>
            </a:r>
            <a:r>
              <a:rPr lang="en-US" sz="1400" dirty="0">
                <a:solidFill>
                  <a:srgbClr val="CFE3F1"/>
                </a:solidFill>
                <a:latin typeface="Calibri" pitchFamily="34" charset="0"/>
                <a:ea typeface="Calibri" pitchFamily="34" charset="-122"/>
                <a:cs typeface="Calibri" pitchFamily="34" charset="-120"/>
              </a:rPr>
              <a:t>[8, 10]</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AI now writes their tests too [27]</a:t>
            </a:r>
            <a:endParaRPr lang="en-US" sz="1400" dirty="0"/>
          </a:p>
          <a:p>
            <a:pPr marL="177800" indent="-177800">
              <a:buSzPct val="100000"/>
              <a:buChar char="•"/>
            </a:pPr>
            <a:r>
              <a:rPr lang="en-US" sz="1400" b="1" dirty="0">
                <a:solidFill>
                  <a:srgbClr val="CFE3F1"/>
                </a:solidFill>
                <a:latin typeface="Calibri" pitchFamily="34" charset="0"/>
                <a:ea typeface="Calibri" pitchFamily="34" charset="-122"/>
                <a:cs typeface="Calibri" pitchFamily="34" charset="-120"/>
              </a:rPr>
              <a:t>A wrong test means </a:t>
            </a:r>
            <a:r>
              <a:rPr lang="en-US" sz="1400" dirty="0">
                <a:solidFill>
                  <a:srgbClr val="CFE3F1"/>
                </a:solidFill>
                <a:latin typeface="Calibri" pitchFamily="34" charset="0"/>
                <a:ea typeface="Calibri" pitchFamily="34" charset="-122"/>
                <a:cs typeface="Calibri" pitchFamily="34" charset="-120"/>
              </a:rPr>
              <a:t>false safety</a:t>
            </a:r>
            <a:endParaRPr lang="en-US" sz="1400" dirty="0"/>
          </a:p>
        </p:txBody>
      </p:sp>
      <p:sp>
        <p:nvSpPr>
          <p:cNvPr id="16" name="Text 13"/>
          <p:cNvSpPr txBox="1"/>
          <p:nvPr/>
        </p:nvSpPr>
        <p:spPr>
          <a:xfrm>
            <a:off x="548640" y="5870448"/>
            <a:ext cx="11094415" cy="557784"/>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[8] J. Wu et al., “Reality bites: Assessing the realism of driving scenarios with large language models,” Proc. IEEE/ACM FORGE, 2024.</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THE PHD QUESTION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When can we trust an AI-generated test?</a:t>
            </a:r>
            <a:endParaRPr lang="en-US" sz="3000" dirty="0"/>
          </a:p>
        </p:txBody>
      </p:sp>
      <p:sp>
        <p:nvSpPr>
          <p:cNvPr id="4" name="Shape 2"/>
          <p:cNvSpPr/>
          <p:nvPr/>
        </p:nvSpPr>
        <p:spPr>
          <a:xfrm>
            <a:off x="548640" y="1280160"/>
            <a:ext cx="11094415" cy="960120"/>
          </a:xfrm>
          <a:prstGeom prst="roundRect">
            <a:avLst>
              <a:gd name="adj" fmla="val 11429"/>
            </a:avLst>
          </a:prstGeom>
          <a:solidFill>
            <a:srgbClr val="E6F3F3"/>
          </a:solidFill>
          <a:ln w="12700">
            <a:solidFill>
              <a:srgbClr val="E6F3F3"/>
            </a:solidFill>
            <a:prstDash val="solid"/>
          </a:ln>
        </p:spPr>
        <p:txBody>
          <a:bodyPr/>
          <a:lstStyle/>
          <a:p>
            <a:endParaRPr lang="en-US"/>
          </a:p>
        </p:txBody>
      </p:sp>
      <p:sp>
        <p:nvSpPr>
          <p:cNvPr id="5" name="Text 3"/>
          <p:cNvSpPr txBox="1"/>
          <p:nvPr/>
        </p:nvSpPr>
        <p:spPr>
          <a:xfrm>
            <a:off x="822960" y="1325880"/>
            <a:ext cx="10545775" cy="868680"/>
          </a:xfrm>
          <a:prstGeom prst="rect">
            <a:avLst/>
          </a:prstGeom>
          <a:noFill/>
          <a:ln/>
        </p:spPr>
        <p:txBody>
          <a:bodyPr wrap="square" lIns="0" tIns="0" rIns="0" bIns="0" rtlCol="0" anchor="ctr"/>
          <a:lstStyle/>
          <a:p>
            <a:pPr marL="0" indent="0">
              <a:buNone/>
            </a:pPr>
            <a:r>
              <a:rPr lang="en-US" sz="1500" b="1" dirty="0">
                <a:solidFill>
                  <a:srgbClr val="0F8B8D"/>
                </a:solidFill>
                <a:latin typeface="Calibri" pitchFamily="34" charset="0"/>
                <a:ea typeface="Calibri" pitchFamily="34" charset="-122"/>
                <a:cs typeface="Calibri" pitchFamily="34" charset="-120"/>
              </a:rPr>
              <a:t>My idea   </a:t>
            </a:r>
            <a:r>
              <a:rPr lang="en-US" sz="1500" dirty="0">
                <a:solidFill>
                  <a:srgbClr val="1E2533"/>
                </a:solidFill>
                <a:latin typeface="Calibri" pitchFamily="34" charset="0"/>
                <a:ea typeface="Calibri" pitchFamily="34" charset="-122"/>
                <a:cs typeface="Calibri" pitchFamily="34" charset="-120"/>
              </a:rPr>
              <a:t>Ask the AI for the same test several times. Tests agree → trust more. Tests differ → a person checks. Known for chatbots [24], new for tests.</a:t>
            </a:r>
            <a:endParaRPr lang="en-US" sz="1500" dirty="0"/>
          </a:p>
        </p:txBody>
      </p:sp>
      <p:sp>
        <p:nvSpPr>
          <p:cNvPr id="6" name="Shape 4"/>
          <p:cNvSpPr/>
          <p:nvPr/>
        </p:nvSpPr>
        <p:spPr>
          <a:xfrm>
            <a:off x="548640" y="2377440"/>
            <a:ext cx="3593592" cy="160020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7" name="Shape 5"/>
          <p:cNvSpPr/>
          <p:nvPr/>
        </p:nvSpPr>
        <p:spPr>
          <a:xfrm>
            <a:off x="731520" y="2487168"/>
            <a:ext cx="457200" cy="457200"/>
          </a:xfrm>
          <a:prstGeom prst="ellipse">
            <a:avLst/>
          </a:prstGeom>
          <a:solidFill>
            <a:srgbClr val="0F8B8D"/>
          </a:solidFill>
          <a:ln w="12700">
            <a:solidFill>
              <a:srgbClr val="0F8B8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45820" y="2601468"/>
            <a:ext cx="228600" cy="228600"/>
          </a:xfrm>
          <a:prstGeom prst="rect">
            <a:avLst/>
          </a:prstGeom>
        </p:spPr>
      </p:pic>
      <p:sp>
        <p:nvSpPr>
          <p:cNvPr id="9" name="Text 6"/>
          <p:cNvSpPr txBox="1"/>
          <p:nvPr/>
        </p:nvSpPr>
        <p:spPr>
          <a:xfrm>
            <a:off x="1280160" y="2487168"/>
            <a:ext cx="2770632"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Uncertainty in CPS testing</a:t>
            </a:r>
            <a:endParaRPr lang="en-US" sz="1400" dirty="0"/>
          </a:p>
        </p:txBody>
      </p:sp>
      <p:sp>
        <p:nvSpPr>
          <p:cNvPr id="10" name="Text 7"/>
          <p:cNvSpPr txBox="1"/>
          <p:nvPr/>
        </p:nvSpPr>
        <p:spPr>
          <a:xfrm>
            <a:off x="731520" y="3035808"/>
            <a:ext cx="3227832" cy="868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Uncertainty-wise test generation for cyber-physical systems [1]</a:t>
            </a:r>
            <a:endParaRPr lang="en-US" sz="1200" dirty="0"/>
          </a:p>
        </p:txBody>
      </p:sp>
      <p:sp>
        <p:nvSpPr>
          <p:cNvPr id="11" name="Shape 8"/>
          <p:cNvSpPr/>
          <p:nvPr/>
        </p:nvSpPr>
        <p:spPr>
          <a:xfrm>
            <a:off x="4297680" y="2377440"/>
            <a:ext cx="3593592" cy="160020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12" name="Shape 9"/>
          <p:cNvSpPr/>
          <p:nvPr/>
        </p:nvSpPr>
        <p:spPr>
          <a:xfrm>
            <a:off x="4480560" y="2487168"/>
            <a:ext cx="457200" cy="457200"/>
          </a:xfrm>
          <a:prstGeom prst="ellipse">
            <a:avLst/>
          </a:prstGeom>
          <a:solidFill>
            <a:srgbClr val="3567C8"/>
          </a:solidFill>
          <a:ln w="12700">
            <a:solidFill>
              <a:srgbClr val="3567C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594860" y="2601468"/>
            <a:ext cx="228600" cy="228600"/>
          </a:xfrm>
          <a:prstGeom prst="rect">
            <a:avLst/>
          </a:prstGeom>
        </p:spPr>
      </p:pic>
      <p:sp>
        <p:nvSpPr>
          <p:cNvPr id="14" name="Text 10"/>
          <p:cNvSpPr txBox="1"/>
          <p:nvPr/>
        </p:nvSpPr>
        <p:spPr>
          <a:xfrm>
            <a:off x="5029200" y="2487168"/>
            <a:ext cx="2770632"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Testing AI-enabled systems</a:t>
            </a:r>
            <a:endParaRPr lang="en-US" sz="1400" dirty="0"/>
          </a:p>
        </p:txBody>
      </p:sp>
      <p:sp>
        <p:nvSpPr>
          <p:cNvPr id="15" name="Text 11"/>
          <p:cNvSpPr txBox="1"/>
          <p:nvPr/>
        </p:nvSpPr>
        <p:spPr>
          <a:xfrm>
            <a:off x="4480560" y="3035808"/>
            <a:ext cx="3227832" cy="868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Falsification: searching for failures of AI-enabled control systems [14]</a:t>
            </a:r>
            <a:endParaRPr lang="en-US" sz="1200" dirty="0"/>
          </a:p>
        </p:txBody>
      </p:sp>
      <p:sp>
        <p:nvSpPr>
          <p:cNvPr id="16" name="Shape 12"/>
          <p:cNvSpPr/>
          <p:nvPr/>
        </p:nvSpPr>
        <p:spPr>
          <a:xfrm>
            <a:off x="8046720" y="2377440"/>
            <a:ext cx="3593592" cy="160020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17" name="Shape 13"/>
          <p:cNvSpPr/>
          <p:nvPr/>
        </p:nvSpPr>
        <p:spPr>
          <a:xfrm>
            <a:off x="8229600" y="2487168"/>
            <a:ext cx="457200" cy="457200"/>
          </a:xfrm>
          <a:prstGeom prst="ellipse">
            <a:avLst/>
          </a:prstGeom>
          <a:solidFill>
            <a:srgbClr val="E39B2D"/>
          </a:solidFill>
          <a:ln w="12700">
            <a:solidFill>
              <a:srgbClr val="E39B2D"/>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343900" y="2601468"/>
            <a:ext cx="228600" cy="228600"/>
          </a:xfrm>
          <a:prstGeom prst="rect">
            <a:avLst/>
          </a:prstGeom>
        </p:spPr>
      </p:pic>
      <p:sp>
        <p:nvSpPr>
          <p:cNvPr id="19" name="Text 14"/>
          <p:cNvSpPr txBox="1"/>
          <p:nvPr/>
        </p:nvSpPr>
        <p:spPr>
          <a:xfrm>
            <a:off x="8778240" y="2487168"/>
            <a:ext cx="2770632"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Industrial test oracles</a:t>
            </a:r>
            <a:endParaRPr lang="en-US" sz="1400" dirty="0"/>
          </a:p>
        </p:txBody>
      </p:sp>
      <p:sp>
        <p:nvSpPr>
          <p:cNvPr id="20" name="Text 15"/>
          <p:cNvSpPr txBox="1"/>
          <p:nvPr/>
        </p:nvSpPr>
        <p:spPr>
          <a:xfrm>
            <a:off x="8229600" y="3035808"/>
            <a:ext cx="3227832" cy="868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Machine learning as a test oracle for elevator software [16]</a:t>
            </a:r>
            <a:endParaRPr lang="en-US" sz="1200" dirty="0"/>
          </a:p>
        </p:txBody>
      </p:sp>
      <p:sp>
        <p:nvSpPr>
          <p:cNvPr id="26" name="Shape 20"/>
          <p:cNvSpPr/>
          <p:nvPr/>
        </p:nvSpPr>
        <p:spPr>
          <a:xfrm>
            <a:off x="548640" y="4160520"/>
            <a:ext cx="11094415" cy="438912"/>
          </a:xfrm>
          <a:prstGeom prst="roundRect">
            <a:avLst>
              <a:gd name="adj" fmla="val 25000"/>
            </a:avLst>
          </a:prstGeom>
          <a:solidFill>
            <a:srgbClr val="FFF4E0"/>
          </a:solidFill>
          <a:ln w="12700">
            <a:solidFill>
              <a:srgbClr val="FFF4E0"/>
            </a:solidFill>
            <a:prstDash val="solid"/>
          </a:ln>
        </p:spPr>
        <p:txBody>
          <a:bodyPr/>
          <a:lstStyle/>
          <a:p>
            <a:endParaRPr lang="en-US"/>
          </a:p>
        </p:txBody>
      </p:sp>
      <p:sp>
        <p:nvSpPr>
          <p:cNvPr id="27" name="Text 21"/>
          <p:cNvSpPr txBox="1"/>
          <p:nvPr/>
        </p:nvSpPr>
        <p:spPr>
          <a:xfrm>
            <a:off x="777240" y="4160520"/>
            <a:ext cx="10637215" cy="438912"/>
          </a:xfrm>
          <a:prstGeom prst="rect">
            <a:avLst/>
          </a:prstGeom>
          <a:noFill/>
          <a:ln/>
        </p:spPr>
        <p:txBody>
          <a:bodyPr wrap="square" lIns="0" tIns="0" rIns="0" bIns="0" rtlCol="0" anchor="ctr"/>
          <a:lstStyle/>
          <a:p>
            <a:pPr marL="0" indent="0">
              <a:buNone/>
            </a:pPr>
            <a:r>
              <a:rPr lang="en-US" sz="1400" b="1" dirty="0">
                <a:solidFill>
                  <a:srgbClr val="E39B2D"/>
                </a:solidFill>
                <a:latin typeface="Calibri" pitchFamily="34" charset="0"/>
                <a:ea typeface="Calibri" pitchFamily="34" charset="-122"/>
                <a:cs typeface="Calibri" pitchFamily="34" charset="-120"/>
              </a:rPr>
              <a:t>Gap   </a:t>
            </a:r>
            <a:r>
              <a:rPr lang="en-US" sz="1400" dirty="0">
                <a:solidFill>
                  <a:srgbClr val="1E2533"/>
                </a:solidFill>
                <a:latin typeface="Calibri" pitchFamily="34" charset="0"/>
                <a:ea typeface="Calibri" pitchFamily="34" charset="-122"/>
                <a:cs typeface="Calibri" pitchFamily="34" charset="-120"/>
              </a:rPr>
              <a:t>Uncertainty is studied for systems, robots and chatbots — not yet for AI that writes tests.</a:t>
            </a:r>
            <a:endParaRPr lang="en-US" sz="1400" dirty="0"/>
          </a:p>
        </p:txBody>
      </p:sp>
      <p:sp>
        <p:nvSpPr>
          <p:cNvPr id="28" name="Text 22"/>
          <p:cNvSpPr txBox="1"/>
          <p:nvPr/>
        </p:nvSpPr>
        <p:spPr>
          <a:xfrm>
            <a:off x="548640" y="4892040"/>
            <a:ext cx="11094415" cy="1280160"/>
          </a:xfrm>
          <a:prstGeom prst="rect">
            <a:avLst/>
          </a:prstGeom>
          <a:noFill/>
          <a:ln/>
        </p:spPr>
        <p:txBody>
          <a:bodyPr wrap="square" lIns="0" tIns="0" rIns="0" bIns="0" rtlCol="0" anchor="b"/>
          <a:lstStyle/>
          <a:p>
            <a:r>
              <a:rPr sz="1100">
                <a:solidFill>
                  <a:srgbClr val="5B6578"/>
                </a:solidFill>
                <a:latin typeface="Calibri"/>
              </a:rPr>
              <a:t>[1] M. Zhang et al., “Uncertainty-wise test case generation and minimization for cyber-physical systems,” J. Syst. Softw., 2019.</a:t>
            </a:r>
          </a:p>
          <a:p>
            <a:r>
              <a:rPr sz="1100">
                <a:solidFill>
                  <a:srgbClr val="5B6578"/>
                </a:solidFill>
                <a:latin typeface="Calibri"/>
              </a:rPr>
              <a:t>[14] Z. Zhang et al., “FalsifAI: Falsification of AI-enabled hybrid control systems guided by time-aware coverage criteria,” IEEE TSE, 2023.</a:t>
            </a:r>
          </a:p>
          <a:p>
            <a:r>
              <a:rPr sz="1100">
                <a:solidFill>
                  <a:srgbClr val="5B6578"/>
                </a:solidFill>
                <a:latin typeface="Calibri"/>
              </a:rPr>
              <a:t>[16] A. Arrieta et al., “Using machine learning to build test oracles: An industrial case study on elevators dispatching algorithms,” Proc. IEEE/ACM AST, 2021.</a:t>
            </a:r>
          </a:p>
          <a:p>
            <a:r>
              <a:rPr sz="1100">
                <a:solidFill>
                  <a:srgbClr val="5B6578"/>
                </a:solidFill>
                <a:latin typeface="Calibri"/>
              </a:rPr>
              <a:t>[24] S. Farquhar et al., “Detecting hallucinations in large language models using semantic entropy,” Nature, 2024.</a:t>
            </a:r>
          </a:p>
        </p:txBody>
      </p:sp>
      <p:sp>
        <p:nvSpPr>
          <p:cNvPr id="2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OBJECTIVES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four PhD objectives</a:t>
            </a:r>
            <a:endParaRPr lang="en-US" sz="3000" dirty="0"/>
          </a:p>
        </p:txBody>
      </p:sp>
      <p:sp>
        <p:nvSpPr>
          <p:cNvPr id="4" name="Shape 2"/>
          <p:cNvSpPr/>
          <p:nvPr/>
        </p:nvSpPr>
        <p:spPr>
          <a:xfrm>
            <a:off x="548640"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22960" y="1645920"/>
            <a:ext cx="685800" cy="685800"/>
          </a:xfrm>
          <a:prstGeom prst="ellipse">
            <a:avLst/>
          </a:prstGeom>
          <a:solidFill>
            <a:srgbClr val="0F8B8D"/>
          </a:solidFill>
          <a:ln w="12700">
            <a:solidFill>
              <a:srgbClr val="0F8B8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94410" y="1817370"/>
            <a:ext cx="342900" cy="342900"/>
          </a:xfrm>
          <a:prstGeom prst="rect">
            <a:avLst/>
          </a:prstGeom>
        </p:spPr>
      </p:pic>
      <p:sp>
        <p:nvSpPr>
          <p:cNvPr id="7" name="Text 4"/>
          <p:cNvSpPr txBox="1"/>
          <p:nvPr/>
        </p:nvSpPr>
        <p:spPr>
          <a:xfrm>
            <a:off x="1645920" y="1719072"/>
            <a:ext cx="1280160" cy="548640"/>
          </a:xfrm>
          <a:prstGeom prst="rect">
            <a:avLst/>
          </a:prstGeom>
          <a:noFill/>
          <a:ln/>
        </p:spPr>
        <p:txBody>
          <a:bodyPr wrap="square" lIns="0" tIns="0" rIns="0" bIns="0" rtlCol="0" anchor="t"/>
          <a:lstStyle/>
          <a:p>
            <a:pPr marL="0" indent="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8" name="Text 5"/>
          <p:cNvSpPr txBox="1"/>
          <p:nvPr/>
        </p:nvSpPr>
        <p:spPr>
          <a:xfrm>
            <a:off x="822960"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9" name="Text 6"/>
          <p:cNvSpPr txBox="1"/>
          <p:nvPr/>
        </p:nvSpPr>
        <p:spPr>
          <a:xfrm>
            <a:off x="822960"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Which signals show that an AI-written test cannot be trusted?</a:t>
            </a:r>
            <a:endParaRPr lang="en-US" sz="1400" dirty="0"/>
          </a:p>
        </p:txBody>
      </p:sp>
      <p:sp>
        <p:nvSpPr>
          <p:cNvPr id="10" name="Shape 7"/>
          <p:cNvSpPr/>
          <p:nvPr/>
        </p:nvSpPr>
        <p:spPr>
          <a:xfrm>
            <a:off x="3364992"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1" name="Shape 8"/>
          <p:cNvSpPr/>
          <p:nvPr/>
        </p:nvSpPr>
        <p:spPr>
          <a:xfrm>
            <a:off x="3639312" y="1645920"/>
            <a:ext cx="685800" cy="685800"/>
          </a:xfrm>
          <a:prstGeom prst="ellipse">
            <a:avLst/>
          </a:prstGeom>
          <a:solidFill>
            <a:srgbClr val="3567C8"/>
          </a:solidFill>
          <a:ln w="12700">
            <a:solidFill>
              <a:srgbClr val="3567C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810762" y="1817370"/>
            <a:ext cx="342900" cy="342900"/>
          </a:xfrm>
          <a:prstGeom prst="rect">
            <a:avLst/>
          </a:prstGeom>
        </p:spPr>
      </p:pic>
      <p:sp>
        <p:nvSpPr>
          <p:cNvPr id="13" name="Text 9"/>
          <p:cNvSpPr txBox="1"/>
          <p:nvPr/>
        </p:nvSpPr>
        <p:spPr>
          <a:xfrm>
            <a:off x="4462272" y="1719072"/>
            <a:ext cx="1280160" cy="548640"/>
          </a:xfrm>
          <a:prstGeom prst="rect">
            <a:avLst/>
          </a:prstGeom>
          <a:noFill/>
          <a:ln/>
        </p:spPr>
        <p:txBody>
          <a:bodyPr wrap="square" lIns="0" tIns="0" rIns="0" bIns="0" rtlCol="0" anchor="t"/>
          <a:lstStyle/>
          <a:p>
            <a:pPr marL="0" indent="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4" name="Text 10"/>
          <p:cNvSpPr txBox="1"/>
          <p:nvPr/>
        </p:nvSpPr>
        <p:spPr>
          <a:xfrm>
            <a:off x="3639312"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5" name="Text 11"/>
          <p:cNvSpPr txBox="1"/>
          <p:nvPr/>
        </p:nvSpPr>
        <p:spPr>
          <a:xfrm>
            <a:off x="3639312"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should these signals decide accept / review / reject, given the safety risk?</a:t>
            </a:r>
            <a:endParaRPr lang="en-US" sz="1400" dirty="0"/>
          </a:p>
        </p:txBody>
      </p:sp>
      <p:sp>
        <p:nvSpPr>
          <p:cNvPr id="16" name="Shape 12"/>
          <p:cNvSpPr/>
          <p:nvPr/>
        </p:nvSpPr>
        <p:spPr>
          <a:xfrm>
            <a:off x="6181344"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7" name="Shape 13"/>
          <p:cNvSpPr/>
          <p:nvPr/>
        </p:nvSpPr>
        <p:spPr>
          <a:xfrm>
            <a:off x="6455664" y="1645920"/>
            <a:ext cx="685800" cy="685800"/>
          </a:xfrm>
          <a:prstGeom prst="ellipse">
            <a:avLst/>
          </a:prstGeom>
          <a:solidFill>
            <a:srgbClr val="E39B2D"/>
          </a:solidFill>
          <a:ln w="12700">
            <a:solidFill>
              <a:srgbClr val="E39B2D"/>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627114" y="1817370"/>
            <a:ext cx="342900" cy="342900"/>
          </a:xfrm>
          <a:prstGeom prst="rect">
            <a:avLst/>
          </a:prstGeom>
        </p:spPr>
      </p:pic>
      <p:sp>
        <p:nvSpPr>
          <p:cNvPr id="19" name="Text 14"/>
          <p:cNvSpPr txBox="1"/>
          <p:nvPr/>
        </p:nvSpPr>
        <p:spPr>
          <a:xfrm>
            <a:off x="7278624" y="1719072"/>
            <a:ext cx="1280160" cy="548640"/>
          </a:xfrm>
          <a:prstGeom prst="rect">
            <a:avLst/>
          </a:prstGeom>
          <a:noFill/>
          <a:ln/>
        </p:spPr>
        <p:txBody>
          <a:bodyPr wrap="square" lIns="0" tIns="0" rIns="0" bIns="0" rtlCol="0" anchor="t"/>
          <a:lstStyle/>
          <a:p>
            <a:pPr marL="0" indent="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20" name="Text 15"/>
          <p:cNvSpPr txBox="1"/>
          <p:nvPr/>
        </p:nvSpPr>
        <p:spPr>
          <a:xfrm>
            <a:off x="6455664"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1" name="Text 16"/>
          <p:cNvSpPr txBox="1"/>
          <p:nvPr/>
        </p:nvSpPr>
        <p:spPr>
          <a:xfrm>
            <a:off x="6455664"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do they relate to correctness, bugs found and cost?</a:t>
            </a:r>
            <a:endParaRPr lang="en-US" sz="1400" dirty="0"/>
          </a:p>
        </p:txBody>
      </p:sp>
      <p:sp>
        <p:nvSpPr>
          <p:cNvPr id="22" name="Shape 17"/>
          <p:cNvSpPr/>
          <p:nvPr/>
        </p:nvSpPr>
        <p:spPr>
          <a:xfrm>
            <a:off x="8997696"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23" name="Shape 18"/>
          <p:cNvSpPr/>
          <p:nvPr/>
        </p:nvSpPr>
        <p:spPr>
          <a:xfrm>
            <a:off x="9272016" y="1645920"/>
            <a:ext cx="685800" cy="685800"/>
          </a:xfrm>
          <a:prstGeom prst="ellipse">
            <a:avLst/>
          </a:prstGeom>
          <a:solidFill>
            <a:srgbClr val="6E56CF"/>
          </a:solidFill>
          <a:ln w="12700">
            <a:solidFill>
              <a:srgbClr val="6E56CF"/>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443466" y="1817370"/>
            <a:ext cx="342900" cy="342900"/>
          </a:xfrm>
          <a:prstGeom prst="rect">
            <a:avLst/>
          </a:prstGeom>
        </p:spPr>
      </p:pic>
      <p:sp>
        <p:nvSpPr>
          <p:cNvPr id="25" name="Text 19"/>
          <p:cNvSpPr txBox="1"/>
          <p:nvPr/>
        </p:nvSpPr>
        <p:spPr>
          <a:xfrm>
            <a:off x="10094976" y="1719072"/>
            <a:ext cx="1280160" cy="548640"/>
          </a:xfrm>
          <a:prstGeom prst="rect">
            <a:avLst/>
          </a:prstGeom>
          <a:noFill/>
          <a:ln/>
        </p:spPr>
        <p:txBody>
          <a:bodyPr wrap="square" lIns="0" tIns="0" rIns="0" bIns="0" rtlCol="0" anchor="t"/>
          <a:lstStyle/>
          <a:p>
            <a:pPr marL="0" indent="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6" name="Text 20"/>
          <p:cNvSpPr txBox="1"/>
          <p:nvPr/>
        </p:nvSpPr>
        <p:spPr>
          <a:xfrm>
            <a:off x="9272016"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7" name="Text 21"/>
          <p:cNvSpPr txBox="1"/>
          <p:nvPr/>
        </p:nvSpPr>
        <p:spPr>
          <a:xfrm>
            <a:off x="9272016"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Do they still work for newer AI and quantum ML models?</a:t>
            </a:r>
            <a:endParaRPr lang="en-US" sz="1400" dirty="0"/>
          </a:p>
        </p:txBody>
      </p:sp>
      <p:sp>
        <p:nvSpPr>
          <p:cNvPr id="28" name="Text 22"/>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900" dirty="0"/>
          </a:p>
        </p:txBody>
      </p:sp>
      <p:sp>
        <p:nvSpPr>
          <p:cNvPr id="2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GAPS → RESEARCH AGENDA</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From Demo 1's gaps to the PhD plan</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800600"/>
        </p:xfrm>
        <a:graphic>
          <a:graphicData uri="http://schemas.openxmlformats.org/drawingml/2006/table">
            <a:tbl>
              <a:tblPr/>
              <a:tblGrid>
                <a:gridCol w="960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645152">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960120">
                <a:tc>
                  <a:txBody>
                    <a:bodyPr/>
                    <a:lstStyle/>
                    <a:p>
                      <a:pPr marL="0" indent="0">
                        <a:buNone/>
                      </a:pPr>
                      <a:r>
                        <a:rPr lang="en-US" sz="1400" b="1" dirty="0">
                          <a:solidFill>
                            <a:srgbClr val="FFFFFF"/>
                          </a:solidFill>
                        </a:rPr>
                        <a:t>From</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Demo 1 cannot do</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the PhD will do</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Obj.</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6012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Cannot tell a wrong test from a real bug (6 of 18)</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Signals that show when a test is untrustworthy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0F8B8D"/>
                          </a:solidFill>
                        </a:rPr>
                        <a:t>O1</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6012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Every FAIL looks the same → a person checks all 18</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Accept / review / reject based on risk</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3567C8"/>
                          </a:solidFill>
                        </a:rPr>
                        <a:t>O2</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012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Wrong tests hid 2 real bugs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Measure how trust relates to correctness and cost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E39B2D"/>
                          </a:solidFill>
                        </a:rPr>
                        <a:t>O3</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60120">
                <a:tc>
                  <a:txBody>
                    <a:bodyPr/>
                    <a:lstStyle/>
                    <a:p>
                      <a:pPr marL="0" indent="0">
                        <a:buNone/>
                      </a:pPr>
                      <a:r>
                        <a:rPr lang="en-US" sz="1300" b="1" dirty="0">
                          <a:solidFill>
                            <a:srgbClr val="5B6578"/>
                          </a:solidFill>
                        </a:rPr>
                        <a:t>Next</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One web shop, one AI model</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Self-driving simulators, industrial cases, InnoGuard platform, new AI models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6E56CF"/>
                          </a:solidFill>
                        </a:rPr>
                        <a:t>O4</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RESEARCH QUESTIONS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4" name="Shape 2"/>
          <p:cNvSpPr/>
          <p:nvPr/>
        </p:nvSpPr>
        <p:spPr>
          <a:xfrm>
            <a:off x="548640" y="128016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5" name="Text 3"/>
          <p:cNvSpPr txBox="1"/>
          <p:nvPr/>
        </p:nvSpPr>
        <p:spPr>
          <a:xfrm>
            <a:off x="777240" y="1417320"/>
            <a:ext cx="914400" cy="685800"/>
          </a:xfrm>
          <a:prstGeom prst="rect">
            <a:avLst/>
          </a:prstGeom>
          <a:noFill/>
          <a:ln/>
        </p:spPr>
        <p:txBody>
          <a:bodyPr wrap="square" lIns="0" tIns="0" rIns="0" bIns="0" rtlCol="0" anchor="ctr"/>
          <a:lstStyle/>
          <a:p>
            <a:pPr marL="0" indent="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6" name="Text 4"/>
          <p:cNvSpPr txBox="1"/>
          <p:nvPr/>
        </p:nvSpPr>
        <p:spPr>
          <a:xfrm>
            <a:off x="1783080" y="136245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Which signals best predict a wrong AI-written test?</a:t>
            </a:r>
            <a:endParaRPr lang="en-US" sz="1500" dirty="0"/>
          </a:p>
        </p:txBody>
      </p:sp>
      <p:sp>
        <p:nvSpPr>
          <p:cNvPr id="7" name="Text 5"/>
          <p:cNvSpPr txBox="1"/>
          <p:nvPr/>
        </p:nvSpPr>
        <p:spPr>
          <a:xfrm>
            <a:off x="6537960" y="136245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Compare signals (agreement, behaviour, model probabilities) on many generated tests</a:t>
            </a:r>
            <a:endParaRPr lang="en-US" sz="1300" dirty="0"/>
          </a:p>
        </p:txBody>
      </p:sp>
      <p:sp>
        <p:nvSpPr>
          <p:cNvPr id="8" name="Shape 6"/>
          <p:cNvSpPr/>
          <p:nvPr/>
        </p:nvSpPr>
        <p:spPr>
          <a:xfrm>
            <a:off x="548640" y="237744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9" name="Text 7"/>
          <p:cNvSpPr txBox="1"/>
          <p:nvPr/>
        </p:nvSpPr>
        <p:spPr>
          <a:xfrm>
            <a:off x="777240" y="2514600"/>
            <a:ext cx="914400" cy="685800"/>
          </a:xfrm>
          <a:prstGeom prst="rect">
            <a:avLst/>
          </a:prstGeom>
          <a:noFill/>
          <a:ln/>
        </p:spPr>
        <p:txBody>
          <a:bodyPr wrap="square" lIns="0" tIns="0" rIns="0" bIns="0" rtlCol="0" anchor="ctr"/>
          <a:lstStyle/>
          <a:p>
            <a:pPr marL="0" indent="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10" name="Text 8"/>
          <p:cNvSpPr txBox="1"/>
          <p:nvPr/>
        </p:nvSpPr>
        <p:spPr>
          <a:xfrm>
            <a:off x="1783080" y="245973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can these signals support safe accept / review decisions?</a:t>
            </a:r>
            <a:endParaRPr lang="en-US" sz="1500" dirty="0"/>
          </a:p>
        </p:txBody>
      </p:sp>
      <p:sp>
        <p:nvSpPr>
          <p:cNvPr id="11" name="Text 9"/>
          <p:cNvSpPr txBox="1"/>
          <p:nvPr/>
        </p:nvSpPr>
        <p:spPr>
          <a:xfrm>
            <a:off x="6537960" y="245973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Risk = signal × how severe a failure is; measure the review effort saved</a:t>
            </a:r>
            <a:endParaRPr lang="en-US" sz="1300" dirty="0"/>
          </a:p>
        </p:txBody>
      </p:sp>
      <p:sp>
        <p:nvSpPr>
          <p:cNvPr id="12" name="Shape 10"/>
          <p:cNvSpPr/>
          <p:nvPr/>
        </p:nvSpPr>
        <p:spPr>
          <a:xfrm>
            <a:off x="548640" y="347472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13" name="Text 11"/>
          <p:cNvSpPr txBox="1"/>
          <p:nvPr/>
        </p:nvSpPr>
        <p:spPr>
          <a:xfrm>
            <a:off x="777240" y="3611880"/>
            <a:ext cx="914400" cy="685800"/>
          </a:xfrm>
          <a:prstGeom prst="rect">
            <a:avLst/>
          </a:prstGeom>
          <a:noFill/>
          <a:ln/>
        </p:spPr>
        <p:txBody>
          <a:bodyPr wrap="square" lIns="0" tIns="0" rIns="0" bIns="0" rtlCol="0" anchor="ctr"/>
          <a:lstStyle/>
          <a:p>
            <a:pPr marL="0" indent="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4" name="Text 12"/>
          <p:cNvSpPr txBox="1"/>
          <p:nvPr/>
        </p:nvSpPr>
        <p:spPr>
          <a:xfrm>
            <a:off x="1783080" y="355701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do they relate to bugs found and cost?</a:t>
            </a:r>
            <a:endParaRPr lang="en-US" sz="1500" dirty="0"/>
          </a:p>
        </p:txBody>
      </p:sp>
      <p:sp>
        <p:nvSpPr>
          <p:cNvPr id="15" name="Text 13"/>
          <p:cNvSpPr txBox="1"/>
          <p:nvPr/>
        </p:nvSpPr>
        <p:spPr>
          <a:xfrm>
            <a:off x="6537960" y="355701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Large study: correctness, bugs found, run time, AI cost</a:t>
            </a:r>
            <a:endParaRPr lang="en-US" sz="1300" dirty="0"/>
          </a:p>
        </p:txBody>
      </p:sp>
      <p:sp>
        <p:nvSpPr>
          <p:cNvPr id="16" name="Shape 14"/>
          <p:cNvSpPr/>
          <p:nvPr/>
        </p:nvSpPr>
        <p:spPr>
          <a:xfrm>
            <a:off x="548640" y="457200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17" name="Text 15"/>
          <p:cNvSpPr txBox="1"/>
          <p:nvPr/>
        </p:nvSpPr>
        <p:spPr>
          <a:xfrm>
            <a:off x="777240" y="4709160"/>
            <a:ext cx="914400" cy="685800"/>
          </a:xfrm>
          <a:prstGeom prst="rect">
            <a:avLst/>
          </a:prstGeom>
          <a:noFill/>
          <a:ln/>
        </p:spPr>
        <p:txBody>
          <a:bodyPr wrap="square" lIns="0" tIns="0" rIns="0" bIns="0" rtlCol="0" anchor="ctr"/>
          <a:lstStyle/>
          <a:p>
            <a:pPr marL="0" indent="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8" name="Text 16"/>
          <p:cNvSpPr txBox="1"/>
          <p:nvPr/>
        </p:nvSpPr>
        <p:spPr>
          <a:xfrm>
            <a:off x="1783080" y="465429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Do they transfer to new and quantum AI models?</a:t>
            </a:r>
            <a:endParaRPr lang="en-US" sz="1500" dirty="0"/>
          </a:p>
        </p:txBody>
      </p:sp>
      <p:sp>
        <p:nvSpPr>
          <p:cNvPr id="19" name="Text 17"/>
          <p:cNvSpPr txBox="1"/>
          <p:nvPr/>
        </p:nvSpPr>
        <p:spPr>
          <a:xfrm>
            <a:off x="6537960" y="465429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Re-apply them to newer models and to quantum ML [20, 21]</a:t>
            </a:r>
            <a:endParaRPr lang="en-US" sz="1300" dirty="0"/>
          </a:p>
        </p:txBody>
      </p:sp>
      <p:sp>
        <p:nvSpPr>
          <p:cNvPr id="20" name="Text 18"/>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WORK PLAN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4" name="Shape 2"/>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5" name="Text 3"/>
          <p:cNvSpPr txBox="1"/>
          <p:nvPr/>
        </p:nvSpPr>
        <p:spPr>
          <a:xfrm>
            <a:off x="3474720"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6" name="Shape 4"/>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txBody>
          <a:bodyPr/>
          <a:lstStyle/>
          <a:p>
            <a:endParaRPr lang="en-US"/>
          </a:p>
        </p:txBody>
      </p:sp>
      <p:sp>
        <p:nvSpPr>
          <p:cNvPr id="7" name="Text 5"/>
          <p:cNvSpPr txBox="1"/>
          <p:nvPr/>
        </p:nvSpPr>
        <p:spPr>
          <a:xfrm>
            <a:off x="6197498"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8" name="Shape 6"/>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9" name="Text 7"/>
          <p:cNvSpPr txBox="1"/>
          <p:nvPr/>
        </p:nvSpPr>
        <p:spPr>
          <a:xfrm>
            <a:off x="8920277"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10" name="Text 8"/>
          <p:cNvSpPr txBox="1"/>
          <p:nvPr/>
        </p:nvSpPr>
        <p:spPr>
          <a:xfrm>
            <a:off x="548640" y="182880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1" name="Shape 9"/>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txBody>
          <a:bodyPr/>
          <a:lstStyle/>
          <a:p>
            <a:endParaRPr lang="en-US"/>
          </a:p>
        </p:txBody>
      </p:sp>
      <p:sp>
        <p:nvSpPr>
          <p:cNvPr id="12" name="Text 10"/>
          <p:cNvSpPr txBox="1"/>
          <p:nvPr/>
        </p:nvSpPr>
        <p:spPr>
          <a:xfrm>
            <a:off x="548640" y="224942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3" name="Shape 11"/>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txBody>
          <a:bodyPr/>
          <a:lstStyle/>
          <a:p>
            <a:endParaRPr lang="en-US"/>
          </a:p>
        </p:txBody>
      </p:sp>
      <p:sp>
        <p:nvSpPr>
          <p:cNvPr id="14" name="Text 12"/>
          <p:cNvSpPr txBox="1"/>
          <p:nvPr/>
        </p:nvSpPr>
        <p:spPr>
          <a:xfrm>
            <a:off x="548640" y="267004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5" name="Shape 13"/>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txBody>
          <a:bodyPr/>
          <a:lstStyle/>
          <a:p>
            <a:endParaRPr lang="en-US"/>
          </a:p>
        </p:txBody>
      </p:sp>
      <p:sp>
        <p:nvSpPr>
          <p:cNvPr id="16" name="Text 14"/>
          <p:cNvSpPr txBox="1"/>
          <p:nvPr/>
        </p:nvSpPr>
        <p:spPr>
          <a:xfrm>
            <a:off x="548640" y="3090672"/>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7" name="Shape 15"/>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txBody>
          <a:bodyPr/>
          <a:lstStyle/>
          <a:p>
            <a:endParaRPr lang="en-US"/>
          </a:p>
        </p:txBody>
      </p:sp>
      <p:sp>
        <p:nvSpPr>
          <p:cNvPr id="18" name="Text 16"/>
          <p:cNvSpPr txBox="1"/>
          <p:nvPr/>
        </p:nvSpPr>
        <p:spPr>
          <a:xfrm>
            <a:off x="548640" y="3511296"/>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9" name="Shape 17"/>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txBody>
          <a:bodyPr/>
          <a:lstStyle/>
          <a:p>
            <a:endParaRPr lang="en-US"/>
          </a:p>
        </p:txBody>
      </p:sp>
      <p:sp>
        <p:nvSpPr>
          <p:cNvPr id="20" name="Text 18"/>
          <p:cNvSpPr txBox="1"/>
          <p:nvPr/>
        </p:nvSpPr>
        <p:spPr>
          <a:xfrm>
            <a:off x="548640" y="393192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1" name="Shape 19"/>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txBody>
          <a:bodyPr/>
          <a:lstStyle/>
          <a:p>
            <a:endParaRPr lang="en-US"/>
          </a:p>
        </p:txBody>
      </p:sp>
      <p:sp>
        <p:nvSpPr>
          <p:cNvPr id="22" name="Text 20"/>
          <p:cNvSpPr txBox="1"/>
          <p:nvPr/>
        </p:nvSpPr>
        <p:spPr>
          <a:xfrm>
            <a:off x="548640" y="435254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3" name="Shape 21"/>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txBody>
          <a:bodyPr/>
          <a:lstStyle/>
          <a:p>
            <a:endParaRPr lang="en-US"/>
          </a:p>
        </p:txBody>
      </p:sp>
      <p:sp>
        <p:nvSpPr>
          <p:cNvPr id="24" name="Text 22"/>
          <p:cNvSpPr txBox="1"/>
          <p:nvPr/>
        </p:nvSpPr>
        <p:spPr>
          <a:xfrm>
            <a:off x="548640" y="477316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5" name="Shape 23"/>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txBody>
          <a:bodyPr/>
          <a:lstStyle/>
          <a:p>
            <a:endParaRPr lang="en-US"/>
          </a:p>
        </p:txBody>
      </p:sp>
      <p:sp>
        <p:nvSpPr>
          <p:cNvPr id="26" name="Shape 24"/>
          <p:cNvSpPr/>
          <p:nvPr/>
        </p:nvSpPr>
        <p:spPr>
          <a:xfrm>
            <a:off x="5293627"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7" name="Text 25"/>
          <p:cNvSpPr txBox="1"/>
          <p:nvPr/>
        </p:nvSpPr>
        <p:spPr>
          <a:xfrm>
            <a:off x="4488955"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8" name="Shape 26"/>
          <p:cNvSpPr/>
          <p:nvPr/>
        </p:nvSpPr>
        <p:spPr>
          <a:xfrm>
            <a:off x="6881914"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9" name="Text 27"/>
          <p:cNvSpPr txBox="1"/>
          <p:nvPr/>
        </p:nvSpPr>
        <p:spPr>
          <a:xfrm>
            <a:off x="6077242"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30" name="Shape 28"/>
          <p:cNvSpPr/>
          <p:nvPr/>
        </p:nvSpPr>
        <p:spPr>
          <a:xfrm>
            <a:off x="8697100"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1" name="Text 29"/>
          <p:cNvSpPr txBox="1"/>
          <p:nvPr/>
        </p:nvSpPr>
        <p:spPr>
          <a:xfrm>
            <a:off x="7892428"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2" name="Shape 30"/>
          <p:cNvSpPr/>
          <p:nvPr/>
        </p:nvSpPr>
        <p:spPr>
          <a:xfrm>
            <a:off x="9831591"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3" name="Text 31"/>
          <p:cNvSpPr txBox="1"/>
          <p:nvPr/>
        </p:nvSpPr>
        <p:spPr>
          <a:xfrm>
            <a:off x="9026919"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4" name="Shape 32"/>
          <p:cNvSpPr/>
          <p:nvPr/>
        </p:nvSpPr>
        <p:spPr>
          <a:xfrm>
            <a:off x="10966082"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5" name="Text 33"/>
          <p:cNvSpPr txBox="1"/>
          <p:nvPr/>
        </p:nvSpPr>
        <p:spPr>
          <a:xfrm>
            <a:off x="10161410"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6" name="Text 34"/>
          <p:cNvSpPr txBox="1"/>
          <p:nvPr/>
        </p:nvSpPr>
        <p:spPr>
          <a:xfrm>
            <a:off x="548640" y="5266944"/>
            <a:ext cx="2834640" cy="292608"/>
          </a:xfrm>
          <a:prstGeom prst="rect">
            <a:avLst/>
          </a:prstGeom>
          <a:noFill/>
          <a:ln/>
        </p:spPr>
        <p:txBody>
          <a:bodyPr wrap="square" lIns="0" tIns="0" rIns="0" bIns="0" rtlCol="0" anchor="t"/>
          <a:lstStyle/>
          <a:p>
            <a:pPr marL="0" indent="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37"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CONTRIBUTIONS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4" name="Shape 2"/>
          <p:cNvSpPr/>
          <p:nvPr/>
        </p:nvSpPr>
        <p:spPr>
          <a:xfrm>
            <a:off x="548640" y="1435608"/>
            <a:ext cx="640080" cy="64008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08660" y="1595628"/>
            <a:ext cx="320040" cy="320040"/>
          </a:xfrm>
          <a:prstGeom prst="rect">
            <a:avLst/>
          </a:prstGeom>
        </p:spPr>
      </p:pic>
      <p:sp>
        <p:nvSpPr>
          <p:cNvPr id="6" name="Text 3"/>
          <p:cNvSpPr txBox="1"/>
          <p:nvPr/>
        </p:nvSpPr>
        <p:spPr>
          <a:xfrm>
            <a:off x="1417320" y="1399032"/>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7" name="Text 4"/>
          <p:cNvSpPr txBox="1"/>
          <p:nvPr/>
        </p:nvSpPr>
        <p:spPr>
          <a:xfrm>
            <a:off x="3200400" y="1399032"/>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Signals that tell when an AI-written test can be trusted</a:t>
            </a:r>
            <a:endParaRPr lang="en-US" sz="1400" dirty="0"/>
          </a:p>
        </p:txBody>
      </p:sp>
      <p:sp>
        <p:nvSpPr>
          <p:cNvPr id="8" name="Shape 5"/>
          <p:cNvSpPr/>
          <p:nvPr/>
        </p:nvSpPr>
        <p:spPr>
          <a:xfrm>
            <a:off x="548640" y="242316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08660" y="2583180"/>
            <a:ext cx="320040" cy="320040"/>
          </a:xfrm>
          <a:prstGeom prst="rect">
            <a:avLst/>
          </a:prstGeom>
        </p:spPr>
      </p:pic>
      <p:sp>
        <p:nvSpPr>
          <p:cNvPr id="10" name="Text 6"/>
          <p:cNvSpPr txBox="1"/>
          <p:nvPr/>
        </p:nvSpPr>
        <p:spPr>
          <a:xfrm>
            <a:off x="1417320" y="2386584"/>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1" name="Text 7"/>
          <p:cNvSpPr txBox="1"/>
          <p:nvPr/>
        </p:nvSpPr>
        <p:spPr>
          <a:xfrm>
            <a:off x="3200400" y="2386584"/>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Accept / review / reject with safety-aware thresholds</a:t>
            </a:r>
            <a:endParaRPr lang="en-US" sz="1400" dirty="0"/>
          </a:p>
        </p:txBody>
      </p:sp>
      <p:sp>
        <p:nvSpPr>
          <p:cNvPr id="12" name="Shape 8"/>
          <p:cNvSpPr/>
          <p:nvPr/>
        </p:nvSpPr>
        <p:spPr>
          <a:xfrm>
            <a:off x="548640" y="3410712"/>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08660" y="3570732"/>
            <a:ext cx="320040" cy="320040"/>
          </a:xfrm>
          <a:prstGeom prst="rect">
            <a:avLst/>
          </a:prstGeom>
        </p:spPr>
      </p:pic>
      <p:sp>
        <p:nvSpPr>
          <p:cNvPr id="14" name="Text 9"/>
          <p:cNvSpPr txBox="1"/>
          <p:nvPr/>
        </p:nvSpPr>
        <p:spPr>
          <a:xfrm>
            <a:off x="1417320" y="3374136"/>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5" name="Text 10"/>
          <p:cNvSpPr txBox="1"/>
          <p:nvPr/>
        </p:nvSpPr>
        <p:spPr>
          <a:xfrm>
            <a:off x="3200400" y="3374136"/>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How trust relates to correctness, bugs found and cost</a:t>
            </a:r>
            <a:endParaRPr lang="en-US" sz="1400" dirty="0"/>
          </a:p>
        </p:txBody>
      </p:sp>
      <p:sp>
        <p:nvSpPr>
          <p:cNvPr id="16" name="Shape 11"/>
          <p:cNvSpPr/>
          <p:nvPr/>
        </p:nvSpPr>
        <p:spPr>
          <a:xfrm>
            <a:off x="548640" y="4398264"/>
            <a:ext cx="640080" cy="640080"/>
          </a:xfrm>
          <a:prstGeom prst="ellipse">
            <a:avLst/>
          </a:prstGeom>
          <a:solidFill>
            <a:srgbClr val="6E56CF"/>
          </a:solidFill>
          <a:ln w="12700">
            <a:solidFill>
              <a:srgbClr val="6E56CF"/>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708660" y="4558284"/>
            <a:ext cx="320040" cy="320040"/>
          </a:xfrm>
          <a:prstGeom prst="rect">
            <a:avLst/>
          </a:prstGeom>
        </p:spPr>
      </p:pic>
      <p:sp>
        <p:nvSpPr>
          <p:cNvPr id="18" name="Text 12"/>
          <p:cNvSpPr txBox="1"/>
          <p:nvPr/>
        </p:nvSpPr>
        <p:spPr>
          <a:xfrm>
            <a:off x="1417320" y="4361688"/>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9" name="Text 13"/>
          <p:cNvSpPr txBox="1"/>
          <p:nvPr/>
        </p:nvSpPr>
        <p:spPr>
          <a:xfrm>
            <a:off x="3200400" y="4361688"/>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QA-Flow, an open benchmark and replication packages</a:t>
            </a:r>
            <a:endParaRPr lang="en-US" sz="1400" dirty="0"/>
          </a:p>
        </p:txBody>
      </p:sp>
      <p:sp>
        <p:nvSpPr>
          <p:cNvPr id="20" name="Shape 14"/>
          <p:cNvSpPr/>
          <p:nvPr/>
        </p:nvSpPr>
        <p:spPr>
          <a:xfrm>
            <a:off x="7406640" y="1325880"/>
            <a:ext cx="4233672" cy="3931920"/>
          </a:xfrm>
          <a:prstGeom prst="roundRect">
            <a:avLst>
              <a:gd name="adj" fmla="val 2791"/>
            </a:avLst>
          </a:prstGeom>
          <a:solidFill>
            <a:srgbClr val="F2F5F9"/>
          </a:solidFill>
          <a:ln w="12700">
            <a:solidFill>
              <a:srgbClr val="F2F5F9"/>
            </a:solidFill>
            <a:prstDash val="solid"/>
          </a:ln>
        </p:spPr>
        <p:txBody>
          <a:bodyPr/>
          <a:lstStyle/>
          <a:p>
            <a:endParaRPr lang="en-US"/>
          </a:p>
        </p:txBody>
      </p:sp>
      <p:sp>
        <p:nvSpPr>
          <p:cNvPr id="21" name="Text 15"/>
          <p:cNvSpPr txBox="1"/>
          <p:nvPr/>
        </p:nvSpPr>
        <p:spPr>
          <a:xfrm>
            <a:off x="7635240" y="1490472"/>
            <a:ext cx="38404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2" name="Text 16"/>
          <p:cNvSpPr txBox="1"/>
          <p:nvPr/>
        </p:nvSpPr>
        <p:spPr>
          <a:xfrm>
            <a:off x="7635240" y="1920240"/>
            <a:ext cx="38404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3" name="Text 17"/>
          <p:cNvSpPr txBox="1"/>
          <p:nvPr/>
        </p:nvSpPr>
        <p:spPr>
          <a:xfrm>
            <a:off x="548640" y="5669280"/>
            <a:ext cx="11094415" cy="75895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[11] S. Ali et al., “Foundation models for the digital twins creation of cyber-physical systems,” Proc. ISoLA 2024, 2025.</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2E8B57"/>
                </a:solidFill>
                <a:latin typeface="Calibri" pitchFamily="34" charset="0"/>
                <a:ea typeface="Calibri" pitchFamily="34" charset="-122"/>
                <a:cs typeface="Calibri" pitchFamily="34" charset="-120"/>
              </a:rPr>
              <a:t>PART C · MY BACKGROUND</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vi-VN" sz="3000" b="1" dirty="0" err="1">
                <a:solidFill>
                  <a:srgbClr val="13213C"/>
                </a:solidFill>
                <a:latin typeface="Cambria" pitchFamily="34" charset="0"/>
                <a:ea typeface="Cambria" pitchFamily="34" charset="-122"/>
                <a:cs typeface="Cambria" pitchFamily="34" charset="-120"/>
              </a:rPr>
              <a:t>My</a:t>
            </a:r>
            <a:r>
              <a:rPr lang="vi-VN" sz="3000" b="1" dirty="0">
                <a:solidFill>
                  <a:srgbClr val="13213C"/>
                </a:solidFill>
                <a:latin typeface="Cambria" pitchFamily="34" charset="0"/>
                <a:ea typeface="Cambria" pitchFamily="34" charset="-122"/>
                <a:cs typeface="Cambria" pitchFamily="34" charset="-120"/>
              </a:rPr>
              <a:t> </a:t>
            </a:r>
            <a:r>
              <a:rPr lang="vi-VN" sz="3000" b="1" dirty="0" err="1">
                <a:solidFill>
                  <a:srgbClr val="13213C"/>
                </a:solidFill>
                <a:latin typeface="Cambria" pitchFamily="34" charset="0"/>
                <a:ea typeface="Cambria" pitchFamily="34" charset="-122"/>
                <a:cs typeface="Cambria" pitchFamily="34" charset="-120"/>
              </a:rPr>
              <a:t>Background</a:t>
            </a:r>
            <a:endParaRPr lang="en-US" sz="3000" dirty="0"/>
          </a:p>
        </p:txBody>
      </p:sp>
      <p:sp>
        <p:nvSpPr>
          <p:cNvPr id="4" name="Shape 2"/>
          <p:cNvSpPr/>
          <p:nvPr/>
        </p:nvSpPr>
        <p:spPr>
          <a:xfrm>
            <a:off x="1658082" y="2121408"/>
            <a:ext cx="8875532" cy="0"/>
          </a:xfrm>
          <a:prstGeom prst="line">
            <a:avLst/>
          </a:prstGeom>
          <a:noFill/>
          <a:ln w="25400">
            <a:solidFill>
              <a:srgbClr val="DDE3EC"/>
            </a:solidFill>
            <a:prstDash val="solid"/>
          </a:ln>
        </p:spPr>
        <p:txBody>
          <a:bodyPr/>
          <a:lstStyle/>
          <a:p>
            <a:endParaRPr lang="en-US"/>
          </a:p>
        </p:txBody>
      </p:sp>
      <p:sp>
        <p:nvSpPr>
          <p:cNvPr id="5" name="Shape 3"/>
          <p:cNvSpPr/>
          <p:nvPr/>
        </p:nvSpPr>
        <p:spPr>
          <a:xfrm>
            <a:off x="1365474" y="182880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511778" y="1975104"/>
            <a:ext cx="292608" cy="292608"/>
          </a:xfrm>
          <a:prstGeom prst="rect">
            <a:avLst/>
          </a:prstGeom>
        </p:spPr>
      </p:pic>
      <p:sp>
        <p:nvSpPr>
          <p:cNvPr id="7" name="Text 4"/>
          <p:cNvSpPr txBox="1"/>
          <p:nvPr/>
        </p:nvSpPr>
        <p:spPr>
          <a:xfrm>
            <a:off x="548640" y="254203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8" name="Text 5"/>
          <p:cNvSpPr txBox="1"/>
          <p:nvPr/>
        </p:nvSpPr>
        <p:spPr>
          <a:xfrm>
            <a:off x="621792"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9" name="Text 6"/>
          <p:cNvSpPr txBox="1"/>
          <p:nvPr/>
        </p:nvSpPr>
        <p:spPr>
          <a:xfrm>
            <a:off x="640080" y="3419856"/>
            <a:ext cx="2036003" cy="868680"/>
          </a:xfrm>
          <a:prstGeom prst="rect">
            <a:avLst/>
          </a:prstGeom>
          <a:noFill/>
          <a:ln/>
        </p:spPr>
        <p:txBody>
          <a:bodyPr wrap="square" lIns="0" tIns="0" rIns="0" bIns="0" rtlCol="0" anchor="t"/>
          <a:lstStyle/>
          <a:p>
            <a:pPr marL="0" indent="0" algn="ctr">
              <a:buNone/>
            </a:pPr>
            <a:r>
              <a:rPr lang="vi-VN" sz="1200" dirty="0" err="1">
                <a:solidFill>
                  <a:srgbClr val="5B6578"/>
                </a:solidFill>
                <a:latin typeface="Calibri" pitchFamily="34" charset="0"/>
                <a:ea typeface="Calibri" pitchFamily="34" charset="-122"/>
                <a:cs typeface="Calibri" pitchFamily="34" charset="-120"/>
              </a:rPr>
              <a:t>Research</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Autonomous</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Driving</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Car</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Using</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Reinforcement</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Learning</a:t>
            </a:r>
            <a:endParaRPr lang="en-US" sz="1200" dirty="0"/>
          </a:p>
        </p:txBody>
      </p:sp>
      <p:pic>
        <p:nvPicPr>
          <p:cNvPr id="11" name="Image 1" descr="preencoded.png"/>
          <p:cNvPicPr>
            <a:picLocks noChangeAspect="1"/>
          </p:cNvPicPr>
          <p:nvPr/>
        </p:nvPicPr>
        <p:blipFill>
          <a:blip r:embed="rId4"/>
          <a:stretch>
            <a:fillRect/>
          </a:stretch>
        </p:blipFill>
        <p:spPr>
          <a:xfrm>
            <a:off x="3730661" y="1975104"/>
            <a:ext cx="292608" cy="292608"/>
          </a:xfrm>
          <a:prstGeom prst="rect">
            <a:avLst/>
          </a:prstGeom>
        </p:spPr>
      </p:pic>
      <p:sp>
        <p:nvSpPr>
          <p:cNvPr id="15" name="Shape 11"/>
          <p:cNvSpPr/>
          <p:nvPr/>
        </p:nvSpPr>
        <p:spPr>
          <a:xfrm>
            <a:off x="5803240" y="1828800"/>
            <a:ext cx="585216" cy="585216"/>
          </a:xfrm>
          <a:prstGeom prst="ellipse">
            <a:avLst/>
          </a:prstGeom>
          <a:solidFill>
            <a:srgbClr val="3567C8"/>
          </a:solidFill>
          <a:ln w="12700">
            <a:solidFill>
              <a:srgbClr val="3567C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949544" y="1975104"/>
            <a:ext cx="292608" cy="292608"/>
          </a:xfrm>
          <a:prstGeom prst="rect">
            <a:avLst/>
          </a:prstGeom>
        </p:spPr>
      </p:pic>
      <p:sp>
        <p:nvSpPr>
          <p:cNvPr id="17" name="Text 12"/>
          <p:cNvSpPr txBox="1"/>
          <p:nvPr/>
        </p:nvSpPr>
        <p:spPr>
          <a:xfrm>
            <a:off x="4986406" y="2542032"/>
            <a:ext cx="2218883" cy="320040"/>
          </a:xfrm>
          <a:prstGeom prst="rect">
            <a:avLst/>
          </a:prstGeom>
          <a:noFill/>
          <a:ln/>
        </p:spPr>
        <p:txBody>
          <a:bodyPr wrap="square" lIns="0" tIns="0" rIns="0" bIns="0" rtlCol="0" anchor="t"/>
          <a:lstStyle/>
          <a:p>
            <a:pPr marL="0" indent="0" algn="ctr">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8" name="Text 13"/>
          <p:cNvSpPr txBox="1"/>
          <p:nvPr/>
        </p:nvSpPr>
        <p:spPr>
          <a:xfrm>
            <a:off x="5059558" y="2852928"/>
            <a:ext cx="2072579" cy="566928"/>
          </a:xfrm>
          <a:prstGeom prst="rect">
            <a:avLst/>
          </a:prstGeom>
          <a:noFill/>
          <a:ln/>
        </p:spPr>
        <p:txBody>
          <a:bodyPr wrap="square" lIns="0" tIns="0" rIns="0" bIns="0" rtlCol="0" anchor="t"/>
          <a:lstStyle/>
          <a:p>
            <a:pPr marL="0" indent="0" algn="ctr">
              <a:buNone/>
            </a:pPr>
            <a:r>
              <a:rPr lang="vi-VN" sz="1400" b="1" dirty="0" err="1">
                <a:solidFill>
                  <a:srgbClr val="1E2533"/>
                </a:solidFill>
                <a:latin typeface="Calibri" pitchFamily="34" charset="0"/>
                <a:ea typeface="Calibri" pitchFamily="34" charset="-122"/>
                <a:cs typeface="Calibri" pitchFamily="34" charset="-120"/>
              </a:rPr>
              <a:t>Software</a:t>
            </a:r>
            <a:r>
              <a:rPr lang="vi-VN" sz="1400" b="1" dirty="0">
                <a:solidFill>
                  <a:srgbClr val="1E2533"/>
                </a:solidFill>
                <a:latin typeface="Calibri" pitchFamily="34" charset="0"/>
                <a:ea typeface="Calibri" pitchFamily="34" charset="-122"/>
                <a:cs typeface="Calibri" pitchFamily="34" charset="-120"/>
              </a:rPr>
              <a:t> </a:t>
            </a:r>
            <a:r>
              <a:rPr lang="vi-VN" sz="1400" b="1" dirty="0" err="1">
                <a:solidFill>
                  <a:srgbClr val="1E2533"/>
                </a:solidFill>
                <a:latin typeface="Calibri" pitchFamily="34" charset="0"/>
                <a:ea typeface="Calibri" pitchFamily="34" charset="-122"/>
                <a:cs typeface="Calibri" pitchFamily="34" charset="-120"/>
              </a:rPr>
              <a:t>Test</a:t>
            </a:r>
            <a:r>
              <a:rPr lang="vi-VN" sz="1400" b="1" dirty="0">
                <a:solidFill>
                  <a:srgbClr val="1E2533"/>
                </a:solidFill>
                <a:latin typeface="Calibri" pitchFamily="34" charset="0"/>
                <a:ea typeface="Calibri" pitchFamily="34" charset="-122"/>
                <a:cs typeface="Calibri" pitchFamily="34" charset="-120"/>
              </a:rPr>
              <a:t> </a:t>
            </a:r>
            <a:r>
              <a:rPr lang="vi-VN" sz="1400" b="1" dirty="0" err="1">
                <a:solidFill>
                  <a:srgbClr val="1E2533"/>
                </a:solidFill>
                <a:latin typeface="Calibri" pitchFamily="34" charset="0"/>
                <a:ea typeface="Calibri" pitchFamily="34" charset="-122"/>
                <a:cs typeface="Calibri" pitchFamily="34" charset="-120"/>
              </a:rPr>
              <a:t>Enginer</a:t>
            </a:r>
            <a:r>
              <a:rPr lang="vi-VN" sz="1400" b="1" dirty="0">
                <a:solidFill>
                  <a:srgbClr val="1E2533"/>
                </a:solidFill>
                <a:latin typeface="Calibri" pitchFamily="34" charset="0"/>
                <a:ea typeface="Calibri" pitchFamily="34" charset="-122"/>
                <a:cs typeface="Calibri" pitchFamily="34" charset="-120"/>
              </a:rPr>
              <a:t> </a:t>
            </a:r>
          </a:p>
          <a:p>
            <a:pPr marL="0" indent="0" algn="ctr">
              <a:buNone/>
            </a:pPr>
            <a:r>
              <a:rPr lang="vi-VN" sz="1400" b="1" dirty="0" err="1">
                <a:solidFill>
                  <a:srgbClr val="1E2533"/>
                </a:solidFill>
                <a:latin typeface="Calibri" pitchFamily="34" charset="0"/>
                <a:ea typeface="Calibri" pitchFamily="34" charset="-122"/>
                <a:cs typeface="Calibri" pitchFamily="34" charset="-120"/>
              </a:rPr>
              <a:t>Bosch</a:t>
            </a:r>
            <a:r>
              <a:rPr lang="vi-VN" sz="1400" b="1" dirty="0">
                <a:solidFill>
                  <a:srgbClr val="1E2533"/>
                </a:solidFill>
                <a:latin typeface="Calibri" pitchFamily="34" charset="0"/>
                <a:ea typeface="Calibri" pitchFamily="34" charset="-122"/>
                <a:cs typeface="Calibri" pitchFamily="34" charset="-120"/>
              </a:rPr>
              <a:t> @ </a:t>
            </a:r>
            <a:r>
              <a:rPr lang="vi-VN" sz="1400" b="1" dirty="0" err="1">
                <a:solidFill>
                  <a:srgbClr val="1E2533"/>
                </a:solidFill>
                <a:latin typeface="Calibri" pitchFamily="34" charset="0"/>
                <a:ea typeface="Calibri" pitchFamily="34" charset="-122"/>
                <a:cs typeface="Calibri" pitchFamily="34" charset="-120"/>
              </a:rPr>
              <a:t>Vietnam</a:t>
            </a:r>
            <a:endParaRPr lang="en-US" sz="1400" dirty="0"/>
          </a:p>
        </p:txBody>
      </p:sp>
      <p:sp>
        <p:nvSpPr>
          <p:cNvPr id="19" name="Text 14"/>
          <p:cNvSpPr txBox="1"/>
          <p:nvPr/>
        </p:nvSpPr>
        <p:spPr>
          <a:xfrm>
            <a:off x="5077846" y="3419856"/>
            <a:ext cx="2036003" cy="868680"/>
          </a:xfrm>
          <a:prstGeom prst="rect">
            <a:avLst/>
          </a:prstGeom>
          <a:noFill/>
          <a:ln/>
        </p:spPr>
        <p:txBody>
          <a:bodyPr wrap="square" lIns="0" tIns="0" rIns="0" bIns="0" rtlCol="0" anchor="t"/>
          <a:lstStyle/>
          <a:p>
            <a:pPr marL="0" indent="0" algn="ctr">
              <a:buNone/>
            </a:pPr>
            <a:r>
              <a:rPr lang="vi-VN" sz="1200" dirty="0" err="1">
                <a:solidFill>
                  <a:srgbClr val="5B6578"/>
                </a:solidFill>
                <a:latin typeface="Calibri" pitchFamily="34" charset="0"/>
                <a:ea typeface="Calibri" pitchFamily="34" charset="-122"/>
                <a:cs typeface="Calibri" pitchFamily="34" charset="-120"/>
              </a:rPr>
              <a:t>Automotive</a:t>
            </a:r>
            <a:r>
              <a:rPr lang="vi-VN" sz="1200" dirty="0">
                <a:solidFill>
                  <a:srgbClr val="5B6578"/>
                </a:solidFill>
                <a:latin typeface="Calibri" pitchFamily="34" charset="0"/>
                <a:ea typeface="Calibri" pitchFamily="34" charset="-122"/>
                <a:cs typeface="Calibri" pitchFamily="34" charset="-120"/>
              </a:rPr>
              <a:t> ECU </a:t>
            </a:r>
            <a:r>
              <a:rPr lang="vi-VN" sz="1200" dirty="0" err="1">
                <a:solidFill>
                  <a:srgbClr val="5B6578"/>
                </a:solidFill>
                <a:latin typeface="Calibri" pitchFamily="34" charset="0"/>
                <a:ea typeface="Calibri" pitchFamily="34" charset="-122"/>
                <a:cs typeface="Calibri" pitchFamily="34" charset="-120"/>
              </a:rPr>
              <a:t>Testing</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for</a:t>
            </a:r>
            <a:r>
              <a:rPr lang="vi-VN" sz="1200" dirty="0">
                <a:solidFill>
                  <a:srgbClr val="5B6578"/>
                </a:solidFill>
                <a:latin typeface="Calibri" pitchFamily="34" charset="0"/>
                <a:ea typeface="Calibri" pitchFamily="34" charset="-122"/>
                <a:cs typeface="Calibri" pitchFamily="34" charset="-120"/>
              </a:rPr>
              <a:t> ADAS </a:t>
            </a:r>
            <a:r>
              <a:rPr lang="vi-VN" sz="1200" dirty="0" err="1">
                <a:solidFill>
                  <a:srgbClr val="5B6578"/>
                </a:solidFill>
                <a:latin typeface="Calibri" pitchFamily="34" charset="0"/>
                <a:ea typeface="Calibri" pitchFamily="34" charset="-122"/>
                <a:cs typeface="Calibri" pitchFamily="34" charset="-120"/>
              </a:rPr>
              <a:t>system</a:t>
            </a:r>
            <a:endParaRPr lang="en-US" sz="1200" dirty="0"/>
          </a:p>
        </p:txBody>
      </p:sp>
      <p:sp>
        <p:nvSpPr>
          <p:cNvPr id="20" name="Shape 15"/>
          <p:cNvSpPr/>
          <p:nvPr/>
        </p:nvSpPr>
        <p:spPr>
          <a:xfrm>
            <a:off x="8022123" y="1828800"/>
            <a:ext cx="585216" cy="585216"/>
          </a:xfrm>
          <a:prstGeom prst="ellipse">
            <a:avLst/>
          </a:prstGeom>
          <a:solidFill>
            <a:srgbClr val="0F8B8D"/>
          </a:solidFill>
          <a:ln w="12700">
            <a:solidFill>
              <a:srgbClr val="0F8B8D"/>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168427" y="1975104"/>
            <a:ext cx="292608" cy="292608"/>
          </a:xfrm>
          <a:prstGeom prst="rect">
            <a:avLst/>
          </a:prstGeom>
        </p:spPr>
      </p:pic>
      <p:sp>
        <p:nvSpPr>
          <p:cNvPr id="22" name="Text 16"/>
          <p:cNvSpPr txBox="1"/>
          <p:nvPr/>
        </p:nvSpPr>
        <p:spPr>
          <a:xfrm>
            <a:off x="7205289" y="2542032"/>
            <a:ext cx="2218883" cy="320040"/>
          </a:xfrm>
          <a:prstGeom prst="rect">
            <a:avLst/>
          </a:prstGeom>
          <a:noFill/>
          <a:ln/>
        </p:spPr>
        <p:txBody>
          <a:bodyPr wrap="square" lIns="0" tIns="0" rIns="0" bIns="0" rtlCol="0" anchor="t"/>
          <a:lstStyle/>
          <a:p>
            <a:pPr marL="0" indent="0" algn="ctr">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3" name="Text 17"/>
          <p:cNvSpPr txBox="1"/>
          <p:nvPr/>
        </p:nvSpPr>
        <p:spPr>
          <a:xfrm>
            <a:off x="7278441"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4" name="Text 18"/>
          <p:cNvSpPr txBox="1"/>
          <p:nvPr/>
        </p:nvSpPr>
        <p:spPr>
          <a:xfrm>
            <a:off x="7296729" y="3419856"/>
            <a:ext cx="2036003" cy="868680"/>
          </a:xfrm>
          <a:prstGeom prst="rect">
            <a:avLst/>
          </a:prstGeom>
          <a:noFill/>
          <a:ln/>
        </p:spPr>
        <p:txBody>
          <a:bodyPr wrap="square" lIns="0" tIns="0" rIns="0" bIns="0" rtlCol="0" anchor="t"/>
          <a:lstStyle/>
          <a:p>
            <a:pPr marL="0" indent="0" algn="ctr">
              <a:buNone/>
            </a:pPr>
            <a:r>
              <a:rPr lang="vi-VN" sz="1200" dirty="0" err="1">
                <a:solidFill>
                  <a:srgbClr val="5B6578"/>
                </a:solidFill>
                <a:latin typeface="Calibri" pitchFamily="34" charset="0"/>
                <a:ea typeface="Calibri" pitchFamily="34" charset="-122"/>
                <a:cs typeface="Calibri" pitchFamily="34" charset="-120"/>
              </a:rPr>
              <a:t>Research</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Software</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Testing</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and</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Verification</a:t>
            </a:r>
            <a:endParaRPr lang="en-US" sz="1200" dirty="0"/>
          </a:p>
        </p:txBody>
      </p:sp>
      <p:sp>
        <p:nvSpPr>
          <p:cNvPr id="25" name="Shape 19"/>
          <p:cNvSpPr/>
          <p:nvPr/>
        </p:nvSpPr>
        <p:spPr>
          <a:xfrm>
            <a:off x="10241006" y="1828800"/>
            <a:ext cx="585216" cy="585216"/>
          </a:xfrm>
          <a:prstGeom prst="ellipse">
            <a:avLst/>
          </a:prstGeom>
          <a:solidFill>
            <a:srgbClr val="E39B2D"/>
          </a:solidFill>
          <a:ln w="12700">
            <a:solidFill>
              <a:srgbClr val="E39B2D"/>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10387310" y="1975104"/>
            <a:ext cx="292608" cy="292608"/>
          </a:xfrm>
          <a:prstGeom prst="rect">
            <a:avLst/>
          </a:prstGeom>
        </p:spPr>
      </p:pic>
      <p:sp>
        <p:nvSpPr>
          <p:cNvPr id="27" name="Text 20"/>
          <p:cNvSpPr txBox="1"/>
          <p:nvPr/>
        </p:nvSpPr>
        <p:spPr>
          <a:xfrm>
            <a:off x="9424172" y="2542032"/>
            <a:ext cx="2218883" cy="320040"/>
          </a:xfrm>
          <a:prstGeom prst="rect">
            <a:avLst/>
          </a:prstGeom>
          <a:noFill/>
          <a:ln/>
        </p:spPr>
        <p:txBody>
          <a:bodyPr wrap="square" lIns="0" tIns="0" rIns="0" bIns="0" rtlCol="0" anchor="t"/>
          <a:lstStyle/>
          <a:p>
            <a:pPr marL="0" indent="0" algn="ctr">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8" name="Text 21"/>
          <p:cNvSpPr txBox="1"/>
          <p:nvPr/>
        </p:nvSpPr>
        <p:spPr>
          <a:xfrm>
            <a:off x="9497324"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Software </a:t>
            </a:r>
            <a:r>
              <a:rPr lang="vi-VN" sz="1400" b="1" dirty="0">
                <a:solidFill>
                  <a:srgbClr val="1E2533"/>
                </a:solidFill>
                <a:latin typeface="Calibri" pitchFamily="34" charset="0"/>
                <a:ea typeface="Calibri" pitchFamily="34" charset="-122"/>
                <a:cs typeface="Calibri" pitchFamily="34" charset="-120"/>
              </a:rPr>
              <a:t>T</a:t>
            </a:r>
            <a:r>
              <a:rPr lang="en-US" sz="1400" b="1" dirty="0">
                <a:solidFill>
                  <a:srgbClr val="1E2533"/>
                </a:solidFill>
                <a:latin typeface="Calibri" pitchFamily="34" charset="0"/>
                <a:ea typeface="Calibri" pitchFamily="34" charset="-122"/>
                <a:cs typeface="Calibri" pitchFamily="34" charset="-120"/>
              </a:rPr>
              <a:t>est </a:t>
            </a:r>
            <a:r>
              <a:rPr lang="vi-VN" sz="1400" b="1" dirty="0">
                <a:solidFill>
                  <a:srgbClr val="1E2533"/>
                </a:solidFill>
                <a:latin typeface="Calibri" pitchFamily="34" charset="0"/>
                <a:ea typeface="Calibri" pitchFamily="34" charset="-122"/>
                <a:cs typeface="Calibri" pitchFamily="34" charset="-120"/>
              </a:rPr>
              <a:t>E</a:t>
            </a:r>
            <a:r>
              <a:rPr lang="en-US" sz="1400" b="1" dirty="0" err="1">
                <a:solidFill>
                  <a:srgbClr val="1E2533"/>
                </a:solidFill>
                <a:latin typeface="Calibri" pitchFamily="34" charset="0"/>
                <a:ea typeface="Calibri" pitchFamily="34" charset="-122"/>
                <a:cs typeface="Calibri" pitchFamily="34" charset="-120"/>
              </a:rPr>
              <a:t>ngineer</a:t>
            </a:r>
            <a:endParaRPr lang="vi-VN" sz="1400" b="1" dirty="0">
              <a:solidFill>
                <a:srgbClr val="1E2533"/>
              </a:solidFill>
              <a:latin typeface="Calibri" pitchFamily="34" charset="0"/>
              <a:ea typeface="Calibri" pitchFamily="34" charset="-122"/>
              <a:cs typeface="Calibri" pitchFamily="34" charset="-120"/>
            </a:endParaRPr>
          </a:p>
          <a:p>
            <a:pPr marL="0" indent="0" algn="ctr">
              <a:buNone/>
            </a:pPr>
            <a:r>
              <a:rPr lang="vi-VN" sz="1400" b="1" dirty="0">
                <a:solidFill>
                  <a:srgbClr val="1E2533"/>
                </a:solidFill>
                <a:latin typeface="Calibri" pitchFamily="34" charset="0"/>
                <a:ea typeface="Calibri" pitchFamily="34" charset="-122"/>
                <a:cs typeface="Calibri" pitchFamily="34" charset="-120"/>
              </a:rPr>
              <a:t>BNF @ </a:t>
            </a:r>
            <a:r>
              <a:rPr lang="vi-VN" sz="1400" b="1" dirty="0" err="1">
                <a:solidFill>
                  <a:srgbClr val="1E2533"/>
                </a:solidFill>
                <a:latin typeface="Calibri" pitchFamily="34" charset="0"/>
                <a:ea typeface="Calibri" pitchFamily="34" charset="-122"/>
                <a:cs typeface="Calibri" pitchFamily="34" charset="-120"/>
              </a:rPr>
              <a:t>Korea</a:t>
            </a:r>
            <a:endParaRPr lang="en-US" sz="1400" dirty="0"/>
          </a:p>
        </p:txBody>
      </p:sp>
      <p:sp>
        <p:nvSpPr>
          <p:cNvPr id="29" name="Text 22"/>
          <p:cNvSpPr txBox="1"/>
          <p:nvPr/>
        </p:nvSpPr>
        <p:spPr>
          <a:xfrm>
            <a:off x="9515612"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Web/API/system testing</a:t>
            </a:r>
            <a:endParaRPr lang="vi-VN" sz="1200" dirty="0">
              <a:solidFill>
                <a:srgbClr val="5B6578"/>
              </a:solidFill>
              <a:latin typeface="Calibri" pitchFamily="34" charset="0"/>
              <a:ea typeface="Calibri" pitchFamily="34" charset="-122"/>
              <a:cs typeface="Calibri" pitchFamily="34" charset="-120"/>
            </a:endParaRPr>
          </a:p>
          <a:p>
            <a:pPr marL="0" indent="0" algn="ctr">
              <a:buNone/>
            </a:pPr>
            <a:r>
              <a:rPr lang="en-US" sz="1200" dirty="0">
                <a:solidFill>
                  <a:srgbClr val="5B6578"/>
                </a:solidFill>
                <a:latin typeface="Calibri" pitchFamily="34" charset="0"/>
                <a:ea typeface="Calibri" pitchFamily="34" charset="-122"/>
                <a:cs typeface="Calibri" pitchFamily="34" charset="-120"/>
              </a:rPr>
              <a:t>LLM, RAG &amp; MCP-based test generation</a:t>
            </a:r>
            <a:endParaRPr lang="en-US" sz="1200" dirty="0"/>
          </a:p>
        </p:txBody>
      </p:sp>
      <p:sp>
        <p:nvSpPr>
          <p:cNvPr id="30" name="Shape 23"/>
          <p:cNvSpPr/>
          <p:nvPr/>
        </p:nvSpPr>
        <p:spPr>
          <a:xfrm>
            <a:off x="548640" y="4617720"/>
            <a:ext cx="11094415" cy="1234440"/>
          </a:xfrm>
          <a:prstGeom prst="roundRect">
            <a:avLst>
              <a:gd name="adj" fmla="val 8889"/>
            </a:avLst>
          </a:prstGeom>
          <a:solidFill>
            <a:srgbClr val="F2F5F9"/>
          </a:solidFill>
          <a:ln w="12700">
            <a:solidFill>
              <a:srgbClr val="F2F5F9"/>
            </a:solidFill>
            <a:prstDash val="solid"/>
          </a:ln>
        </p:spPr>
        <p:txBody>
          <a:bodyPr/>
          <a:lstStyle/>
          <a:p>
            <a:endParaRPr lang="en-US"/>
          </a:p>
        </p:txBody>
      </p:sp>
      <p:sp>
        <p:nvSpPr>
          <p:cNvPr id="31" name="Text 24"/>
          <p:cNvSpPr txBox="1"/>
          <p:nvPr/>
        </p:nvSpPr>
        <p:spPr>
          <a:xfrm>
            <a:off x="822960" y="4782312"/>
            <a:ext cx="10545775" cy="914400"/>
          </a:xfrm>
          <a:prstGeom prst="rect">
            <a:avLst/>
          </a:prstGeom>
          <a:noFill/>
          <a:ln/>
        </p:spPr>
        <p:txBody>
          <a:bodyPr wrap="square" lIns="0" tIns="0" rIns="0" bIns="0" rtlCol="0" anchor="ctr"/>
          <a:lstStyle/>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Thesis  </a:t>
            </a: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Papers  </a:t>
            </a: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2E8B57"/>
                </a:solidFill>
                <a:latin typeface="Calibri" pitchFamily="34" charset="0"/>
                <a:ea typeface="Calibri" pitchFamily="34" charset="-122"/>
                <a:cs typeface="Calibri" pitchFamily="34" charset="-120"/>
              </a:rPr>
              <a:t>PART C · WHAT I BRING</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I bring, and why this team</a:t>
            </a:r>
            <a:endParaRPr lang="en-US" sz="3000" dirty="0"/>
          </a:p>
        </p:txBody>
      </p:sp>
      <p:sp>
        <p:nvSpPr>
          <p:cNvPr id="4" name="Shape 2"/>
          <p:cNvSpPr/>
          <p:nvPr/>
        </p:nvSpPr>
        <p:spPr>
          <a:xfrm>
            <a:off x="548640" y="13258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777240" y="1554480"/>
            <a:ext cx="548640" cy="548640"/>
          </a:xfrm>
          <a:prstGeom prst="ellipse">
            <a:avLst/>
          </a:prstGeom>
          <a:solidFill>
            <a:srgbClr val="3567C8"/>
          </a:solidFill>
          <a:ln w="12700">
            <a:solidFill>
              <a:srgbClr val="3567C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1691640"/>
            <a:ext cx="274320" cy="274320"/>
          </a:xfrm>
          <a:prstGeom prst="rect">
            <a:avLst/>
          </a:prstGeom>
        </p:spPr>
      </p:pic>
      <p:sp>
        <p:nvSpPr>
          <p:cNvPr id="7" name="Text 4"/>
          <p:cNvSpPr txBox="1"/>
          <p:nvPr/>
        </p:nvSpPr>
        <p:spPr>
          <a:xfrm>
            <a:off x="1463040" y="15270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Testing cyber-physical systems</a:t>
            </a:r>
            <a:endParaRPr lang="en-US" sz="1500" dirty="0"/>
          </a:p>
        </p:txBody>
      </p:sp>
      <p:sp>
        <p:nvSpPr>
          <p:cNvPr id="8" name="Text 5"/>
          <p:cNvSpPr txBox="1"/>
          <p:nvPr/>
        </p:nvSpPr>
        <p:spPr>
          <a:xfrm>
            <a:off x="777240" y="22219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Automotive ECU testing (CAN, CAPL, ETAS INCA); robotics (ROS/ROS2) and embedded domains</a:t>
            </a:r>
            <a:endParaRPr lang="en-US" sz="1300" dirty="0"/>
          </a:p>
        </p:txBody>
      </p:sp>
      <p:sp>
        <p:nvSpPr>
          <p:cNvPr id="9" name="Shape 6"/>
          <p:cNvSpPr/>
          <p:nvPr/>
        </p:nvSpPr>
        <p:spPr>
          <a:xfrm>
            <a:off x="4297680" y="13258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4526280" y="1554480"/>
            <a:ext cx="548640" cy="548640"/>
          </a:xfrm>
          <a:prstGeom prst="ellipse">
            <a:avLst/>
          </a:prstGeom>
          <a:solidFill>
            <a:srgbClr val="0F8B8D"/>
          </a:solidFill>
          <a:ln w="12700">
            <a:solidFill>
              <a:srgbClr val="0F8B8D"/>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3440" y="1691640"/>
            <a:ext cx="274320" cy="274320"/>
          </a:xfrm>
          <a:prstGeom prst="rect">
            <a:avLst/>
          </a:prstGeom>
        </p:spPr>
      </p:pic>
      <p:sp>
        <p:nvSpPr>
          <p:cNvPr id="12" name="Text 8"/>
          <p:cNvSpPr txBox="1"/>
          <p:nvPr/>
        </p:nvSpPr>
        <p:spPr>
          <a:xfrm>
            <a:off x="5212080" y="15270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Verification research</a:t>
            </a:r>
            <a:endParaRPr lang="en-US" sz="1500" dirty="0"/>
          </a:p>
        </p:txBody>
      </p:sp>
      <p:sp>
        <p:nvSpPr>
          <p:cNvPr id="13" name="Text 9"/>
          <p:cNvSpPr txBox="1"/>
          <p:nvPr/>
        </p:nvSpPr>
        <p:spPr>
          <a:xfrm>
            <a:off x="4526280" y="22219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Falsification, function abstraction via active learning, property-based testing — close to robustness-guided falsification [14]</a:t>
            </a:r>
            <a:endParaRPr lang="en-US" sz="1300" dirty="0"/>
          </a:p>
        </p:txBody>
      </p:sp>
      <p:sp>
        <p:nvSpPr>
          <p:cNvPr id="14" name="Shape 10"/>
          <p:cNvSpPr/>
          <p:nvPr/>
        </p:nvSpPr>
        <p:spPr>
          <a:xfrm>
            <a:off x="548640" y="33832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15" name="Shape 11"/>
          <p:cNvSpPr/>
          <p:nvPr/>
        </p:nvSpPr>
        <p:spPr>
          <a:xfrm>
            <a:off x="777240" y="3611880"/>
            <a:ext cx="548640" cy="548640"/>
          </a:xfrm>
          <a:prstGeom prst="ellipse">
            <a:avLst/>
          </a:prstGeom>
          <a:solidFill>
            <a:srgbClr val="E39B2D"/>
          </a:solidFill>
          <a:ln w="12700">
            <a:solidFill>
              <a:srgbClr val="E39B2D"/>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914400" y="3749040"/>
            <a:ext cx="274320" cy="274320"/>
          </a:xfrm>
          <a:prstGeom prst="rect">
            <a:avLst/>
          </a:prstGeom>
        </p:spPr>
      </p:pic>
      <p:sp>
        <p:nvSpPr>
          <p:cNvPr id="17" name="Text 12"/>
          <p:cNvSpPr txBox="1"/>
          <p:nvPr/>
        </p:nvSpPr>
        <p:spPr>
          <a:xfrm>
            <a:off x="1463040" y="35844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LLMs for quality engineering</a:t>
            </a:r>
            <a:endParaRPr lang="en-US" sz="1500" dirty="0"/>
          </a:p>
        </p:txBody>
      </p:sp>
      <p:sp>
        <p:nvSpPr>
          <p:cNvPr id="18" name="Text 13"/>
          <p:cNvSpPr txBox="1"/>
          <p:nvPr/>
        </p:nvSpPr>
        <p:spPr>
          <a:xfrm>
            <a:off x="777240" y="42793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Built QA-Flow end to end: RAG, LLM agents, MCP-based workflows, Playwright</a:t>
            </a:r>
            <a:endParaRPr lang="en-US" sz="1300" dirty="0"/>
          </a:p>
        </p:txBody>
      </p:sp>
      <p:sp>
        <p:nvSpPr>
          <p:cNvPr id="19" name="Shape 14"/>
          <p:cNvSpPr/>
          <p:nvPr/>
        </p:nvSpPr>
        <p:spPr>
          <a:xfrm>
            <a:off x="4297680" y="33832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20" name="Shape 15"/>
          <p:cNvSpPr/>
          <p:nvPr/>
        </p:nvSpPr>
        <p:spPr>
          <a:xfrm>
            <a:off x="4526280" y="3611880"/>
            <a:ext cx="548640" cy="548640"/>
          </a:xfrm>
          <a:prstGeom prst="ellipse">
            <a:avLst/>
          </a:prstGeom>
          <a:solidFill>
            <a:srgbClr val="6E56CF"/>
          </a:solidFill>
          <a:ln w="12700">
            <a:solidFill>
              <a:srgbClr val="6E56C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4663440" y="3749040"/>
            <a:ext cx="274320" cy="274320"/>
          </a:xfrm>
          <a:prstGeom prst="rect">
            <a:avLst/>
          </a:prstGeom>
        </p:spPr>
      </p:pic>
      <p:sp>
        <p:nvSpPr>
          <p:cNvPr id="22" name="Text 16"/>
          <p:cNvSpPr txBox="1"/>
          <p:nvPr/>
        </p:nvSpPr>
        <p:spPr>
          <a:xfrm>
            <a:off x="5212080" y="35844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Python &amp; empirical studies</a:t>
            </a:r>
            <a:endParaRPr lang="en-US" sz="1500" dirty="0"/>
          </a:p>
        </p:txBody>
      </p:sp>
      <p:sp>
        <p:nvSpPr>
          <p:cNvPr id="23" name="Text 17"/>
          <p:cNvSpPr txBox="1"/>
          <p:nvPr/>
        </p:nvSpPr>
        <p:spPr>
          <a:xfrm>
            <a:off x="4526280" y="42793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Controlled experiments on test generators (KCC'25, KCSE'26); ground-truth check of QA-Flow in this talk</a:t>
            </a:r>
            <a:endParaRPr lang="en-US" sz="1300" dirty="0"/>
          </a:p>
        </p:txBody>
      </p:sp>
      <p:sp>
        <p:nvSpPr>
          <p:cNvPr id="24" name="Shape 18"/>
          <p:cNvSpPr/>
          <p:nvPr/>
        </p:nvSpPr>
        <p:spPr>
          <a:xfrm>
            <a:off x="8092440" y="1325880"/>
            <a:ext cx="3547872" cy="3977640"/>
          </a:xfrm>
          <a:prstGeom prst="roundRect">
            <a:avLst>
              <a:gd name="adj" fmla="val 3093"/>
            </a:avLst>
          </a:prstGeom>
          <a:solidFill>
            <a:srgbClr val="13213C"/>
          </a:solidFill>
          <a:ln w="12700">
            <a:solidFill>
              <a:srgbClr val="13213C"/>
            </a:solidFill>
            <a:prstDash val="solid"/>
          </a:ln>
        </p:spPr>
        <p:txBody>
          <a:bodyPr/>
          <a:lstStyle/>
          <a:p>
            <a:endParaRPr lang="en-US"/>
          </a:p>
        </p:txBody>
      </p:sp>
      <p:sp>
        <p:nvSpPr>
          <p:cNvPr id="25" name="Text 19"/>
          <p:cNvSpPr txBox="1"/>
          <p:nvPr/>
        </p:nvSpPr>
        <p:spPr>
          <a:xfrm>
            <a:off x="8321040" y="1508760"/>
            <a:ext cx="310896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Why this team</a:t>
            </a:r>
            <a:endParaRPr lang="en-US" sz="1700" dirty="0"/>
          </a:p>
        </p:txBody>
      </p:sp>
      <p:sp>
        <p:nvSpPr>
          <p:cNvPr id="26" name="Text 20"/>
          <p:cNvSpPr txBox="1"/>
          <p:nvPr/>
        </p:nvSpPr>
        <p:spPr>
          <a:xfrm>
            <a:off x="8321040" y="1965960"/>
            <a:ext cx="31546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Uncertainty-wise CPS testing (Simula)</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ADS testing &amp; falsification (NII)</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Industrial CPS oracles &amp; elevators (Mondragon)</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My work sits exactly where the three meet</a:t>
            </a:r>
            <a:endParaRPr lang="en-US" sz="1400" dirty="0"/>
          </a:p>
        </p:txBody>
      </p:sp>
      <p:sp>
        <p:nvSpPr>
          <p:cNvPr id="27" name="Text 21"/>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[14] Z. Zhang et al., “FalsifAI: Falsification of AI-enabled hybrid control systems guided by time-aware coverage criteria,” IEEE TSE, 2023.</a:t>
            </a:r>
            <a:endParaRPr lang="en-US" sz="9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38047" y="2113571"/>
            <a:ext cx="10515600" cy="1097280"/>
          </a:xfrm>
          <a:prstGeom prst="rect">
            <a:avLst/>
          </a:prstGeom>
          <a:noFill/>
          <a:ln/>
        </p:spPr>
        <p:txBody>
          <a:bodyPr wrap="square" lIns="0" tIns="0" rIns="0" bIns="0" rtlCol="0" anchor="t"/>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1752447" y="3076303"/>
            <a:ext cx="8686800" cy="1737360"/>
          </a:xfrm>
          <a:prstGeom prst="rect">
            <a:avLst/>
          </a:prstGeom>
          <a:noFill/>
          <a:ln/>
        </p:spPr>
        <p:txBody>
          <a:bodyPr wrap="square" lIns="0" tIns="0" rIns="0" bIns="0" rtlCol="0" anchor="t"/>
          <a:lstStyle/>
          <a:p>
            <a:pPr marL="177800" indent="-177800">
              <a:spcAft>
                <a:spcPts val="600"/>
              </a:spcAft>
              <a:buSzPct val="100000"/>
              <a:buChar char="•"/>
            </a:pPr>
            <a:endParaRPr lang="en-US" sz="1800" dirty="0"/>
          </a:p>
        </p:txBody>
      </p:sp>
      <p:pic>
        <p:nvPicPr>
          <p:cNvPr id="5" name="Image 0" descr="D:\git\phd\uq-testgen\deck\assets\strip.png"/>
          <p:cNvPicPr>
            <a:picLocks noChangeAspect="1"/>
          </p:cNvPicPr>
          <p:nvPr/>
        </p:nvPicPr>
        <p:blipFill>
          <a:blip r:embed="rId3"/>
          <a:stretch>
            <a:fillRect/>
          </a:stretch>
        </p:blipFill>
        <p:spPr>
          <a:xfrm>
            <a:off x="0" y="5641848"/>
            <a:ext cx="12191695" cy="12191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QA-Flow demo: planted defects, faults and gates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3200400"/>
        </p:xfrm>
        <a:graphic>
          <a:graphicData uri="http://schemas.openxmlformats.org/drawingml/2006/table">
            <a:tbl>
              <a:tblPr/>
              <a:tblGrid>
                <a:gridCol w="3291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rPr>
                        <a:t>Planted defect (ShopLite)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Type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Found by test(s)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E2533"/>
                          </a:solidFill>
                        </a:rPr>
                        <a:t>SAVE10 subtracts €10 instead of 10 %</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web</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E2533"/>
                          </a:solidFill>
                        </a:rPr>
                        <a:t>Unknown product → 500 instead of 404</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TC-19.1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E2533"/>
                          </a:solidFill>
                        </a:rPr>
                        <a:t>Quantity 0 / negative accepted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TC-09.2, TC-22.2, TC-24.2, TC-24.3, TC-25.1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E2533"/>
                          </a:solidFill>
                        </a:rPr>
                        <a:t>No Content-Security-Policy header</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TC-06.3, TC-29.1, TC-29.2,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E2533"/>
                          </a:solidFill>
                        </a:rPr>
                        <a:t>Reflected XSS in search</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TC-06.3,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5"/>
                  </a:ext>
                </a:extLst>
              </a:tr>
              <a:tr h="384048">
                <a:tc>
                  <a:txBody>
                    <a:bodyPr/>
                    <a:lstStyle/>
                    <a:p>
                      <a:pPr marL="0" indent="0">
                        <a:buNone/>
                      </a:pPr>
                      <a:r>
                        <a:rPr lang="en-US" sz="1200" dirty="0">
                          <a:solidFill>
                            <a:srgbClr val="1E2533"/>
                          </a:solidFill>
                        </a:rPr>
                        <a:t>Login reveals registered emails</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TC-31.1, TC-32.1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00" dirty="0">
                          <a:solidFill>
                            <a:srgbClr val="1E2533"/>
                          </a:solidFill>
                        </a:rPr>
                        <a:t>IDOR: other users' orders readable</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7"/>
                  </a:ext>
                </a:extLst>
              </a:tr>
            </a:tbl>
          </a:graphicData>
        </a:graphic>
      </p:graphicFrame>
      <p:sp>
        <p:nvSpPr>
          <p:cNvPr id="4" name="Shape 1"/>
          <p:cNvSpPr/>
          <p:nvPr/>
        </p:nvSpPr>
        <p:spPr>
          <a:xfrm>
            <a:off x="7498080" y="1325880"/>
            <a:ext cx="4142232" cy="4480560"/>
          </a:xfrm>
          <a:prstGeom prst="roundRect">
            <a:avLst>
              <a:gd name="adj" fmla="val 2649"/>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7726680" y="1463040"/>
            <a:ext cx="374904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Run details</a:t>
            </a:r>
            <a:endParaRPr lang="en-US" sz="1600" dirty="0"/>
          </a:p>
        </p:txBody>
      </p:sp>
      <p:sp>
        <p:nvSpPr>
          <p:cNvPr id="6" name="Text 3"/>
          <p:cNvSpPr txBox="1"/>
          <p:nvPr/>
        </p:nvSpPr>
        <p:spPr>
          <a:xfrm>
            <a:off x="7726680" y="1874520"/>
            <a:ext cx="3749040" cy="38404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34 requirements, 62 tests (51 LLM-designed, 11 rule-derived)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Schema gate: 55 agent replies, 2 rejected, 0 repaired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Grounding gate: 0 tests ungrounded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Fault gate: 13 broken builds; 13 passing tests never failed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Wrong tests among FAILs: TC-10.1, TC-11.1, TC-20.1, TC-27.1, TC-27.2, TC-28.1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Total run time 23 min (gpt-5.6-luna)</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572000"/>
        </p:xfrm>
        <a:graphic>
          <a:graphicData uri="http://schemas.openxmlformats.org/drawingml/2006/table">
            <a:tbl>
              <a:tblPr/>
              <a:tblGrid>
                <a:gridCol w="16459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914400">
                <a:tc>
                  <a:txBody>
                    <a:bodyPr/>
                    <a:lstStyle/>
                    <a:p>
                      <a:pPr marL="0" indent="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In the demos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Wrong test = still fails after the planted defects are fixed; planted defects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Ground truth and prompts designed by me</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Independent labelling; several prompt variants; pre-registered designs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One web shop, one AI model, 62 tests in one run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6 wrong tests out of 18 FAILs: small numbers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Repeated runs, larger benchmarks,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371600"/>
            <a:ext cx="6766560" cy="402336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r>
              <a:rPr lang="en-US" sz="1600" dirty="0">
                <a:solidFill>
                  <a:srgbClr val="1E2533"/>
                </a:solidFill>
                <a:latin typeface="Calibri" pitchFamily="34" charset="0"/>
                <a:ea typeface="Calibri" pitchFamily="34" charset="-122"/>
                <a:cs typeface="Calibri" pitchFamily="34" charset="-120"/>
              </a:rPr>
              <a:t>do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1920240"/>
            <a:ext cx="2194560" cy="2194560"/>
          </a:xfrm>
          <a:prstGeom prst="ellipse">
            <a:avLst/>
          </a:prstGeom>
          <a:solidFill>
            <a:srgbClr val="6E56CF"/>
          </a:solidFill>
          <a:ln w="12700">
            <a:solidFill>
              <a:srgbClr val="6E56C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0" y="2468880"/>
            <a:ext cx="1097280" cy="1097280"/>
          </a:xfrm>
          <a:prstGeom prst="rect">
            <a:avLst/>
          </a:prstGeom>
        </p:spPr>
      </p:pic>
      <p:sp>
        <p:nvSpPr>
          <p:cNvPr id="6" name="Text 3"/>
          <p:cNvSpPr txBox="1"/>
          <p:nvPr/>
        </p:nvSpPr>
        <p:spPr>
          <a:xfrm>
            <a:off x="548640" y="5577840"/>
            <a:ext cx="11094415" cy="85039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[19] S. Ali et al., “Assessing the effectiveness of input and output coverage criteria for testing quantum programs,” Proc. IEEE ICST, 2021.</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[22] X. Wang et al., “Quantum artificial intelligence for software engineering: The road ahead,” ACM TOSEM, 2026.</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5754</Words>
  <Application>Microsoft Office PowerPoint</Application>
  <PresentationFormat>Widescreen</PresentationFormat>
  <Paragraphs>406</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InnoGuard Interview</vt:lpstr>
      <vt:lpstr>When can we trust AI-generated tests? Uncertainty quantification for risk-based testing of autonomous CPS</vt:lpstr>
      <vt:lpstr>Write tests manually does not scale</vt:lpstr>
      <vt:lpstr>QA-Flow: from a requirements document to a bug report</vt:lpstr>
      <vt:lpstr>It finds real bugs — but 6 of its 18 FAILs are false alarms</vt:lpstr>
      <vt:lpstr>What PASS, FAIL, REVIEW and false alarm mean</vt:lpstr>
      <vt:lpstr>Inside one wrong test: the SAVE10 discount code</vt:lpstr>
      <vt:lpstr>The rules check the form of a test, not its meaning</vt:lpstr>
      <vt:lpstr>When can we trust an AI-generated test?</vt:lpstr>
      <vt:lpstr>The four PhD objectives</vt:lpstr>
      <vt:lpstr>From Demo 1's gaps to the PhD plan</vt:lpstr>
      <vt:lpstr>Research questions and how I will answer them</vt:lpstr>
      <vt:lpstr>36-month plan with secondment and publications</vt:lpstr>
      <vt:lpstr>Expected contributions to InnoGuard</vt:lpstr>
      <vt:lpstr>My Background</vt:lpstr>
      <vt:lpstr>What I bring, and why this team</vt:lpstr>
      <vt:lpstr>Thank you</vt:lpstr>
      <vt:lpstr>Backup · QA-Flow demo: planted defects, faults and gates</vt:lpstr>
      <vt:lpstr>Backup · Threats to validity and mitigations</vt:lpstr>
      <vt:lpstr>Backup · Towards uncertainty of quantum ML models (O4)</vt:lpstr>
      <vt:lpstr>References (1/2)</vt:lpstr>
      <vt:lpstr>References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Za Vinh Le</cp:lastModifiedBy>
  <cp:revision>6</cp:revision>
  <dcterms:created xsi:type="dcterms:W3CDTF">2026-10-27T13:53:07Z</dcterms:created>
  <dcterms:modified xsi:type="dcterms:W3CDTF">2026-10-28T00:27:20Z</dcterms:modified>
</cp:coreProperties>
</file>
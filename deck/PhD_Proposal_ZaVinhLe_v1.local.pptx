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57" r:id="rId19"/>
    <p:sldId id="258"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8272FB-216D-E317-1B84-D4FCCF81914E}">
          <p14:sldIdLst>
            <p14:sldId id="256"/>
          </p14:sldIdLst>
        </p14:section>
        <p14:section name="Problem" id="{F5E1CAA9-CACF-C5E0-4D65-05FF7F147972}">
          <p14:sldIdLst>
            <p14:sldId id="259"/>
            <p14:sldId id="260"/>
          </p14:sldIdLst>
        </p14:section>
        <p14:section name="Background" id="{2645A00A-5BBA-88D3-C810-F2770065C550}">
          <p14:sldIdLst>
            <p14:sldId id="261"/>
            <p14:sldId id="262"/>
          </p14:sldIdLst>
        </p14:section>
        <p14:section name="Prototype" id="{58CE1AC8-0011-1B9C-4A87-D4BA97549BD7}">
          <p14:sldIdLst>
            <p14:sldId id="263"/>
            <p14:sldId id="264"/>
            <p14:sldId id="265"/>
            <p14:sldId id="266"/>
          </p14:sldIdLst>
        </p14:section>
        <p14:section name="Results" id="{0B3C8B72-03CA-3B0D-2FD5-DD93080D01FD}">
          <p14:sldIdLst>
            <p14:sldId id="267"/>
            <p14:sldId id="268"/>
            <p14:sldId id="269"/>
          </p14:sldIdLst>
        </p14:section>
        <p14:section name="Research plan" id="{A95D7A07-B5C2-D645-6C45-BFF5F989DDD2}">
          <p14:sldIdLst>
            <p14:sldId id="270"/>
            <p14:sldId id="271"/>
            <p14:sldId id="272"/>
            <p14:sldId id="273"/>
            <p14:sldId id="274"/>
          </p14:sldIdLst>
        </p14:section>
        <p14:section name="My preparation" id="{8EE64156-ED18-46D1-ADB6-4DD08A96AD6C}">
          <p14:sldIdLst>
            <p14:sldId id="257"/>
            <p14:sldId id="258"/>
          </p14:sldIdLst>
        </p14:section>
        <p14:section name="Backup" id="{6DAB06F9-9983-1457-8AC4-5853A99829C2}">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808" autoAdjust="0"/>
    <p:restoredTop sz="94610"/>
  </p:normalViewPr>
  <p:slideViewPr>
    <p:cSldViewPr snapToGrid="0" snapToObjects="1">
      <p:cViewPr varScale="1">
        <p:scale>
          <a:sx n="70" d="100"/>
          <a:sy n="70" d="100"/>
        </p:scale>
        <p:origin x="72"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AUROC for detecting incorrect tests (0.5 = random)</a:t>
            </a:r>
          </a:p>
        </c:rich>
      </c:tx>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Sheet1!$B$2:$B$6</c:f>
              <c:numCache>
                <c:formatCode>General</c:formatCode>
                <c:ptCount val="5"/>
                <c:pt idx="0">
                  <c:v>0.74</c:v>
                </c:pt>
                <c:pt idx="1">
                  <c:v>0.67</c:v>
                </c:pt>
                <c:pt idx="2">
                  <c:v>0.9</c:v>
                </c:pt>
                <c:pt idx="3">
                  <c:v>0.46</c:v>
                </c:pt>
                <c:pt idx="4">
                  <c:v>0.89</c:v>
                </c:pt>
              </c:numCache>
            </c:numRef>
          </c:val>
          <c:extLst>
            <c:ext xmlns:c16="http://schemas.microsoft.com/office/drawing/2014/chart" uri="{C3380CC4-5D6E-409C-BE32-E72D297353CC}">
              <c16:uniqueId val="{00000000-B4B9-4E2D-8BAA-2AEB490CF4D9}"/>
            </c:ext>
          </c:extLst>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Sheet1!$C$2:$C$6</c:f>
              <c:numCache>
                <c:formatCode>General</c:formatCode>
                <c:ptCount val="5"/>
                <c:pt idx="0">
                  <c:v>0.62</c:v>
                </c:pt>
                <c:pt idx="1">
                  <c:v>0.55000000000000004</c:v>
                </c:pt>
                <c:pt idx="2">
                  <c:v>0.71</c:v>
                </c:pt>
                <c:pt idx="3">
                  <c:v>0.49</c:v>
                </c:pt>
                <c:pt idx="4">
                  <c:v>0.71</c:v>
                </c:pt>
              </c:numCache>
            </c:numRef>
          </c:val>
          <c:extLst>
            <c:ext xmlns:c16="http://schemas.microsoft.com/office/drawing/2014/chart" uri="{C3380CC4-5D6E-409C-BE32-E72D297353CC}">
              <c16:uniqueId val="{00000001-B4B9-4E2D-8BAA-2AEB490CF4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Accept the least uncertain tests first</a:t>
            </a:r>
          </a:p>
        </c:rich>
      </c:tx>
      <c:overlay val="0"/>
    </c:title>
    <c:autoTitleDeleted val="0"/>
    <c:plotArea>
      <c:layout/>
      <c:scatterChart>
        <c:scatterStyle val="lineMarker"/>
        <c:varyColors val="0"/>
        <c:ser>
          <c:idx val="0"/>
          <c:order val="0"/>
          <c:tx>
            <c:strRef>
              <c:f>Sheet1!$B$1</c:f>
              <c:strCache>
                <c:ptCount val="1"/>
                <c:pt idx="0">
                  <c:v>Combined uncertainty</c:v>
                </c:pt>
              </c:strCache>
            </c:strRef>
          </c:tx>
          <c:spPr>
            <a:ln w="31750" cap="flat">
              <a:solidFill>
                <a:srgbClr val="0F8B8D"/>
              </a:solidFill>
              <a:prstDash val="solid"/>
              <a:round/>
            </a:ln>
            <a:effectLst/>
          </c:spPr>
          <c:marker>
            <c:symbol val="none"/>
          </c:marker>
          <c:xVal>
            <c:numRef>
              <c:f>Sheet1!$A$2:$A$72</c:f>
              <c:numCache>
                <c:formatCode>General</c:formatCode>
                <c:ptCount val="71"/>
                <c:pt idx="0">
                  <c:v>5.0000000000000001E-3</c:v>
                </c:pt>
                <c:pt idx="1">
                  <c:v>1.9E-2</c:v>
                </c:pt>
                <c:pt idx="2">
                  <c:v>3.3000000000000002E-2</c:v>
                </c:pt>
                <c:pt idx="3">
                  <c:v>4.8000000000000001E-2</c:v>
                </c:pt>
                <c:pt idx="4">
                  <c:v>6.2E-2</c:v>
                </c:pt>
                <c:pt idx="5">
                  <c:v>7.5999999999999998E-2</c:v>
                </c:pt>
                <c:pt idx="6">
                  <c:v>0.09</c:v>
                </c:pt>
                <c:pt idx="7">
                  <c:v>0.105</c:v>
                </c:pt>
                <c:pt idx="8">
                  <c:v>0.11899999999999999</c:v>
                </c:pt>
                <c:pt idx="9">
                  <c:v>0.13300000000000001</c:v>
                </c:pt>
                <c:pt idx="10">
                  <c:v>0.14799999999999999</c:v>
                </c:pt>
                <c:pt idx="11">
                  <c:v>0.16200000000000001</c:v>
                </c:pt>
                <c:pt idx="12">
                  <c:v>0.17599999999999999</c:v>
                </c:pt>
                <c:pt idx="13">
                  <c:v>0.19</c:v>
                </c:pt>
                <c:pt idx="14">
                  <c:v>0.20499999999999999</c:v>
                </c:pt>
                <c:pt idx="15">
                  <c:v>0.219</c:v>
                </c:pt>
                <c:pt idx="16">
                  <c:v>0.23300000000000001</c:v>
                </c:pt>
                <c:pt idx="17">
                  <c:v>0.248</c:v>
                </c:pt>
                <c:pt idx="18">
                  <c:v>0.26200000000000001</c:v>
                </c:pt>
                <c:pt idx="19">
                  <c:v>0.27600000000000002</c:v>
                </c:pt>
                <c:pt idx="20">
                  <c:v>0.28999999999999998</c:v>
                </c:pt>
                <c:pt idx="21">
                  <c:v>0.30499999999999999</c:v>
                </c:pt>
                <c:pt idx="22">
                  <c:v>0.31900000000000001</c:v>
                </c:pt>
                <c:pt idx="23">
                  <c:v>0.33300000000000002</c:v>
                </c:pt>
                <c:pt idx="24">
                  <c:v>0.34799999999999998</c:v>
                </c:pt>
                <c:pt idx="25">
                  <c:v>0.36199999999999999</c:v>
                </c:pt>
                <c:pt idx="26">
                  <c:v>0.376</c:v>
                </c:pt>
                <c:pt idx="27">
                  <c:v>0.39</c:v>
                </c:pt>
                <c:pt idx="28">
                  <c:v>0.40500000000000003</c:v>
                </c:pt>
                <c:pt idx="29">
                  <c:v>0.41899999999999998</c:v>
                </c:pt>
                <c:pt idx="30">
                  <c:v>0.433</c:v>
                </c:pt>
                <c:pt idx="31">
                  <c:v>0.44800000000000001</c:v>
                </c:pt>
                <c:pt idx="32">
                  <c:v>0.46200000000000002</c:v>
                </c:pt>
                <c:pt idx="33">
                  <c:v>0.47599999999999998</c:v>
                </c:pt>
                <c:pt idx="34">
                  <c:v>0.49</c:v>
                </c:pt>
                <c:pt idx="35">
                  <c:v>0.505</c:v>
                </c:pt>
                <c:pt idx="36">
                  <c:v>0.51900000000000002</c:v>
                </c:pt>
                <c:pt idx="37">
                  <c:v>0.53300000000000003</c:v>
                </c:pt>
                <c:pt idx="38">
                  <c:v>0.54800000000000004</c:v>
                </c:pt>
                <c:pt idx="39">
                  <c:v>0.56200000000000006</c:v>
                </c:pt>
                <c:pt idx="40">
                  <c:v>0.57599999999999996</c:v>
                </c:pt>
                <c:pt idx="41">
                  <c:v>0.59</c:v>
                </c:pt>
                <c:pt idx="42">
                  <c:v>0.60499999999999998</c:v>
                </c:pt>
                <c:pt idx="43">
                  <c:v>0.61899999999999999</c:v>
                </c:pt>
                <c:pt idx="44">
                  <c:v>0.63300000000000001</c:v>
                </c:pt>
                <c:pt idx="45">
                  <c:v>0.64800000000000002</c:v>
                </c:pt>
                <c:pt idx="46">
                  <c:v>0.66200000000000003</c:v>
                </c:pt>
                <c:pt idx="47">
                  <c:v>0.67600000000000005</c:v>
                </c:pt>
                <c:pt idx="48">
                  <c:v>0.69</c:v>
                </c:pt>
                <c:pt idx="49">
                  <c:v>0.70499999999999996</c:v>
                </c:pt>
                <c:pt idx="50">
                  <c:v>0.71899999999999997</c:v>
                </c:pt>
                <c:pt idx="51">
                  <c:v>0.73299999999999998</c:v>
                </c:pt>
                <c:pt idx="52">
                  <c:v>0.748</c:v>
                </c:pt>
                <c:pt idx="53">
                  <c:v>0.76200000000000001</c:v>
                </c:pt>
                <c:pt idx="54">
                  <c:v>0.77600000000000002</c:v>
                </c:pt>
                <c:pt idx="55">
                  <c:v>0.79</c:v>
                </c:pt>
                <c:pt idx="56">
                  <c:v>0.80500000000000005</c:v>
                </c:pt>
                <c:pt idx="57">
                  <c:v>0.81899999999999995</c:v>
                </c:pt>
                <c:pt idx="58">
                  <c:v>0.83299999999999996</c:v>
                </c:pt>
                <c:pt idx="59">
                  <c:v>0.84799999999999998</c:v>
                </c:pt>
                <c:pt idx="60">
                  <c:v>0.86199999999999999</c:v>
                </c:pt>
                <c:pt idx="61">
                  <c:v>0.876</c:v>
                </c:pt>
                <c:pt idx="62">
                  <c:v>0.89</c:v>
                </c:pt>
                <c:pt idx="63">
                  <c:v>0.90500000000000003</c:v>
                </c:pt>
                <c:pt idx="64">
                  <c:v>0.91900000000000004</c:v>
                </c:pt>
                <c:pt idx="65">
                  <c:v>0.93300000000000005</c:v>
                </c:pt>
                <c:pt idx="66">
                  <c:v>0.94799999999999995</c:v>
                </c:pt>
                <c:pt idx="67">
                  <c:v>0.96199999999999997</c:v>
                </c:pt>
                <c:pt idx="68">
                  <c:v>0.97599999999999998</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0.99299999999999999</c:v>
                </c:pt>
                <c:pt idx="49">
                  <c:v>0.98599999999999999</c:v>
                </c:pt>
                <c:pt idx="50">
                  <c:v>0.98699999999999999</c:v>
                </c:pt>
                <c:pt idx="51">
                  <c:v>0.98699999999999999</c:v>
                </c:pt>
                <c:pt idx="52">
                  <c:v>0.98699999999999999</c:v>
                </c:pt>
                <c:pt idx="53">
                  <c:v>0.98799999999999999</c:v>
                </c:pt>
                <c:pt idx="54">
                  <c:v>0.98799999999999999</c:v>
                </c:pt>
                <c:pt idx="55">
                  <c:v>0.98799999999999999</c:v>
                </c:pt>
                <c:pt idx="56">
                  <c:v>0.98199999999999998</c:v>
                </c:pt>
                <c:pt idx="57">
                  <c:v>0.97099999999999997</c:v>
                </c:pt>
                <c:pt idx="58">
                  <c:v>0.96</c:v>
                </c:pt>
                <c:pt idx="59">
                  <c:v>0.95499999999999996</c:v>
                </c:pt>
                <c:pt idx="60">
                  <c:v>0.95</c:v>
                </c:pt>
                <c:pt idx="61">
                  <c:v>0.94</c:v>
                </c:pt>
                <c:pt idx="62">
                  <c:v>0.94099999999999995</c:v>
                </c:pt>
                <c:pt idx="63">
                  <c:v>0.94199999999999995</c:v>
                </c:pt>
                <c:pt idx="64">
                  <c:v>0.94299999999999995</c:v>
                </c:pt>
                <c:pt idx="65">
                  <c:v>0.94399999999999995</c:v>
                </c:pt>
                <c:pt idx="66">
                  <c:v>0.94499999999999995</c:v>
                </c:pt>
                <c:pt idx="67">
                  <c:v>0.94099999999999995</c:v>
                </c:pt>
                <c:pt idx="68">
                  <c:v>0.93200000000000005</c:v>
                </c:pt>
                <c:pt idx="69">
                  <c:v>0.92800000000000005</c:v>
                </c:pt>
                <c:pt idx="70">
                  <c:v>0.91900000000000004</c:v>
                </c:pt>
              </c:numCache>
            </c:numRef>
          </c:yVal>
          <c:smooth val="0"/>
          <c:extLst>
            <c:ext xmlns:c16="http://schemas.microsoft.com/office/drawing/2014/chart" uri="{C3380CC4-5D6E-409C-BE32-E72D297353CC}">
              <c16:uniqueId val="{00000000-5AD6-4228-ACE9-96EA8E7C3D49}"/>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lang="en-US" sz="1200" b="0" i="0" u="none" strike="noStrike">
                    <a:solidFill>
                      <a:srgbClr val="5B6578"/>
                    </a:solidFill>
                    <a:latin typeface="+mn-lt"/>
                  </a:rPr>
                  <a:t>Coverage (share auto-accepted)</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crossBetween val="midCat"/>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lang="en-US" sz="1200" b="0" i="0" u="none" strike="noStrike">
                    <a:solidFill>
                      <a:srgbClr val="5B6578"/>
                    </a:solidFill>
                    <a:latin typeface="+mn-lt"/>
                  </a:rPr>
                  <a:t>Precision of accepted tests</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Sheet1!$B$2:$B$8</c:f>
              <c:numCache>
                <c:formatCode>General</c:formatCode>
                <c:ptCount val="7"/>
                <c:pt idx="0">
                  <c:v>1</c:v>
                </c:pt>
                <c:pt idx="1">
                  <c:v>1</c:v>
                </c:pt>
                <c:pt idx="2">
                  <c:v>0.8</c:v>
                </c:pt>
                <c:pt idx="3">
                  <c:v>1</c:v>
                </c:pt>
                <c:pt idx="4">
                  <c:v>0.93</c:v>
                </c:pt>
                <c:pt idx="5">
                  <c:v>0.77</c:v>
                </c:pt>
                <c:pt idx="6">
                  <c:v>0.93</c:v>
                </c:pt>
              </c:numCache>
            </c:numRef>
          </c:val>
          <c:extLst>
            <c:ext xmlns:c16="http://schemas.microsoft.com/office/drawing/2014/chart" uri="{C3380CC4-5D6E-409C-BE32-E72D297353CC}">
              <c16:uniqueId val="{00000000-CA26-4935-A25D-F2FE72581020}"/>
            </c:ext>
          </c:extLst>
        </c:ser>
        <c:ser>
          <c:idx val="1"/>
          <c:order val="1"/>
          <c:tx>
            <c:strRef>
              <c:f>Sheet1!$C$1</c:f>
              <c:strCache>
                <c:ptCount val="1"/>
                <c:pt idx="0">
                  <c:v>Mean combined uncertainty</c:v>
                </c:pt>
              </c:strCache>
            </c:strRef>
          </c:tx>
          <c:spPr>
            <a:solidFill>
              <a:srgbClr val="E39B2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Sheet1!$C$2:$C$8</c:f>
              <c:numCache>
                <c:formatCode>General</c:formatCode>
                <c:ptCount val="7"/>
                <c:pt idx="0">
                  <c:v>0.02</c:v>
                </c:pt>
                <c:pt idx="1">
                  <c:v>0.04</c:v>
                </c:pt>
                <c:pt idx="2">
                  <c:v>0.33</c:v>
                </c:pt>
                <c:pt idx="3">
                  <c:v>0.13</c:v>
                </c:pt>
                <c:pt idx="4">
                  <c:v>7.0000000000000007E-2</c:v>
                </c:pt>
                <c:pt idx="5">
                  <c:v>0.19</c:v>
                </c:pt>
                <c:pt idx="6">
                  <c:v>0.15</c:v>
                </c:pt>
              </c:numCache>
            </c:numRef>
          </c:val>
          <c:extLst>
            <c:ext xmlns:c16="http://schemas.microsoft.com/office/drawing/2014/chart" uri="{C3380CC4-5D6E-409C-BE32-E72D297353CC}">
              <c16:uniqueId val="{00000001-CA26-4935-A25D-F2FE725810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5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invitation. In the next 20 minutes I will argue that LLM-generated tests need a trust signal, show a working prototype that quantifies their uncertainty for an autonomous-driving function, and propose how I would turn its gaps into the four InnoGuard objectives over three years.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Ali's group and colleagues already use foundation models across CPS engineering. LLM-based test generation is mainstream. The open problem is trust: a syntactically valid test can be irrelevant, can have a wrong oracle, or can be useless at finding faults. My own data shows the model says it is 97% sure while only 87% of its tests are correct — so self-reported confidence is not a usable trust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Everything that follows — the prototype, its gaps and the plan — is organised around O1 to O4.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your work that this PhD builds on. First, uncertainty-wise testing of CPS, from the U-Taxonomy to uncertainty-aware oracles and, most recently, uncertainty and quality of VLA-enabled robots. Second, ADS scenario generation and robustness-guided falsification. Third, oracles and industrial CPS, especially the elevator case studies with Mondragon. To my knowledge none of these quantify the uncertainty of LLMs that generate the test artefacts themselves —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ML literature I take two ideas: semantic entropy, which clusters sampled answers by meaning, and self-consistency, which needs only black-box access. The key adaptation: for an executable test the meaning is its behaviour on the system — so I cluster sampled tests by what they do in simulation. That is behavioural entropy.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I built for daily testing work: requirement documents go through retrieval into LLM agents that produce test cases and scripts, which are executed and reported. Trust is handled by rules: schema checks, grounding checks, a review flag for AI-only expectations and a fault-injection gate. These catch malformed output, but they are binary: once a test passes the gate it is trusted. The tool cannot tell which of the well-formed tests are wrong — that is the blind spot this research targets.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re-targeted the tool to an autonomous-driving function. For a requirement, the LLM is sampled N times; each sample is a driving scenario, an STL-style oracle and a self-reported confidence. The rule gate from v1 stays. Valid tests run in highway-env against an adaptive cruise control with emergency braking. Then four uncertainty signals are computed — no ground truth needed — and drive a triage decision. Only in research mode do we compute ground truth by running every test against eight seeded faults.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clusters them by what they do when executed. Oracle disagreement cross-applies the oracles. I fixed the design on a development round and evaluated it on a fresh held-out round, to avoid tuning on the test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You can see each stage complete. The batch has low structural but some behavioural entropy. Five tests are auto-accepted, three go to review. The most uncertain test turns out to be the one that does not exercise the requirement. Finally the same test is replayed on a faulty variant and its oracle catches the fault.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seven requirements of an ACC, three ChatGPT-class models, ten samples each — 210 tests. Each test runs on the correct controller and eight seeded faults, so 1,890 simulations. A test is correct only if it exercises the requirement and its oracle agrees with my reference formalisation on all nine versions. I designed the metrics on a development round and report a fresh held-out 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round, behavioural entropy detects incorrect tests with AUROC 0.90, against 0.74 for the model's own confidence. At batch level, the more behaviourally diverse the samples, the fewer of them are correct: rho -0.85. But I want to be honest: within a single requirement the signal is weaker, 0.71. Much of what it captures is that some requirements are hard. Per-test discrimination is my first research gap.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the review bucket is where the errors concentrate. These thresholds are heuristics, so calibrating them against safety risk is objective 2. I also log cost: N samples multiply the LLM cost, which is a non-functional trade-off for objective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of the demo maps onto one objective. The per-test signal is weak and black-box only — new metrics, O1. Thresholds are heuristic and ignore severity — risk methods, O2. The relation between uncertainty, effectiveness and cost is only hinted — a large empirical study, O3. And everything ran on three hosted models and one simulator — generalisation to industrial cases, the InnoGuard platform, newer models and quantum ML, O4.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Evaluation will use open-source ACPS such as highway-env or more realistic simulators, industrial case studies through the network — for example the elevator systems studied with Mondragon — and the InnoGuard demonstration platform, always with fault-injection or expert ground truth and proper statistics.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and an open ACPS benchmark, then the first metric suite. Year 2: the large empirical study on uncertainty versus quality and cost, risk methods, and the planned secondment at Mondragon to apply them to an industrial CPS. Year 3: evaluation on industrial cases and the InnoGuard platform, then the quantum ML extension with the adjacent project, and the thesis. Five planned papers; dates of the secondment are indicative and would follow the network's schedule.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metrics, risk methods, empirical evidence and open artefacts,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bring CPS testing practice, verification research and hands-on AI tooling, and the team brings the leading work on uncertainty-wise CPS testing, ADS testing and industrial oracles. I would be glad to turn this prototype into a PhD within InnoGuard.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goes from hardware to automotive software testing at Bosch, where I tested ECU software against AUTOSAR and MISRA rules, to research on falsification and test generation for controller software at Kyungpook National University, and now to building LLM-based test generation in industry. The common thread: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83382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advert's preferred profile to evidence: CPS testing from Bosch; verification research from my master's — my falsification work is close in spirit to Prof. Arcaini's robustness-guided falsification; LLMs for testing from my current work; and Python plus empirical research, which this talk also demonstrates.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78821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the strongest model, gpt-6-astra, produced only correct tests, so uncertainty matters most for cheaper models. Per requirement: the cut-in (R3) and cut-out (R6) requirements are hardest, and they also have the highest uncertainty.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mutants define ground truth; the design was chosen on a development round; and the scale is small. Each has a concrete mitigation in the PhD plan.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the adjacent project on quantum ML: shot-based sampling gives a natural analogue to sampling an LLM, so the same disagreement-based metrics can be tested, with quantum noise as an extra uncertainty source.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4" name="Text 2"/>
          <p:cNvSpPr txBox="1"/>
          <p:nvPr/>
        </p:nvSpPr>
        <p:spPr>
          <a:xfrm>
            <a:off x="548640" y="3017520"/>
            <a:ext cx="8686800" cy="914400"/>
          </a:xfrm>
          <a:prstGeom prst="rect">
            <a:avLst/>
          </a:prstGeom>
          <a:noFill/>
          <a:ln/>
        </p:spPr>
        <p:txBody>
          <a:bodyPr wrap="square" lIns="0" tIns="0" rIns="0" bIns="0" rtlCol="0" anchor="t"/>
          <a:lstStyle/>
          <a:p>
            <a:pPr marL="0" indent="0">
              <a:buNone/>
            </a:pPr>
            <a:endParaRPr lang="en-US" sz="2000" dirty="0"/>
          </a:p>
        </p:txBody>
      </p:sp>
      <p:sp>
        <p:nvSpPr>
          <p:cNvPr id="5" name="Text 3"/>
          <p:cNvSpPr txBox="1"/>
          <p:nvPr/>
        </p:nvSpPr>
        <p:spPr>
          <a:xfrm>
            <a:off x="548640" y="4526280"/>
            <a:ext cx="822960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p>
        </p:txBody>
      </p:sp>
      <p:pic>
        <p:nvPicPr>
          <p:cNvPr id="6"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
        <p:nvSpPr>
          <p:cNvPr id="9" name="Title 8">
            <a:extLst>
              <a:ext uri="{FF2B5EF4-FFF2-40B4-BE49-F238E27FC236}">
                <a16:creationId xmlns:a16="http://schemas.microsoft.com/office/drawing/2014/main" id="{6E336074-7F4E-BBDB-1E9C-505A4CBC46A0}"/>
              </a:ext>
            </a:extLst>
          </p:cNvPr>
          <p:cNvSpPr>
            <a:spLocks noGrp="1"/>
          </p:cNvSpPr>
          <p:nvPr>
            <p:ph type="title" idx="100"/>
          </p:nvPr>
        </p:nvSpPr>
        <p:spPr/>
        <p:txBody>
          <a:bodyPr/>
          <a:lstStyle/>
          <a:p>
            <a:r>
              <a:rPr lang="en-US" dirty="0">
                <a:latin typeface="Calibri" pitchFamily="34" charset="0"/>
                <a:ea typeface="Calibri" pitchFamily="34" charset="-122"/>
                <a:cs typeface="Calibri" pitchFamily="34" charset="-120"/>
              </a:rPr>
              <a:t>When can we trust AI-generated tests ?</a:t>
            </a:r>
            <a:br>
              <a:rPr lang="en-US" dirty="0">
                <a:latin typeface="Calibri" pitchFamily="34" charset="0"/>
                <a:ea typeface="Calibri" pitchFamily="34" charset="-122"/>
                <a:cs typeface="Calibri" pitchFamily="34" charset="-120"/>
              </a:rPr>
            </a:br>
            <a:r>
              <a:rPr lang="en-US" dirty="0">
                <a:latin typeface="Calibri" pitchFamily="34" charset="0"/>
                <a:ea typeface="Calibri" pitchFamily="34" charset="-122"/>
                <a:cs typeface="Calibri" pitchFamily="34" charset="-120"/>
              </a:rPr>
              <a:t>Uncertainty quantification for risk-based testing of autonomous CPS</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 — confidently</a:t>
            </a:r>
            <a:endParaRPr lang="en-US" sz="3000" dirty="0"/>
          </a:p>
        </p:txBody>
      </p:sp>
      <p:sp>
        <p:nvSpPr>
          <p:cNvPr id="3" name="Text 1"/>
          <p:cNvSpPr txBox="1"/>
          <p:nvPr/>
        </p:nvSpPr>
        <p:spPr>
          <a:xfrm>
            <a:off x="548640" y="1443162"/>
            <a:ext cx="6217920" cy="41148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Foundation models enter CPS engineering: </a:t>
            </a:r>
            <a:r>
              <a:rPr lang="en-US" sz="1800" dirty="0">
                <a:solidFill>
                  <a:srgbClr val="1E2533"/>
                </a:solidFill>
                <a:latin typeface="Calibri" pitchFamily="34" charset="0"/>
                <a:ea typeface="Calibri" pitchFamily="34" charset="-122"/>
                <a:cs typeface="Calibri" pitchFamily="34" charset="-120"/>
              </a:rPr>
              <a:t>scenario realism checks, oracles, digital twins, robot testing [8, 10, 11, 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 test generation is now mainstream </a:t>
            </a:r>
            <a:r>
              <a:rPr lang="en-US" sz="1800" dirty="0">
                <a:solidFill>
                  <a:srgbClr val="1E2533"/>
                </a:solidFill>
                <a:latin typeface="Calibri" pitchFamily="34" charset="0"/>
                <a:ea typeface="Calibri" pitchFamily="34" charset="-122"/>
                <a:cs typeface="Calibri" pitchFamily="34" charset="-120"/>
              </a:rPr>
              <a:t>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But a well-formed test can still be wrong: </a:t>
            </a:r>
            <a:r>
              <a:rPr lang="en-US" sz="1800" dirty="0">
                <a:solidFill>
                  <a:srgbClr val="1E2533"/>
                </a:solidFill>
                <a:latin typeface="Calibri" pitchFamily="34" charset="0"/>
                <a:ea typeface="Calibri" pitchFamily="34" charset="-122"/>
                <a:cs typeface="Calibri" pitchFamily="34" charset="-120"/>
              </a:rPr>
              <a:t>it may miss the requirement, carry a wrong oracle, or catch no fault</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p:txBody>
      </p:sp>
      <p:sp>
        <p:nvSpPr>
          <p:cNvPr id="4" name="Shape 2"/>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txBody>
          <a:bodyPr/>
          <a:lstStyle/>
          <a:p>
            <a:endParaRPr lang="en-US"/>
          </a:p>
        </p:txBody>
      </p:sp>
      <p:sp>
        <p:nvSpPr>
          <p:cNvPr id="5" name="Text 3"/>
          <p:cNvSpPr txBox="1"/>
          <p:nvPr/>
        </p:nvSpPr>
        <p:spPr>
          <a:xfrm>
            <a:off x="7360920" y="1645920"/>
            <a:ext cx="4023360" cy="365760"/>
          </a:xfrm>
          <a:prstGeom prst="rect">
            <a:avLst/>
          </a:prstGeom>
          <a:noFill/>
          <a:ln/>
        </p:spPr>
        <p:txBody>
          <a:bodyPr wrap="square" lIns="0" tIns="0" rIns="0" bIns="0" rtlCol="0" anchor="t"/>
          <a:lstStyle/>
          <a:p>
            <a:pPr marL="0" indent="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6" name="Text 4"/>
          <p:cNvSpPr txBox="1"/>
          <p:nvPr/>
        </p:nvSpPr>
        <p:spPr>
          <a:xfrm>
            <a:off x="7360920" y="2057400"/>
            <a:ext cx="402336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7" name="Text 5"/>
          <p:cNvSpPr txBox="1"/>
          <p:nvPr/>
        </p:nvSpPr>
        <p:spPr>
          <a:xfrm>
            <a:off x="7360920" y="2971800"/>
            <a:ext cx="4023360" cy="36576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8" name="Text 6"/>
          <p:cNvSpPr txBox="1"/>
          <p:nvPr/>
        </p:nvSpPr>
        <p:spPr>
          <a:xfrm>
            <a:off x="7360920" y="3520440"/>
            <a:ext cx="4023360" cy="914400"/>
          </a:xfrm>
          <a:prstGeom prst="rect">
            <a:avLst/>
          </a:prstGeom>
          <a:noFill/>
          <a:ln/>
        </p:spPr>
        <p:txBody>
          <a:bodyPr wrap="square" lIns="0" tIns="0" rIns="0" bIns="0" rtlCol="0" anchor="t"/>
          <a:lstStyle/>
          <a:p>
            <a:pPr marL="0" indent="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9" name="Text 7"/>
          <p:cNvSpPr txBox="1"/>
          <p:nvPr/>
        </p:nvSpPr>
        <p:spPr>
          <a:xfrm>
            <a:off x="7360920" y="4434840"/>
            <a:ext cx="4023360" cy="64008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of its tests are actually correct (fault-injection ground truth)</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3" name="Shape 1"/>
          <p:cNvSpPr/>
          <p:nvPr/>
        </p:nvSpPr>
        <p:spPr>
          <a:xfrm>
            <a:off x="548640"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73736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94410" y="1908810"/>
            <a:ext cx="342900" cy="342900"/>
          </a:xfrm>
          <a:prstGeom prst="rect">
            <a:avLst/>
          </a:prstGeom>
        </p:spPr>
      </p:pic>
      <p:sp>
        <p:nvSpPr>
          <p:cNvPr id="6" name="Text 3"/>
          <p:cNvSpPr txBox="1"/>
          <p:nvPr/>
        </p:nvSpPr>
        <p:spPr>
          <a:xfrm>
            <a:off x="1645920" y="181051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7" name="Text 4"/>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8" name="Text 5"/>
          <p:cNvSpPr txBox="1"/>
          <p:nvPr/>
        </p:nvSpPr>
        <p:spPr>
          <a:xfrm>
            <a:off x="822960"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9" name="Shape 6"/>
          <p:cNvSpPr/>
          <p:nvPr/>
        </p:nvSpPr>
        <p:spPr>
          <a:xfrm>
            <a:off x="3364992"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3639312" y="173736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810762" y="1908810"/>
            <a:ext cx="342900" cy="342900"/>
          </a:xfrm>
          <a:prstGeom prst="rect">
            <a:avLst/>
          </a:prstGeom>
        </p:spPr>
      </p:pic>
      <p:sp>
        <p:nvSpPr>
          <p:cNvPr id="12" name="Text 8"/>
          <p:cNvSpPr txBox="1"/>
          <p:nvPr/>
        </p:nvSpPr>
        <p:spPr>
          <a:xfrm>
            <a:off x="4462272" y="181051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3" name="Text 9"/>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4" name="Text 10"/>
          <p:cNvSpPr txBox="1"/>
          <p:nvPr/>
        </p:nvSpPr>
        <p:spPr>
          <a:xfrm>
            <a:off x="3639312"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5" name="Shape 11"/>
          <p:cNvSpPr/>
          <p:nvPr/>
        </p:nvSpPr>
        <p:spPr>
          <a:xfrm>
            <a:off x="6181344"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6" name="Shape 12"/>
          <p:cNvSpPr/>
          <p:nvPr/>
        </p:nvSpPr>
        <p:spPr>
          <a:xfrm>
            <a:off x="6455664" y="173736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627114" y="1908810"/>
            <a:ext cx="342900" cy="342900"/>
          </a:xfrm>
          <a:prstGeom prst="rect">
            <a:avLst/>
          </a:prstGeom>
        </p:spPr>
      </p:pic>
      <p:sp>
        <p:nvSpPr>
          <p:cNvPr id="18" name="Text 13"/>
          <p:cNvSpPr txBox="1"/>
          <p:nvPr/>
        </p:nvSpPr>
        <p:spPr>
          <a:xfrm>
            <a:off x="7278624" y="181051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19" name="Text 14"/>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0" name="Text 15"/>
          <p:cNvSpPr txBox="1"/>
          <p:nvPr/>
        </p:nvSpPr>
        <p:spPr>
          <a:xfrm>
            <a:off x="6455664"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1" name="Shape 16"/>
          <p:cNvSpPr/>
          <p:nvPr/>
        </p:nvSpPr>
        <p:spPr>
          <a:xfrm>
            <a:off x="8997696"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9272016" y="173736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443466" y="1908810"/>
            <a:ext cx="342900" cy="342900"/>
          </a:xfrm>
          <a:prstGeom prst="rect">
            <a:avLst/>
          </a:prstGeom>
        </p:spPr>
      </p:pic>
      <p:sp>
        <p:nvSpPr>
          <p:cNvPr id="24" name="Text 18"/>
          <p:cNvSpPr txBox="1"/>
          <p:nvPr/>
        </p:nvSpPr>
        <p:spPr>
          <a:xfrm>
            <a:off x="10094976" y="181051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5" name="Text 19"/>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6" name="Text 20"/>
          <p:cNvSpPr txBox="1"/>
          <p:nvPr/>
        </p:nvSpPr>
        <p:spPr>
          <a:xfrm>
            <a:off x="9272016"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7" name="Text 21"/>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InnoGuard: Hybrid and Generative Intelligence for Trustworthy Autonomous CPS, MSCA Doctoral Network, 2024–2028 [30]</a:t>
            </a:r>
            <a:endParaRPr lang="en-US" sz="10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Building on uncertainty-wise CPS testing</a:t>
            </a:r>
            <a:endParaRPr lang="en-US" sz="3000" dirty="0"/>
          </a:p>
        </p:txBody>
      </p:sp>
      <p:sp>
        <p:nvSpPr>
          <p:cNvPr id="3" name="Shape 1"/>
          <p:cNvSpPr/>
          <p:nvPr/>
        </p:nvSpPr>
        <p:spPr>
          <a:xfrm>
            <a:off x="54864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777240" y="160020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737360"/>
            <a:ext cx="274320" cy="274320"/>
          </a:xfrm>
          <a:prstGeom prst="rect">
            <a:avLst/>
          </a:prstGeom>
        </p:spPr>
      </p:pic>
      <p:sp>
        <p:nvSpPr>
          <p:cNvPr id="6" name="Text 3"/>
          <p:cNvSpPr txBox="1"/>
          <p:nvPr/>
        </p:nvSpPr>
        <p:spPr>
          <a:xfrm>
            <a:off x="146304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Uncertainty in CPS &amp; DL</a:t>
            </a:r>
            <a:endParaRPr lang="en-US" sz="1600" dirty="0"/>
          </a:p>
        </p:txBody>
      </p:sp>
      <p:sp>
        <p:nvSpPr>
          <p:cNvPr id="7" name="Text 4"/>
          <p:cNvSpPr txBox="1"/>
          <p:nvPr/>
        </p:nvSpPr>
        <p:spPr>
          <a:xfrm>
            <a:off x="77724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U-Taxonomy &amp; uncertainty-wise test modelling and generation [3, 2, 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Uncertainty-aware prediction validator for DL in CPS [4]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Uncertainty-wise multi-level oracles; elevator robustness under uncertainty [6, 5]</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 &amp; quality of VLA-enabled robots [7]</a:t>
            </a:r>
            <a:endParaRPr lang="en-US" sz="1300" dirty="0"/>
          </a:p>
        </p:txBody>
      </p:sp>
      <p:sp>
        <p:nvSpPr>
          <p:cNvPr id="8" name="Shape 5"/>
          <p:cNvSpPr/>
          <p:nvPr/>
        </p:nvSpPr>
        <p:spPr>
          <a:xfrm>
            <a:off x="429768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4526280" y="160020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3440" y="1737360"/>
            <a:ext cx="274320" cy="274320"/>
          </a:xfrm>
          <a:prstGeom prst="rect">
            <a:avLst/>
          </a:prstGeom>
        </p:spPr>
      </p:pic>
      <p:sp>
        <p:nvSpPr>
          <p:cNvPr id="11" name="Text 7"/>
          <p:cNvSpPr txBox="1"/>
          <p:nvPr/>
        </p:nvSpPr>
        <p:spPr>
          <a:xfrm>
            <a:off x="521208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ADS testing &amp; falsification</a:t>
            </a:r>
            <a:endParaRPr lang="en-US" sz="1600" dirty="0"/>
          </a:p>
        </p:txBody>
      </p:sp>
      <p:sp>
        <p:nvSpPr>
          <p:cNvPr id="12" name="Text 8"/>
          <p:cNvSpPr txBox="1"/>
          <p:nvPr/>
        </p:nvSpPr>
        <p:spPr>
          <a:xfrm>
            <a:off x="452628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Avoidable-collision scenario generation [12]</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Parameter coverage for ADS testing under uncertainty [13]</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Robustness-guided falsification of AI-enabled hybrid systems [15, 14]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LLMs assessing driving-scenario realism [8]</a:t>
            </a:r>
            <a:endParaRPr lang="en-US" sz="1300" dirty="0"/>
          </a:p>
        </p:txBody>
      </p:sp>
      <p:sp>
        <p:nvSpPr>
          <p:cNvPr id="13" name="Shape 9"/>
          <p:cNvSpPr/>
          <p:nvPr/>
        </p:nvSpPr>
        <p:spPr>
          <a:xfrm>
            <a:off x="804672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75320" y="160020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12480" y="1737360"/>
            <a:ext cx="274320" cy="274320"/>
          </a:xfrm>
          <a:prstGeom prst="rect">
            <a:avLst/>
          </a:prstGeom>
        </p:spPr>
      </p:pic>
      <p:sp>
        <p:nvSpPr>
          <p:cNvPr id="16" name="Text 11"/>
          <p:cNvSpPr txBox="1"/>
          <p:nvPr/>
        </p:nvSpPr>
        <p:spPr>
          <a:xfrm>
            <a:off x="896112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Oracles &amp; industrial CPS</a:t>
            </a:r>
            <a:endParaRPr lang="en-US" sz="1600" dirty="0"/>
          </a:p>
        </p:txBody>
      </p:sp>
      <p:sp>
        <p:nvSpPr>
          <p:cNvPr id="17" name="Text 12"/>
          <p:cNvSpPr txBox="1"/>
          <p:nvPr/>
        </p:nvSpPr>
        <p:spPr>
          <a:xfrm>
            <a:off x="827532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ML-based test oracles for elevator dispatching [16]</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Generated metamorphic relations for CPS [17]</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Seeding strategies for search-based test selection [18]</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Foundation models for CPS engineering: road ahead [10, 11]</a:t>
            </a:r>
            <a:endParaRPr lang="en-US" sz="1300" dirty="0"/>
          </a:p>
        </p:txBody>
      </p:sp>
      <p:sp>
        <p:nvSpPr>
          <p:cNvPr id="18" name="Shape 13"/>
          <p:cNvSpPr/>
          <p:nvPr/>
        </p:nvSpPr>
        <p:spPr>
          <a:xfrm>
            <a:off x="548640" y="5760720"/>
            <a:ext cx="11094415" cy="502920"/>
          </a:xfrm>
          <a:prstGeom prst="roundRect">
            <a:avLst>
              <a:gd name="adj" fmla="val 21818"/>
            </a:avLst>
          </a:prstGeom>
          <a:solidFill>
            <a:srgbClr val="FFF4E0"/>
          </a:solidFill>
          <a:ln w="12700">
            <a:solidFill>
              <a:srgbClr val="FFF4E0"/>
            </a:solidFill>
            <a:prstDash val="solid"/>
          </a:ln>
        </p:spPr>
        <p:txBody>
          <a:bodyPr/>
          <a:lstStyle/>
          <a:p>
            <a:endParaRPr lang="en-US"/>
          </a:p>
        </p:txBody>
      </p:sp>
      <p:sp>
        <p:nvSpPr>
          <p:cNvPr id="19" name="Text 14"/>
          <p:cNvSpPr txBox="1"/>
          <p:nvPr/>
        </p:nvSpPr>
        <p:spPr>
          <a:xfrm>
            <a:off x="777240" y="5788152"/>
            <a:ext cx="10637215" cy="457200"/>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has been studied for CPS, DNNs and robot foundation models — not yet for LLMs that generate or assess test artefacts.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Uncertainty of LLM outputs: what transfers to test artefacts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657600"/>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731520">
                <a:tc>
                  <a:txBody>
                    <a:bodyPr/>
                    <a:lstStyle/>
                    <a:p>
                      <a:pPr marL="0" indent="0">
                        <a:buNone/>
                      </a:pPr>
                      <a:r>
                        <a:rPr lang="en-US" sz="1400" b="1" dirty="0">
                          <a:solidFill>
                            <a:srgbClr val="FFFFFF"/>
                          </a:solidFill>
                        </a:rPr>
                        <a:t>Idea</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Evidence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 take for test artefacts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3213C"/>
                          </a:solidFill>
                        </a:rPr>
                        <a:t>Semantic entropy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Cluster sampled answers by meaning; entropy over clusters [23, 24]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Meaning of a test = what it does when executed → behavioural clusters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3213C"/>
                          </a:solidFill>
                        </a:rPr>
                        <a:t>Self-consistency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Disagreement among sampled outputs flags hallucination [25]</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Black-box: works with ChatGPT-class models without log-probs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13213C"/>
                          </a:solidFill>
                        </a:rPr>
                        <a:t>UQ for LLMs in SE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Exploratory study of LLM uncertainty, incl. code tasks [26]</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Measures ≠ correctness of executable, safety-relevant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13213C"/>
                          </a:solidFill>
                        </a:rPr>
                        <a:t>UQ for DL supervision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Uncertainty monitors for fail-safe DL systems [28, 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Risk-based reject option → triage of generated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5257800"/>
            <a:ext cx="11094415" cy="822960"/>
          </a:xfrm>
          <a:prstGeom prst="roundRect">
            <a:avLst>
              <a:gd name="adj" fmla="val 13333"/>
            </a:avLst>
          </a:prstGeom>
          <a:solidFill>
            <a:srgbClr val="E6F3F3"/>
          </a:solidFill>
          <a:ln w="12700">
            <a:solidFill>
              <a:srgbClr val="E6F3F3"/>
            </a:solidFill>
            <a:prstDash val="solid"/>
          </a:ln>
        </p:spPr>
        <p:txBody>
          <a:bodyPr/>
          <a:lstStyle/>
          <a:p>
            <a:endParaRPr lang="en-US"/>
          </a:p>
        </p:txBody>
      </p:sp>
      <p:sp>
        <p:nvSpPr>
          <p:cNvPr id="5" name="Text 2"/>
          <p:cNvSpPr txBox="1"/>
          <p:nvPr/>
        </p:nvSpPr>
        <p:spPr>
          <a:xfrm>
            <a:off x="777240" y="5303520"/>
            <a:ext cx="10637215" cy="73152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Key idea  </a:t>
            </a:r>
            <a:r>
              <a:rPr lang="en-US" sz="1500" dirty="0">
                <a:solidFill>
                  <a:srgbClr val="1E2533"/>
                </a:solidFill>
                <a:latin typeface="Calibri" pitchFamily="34" charset="0"/>
                <a:ea typeface="Calibri" pitchFamily="34" charset="-122"/>
                <a:cs typeface="Calibri" pitchFamily="34" charset="-120"/>
              </a:rPr>
              <a:t>For an executable test, two samples mean the same thing if they make the system behave the same way. That gives a CPS-specific variant of semantic entropy: behavioural entropy.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My starting point: an LLM test generator that trusts blindly</a:t>
            </a:r>
            <a:endParaRPr lang="en-US" sz="3000" dirty="0"/>
          </a:p>
        </p:txBody>
      </p:sp>
      <p:sp>
        <p:nvSpPr>
          <p:cNvPr id="3" name="Shape 1"/>
          <p:cNvSpPr/>
          <p:nvPr/>
        </p:nvSpPr>
        <p:spPr>
          <a:xfrm>
            <a:off x="1153135"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313155" y="1623060"/>
            <a:ext cx="320040" cy="320040"/>
          </a:xfrm>
          <a:prstGeom prst="rect">
            <a:avLst/>
          </a:prstGeom>
        </p:spPr>
      </p:pic>
      <p:sp>
        <p:nvSpPr>
          <p:cNvPr id="5" name="Text 2"/>
          <p:cNvSpPr txBox="1"/>
          <p:nvPr/>
        </p:nvSpPr>
        <p:spPr>
          <a:xfrm>
            <a:off x="548640"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6" name="Shape 3"/>
          <p:cNvSpPr/>
          <p:nvPr/>
        </p:nvSpPr>
        <p:spPr>
          <a:xfrm>
            <a:off x="1930375"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7" name="Shape 4"/>
          <p:cNvSpPr/>
          <p:nvPr/>
        </p:nvSpPr>
        <p:spPr>
          <a:xfrm>
            <a:off x="3002204"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162224" y="1623060"/>
            <a:ext cx="320040" cy="320040"/>
          </a:xfrm>
          <a:prstGeom prst="rect">
            <a:avLst/>
          </a:prstGeom>
        </p:spPr>
      </p:pic>
      <p:sp>
        <p:nvSpPr>
          <p:cNvPr id="9" name="Text 5"/>
          <p:cNvSpPr txBox="1"/>
          <p:nvPr/>
        </p:nvSpPr>
        <p:spPr>
          <a:xfrm>
            <a:off x="2397709"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0" name="Shape 6"/>
          <p:cNvSpPr/>
          <p:nvPr/>
        </p:nvSpPr>
        <p:spPr>
          <a:xfrm>
            <a:off x="3779444"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1" name="Shape 7"/>
          <p:cNvSpPr/>
          <p:nvPr/>
        </p:nvSpPr>
        <p:spPr>
          <a:xfrm>
            <a:off x="4851273"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5011293" y="1623060"/>
            <a:ext cx="320040" cy="320040"/>
          </a:xfrm>
          <a:prstGeom prst="rect">
            <a:avLst/>
          </a:prstGeom>
        </p:spPr>
      </p:pic>
      <p:sp>
        <p:nvSpPr>
          <p:cNvPr id="13" name="Text 8"/>
          <p:cNvSpPr txBox="1"/>
          <p:nvPr/>
        </p:nvSpPr>
        <p:spPr>
          <a:xfrm>
            <a:off x="424677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4" name="Shape 9"/>
          <p:cNvSpPr/>
          <p:nvPr/>
        </p:nvSpPr>
        <p:spPr>
          <a:xfrm>
            <a:off x="5628513"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5" name="Shape 10"/>
          <p:cNvSpPr/>
          <p:nvPr/>
        </p:nvSpPr>
        <p:spPr>
          <a:xfrm>
            <a:off x="6700342"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860362" y="1623060"/>
            <a:ext cx="320040" cy="320040"/>
          </a:xfrm>
          <a:prstGeom prst="rect">
            <a:avLst/>
          </a:prstGeom>
        </p:spPr>
      </p:pic>
      <p:sp>
        <p:nvSpPr>
          <p:cNvPr id="17" name="Text 11"/>
          <p:cNvSpPr txBox="1"/>
          <p:nvPr/>
        </p:nvSpPr>
        <p:spPr>
          <a:xfrm>
            <a:off x="609584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18" name="Shape 12"/>
          <p:cNvSpPr/>
          <p:nvPr/>
        </p:nvSpPr>
        <p:spPr>
          <a:xfrm>
            <a:off x="7477582"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3"/>
          <p:cNvSpPr/>
          <p:nvPr/>
        </p:nvSpPr>
        <p:spPr>
          <a:xfrm>
            <a:off x="854941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8709431" y="1623060"/>
            <a:ext cx="320040" cy="320040"/>
          </a:xfrm>
          <a:prstGeom prst="rect">
            <a:avLst/>
          </a:prstGeom>
        </p:spPr>
      </p:pic>
      <p:sp>
        <p:nvSpPr>
          <p:cNvPr id="21" name="Text 14"/>
          <p:cNvSpPr txBox="1"/>
          <p:nvPr/>
        </p:nvSpPr>
        <p:spPr>
          <a:xfrm>
            <a:off x="7944917"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2" name="Shape 15"/>
          <p:cNvSpPr/>
          <p:nvPr/>
        </p:nvSpPr>
        <p:spPr>
          <a:xfrm>
            <a:off x="9326651"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3" name="Shape 16"/>
          <p:cNvSpPr/>
          <p:nvPr/>
        </p:nvSpPr>
        <p:spPr>
          <a:xfrm>
            <a:off x="1039848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10558501" y="1623060"/>
            <a:ext cx="320040" cy="320040"/>
          </a:xfrm>
          <a:prstGeom prst="rect">
            <a:avLst/>
          </a:prstGeom>
        </p:spPr>
      </p:pic>
      <p:sp>
        <p:nvSpPr>
          <p:cNvPr id="25" name="Text 17"/>
          <p:cNvSpPr txBox="1"/>
          <p:nvPr/>
        </p:nvSpPr>
        <p:spPr>
          <a:xfrm>
            <a:off x="9793986"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26" name="Shape 18"/>
          <p:cNvSpPr/>
          <p:nvPr/>
        </p:nvSpPr>
        <p:spPr>
          <a:xfrm>
            <a:off x="548640" y="2834640"/>
            <a:ext cx="5440680" cy="3063240"/>
          </a:xfrm>
          <a:prstGeom prst="roundRect">
            <a:avLst>
              <a:gd name="adj" fmla="val 3582"/>
            </a:avLst>
          </a:prstGeom>
          <a:solidFill>
            <a:srgbClr val="F2F5F9"/>
          </a:solidFill>
          <a:ln w="12700">
            <a:solidFill>
              <a:srgbClr val="F2F5F9"/>
            </a:solidFill>
            <a:prstDash val="solid"/>
          </a:ln>
        </p:spPr>
        <p:txBody>
          <a:bodyPr/>
          <a:lstStyle/>
          <a:p>
            <a:endParaRPr lang="en-US"/>
          </a:p>
        </p:txBody>
      </p:sp>
      <p:sp>
        <p:nvSpPr>
          <p:cNvPr id="27" name="Text 19"/>
          <p:cNvSpPr txBox="1"/>
          <p:nvPr/>
        </p:nvSpPr>
        <p:spPr>
          <a:xfrm>
            <a:off x="822960" y="299923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today: hand-written rules</a:t>
            </a:r>
            <a:endParaRPr lang="en-US" sz="1700" dirty="0"/>
          </a:p>
        </p:txBody>
      </p:sp>
      <p:sp>
        <p:nvSpPr>
          <p:cNvPr id="28" name="Text 20"/>
          <p:cNvSpPr txBox="1"/>
          <p:nvPr/>
        </p:nvSpPr>
        <p:spPr>
          <a:xfrm>
            <a:off x="822960"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Schema validation and JSON repair of LLM output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Grounding checks: references and quotes must exist in the source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AI-only expectations are parked as NEEDS_REVIEW</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gate: a test must fail on a corrupted system</a:t>
            </a:r>
            <a:endParaRPr lang="en-US" sz="1400" dirty="0"/>
          </a:p>
        </p:txBody>
      </p:sp>
      <p:sp>
        <p:nvSpPr>
          <p:cNvPr id="29" name="Shape 21"/>
          <p:cNvSpPr/>
          <p:nvPr/>
        </p:nvSpPr>
        <p:spPr>
          <a:xfrm>
            <a:off x="6199632" y="2834640"/>
            <a:ext cx="5440680" cy="3063240"/>
          </a:xfrm>
          <a:prstGeom prst="roundRect">
            <a:avLst>
              <a:gd name="adj" fmla="val 3582"/>
            </a:avLst>
          </a:prstGeom>
          <a:solidFill>
            <a:srgbClr val="FDECEA"/>
          </a:solidFill>
          <a:ln w="12700">
            <a:solidFill>
              <a:srgbClr val="FDECEA"/>
            </a:solidFill>
            <a:prstDash val="solid"/>
          </a:ln>
        </p:spPr>
        <p:txBody>
          <a:bodyPr/>
          <a:lstStyle/>
          <a:p>
            <a:endParaRPr lang="en-US"/>
          </a:p>
        </p:txBody>
      </p:sp>
      <p:sp>
        <p:nvSpPr>
          <p:cNvPr id="30" name="Text 22"/>
          <p:cNvSpPr txBox="1"/>
          <p:nvPr/>
        </p:nvSpPr>
        <p:spPr>
          <a:xfrm>
            <a:off x="6473952" y="2999232"/>
            <a:ext cx="4937760" cy="36576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The blind spot</a:t>
            </a:r>
            <a:endParaRPr lang="en-US" sz="1700" dirty="0"/>
          </a:p>
        </p:txBody>
      </p:sp>
      <p:sp>
        <p:nvSpPr>
          <p:cNvPr id="31" name="Text 23"/>
          <p:cNvSpPr txBox="1"/>
          <p:nvPr/>
        </p:nvSpPr>
        <p:spPr>
          <a:xfrm>
            <a:off x="6473952"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Rules are binary and uncalibrated: pass the gate = trusted</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 valid, grounded test can still miss the requirement or carry a wrong oracle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signal says which tests a human must look at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link between confidence and safety risk</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3" name="Shape 1"/>
          <p:cNvSpPr/>
          <p:nvPr/>
        </p:nvSpPr>
        <p:spPr>
          <a:xfrm>
            <a:off x="603504"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1039346"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90222" y="1687068"/>
            <a:ext cx="301752" cy="301752"/>
          </a:xfrm>
          <a:prstGeom prst="rect">
            <a:avLst/>
          </a:prstGeom>
        </p:spPr>
      </p:pic>
      <p:sp>
        <p:nvSpPr>
          <p:cNvPr id="6" name="Text 3"/>
          <p:cNvSpPr txBox="1"/>
          <p:nvPr/>
        </p:nvSpPr>
        <p:spPr>
          <a:xfrm>
            <a:off x="640080"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7" name="Text 4"/>
          <p:cNvSpPr txBox="1"/>
          <p:nvPr/>
        </p:nvSpPr>
        <p:spPr>
          <a:xfrm>
            <a:off x="658368"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8" name="Shape 5"/>
          <p:cNvSpPr/>
          <p:nvPr/>
        </p:nvSpPr>
        <p:spPr>
          <a:xfrm>
            <a:off x="218842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2624263"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2775139" y="1687068"/>
            <a:ext cx="301752" cy="301752"/>
          </a:xfrm>
          <a:prstGeom prst="rect">
            <a:avLst/>
          </a:prstGeom>
        </p:spPr>
      </p:pic>
      <p:sp>
        <p:nvSpPr>
          <p:cNvPr id="11" name="Text 7"/>
          <p:cNvSpPr txBox="1"/>
          <p:nvPr/>
        </p:nvSpPr>
        <p:spPr>
          <a:xfrm>
            <a:off x="222499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2" name="Text 8"/>
          <p:cNvSpPr txBox="1"/>
          <p:nvPr/>
        </p:nvSpPr>
        <p:spPr>
          <a:xfrm>
            <a:off x="224328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3" name="Shape 9"/>
          <p:cNvSpPr/>
          <p:nvPr/>
        </p:nvSpPr>
        <p:spPr>
          <a:xfrm>
            <a:off x="3773337"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4209179"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360055" y="1687068"/>
            <a:ext cx="301752" cy="301752"/>
          </a:xfrm>
          <a:prstGeom prst="rect">
            <a:avLst/>
          </a:prstGeom>
        </p:spPr>
      </p:pic>
      <p:sp>
        <p:nvSpPr>
          <p:cNvPr id="16" name="Text 11"/>
          <p:cNvSpPr txBox="1"/>
          <p:nvPr/>
        </p:nvSpPr>
        <p:spPr>
          <a:xfrm>
            <a:off x="3809913"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7" name="Text 12"/>
          <p:cNvSpPr txBox="1"/>
          <p:nvPr/>
        </p:nvSpPr>
        <p:spPr>
          <a:xfrm>
            <a:off x="3828201"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schema &amp; physics (v1)</a:t>
            </a:r>
            <a:endParaRPr lang="en-US" sz="1200" dirty="0"/>
          </a:p>
        </p:txBody>
      </p:sp>
      <p:sp>
        <p:nvSpPr>
          <p:cNvPr id="18" name="Shape 13"/>
          <p:cNvSpPr/>
          <p:nvPr/>
        </p:nvSpPr>
        <p:spPr>
          <a:xfrm>
            <a:off x="535825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5794096"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944972" y="1687068"/>
            <a:ext cx="301752" cy="301752"/>
          </a:xfrm>
          <a:prstGeom prst="rect">
            <a:avLst/>
          </a:prstGeom>
        </p:spPr>
      </p:pic>
      <p:sp>
        <p:nvSpPr>
          <p:cNvPr id="21" name="Text 15"/>
          <p:cNvSpPr txBox="1"/>
          <p:nvPr/>
        </p:nvSpPr>
        <p:spPr>
          <a:xfrm>
            <a:off x="539482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2" name="Text 16"/>
          <p:cNvSpPr txBox="1"/>
          <p:nvPr/>
        </p:nvSpPr>
        <p:spPr>
          <a:xfrm>
            <a:off x="541311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3" name="Shape 17"/>
          <p:cNvSpPr/>
          <p:nvPr/>
        </p:nvSpPr>
        <p:spPr>
          <a:xfrm>
            <a:off x="694317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4" name="Shape 18"/>
          <p:cNvSpPr/>
          <p:nvPr/>
        </p:nvSpPr>
        <p:spPr>
          <a:xfrm>
            <a:off x="7379012"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7529888" y="1687068"/>
            <a:ext cx="301752" cy="301752"/>
          </a:xfrm>
          <a:prstGeom prst="rect">
            <a:avLst/>
          </a:prstGeom>
        </p:spPr>
      </p:pic>
      <p:sp>
        <p:nvSpPr>
          <p:cNvPr id="26" name="Text 19"/>
          <p:cNvSpPr txBox="1"/>
          <p:nvPr/>
        </p:nvSpPr>
        <p:spPr>
          <a:xfrm>
            <a:off x="697974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7" name="Text 20"/>
          <p:cNvSpPr txBox="1"/>
          <p:nvPr/>
        </p:nvSpPr>
        <p:spPr>
          <a:xfrm>
            <a:off x="699803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8" name="Shape 21"/>
          <p:cNvSpPr/>
          <p:nvPr/>
        </p:nvSpPr>
        <p:spPr>
          <a:xfrm>
            <a:off x="8528086"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9" name="Shape 22"/>
          <p:cNvSpPr/>
          <p:nvPr/>
        </p:nvSpPr>
        <p:spPr>
          <a:xfrm>
            <a:off x="8963929"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9114805" y="1687068"/>
            <a:ext cx="301752" cy="301752"/>
          </a:xfrm>
          <a:prstGeom prst="rect">
            <a:avLst/>
          </a:prstGeom>
        </p:spPr>
      </p:pic>
      <p:sp>
        <p:nvSpPr>
          <p:cNvPr id="31" name="Text 23"/>
          <p:cNvSpPr txBox="1"/>
          <p:nvPr/>
        </p:nvSpPr>
        <p:spPr>
          <a:xfrm>
            <a:off x="8564662"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2" name="Text 24"/>
          <p:cNvSpPr txBox="1"/>
          <p:nvPr/>
        </p:nvSpPr>
        <p:spPr>
          <a:xfrm>
            <a:off x="8582950"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3" name="Shape 25"/>
          <p:cNvSpPr/>
          <p:nvPr/>
        </p:nvSpPr>
        <p:spPr>
          <a:xfrm>
            <a:off x="1011300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4" name="Shape 26"/>
          <p:cNvSpPr/>
          <p:nvPr/>
        </p:nvSpPr>
        <p:spPr>
          <a:xfrm>
            <a:off x="10548845" y="1536192"/>
            <a:ext cx="603504" cy="603504"/>
          </a:xfrm>
          <a:prstGeom prst="ellipse">
            <a:avLst/>
          </a:prstGeom>
          <a:solidFill>
            <a:srgbClr val="E39B2D"/>
          </a:solidFill>
          <a:ln w="12700">
            <a:solidFill>
              <a:srgbClr val="E39B2D"/>
            </a:solidFill>
            <a:prstDash val="solid"/>
          </a:ln>
        </p:spPr>
        <p:txBody>
          <a:bodyPr/>
          <a:lstStyle/>
          <a:p>
            <a:endParaRPr lang="en-US"/>
          </a:p>
        </p:txBody>
      </p:sp>
      <p:pic>
        <p:nvPicPr>
          <p:cNvPr id="35" name="Image 6" descr="preencoded.png"/>
          <p:cNvPicPr>
            <a:picLocks noChangeAspect="1"/>
          </p:cNvPicPr>
          <p:nvPr/>
        </p:nvPicPr>
        <p:blipFill>
          <a:blip r:embed="rId9"/>
          <a:stretch>
            <a:fillRect/>
          </a:stretch>
        </p:blipFill>
        <p:spPr>
          <a:xfrm>
            <a:off x="10699721" y="1687068"/>
            <a:ext cx="301752" cy="301752"/>
          </a:xfrm>
          <a:prstGeom prst="rect">
            <a:avLst/>
          </a:prstGeom>
        </p:spPr>
      </p:pic>
      <p:sp>
        <p:nvSpPr>
          <p:cNvPr id="36" name="Text 27"/>
          <p:cNvSpPr txBox="1"/>
          <p:nvPr/>
        </p:nvSpPr>
        <p:spPr>
          <a:xfrm>
            <a:off x="1014957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7" name="Text 28"/>
          <p:cNvSpPr txBox="1"/>
          <p:nvPr/>
        </p:nvSpPr>
        <p:spPr>
          <a:xfrm>
            <a:off x="1016786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8" name="Image 7" descr="D:\hnp\uq-testgen\deck\assets\frame_c.png"/>
          <p:cNvPicPr>
            <a:picLocks noChangeAspect="1"/>
          </p:cNvPicPr>
          <p:nvPr/>
        </p:nvPicPr>
        <p:blipFill>
          <a:blip r:embed="rId10"/>
          <a:stretch>
            <a:fillRect/>
          </a:stretch>
        </p:blipFill>
        <p:spPr>
          <a:xfrm>
            <a:off x="548640" y="3611880"/>
            <a:ext cx="6675120" cy="1084707"/>
          </a:xfrm>
          <a:prstGeom prst="rect">
            <a:avLst/>
          </a:prstGeom>
        </p:spPr>
      </p:pic>
      <p:sp>
        <p:nvSpPr>
          <p:cNvPr id="39" name="Text 29"/>
          <p:cNvSpPr txBox="1"/>
          <p:nvPr/>
        </p:nvSpPr>
        <p:spPr>
          <a:xfrm>
            <a:off x="548640" y="4754880"/>
            <a:ext cx="6675120" cy="54864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0" name="Shape 30"/>
          <p:cNvSpPr/>
          <p:nvPr/>
        </p:nvSpPr>
        <p:spPr>
          <a:xfrm>
            <a:off x="7498080" y="3611880"/>
            <a:ext cx="4142232" cy="2286000"/>
          </a:xfrm>
          <a:prstGeom prst="roundRect">
            <a:avLst>
              <a:gd name="adj" fmla="val 4800"/>
            </a:avLst>
          </a:prstGeom>
          <a:solidFill>
            <a:srgbClr val="E6F3F3"/>
          </a:solidFill>
          <a:ln w="12700">
            <a:solidFill>
              <a:srgbClr val="E6F3F3"/>
            </a:solidFill>
            <a:prstDash val="solid"/>
          </a:ln>
        </p:spPr>
        <p:txBody>
          <a:bodyPr/>
          <a:lstStyle/>
          <a:p>
            <a:endParaRPr lang="en-US"/>
          </a:p>
        </p:txBody>
      </p:sp>
      <p:sp>
        <p:nvSpPr>
          <p:cNvPr id="41" name="Text 31"/>
          <p:cNvSpPr txBox="1"/>
          <p:nvPr/>
        </p:nvSpPr>
        <p:spPr>
          <a:xfrm>
            <a:off x="7726680" y="3730752"/>
            <a:ext cx="3749040" cy="36576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What is new vs. v1</a:t>
            </a:r>
            <a:endParaRPr lang="en-US" sz="1600" dirty="0"/>
          </a:p>
        </p:txBody>
      </p:sp>
      <p:sp>
        <p:nvSpPr>
          <p:cNvPr id="42" name="Text 32"/>
          <p:cNvSpPr txBox="1"/>
          <p:nvPr/>
        </p:nvSpPr>
        <p:spPr>
          <a:xfrm>
            <a:off x="7726680" y="4160520"/>
            <a:ext cx="37490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4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3" name="Shape 1"/>
          <p:cNvSpPr/>
          <p:nvPr/>
        </p:nvSpPr>
        <p:spPr>
          <a:xfrm>
            <a:off x="54864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459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2029968"/>
            <a:ext cx="4114800" cy="365760"/>
          </a:xfrm>
          <a:prstGeom prst="rect">
            <a:avLst/>
          </a:prstGeom>
          <a:noFill/>
          <a:ln/>
        </p:spPr>
        <p:txBody>
          <a:bodyPr wrap="square" lIns="0" tIns="0" rIns="0" bIns="0" rtlCol="0" anchor="t"/>
          <a:lstStyle/>
          <a:p>
            <a:pPr marL="0" indent="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8" name="Text 5"/>
          <p:cNvSpPr txBox="1"/>
          <p:nvPr/>
        </p:nvSpPr>
        <p:spPr>
          <a:xfrm>
            <a:off x="164592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9" name="Shape 6"/>
          <p:cNvSpPr/>
          <p:nvPr/>
        </p:nvSpPr>
        <p:spPr>
          <a:xfrm>
            <a:off x="617220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6446520" y="164592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606540" y="1805940"/>
            <a:ext cx="320040" cy="320040"/>
          </a:xfrm>
          <a:prstGeom prst="rect">
            <a:avLst/>
          </a:prstGeom>
        </p:spPr>
      </p:pic>
      <p:sp>
        <p:nvSpPr>
          <p:cNvPr id="12" name="Text 8"/>
          <p:cNvSpPr txBox="1"/>
          <p:nvPr/>
        </p:nvSpPr>
        <p:spPr>
          <a:xfrm>
            <a:off x="726948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2029968"/>
            <a:ext cx="4114800" cy="365760"/>
          </a:xfrm>
          <a:prstGeom prst="rect">
            <a:avLst/>
          </a:prstGeom>
          <a:noFill/>
          <a:ln/>
        </p:spPr>
        <p:txBody>
          <a:bodyPr wrap="square" lIns="0" tIns="0" rIns="0" bIns="0" rtlCol="0" anchor="t"/>
          <a:lstStyle/>
          <a:p>
            <a:pPr marL="0" indent="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4" name="Text 10"/>
          <p:cNvSpPr txBox="1"/>
          <p:nvPr/>
        </p:nvSpPr>
        <p:spPr>
          <a:xfrm>
            <a:off x="726948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5" name="Shape 11"/>
          <p:cNvSpPr/>
          <p:nvPr/>
        </p:nvSpPr>
        <p:spPr>
          <a:xfrm>
            <a:off x="548640" y="3566160"/>
            <a:ext cx="5440680" cy="2011680"/>
          </a:xfrm>
          <a:prstGeom prst="roundRect">
            <a:avLst>
              <a:gd name="adj" fmla="val 5455"/>
            </a:avLst>
          </a:prstGeom>
          <a:solidFill>
            <a:srgbClr val="E6F3F3"/>
          </a:solidFill>
          <a:ln w="12700">
            <a:solidFill>
              <a:srgbClr val="E6F3F3"/>
            </a:solidFill>
            <a:prstDash val="solid"/>
          </a:ln>
        </p:spPr>
        <p:txBody>
          <a:bodyPr/>
          <a:lstStyle/>
          <a:p>
            <a:endParaRPr lang="en-US"/>
          </a:p>
        </p:txBody>
      </p:sp>
      <p:sp>
        <p:nvSpPr>
          <p:cNvPr id="16" name="Shape 12"/>
          <p:cNvSpPr/>
          <p:nvPr/>
        </p:nvSpPr>
        <p:spPr>
          <a:xfrm>
            <a:off x="822960" y="384048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982980" y="4000500"/>
            <a:ext cx="320040" cy="320040"/>
          </a:xfrm>
          <a:prstGeom prst="rect">
            <a:avLst/>
          </a:prstGeom>
        </p:spPr>
      </p:pic>
      <p:sp>
        <p:nvSpPr>
          <p:cNvPr id="18" name="Text 13"/>
          <p:cNvSpPr txBox="1"/>
          <p:nvPr/>
        </p:nvSpPr>
        <p:spPr>
          <a:xfrm>
            <a:off x="164592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19" name="Text 14"/>
          <p:cNvSpPr txBox="1"/>
          <p:nvPr/>
        </p:nvSpPr>
        <p:spPr>
          <a:xfrm>
            <a:off x="1645920" y="4224528"/>
            <a:ext cx="4114800" cy="365760"/>
          </a:xfrm>
          <a:prstGeom prst="rect">
            <a:avLst/>
          </a:prstGeom>
          <a:noFill/>
          <a:ln/>
        </p:spPr>
        <p:txBody>
          <a:bodyPr wrap="square" lIns="0" tIns="0" rIns="0" bIns="0" rtlCol="0" anchor="t"/>
          <a:lstStyle/>
          <a:p>
            <a:pPr marL="0" indent="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0" name="Text 15"/>
          <p:cNvSpPr txBox="1"/>
          <p:nvPr/>
        </p:nvSpPr>
        <p:spPr>
          <a:xfrm>
            <a:off x="164592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1" name="Shape 16"/>
          <p:cNvSpPr/>
          <p:nvPr/>
        </p:nvSpPr>
        <p:spPr>
          <a:xfrm>
            <a:off x="6172200" y="356616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6446520" y="384048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606540" y="4000500"/>
            <a:ext cx="320040" cy="320040"/>
          </a:xfrm>
          <a:prstGeom prst="rect">
            <a:avLst/>
          </a:prstGeom>
        </p:spPr>
      </p:pic>
      <p:sp>
        <p:nvSpPr>
          <p:cNvPr id="24" name="Text 18"/>
          <p:cNvSpPr txBox="1"/>
          <p:nvPr/>
        </p:nvSpPr>
        <p:spPr>
          <a:xfrm>
            <a:off x="726948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224528"/>
            <a:ext cx="4114800" cy="365760"/>
          </a:xfrm>
          <a:prstGeom prst="rect">
            <a:avLst/>
          </a:prstGeom>
          <a:noFill/>
          <a:ln/>
        </p:spPr>
        <p:txBody>
          <a:bodyPr wrap="square" lIns="0" tIns="0" rIns="0" bIns="0" rtlCol="0" anchor="t"/>
          <a:lstStyle/>
          <a:p>
            <a:pPr marL="0" indent="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6" name="Text 20"/>
          <p:cNvSpPr txBox="1"/>
          <p:nvPr/>
        </p:nvSpPr>
        <p:spPr>
          <a:xfrm>
            <a:off x="726948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7" name="Text 21"/>
          <p:cNvSpPr txBox="1"/>
          <p:nvPr/>
        </p:nvSpPr>
        <p:spPr>
          <a:xfrm>
            <a:off x="548640" y="5833872"/>
            <a:ext cx="11094415" cy="36576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one requirement, end to end, live LLM</a:t>
            </a:r>
            <a:endParaRPr lang="en-US" sz="30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4" name="Shape 1"/>
          <p:cNvSpPr/>
          <p:nvPr/>
        </p:nvSpPr>
        <p:spPr>
          <a:xfrm>
            <a:off x="8412480" y="1270221"/>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6" name="Text 3"/>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7" name="Text 4"/>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Experiment: 210 generated tests, 1,890 simulations</a:t>
            </a:r>
            <a:endParaRPr lang="en-US" sz="3000" dirty="0"/>
          </a:p>
        </p:txBody>
      </p:sp>
      <p:sp>
        <p:nvSpPr>
          <p:cNvPr id="3" name="Shape 1"/>
          <p:cNvSpPr/>
          <p:nvPr/>
        </p:nvSpPr>
        <p:spPr>
          <a:xfrm>
            <a:off x="548640"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822960"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7</a:t>
            </a:r>
            <a:endParaRPr lang="en-US" sz="4800" dirty="0"/>
          </a:p>
        </p:txBody>
      </p:sp>
      <p:sp>
        <p:nvSpPr>
          <p:cNvPr id="5" name="Text 3"/>
          <p:cNvSpPr txBox="1"/>
          <p:nvPr/>
        </p:nvSpPr>
        <p:spPr>
          <a:xfrm>
            <a:off x="822960"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ACC requirements</a:t>
            </a:r>
            <a:endParaRPr lang="en-US" sz="1500" dirty="0"/>
          </a:p>
        </p:txBody>
      </p:sp>
      <p:sp>
        <p:nvSpPr>
          <p:cNvPr id="6" name="Text 4"/>
          <p:cNvSpPr txBox="1"/>
          <p:nvPr/>
        </p:nvSpPr>
        <p:spPr>
          <a:xfrm>
            <a:off x="822960"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time gap, braking, cut-in, set speed, stop &amp; go, cut-out, comfort</a:t>
            </a:r>
            <a:endParaRPr lang="en-US" sz="1200" dirty="0"/>
          </a:p>
        </p:txBody>
      </p:sp>
      <p:sp>
        <p:nvSpPr>
          <p:cNvPr id="7" name="Shape 5"/>
          <p:cNvSpPr/>
          <p:nvPr/>
        </p:nvSpPr>
        <p:spPr>
          <a:xfrm>
            <a:off x="3364992"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3639312"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3639312"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LLMs via ChatGPT login</a:t>
            </a:r>
            <a:endParaRPr lang="en-US" sz="1500" dirty="0"/>
          </a:p>
        </p:txBody>
      </p:sp>
      <p:sp>
        <p:nvSpPr>
          <p:cNvPr id="10" name="Text 8"/>
          <p:cNvSpPr txBox="1"/>
          <p:nvPr/>
        </p:nvSpPr>
        <p:spPr>
          <a:xfrm>
            <a:off x="3639312"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gpt-5.6-luna · gpt-5.6-terra · gpt-6-astra</a:t>
            </a:r>
            <a:endParaRPr lang="en-US" sz="1200" dirty="0"/>
          </a:p>
        </p:txBody>
      </p:sp>
      <p:sp>
        <p:nvSpPr>
          <p:cNvPr id="11" name="Shape 9"/>
          <p:cNvSpPr/>
          <p:nvPr/>
        </p:nvSpPr>
        <p:spPr>
          <a:xfrm>
            <a:off x="6181344"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6455664"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10</a:t>
            </a:r>
            <a:endParaRPr lang="en-US" sz="4800" dirty="0"/>
          </a:p>
        </p:txBody>
      </p:sp>
      <p:sp>
        <p:nvSpPr>
          <p:cNvPr id="13" name="Text 11"/>
          <p:cNvSpPr txBox="1"/>
          <p:nvPr/>
        </p:nvSpPr>
        <p:spPr>
          <a:xfrm>
            <a:off x="6455664"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samples per requirement</a:t>
            </a:r>
            <a:endParaRPr lang="en-US" sz="1500" dirty="0"/>
          </a:p>
        </p:txBody>
      </p:sp>
      <p:sp>
        <p:nvSpPr>
          <p:cNvPr id="14" name="Text 12"/>
          <p:cNvSpPr txBox="1"/>
          <p:nvPr/>
        </p:nvSpPr>
        <p:spPr>
          <a:xfrm>
            <a:off x="6455664"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independent sessions, N = 10</a:t>
            </a:r>
            <a:endParaRPr lang="en-US" sz="1200" dirty="0"/>
          </a:p>
        </p:txBody>
      </p:sp>
      <p:sp>
        <p:nvSpPr>
          <p:cNvPr id="15" name="Shape 13"/>
          <p:cNvSpPr/>
          <p:nvPr/>
        </p:nvSpPr>
        <p:spPr>
          <a:xfrm>
            <a:off x="8997696"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9272016"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9272016"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seeded controller faults</a:t>
            </a:r>
            <a:endParaRPr lang="en-US" sz="1500" dirty="0"/>
          </a:p>
        </p:txBody>
      </p:sp>
      <p:sp>
        <p:nvSpPr>
          <p:cNvPr id="18" name="Text 16"/>
          <p:cNvSpPr txBox="1"/>
          <p:nvPr/>
        </p:nvSpPr>
        <p:spPr>
          <a:xfrm>
            <a:off x="9272016"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gap, AEB, perception, actuator, logic</a:t>
            </a:r>
            <a:endParaRPr lang="en-US" sz="1200" dirty="0"/>
          </a:p>
        </p:txBody>
      </p:sp>
      <p:sp>
        <p:nvSpPr>
          <p:cNvPr id="19" name="Text 17"/>
          <p:cNvSpPr txBox="1"/>
          <p:nvPr/>
        </p:nvSpPr>
        <p:spPr>
          <a:xfrm>
            <a:off x="548640" y="3794760"/>
            <a:ext cx="548640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Ground truth per generated test</a:t>
            </a:r>
            <a:endParaRPr lang="en-US" sz="1700" dirty="0"/>
          </a:p>
        </p:txBody>
      </p:sp>
      <p:sp>
        <p:nvSpPr>
          <p:cNvPr id="20" name="Text 18"/>
          <p:cNvSpPr txBox="1"/>
          <p:nvPr/>
        </p:nvSpPr>
        <p:spPr>
          <a:xfrm>
            <a:off x="548640" y="4206240"/>
            <a:ext cx="11094415" cy="1737360"/>
          </a:xfrm>
          <a:prstGeom prst="rect">
            <a:avLst/>
          </a:prstGeom>
          <a:noFill/>
          <a:ln/>
        </p:spPr>
        <p:txBody>
          <a:bodyPr wrap="square" lIns="0" tIns="0" rIns="0" bIns="0" rtlCol="0" anchor="t"/>
          <a:lstStyle/>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Correct: </a:t>
            </a:r>
            <a:r>
              <a:rPr lang="en-US" sz="1400" dirty="0">
                <a:solidFill>
                  <a:srgbClr val="1E2533"/>
                </a:solidFill>
                <a:latin typeface="Calibri" pitchFamily="34" charset="0"/>
                <a:ea typeface="Calibri" pitchFamily="34" charset="-122"/>
                <a:cs typeface="Calibri" pitchFamily="34" charset="-120"/>
              </a:rPr>
              <a:t>scenario exercises the requirement inside its ODD, and its oracle agrees with the reference formalisation on the correct SUT and all 8 faulty versions</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Effective: </a:t>
            </a:r>
            <a:r>
              <a:rPr lang="en-US" sz="1400" dirty="0">
                <a:solidFill>
                  <a:srgbClr val="1E2533"/>
                </a:solidFill>
                <a:latin typeface="Calibri" pitchFamily="34" charset="0"/>
                <a:ea typeface="Calibri" pitchFamily="34" charset="-122"/>
                <a:cs typeface="Calibri" pitchFamily="34" charset="-120"/>
              </a:rPr>
              <a:t>mutation score of the test's own oracle</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Method: </a:t>
            </a:r>
            <a:r>
              <a:rPr lang="en-US" sz="1400" dirty="0">
                <a:solidFill>
                  <a:srgbClr val="1E2533"/>
                </a:solidFill>
                <a:latin typeface="Calibri" pitchFamily="34" charset="0"/>
                <a:ea typeface="Calibri" pitchFamily="34" charset="-122"/>
                <a:cs typeface="Calibri" pitchFamily="34" charset="-120"/>
              </a:rPr>
              <a:t>metric design fixed on a development round (5 requirements); all numbers here from a fresh held-out round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graphicFrame>
        <p:nvGraphicFramePr>
          <p:cNvPr id="3" name="Chart 0"/>
          <p:cNvGraphicFramePr/>
          <p:nvPr/>
        </p:nvGraphicFramePr>
        <p:xfrm>
          <a:off x="548640" y="132588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772400" y="1325880"/>
            <a:ext cx="3867912" cy="4480560"/>
          </a:xfrm>
          <a:prstGeom prst="roundRect">
            <a:avLst>
              <a:gd name="adj" fmla="val 283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046720" y="1463040"/>
            <a:ext cx="3383280" cy="82296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6" name="Text 3"/>
          <p:cNvSpPr txBox="1"/>
          <p:nvPr/>
        </p:nvSpPr>
        <p:spPr>
          <a:xfrm>
            <a:off x="8046720" y="2286000"/>
            <a:ext cx="3383280" cy="6400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7" name="Text 4"/>
          <p:cNvSpPr txBox="1"/>
          <p:nvPr/>
        </p:nvSpPr>
        <p:spPr>
          <a:xfrm>
            <a:off x="8046720" y="3063240"/>
            <a:ext cx="342900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8" name="Text 5"/>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Held-out round, 210 tests; within-batch AUROC averaged over the 6 batches that contain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3" name="Chart 0"/>
          <p:cNvGraphicFramePr/>
          <p:nvPr/>
        </p:nvGraphicFramePr>
        <p:xfrm>
          <a:off x="548640" y="132588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txBody>
          <a:bodyPr/>
          <a:lstStyle/>
          <a:p>
            <a:endParaRPr lang="en-US"/>
          </a:p>
        </p:txBody>
      </p:sp>
      <p:sp>
        <p:nvSpPr>
          <p:cNvPr id="5" name="Text 2"/>
          <p:cNvSpPr txBox="1"/>
          <p:nvPr/>
        </p:nvSpPr>
        <p:spPr>
          <a:xfrm>
            <a:off x="6949440" y="1435608"/>
            <a:ext cx="10972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6" name="Text 3"/>
          <p:cNvSpPr txBox="1"/>
          <p:nvPr/>
        </p:nvSpPr>
        <p:spPr>
          <a:xfrm>
            <a:off x="8092440" y="1463040"/>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7" name="Shape 4"/>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txBody>
          <a:bodyPr/>
          <a:lstStyle/>
          <a:p>
            <a:endParaRPr lang="en-US"/>
          </a:p>
        </p:txBody>
      </p:sp>
      <p:sp>
        <p:nvSpPr>
          <p:cNvPr id="8" name="Text 5"/>
          <p:cNvSpPr txBox="1"/>
          <p:nvPr/>
        </p:nvSpPr>
        <p:spPr>
          <a:xfrm>
            <a:off x="6949440" y="2642616"/>
            <a:ext cx="1097280" cy="822960"/>
          </a:xfrm>
          <a:prstGeom prst="rect">
            <a:avLst/>
          </a:prstGeom>
          <a:noFill/>
          <a:ln/>
        </p:spPr>
        <p:txBody>
          <a:bodyPr wrap="square" lIns="0" tIns="0" rIns="0" bIns="0" rtlCol="0" anchor="ctr"/>
          <a:lstStyle/>
          <a:p>
            <a:pPr marL="0" indent="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9" name="Text 6"/>
          <p:cNvSpPr txBox="1"/>
          <p:nvPr/>
        </p:nvSpPr>
        <p:spPr>
          <a:xfrm>
            <a:off x="8092440" y="2670048"/>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0" name="Shape 7"/>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txBody>
          <a:bodyPr/>
          <a:lstStyle/>
          <a:p>
            <a:endParaRPr lang="en-US"/>
          </a:p>
        </p:txBody>
      </p:sp>
      <p:sp>
        <p:nvSpPr>
          <p:cNvPr id="11" name="Text 8"/>
          <p:cNvSpPr txBox="1"/>
          <p:nvPr/>
        </p:nvSpPr>
        <p:spPr>
          <a:xfrm>
            <a:off x="6949440" y="3849624"/>
            <a:ext cx="1097280" cy="822960"/>
          </a:xfrm>
          <a:prstGeom prst="rect">
            <a:avLst/>
          </a:prstGeom>
          <a:noFill/>
          <a:ln/>
        </p:spPr>
        <p:txBody>
          <a:bodyPr wrap="square" lIns="0" tIns="0" rIns="0" bIns="0" rtlCol="0" anchor="ctr"/>
          <a:lstStyle/>
          <a:p>
            <a:pPr marL="0" indent="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8092440" y="3877056"/>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3" name="Shape 10"/>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txBody>
          <a:bodyPr/>
          <a:lstStyle/>
          <a:p>
            <a:endParaRPr lang="en-US"/>
          </a:p>
        </p:txBody>
      </p:sp>
      <p:sp>
        <p:nvSpPr>
          <p:cNvPr id="14" name="Text 11"/>
          <p:cNvSpPr txBox="1"/>
          <p:nvPr/>
        </p:nvSpPr>
        <p:spPr>
          <a:xfrm>
            <a:off x="6949440" y="5029200"/>
            <a:ext cx="4526280" cy="731520"/>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5" name="Text 12"/>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the demo cannot do yet becomes the research agenda</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800600"/>
        </p:xfrm>
        <a:graphic>
          <a:graphicData uri="http://schemas.openxmlformats.org/drawingml/2006/table">
            <a:tbl>
              <a:tblPr/>
              <a:tblGrid>
                <a:gridCol w="493776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960120">
                <a:tc>
                  <a:txBody>
                    <a:bodyPr/>
                    <a:lstStyle/>
                    <a:p>
                      <a:pPr marL="0" indent="0">
                        <a:buNone/>
                      </a:pPr>
                      <a:r>
                        <a:rPr lang="en-US" sz="1400" b="1" dirty="0">
                          <a:solidFill>
                            <a:srgbClr val="FFFFFF"/>
                          </a:solidFill>
                        </a:rPr>
                        <a:t>Gap seen in the demo</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Research direction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000000"/>
                          </a:solidFill>
                        </a:rPr>
                        <a:t>Per-test signal is weak within a requirement (AUROC 0.71); black-box only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White-box (log-prob) and trajectory-level metrics; semantic oracle equivalence; calibration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000000"/>
                          </a:solidFill>
                        </a:rPr>
                        <a:t>Thresholds are heuristic; risk ignores the severity of the requirement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Risk = uncertainty × consequence; conformal / selective guarantees; cost-aware review budget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000000"/>
                          </a:solidFill>
                        </a:rPr>
                        <a:t>Uncertainty vs. effectiveness only hinted (ρ = -0.28 with mutation score); cost of N samples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Large study: correctness, fault detection, flakiness, latency and token cost vs. uncertainty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400" dirty="0">
                          <a:solidFill>
                            <a:srgbClr val="000000"/>
                          </a:solidFill>
                        </a:rPr>
                        <a:t>3 hosted LLMs, 1 simulator, 1 SUT, seeded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Open-source ACPS + industrial cases + InnoGuard platform; newer models; quantum ML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3" name="Shape 1"/>
          <p:cNvSpPr/>
          <p:nvPr/>
        </p:nvSpPr>
        <p:spPr>
          <a:xfrm>
            <a:off x="548640" y="1325880"/>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777240" y="1490472"/>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5" name="Text 3"/>
          <p:cNvSpPr txBox="1"/>
          <p:nvPr/>
        </p:nvSpPr>
        <p:spPr>
          <a:xfrm>
            <a:off x="1783080" y="1435608"/>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6" name="Text 4"/>
          <p:cNvSpPr txBox="1"/>
          <p:nvPr/>
        </p:nvSpPr>
        <p:spPr>
          <a:xfrm>
            <a:off x="6537960" y="1435608"/>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7" name="Shape 5"/>
          <p:cNvSpPr/>
          <p:nvPr/>
        </p:nvSpPr>
        <p:spPr>
          <a:xfrm>
            <a:off x="548640" y="2496312"/>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777240" y="2660904"/>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783080" y="2606040"/>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0" name="Text 8"/>
          <p:cNvSpPr txBox="1"/>
          <p:nvPr/>
        </p:nvSpPr>
        <p:spPr>
          <a:xfrm>
            <a:off x="6537960" y="2606040"/>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1" name="Shape 9"/>
          <p:cNvSpPr/>
          <p:nvPr/>
        </p:nvSpPr>
        <p:spPr>
          <a:xfrm>
            <a:off x="548640" y="3666744"/>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777240" y="3831336"/>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3" name="Text 11"/>
          <p:cNvSpPr txBox="1"/>
          <p:nvPr/>
        </p:nvSpPr>
        <p:spPr>
          <a:xfrm>
            <a:off x="1783080" y="3776472"/>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4" name="Text 12"/>
          <p:cNvSpPr txBox="1"/>
          <p:nvPr/>
        </p:nvSpPr>
        <p:spPr>
          <a:xfrm>
            <a:off x="6537960" y="3776472"/>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5" name="Shape 13"/>
          <p:cNvSpPr/>
          <p:nvPr/>
        </p:nvSpPr>
        <p:spPr>
          <a:xfrm>
            <a:off x="548640" y="4837176"/>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777240" y="5001768"/>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7" name="Text 15"/>
          <p:cNvSpPr txBox="1"/>
          <p:nvPr/>
        </p:nvSpPr>
        <p:spPr>
          <a:xfrm>
            <a:off x="1783080" y="4946904"/>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8" name="Text 16"/>
          <p:cNvSpPr txBox="1"/>
          <p:nvPr/>
        </p:nvSpPr>
        <p:spPr>
          <a:xfrm>
            <a:off x="6537960" y="4946904"/>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3" name="Shape 1"/>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4" name="Text 2"/>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5" name="Shape 3"/>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6" name="Text 4"/>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7" name="Shape 5"/>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8" name="Text 6"/>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9" name="Text 7"/>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0" name="Shape 8"/>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1" name="Text 9"/>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2" name="Shape 10"/>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3" name="Text 11"/>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4" name="Shape 12"/>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5" name="Text 13"/>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6" name="Shape 14"/>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7" name="Text 15"/>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8" name="Shape 16"/>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19" name="Text 17"/>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0" name="Shape 18"/>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1" name="Text 19"/>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2" name="Shape 20"/>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3" name="Text 21"/>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4" name="Shape 22"/>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5" name="Shape 23"/>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6" name="Text 24"/>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7" name="Shape 25"/>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8" name="Text 26"/>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29" name="Shape 27"/>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0" name="Text 28"/>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1" name="Shape 29"/>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2" name="Text 30"/>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3" name="Shape 31"/>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4" name="Text 32"/>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5" name="Text 33"/>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6"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3" name="Shape 1"/>
          <p:cNvSpPr/>
          <p:nvPr/>
        </p:nvSpPr>
        <p:spPr>
          <a:xfrm>
            <a:off x="548640" y="148132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08660" y="1641348"/>
            <a:ext cx="320040" cy="320040"/>
          </a:xfrm>
          <a:prstGeom prst="rect">
            <a:avLst/>
          </a:prstGeom>
        </p:spPr>
      </p:pic>
      <p:sp>
        <p:nvSpPr>
          <p:cNvPr id="5" name="Text 2"/>
          <p:cNvSpPr txBox="1"/>
          <p:nvPr/>
        </p:nvSpPr>
        <p:spPr>
          <a:xfrm>
            <a:off x="1417320" y="144475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6" name="Text 3"/>
          <p:cNvSpPr txBox="1"/>
          <p:nvPr/>
        </p:nvSpPr>
        <p:spPr>
          <a:xfrm>
            <a:off x="3200400" y="144475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7" name="Shape 4"/>
          <p:cNvSpPr/>
          <p:nvPr/>
        </p:nvSpPr>
        <p:spPr>
          <a:xfrm>
            <a:off x="548640" y="2505456"/>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08660" y="2665476"/>
            <a:ext cx="320040" cy="320040"/>
          </a:xfrm>
          <a:prstGeom prst="rect">
            <a:avLst/>
          </a:prstGeom>
        </p:spPr>
      </p:pic>
      <p:sp>
        <p:nvSpPr>
          <p:cNvPr id="9" name="Text 5"/>
          <p:cNvSpPr txBox="1"/>
          <p:nvPr/>
        </p:nvSpPr>
        <p:spPr>
          <a:xfrm>
            <a:off x="1417320" y="2468880"/>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0" name="Text 6"/>
          <p:cNvSpPr txBox="1"/>
          <p:nvPr/>
        </p:nvSpPr>
        <p:spPr>
          <a:xfrm>
            <a:off x="3200400" y="2468880"/>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1" name="Shape 7"/>
          <p:cNvSpPr/>
          <p:nvPr/>
        </p:nvSpPr>
        <p:spPr>
          <a:xfrm>
            <a:off x="548640" y="3529584"/>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08660" y="3689604"/>
            <a:ext cx="320040" cy="320040"/>
          </a:xfrm>
          <a:prstGeom prst="rect">
            <a:avLst/>
          </a:prstGeom>
        </p:spPr>
      </p:pic>
      <p:sp>
        <p:nvSpPr>
          <p:cNvPr id="13" name="Text 8"/>
          <p:cNvSpPr txBox="1"/>
          <p:nvPr/>
        </p:nvSpPr>
        <p:spPr>
          <a:xfrm>
            <a:off x="1417320" y="349300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4" name="Text 9"/>
          <p:cNvSpPr txBox="1"/>
          <p:nvPr/>
        </p:nvSpPr>
        <p:spPr>
          <a:xfrm>
            <a:off x="3200400" y="349300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5" name="Shape 10"/>
          <p:cNvSpPr/>
          <p:nvPr/>
        </p:nvSpPr>
        <p:spPr>
          <a:xfrm>
            <a:off x="548640" y="4553712"/>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708660" y="4713732"/>
            <a:ext cx="320040" cy="320040"/>
          </a:xfrm>
          <a:prstGeom prst="rect">
            <a:avLst/>
          </a:prstGeom>
        </p:spPr>
      </p:pic>
      <p:sp>
        <p:nvSpPr>
          <p:cNvPr id="17" name="Text 11"/>
          <p:cNvSpPr txBox="1"/>
          <p:nvPr/>
        </p:nvSpPr>
        <p:spPr>
          <a:xfrm>
            <a:off x="1417320" y="4517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8" name="Text 12"/>
          <p:cNvSpPr txBox="1"/>
          <p:nvPr/>
        </p:nvSpPr>
        <p:spPr>
          <a:xfrm>
            <a:off x="3200400" y="4517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Open benchmark, tool and replication packages; integration with the InnoGuard platform</a:t>
            </a:r>
            <a:endParaRPr lang="en-US" sz="1400" dirty="0"/>
          </a:p>
        </p:txBody>
      </p:sp>
      <p:sp>
        <p:nvSpPr>
          <p:cNvPr id="19" name="Shape 13"/>
          <p:cNvSpPr/>
          <p:nvPr/>
        </p:nvSpPr>
        <p:spPr>
          <a:xfrm>
            <a:off x="7406640" y="1371600"/>
            <a:ext cx="4233672" cy="4023360"/>
          </a:xfrm>
          <a:prstGeom prst="roundRect">
            <a:avLst>
              <a:gd name="adj" fmla="val 2727"/>
            </a:avLst>
          </a:prstGeom>
          <a:solidFill>
            <a:srgbClr val="F2F5F9"/>
          </a:solidFill>
          <a:ln w="12700">
            <a:solidFill>
              <a:srgbClr val="F2F5F9"/>
            </a:solidFill>
            <a:prstDash val="solid"/>
          </a:ln>
        </p:spPr>
        <p:txBody>
          <a:bodyPr/>
          <a:lstStyle/>
          <a:p>
            <a:endParaRPr lang="en-US"/>
          </a:p>
        </p:txBody>
      </p:sp>
      <p:sp>
        <p:nvSpPr>
          <p:cNvPr id="20" name="Text 14"/>
          <p:cNvSpPr txBox="1"/>
          <p:nvPr/>
        </p:nvSpPr>
        <p:spPr>
          <a:xfrm>
            <a:off x="7635240" y="153619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1" name="Text 15"/>
          <p:cNvSpPr txBox="1"/>
          <p:nvPr/>
        </p:nvSpPr>
        <p:spPr>
          <a:xfrm>
            <a:off x="7635240" y="196596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Why me, why this team</a:t>
            </a:r>
            <a:endParaRPr lang="en-US" sz="4000" dirty="0"/>
          </a:p>
        </p:txBody>
      </p:sp>
      <p:sp>
        <p:nvSpPr>
          <p:cNvPr id="3" name="Shape 1"/>
          <p:cNvSpPr/>
          <p:nvPr/>
        </p:nvSpPr>
        <p:spPr>
          <a:xfrm>
            <a:off x="548640" y="342900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90372" y="3570732"/>
            <a:ext cx="283464" cy="283464"/>
          </a:xfrm>
          <a:prstGeom prst="rect">
            <a:avLst/>
          </a:prstGeom>
        </p:spPr>
      </p:pic>
      <p:sp>
        <p:nvSpPr>
          <p:cNvPr id="5" name="Text 2"/>
          <p:cNvSpPr txBox="1"/>
          <p:nvPr/>
        </p:nvSpPr>
        <p:spPr>
          <a:xfrm>
            <a:off x="1325880" y="342900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CPS tester by training  </a:t>
            </a:r>
            <a:r>
              <a:rPr lang="en-US" sz="1600" dirty="0">
                <a:solidFill>
                  <a:srgbClr val="CFE3F1"/>
                </a:solidFill>
                <a:latin typeface="Calibri" pitchFamily="34" charset="0"/>
                <a:ea typeface="Calibri" pitchFamily="34" charset="-122"/>
                <a:cs typeface="Calibri" pitchFamily="34" charset="-120"/>
              </a:rPr>
              <a:t>automotive ECU testing, standards and test benches</a:t>
            </a:r>
            <a:endParaRPr lang="en-US" sz="1600" dirty="0"/>
          </a:p>
        </p:txBody>
      </p:sp>
      <p:sp>
        <p:nvSpPr>
          <p:cNvPr id="6" name="Shape 3"/>
          <p:cNvSpPr/>
          <p:nvPr/>
        </p:nvSpPr>
        <p:spPr>
          <a:xfrm>
            <a:off x="548640" y="429768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90372" y="4439412"/>
            <a:ext cx="283464" cy="283464"/>
          </a:xfrm>
          <a:prstGeom prst="rect">
            <a:avLst/>
          </a:prstGeom>
        </p:spPr>
      </p:pic>
      <p:sp>
        <p:nvSpPr>
          <p:cNvPr id="8" name="Text 4"/>
          <p:cNvSpPr txBox="1"/>
          <p:nvPr/>
        </p:nvSpPr>
        <p:spPr>
          <a:xfrm>
            <a:off x="1325880" y="429768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Verification researcher  </a:t>
            </a:r>
            <a:r>
              <a:rPr lang="en-US" sz="1600" dirty="0">
                <a:solidFill>
                  <a:srgbClr val="CFE3F1"/>
                </a:solidFill>
                <a:latin typeface="Calibri" pitchFamily="34" charset="0"/>
                <a:ea typeface="Calibri" pitchFamily="34" charset="-122"/>
                <a:cs typeface="Calibri" pitchFamily="34" charset="-120"/>
              </a:rPr>
              <a:t>falsification and test generation for controller software</a:t>
            </a:r>
            <a:endParaRPr lang="en-US" sz="1600" dirty="0"/>
          </a:p>
        </p:txBody>
      </p:sp>
      <p:sp>
        <p:nvSpPr>
          <p:cNvPr id="9" name="Shape 5"/>
          <p:cNvSpPr/>
          <p:nvPr/>
        </p:nvSpPr>
        <p:spPr>
          <a:xfrm>
            <a:off x="548640" y="516636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90372" y="5308092"/>
            <a:ext cx="283464" cy="283464"/>
          </a:xfrm>
          <a:prstGeom prst="rect">
            <a:avLst/>
          </a:prstGeom>
        </p:spPr>
      </p:pic>
      <p:sp>
        <p:nvSpPr>
          <p:cNvPr id="11" name="Text 6"/>
          <p:cNvSpPr txBox="1"/>
          <p:nvPr/>
        </p:nvSpPr>
        <p:spPr>
          <a:xfrm>
            <a:off x="1325880" y="516636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Builder of AI testing tools  </a:t>
            </a:r>
            <a:r>
              <a:rPr lang="en-US" sz="1600" dirty="0">
                <a:solidFill>
                  <a:srgbClr val="CFE3F1"/>
                </a:solidFill>
                <a:latin typeface="Calibri" pitchFamily="34" charset="0"/>
                <a:ea typeface="Calibri" pitchFamily="34" charset="-122"/>
                <a:cs typeface="Calibri" pitchFamily="34" charset="-120"/>
              </a:rPr>
              <a:t>a working uncertainty-aware prototype, today</a:t>
            </a:r>
            <a:endParaRPr lang="en-US" sz="1600" dirty="0"/>
          </a:p>
        </p:txBody>
      </p:sp>
      <p:sp>
        <p:nvSpPr>
          <p:cNvPr id="12" name="Text 7"/>
          <p:cNvSpPr txBox="1"/>
          <p:nvPr/>
        </p:nvSpPr>
        <p:spPr>
          <a:xfrm>
            <a:off x="8412480" y="3429000"/>
            <a:ext cx="3200400" cy="1097280"/>
          </a:xfrm>
          <a:prstGeom prst="rect">
            <a:avLst/>
          </a:prstGeom>
          <a:noFill/>
          <a:ln/>
        </p:spPr>
        <p:txBody>
          <a:bodyPr wrap="square" lIns="0" tIns="0" rIns="0" bIns="0" rtlCol="0" anchor="t"/>
          <a:lstStyle/>
          <a:p>
            <a:pPr marL="0" indent="0" algn="r">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marL="0" indent="0" algn="r">
              <a:buNone/>
            </a:pPr>
            <a:r>
              <a:rPr lang="en-US" sz="1600" dirty="0">
                <a:solidFill>
                  <a:srgbClr val="CFE3F1"/>
                </a:solidFill>
                <a:latin typeface="Calibri" pitchFamily="34" charset="0"/>
                <a:ea typeface="Calibri" pitchFamily="34" charset="-122"/>
                <a:cs typeface="Calibri" pitchFamily="34" charset="-120"/>
              </a:rPr>
              <a:t>zavinhle@gmail.com</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3" name="Shape 1"/>
          <p:cNvSpPr/>
          <p:nvPr/>
        </p:nvSpPr>
        <p:spPr>
          <a:xfrm>
            <a:off x="1658082" y="2258568"/>
            <a:ext cx="8875532" cy="0"/>
          </a:xfrm>
          <a:prstGeom prst="line">
            <a:avLst/>
          </a:prstGeom>
          <a:noFill/>
          <a:ln w="25400">
            <a:solidFill>
              <a:srgbClr val="DDE3EC"/>
            </a:solidFill>
            <a:prstDash val="solid"/>
          </a:ln>
        </p:spPr>
        <p:txBody>
          <a:bodyPr/>
          <a:lstStyle/>
          <a:p>
            <a:endParaRPr lang="en-US"/>
          </a:p>
        </p:txBody>
      </p:sp>
      <p:sp>
        <p:nvSpPr>
          <p:cNvPr id="4" name="Shape 2"/>
          <p:cNvSpPr/>
          <p:nvPr/>
        </p:nvSpPr>
        <p:spPr>
          <a:xfrm>
            <a:off x="1365474"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511778" y="2112264"/>
            <a:ext cx="292608" cy="292608"/>
          </a:xfrm>
          <a:prstGeom prst="rect">
            <a:avLst/>
          </a:prstGeom>
        </p:spPr>
      </p:pic>
      <p:sp>
        <p:nvSpPr>
          <p:cNvPr id="6" name="Text 3"/>
          <p:cNvSpPr txBox="1"/>
          <p:nvPr/>
        </p:nvSpPr>
        <p:spPr>
          <a:xfrm>
            <a:off x="548640"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7" name="Text 4"/>
          <p:cNvSpPr txBox="1"/>
          <p:nvPr/>
        </p:nvSpPr>
        <p:spPr>
          <a:xfrm>
            <a:off x="621792"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8" name="Text 5"/>
          <p:cNvSpPr txBox="1"/>
          <p:nvPr/>
        </p:nvSpPr>
        <p:spPr>
          <a:xfrm>
            <a:off x="640080"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9" name="Shape 6"/>
          <p:cNvSpPr/>
          <p:nvPr/>
        </p:nvSpPr>
        <p:spPr>
          <a:xfrm>
            <a:off x="3584357"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30661" y="2112264"/>
            <a:ext cx="292608" cy="292608"/>
          </a:xfrm>
          <a:prstGeom prst="rect">
            <a:avLst/>
          </a:prstGeom>
        </p:spPr>
      </p:pic>
      <p:sp>
        <p:nvSpPr>
          <p:cNvPr id="11" name="Text 7"/>
          <p:cNvSpPr txBox="1"/>
          <p:nvPr/>
        </p:nvSpPr>
        <p:spPr>
          <a:xfrm>
            <a:off x="2767523"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2" name="Text 8"/>
          <p:cNvSpPr txBox="1"/>
          <p:nvPr/>
        </p:nvSpPr>
        <p:spPr>
          <a:xfrm>
            <a:off x="2840675"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3" name="Text 9"/>
          <p:cNvSpPr txBox="1"/>
          <p:nvPr/>
        </p:nvSpPr>
        <p:spPr>
          <a:xfrm>
            <a:off x="2858963"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4" name="Shape 10"/>
          <p:cNvSpPr/>
          <p:nvPr/>
        </p:nvSpPr>
        <p:spPr>
          <a:xfrm>
            <a:off x="5803240" y="196596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49544" y="2112264"/>
            <a:ext cx="292608" cy="292608"/>
          </a:xfrm>
          <a:prstGeom prst="rect">
            <a:avLst/>
          </a:prstGeom>
        </p:spPr>
      </p:pic>
      <p:sp>
        <p:nvSpPr>
          <p:cNvPr id="16" name="Text 11"/>
          <p:cNvSpPr txBox="1"/>
          <p:nvPr/>
        </p:nvSpPr>
        <p:spPr>
          <a:xfrm>
            <a:off x="4986406" y="267919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7" name="Text 12"/>
          <p:cNvSpPr txBox="1"/>
          <p:nvPr/>
        </p:nvSpPr>
        <p:spPr>
          <a:xfrm>
            <a:off x="5059558"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8" name="Text 13"/>
          <p:cNvSpPr txBox="1"/>
          <p:nvPr/>
        </p:nvSpPr>
        <p:spPr>
          <a:xfrm>
            <a:off x="5077846"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19" name="Shape 14"/>
          <p:cNvSpPr/>
          <p:nvPr/>
        </p:nvSpPr>
        <p:spPr>
          <a:xfrm>
            <a:off x="8022123" y="196596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68427" y="2112264"/>
            <a:ext cx="292608" cy="292608"/>
          </a:xfrm>
          <a:prstGeom prst="rect">
            <a:avLst/>
          </a:prstGeom>
        </p:spPr>
      </p:pic>
      <p:sp>
        <p:nvSpPr>
          <p:cNvPr id="21" name="Text 15"/>
          <p:cNvSpPr txBox="1"/>
          <p:nvPr/>
        </p:nvSpPr>
        <p:spPr>
          <a:xfrm>
            <a:off x="7205289" y="267919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2" name="Text 16"/>
          <p:cNvSpPr txBox="1"/>
          <p:nvPr/>
        </p:nvSpPr>
        <p:spPr>
          <a:xfrm>
            <a:off x="7278441"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3" name="Text 17"/>
          <p:cNvSpPr txBox="1"/>
          <p:nvPr/>
        </p:nvSpPr>
        <p:spPr>
          <a:xfrm>
            <a:off x="7296729"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4" name="Shape 18"/>
          <p:cNvSpPr/>
          <p:nvPr/>
        </p:nvSpPr>
        <p:spPr>
          <a:xfrm>
            <a:off x="10241006" y="196596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87310" y="2112264"/>
            <a:ext cx="292608" cy="292608"/>
          </a:xfrm>
          <a:prstGeom prst="rect">
            <a:avLst/>
          </a:prstGeom>
        </p:spPr>
      </p:pic>
      <p:sp>
        <p:nvSpPr>
          <p:cNvPr id="26" name="Text 19"/>
          <p:cNvSpPr txBox="1"/>
          <p:nvPr/>
        </p:nvSpPr>
        <p:spPr>
          <a:xfrm>
            <a:off x="9424172" y="267919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7" name="Text 20"/>
          <p:cNvSpPr txBox="1"/>
          <p:nvPr/>
        </p:nvSpPr>
        <p:spPr>
          <a:xfrm>
            <a:off x="9497324"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8" name="Text 21"/>
          <p:cNvSpPr txBox="1"/>
          <p:nvPr/>
        </p:nvSpPr>
        <p:spPr>
          <a:xfrm>
            <a:off x="9515612"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29" name="Shape 22"/>
          <p:cNvSpPr/>
          <p:nvPr/>
        </p:nvSpPr>
        <p:spPr>
          <a:xfrm>
            <a:off x="548640" y="475488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0" name="Text 23"/>
          <p:cNvSpPr txBox="1"/>
          <p:nvPr/>
        </p:nvSpPr>
        <p:spPr>
          <a:xfrm>
            <a:off x="822960" y="491947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1"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14385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to the preferred profile</a:t>
            </a:r>
            <a:endParaRPr lang="en-US" sz="3000" dirty="0"/>
          </a:p>
        </p:txBody>
      </p:sp>
      <p:sp>
        <p:nvSpPr>
          <p:cNvPr id="3" name="Shape 1"/>
          <p:cNvSpPr/>
          <p:nvPr/>
        </p:nvSpPr>
        <p:spPr>
          <a:xfrm>
            <a:off x="54864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916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51660"/>
            <a:ext cx="320040" cy="320040"/>
          </a:xfrm>
          <a:prstGeom prst="rect">
            <a:avLst/>
          </a:prstGeom>
        </p:spPr>
      </p:pic>
      <p:sp>
        <p:nvSpPr>
          <p:cNvPr id="6" name="Text 3"/>
          <p:cNvSpPr txBox="1"/>
          <p:nvPr/>
        </p:nvSpPr>
        <p:spPr>
          <a:xfrm>
            <a:off x="164592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Testing cyber-physical systems</a:t>
            </a:r>
            <a:endParaRPr lang="en-US" sz="1800" dirty="0"/>
          </a:p>
        </p:txBody>
      </p:sp>
      <p:sp>
        <p:nvSpPr>
          <p:cNvPr id="7" name="Text 4"/>
          <p:cNvSpPr txBox="1"/>
          <p:nvPr/>
        </p:nvSpPr>
        <p:spPr>
          <a:xfrm>
            <a:off x="164592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Functional and system testing of automotive ECUs (CAN, CAPL, ETAS INCA); robotics (ROS/ROS2) and embedded domains</a:t>
            </a:r>
            <a:endParaRPr lang="en-US" sz="1400" dirty="0"/>
          </a:p>
        </p:txBody>
      </p:sp>
      <p:sp>
        <p:nvSpPr>
          <p:cNvPr id="8" name="Shape 5"/>
          <p:cNvSpPr/>
          <p:nvPr/>
        </p:nvSpPr>
        <p:spPr>
          <a:xfrm>
            <a:off x="617220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6446520" y="169164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06540" y="1851660"/>
            <a:ext cx="320040" cy="320040"/>
          </a:xfrm>
          <a:prstGeom prst="rect">
            <a:avLst/>
          </a:prstGeom>
        </p:spPr>
      </p:pic>
      <p:sp>
        <p:nvSpPr>
          <p:cNvPr id="11" name="Text 7"/>
          <p:cNvSpPr txBox="1"/>
          <p:nvPr/>
        </p:nvSpPr>
        <p:spPr>
          <a:xfrm>
            <a:off x="726948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Verification research</a:t>
            </a:r>
            <a:endParaRPr lang="en-US" sz="1800" dirty="0"/>
          </a:p>
        </p:txBody>
      </p:sp>
      <p:sp>
        <p:nvSpPr>
          <p:cNvPr id="12" name="Text 8"/>
          <p:cNvSpPr txBox="1"/>
          <p:nvPr/>
        </p:nvSpPr>
        <p:spPr>
          <a:xfrm>
            <a:off x="726948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Falsification of safety and security properties, function abstraction via active learning, property-based testing — robustness-guided search like FalsifAI [14]</a:t>
            </a:r>
            <a:endParaRPr lang="en-US" sz="1400" dirty="0"/>
          </a:p>
        </p:txBody>
      </p:sp>
      <p:sp>
        <p:nvSpPr>
          <p:cNvPr id="13" name="Shape 9"/>
          <p:cNvSpPr/>
          <p:nvPr/>
        </p:nvSpPr>
        <p:spPr>
          <a:xfrm>
            <a:off x="54864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2960" y="3931920"/>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82980" y="4091940"/>
            <a:ext cx="320040" cy="320040"/>
          </a:xfrm>
          <a:prstGeom prst="rect">
            <a:avLst/>
          </a:prstGeom>
        </p:spPr>
      </p:pic>
      <p:sp>
        <p:nvSpPr>
          <p:cNvPr id="16" name="Text 11"/>
          <p:cNvSpPr txBox="1"/>
          <p:nvPr/>
        </p:nvSpPr>
        <p:spPr>
          <a:xfrm>
            <a:off x="164592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LLMs for quality engineering</a:t>
            </a:r>
            <a:endParaRPr lang="en-US" sz="1800" dirty="0"/>
          </a:p>
        </p:txBody>
      </p:sp>
      <p:sp>
        <p:nvSpPr>
          <p:cNvPr id="17" name="Text 12"/>
          <p:cNvSpPr txBox="1"/>
          <p:nvPr/>
        </p:nvSpPr>
        <p:spPr>
          <a:xfrm>
            <a:off x="164592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LLM-assisted test-case generation, RAG over requirements, MCP-based agentic test workflows used in daily industrial testing</a:t>
            </a:r>
            <a:endParaRPr lang="en-US" sz="1400" dirty="0"/>
          </a:p>
        </p:txBody>
      </p:sp>
      <p:sp>
        <p:nvSpPr>
          <p:cNvPr id="18" name="Shape 13"/>
          <p:cNvSpPr/>
          <p:nvPr/>
        </p:nvSpPr>
        <p:spPr>
          <a:xfrm>
            <a:off x="617220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6446520" y="393192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606540" y="4091940"/>
            <a:ext cx="320040" cy="320040"/>
          </a:xfrm>
          <a:prstGeom prst="rect">
            <a:avLst/>
          </a:prstGeom>
        </p:spPr>
      </p:pic>
      <p:sp>
        <p:nvSpPr>
          <p:cNvPr id="21" name="Text 15"/>
          <p:cNvSpPr txBox="1"/>
          <p:nvPr/>
        </p:nvSpPr>
        <p:spPr>
          <a:xfrm>
            <a:off x="726948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Python &amp; empirical studies</a:t>
            </a:r>
            <a:endParaRPr lang="en-US" sz="1800" dirty="0"/>
          </a:p>
        </p:txBody>
      </p:sp>
      <p:sp>
        <p:nvSpPr>
          <p:cNvPr id="22" name="Text 16"/>
          <p:cNvSpPr txBox="1"/>
          <p:nvPr/>
        </p:nvSpPr>
        <p:spPr>
          <a:xfrm>
            <a:off x="726948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Python, C/C++, TypeScript; controlled experiments on test generators (KCC'25, KCSE'26); the prototype and experiment in this talk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Tree>
    <p:extLst>
      <p:ext uri="{BB962C8B-B14F-4D97-AF65-F5344CB8AC3E}">
        <p14:creationId xmlns:p14="http://schemas.microsoft.com/office/powerpoint/2010/main" val="1532760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Results per model and requirement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384048">
                <a:tc>
                  <a:txBody>
                    <a:bodyPr/>
                    <a:lstStyle/>
                    <a:p>
                      <a:pPr marL="0" indent="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bl>
          </a:graphicData>
        </a:graphic>
      </p:graphicFrame>
      <p:graphicFrame>
        <p:nvGraphicFramePr>
          <p:cNvPr id="4" name="Chart 0"/>
          <p:cNvGraphicFramePr/>
          <p:nvPr/>
        </p:nvGraphicFramePr>
        <p:xfrm>
          <a:off x="548640" y="3108960"/>
          <a:ext cx="11094415"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this prototype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Correctness = agreement with my reference formalisation; mutants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SUT, one simulator, 7 requirements,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17 incorrect tests in 6 batches; small N per batch</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417320"/>
            <a:ext cx="6766560" cy="438912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behavioural /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201168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560320"/>
            <a:ext cx="1097280" cy="109728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7"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DE26674-F490-438C-832F-B23DDC4811B1}">
  <we:reference id="wa200010725" version="1.0.0.1" store="en-US" storeType="OMEX"/>
  <we:alternateReferences>
    <we:reference id="wa200010725" version="1.0.0.1" store="wa200010725" storeType="OMEX"/>
  </we:alternateReferences>
  <we:properties>
    <we:property name="claude.fileId" value="&quot;7df24f7c-ee5b-4da9-a131-f01e8237247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128</TotalTime>
  <Words>5599</Words>
  <Application>Microsoft Office PowerPoint</Application>
  <PresentationFormat>Widescreen</PresentationFormat>
  <Paragraphs>408</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InnoGuard Interview</vt:lpstr>
      <vt:lpstr>When can we trust AI-generated tests ? Uncertainty quantification for risk-based testing of autonomous CPS </vt:lpstr>
      <vt:lpstr>LLMs now write tests for safety-relevant systems — confidently</vt:lpstr>
      <vt:lpstr>The position's four objectives, as research questions</vt:lpstr>
      <vt:lpstr>Building on uncertainty-wise CPS testing</vt:lpstr>
      <vt:lpstr>Uncertainty of LLM outputs: what transfers to test artefacts</vt:lpstr>
      <vt:lpstr>My starting point: an LLM test generator that trusts blindly</vt:lpstr>
      <vt:lpstr>UQ-TestGen: an uncertainty-aware end-to-end pipeline</vt:lpstr>
      <vt:lpstr>Four uncertainty signals — no ground truth needed</vt:lpstr>
      <vt:lpstr>Demo: one requirement, end to end, live LLM</vt:lpstr>
      <vt:lpstr>Experiment: 210 generated tests, 1,890 simulations</vt:lpstr>
      <vt:lpstr>Behavioural entropy beats the LLM's self-confidence</vt:lpstr>
      <vt:lpstr>Risk-based triage: 77% auto-accepted at 98.8% precision</vt:lpstr>
      <vt:lpstr>What the demo cannot do yet becomes the research agenda</vt:lpstr>
      <vt:lpstr>Research questions and how I will answer them</vt:lpstr>
      <vt:lpstr>36-month plan with secondment and publications</vt:lpstr>
      <vt:lpstr>Expected contributions to InnoGuard</vt:lpstr>
      <vt:lpstr>Why me, why this team</vt:lpstr>
      <vt:lpstr>From automotive test benches to AI-driven testing</vt:lpstr>
      <vt:lpstr>What I bring to the preferred profile</vt:lpstr>
      <vt:lpstr>Backup · Results per model and requirement</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5</cp:revision>
  <dcterms:created xsi:type="dcterms:W3CDTF">2026-10-26T09:38:12Z</dcterms:created>
  <dcterms:modified xsi:type="dcterms:W3CDTF">2026-10-26T13:45:12Z</dcterms:modified>
</cp:coreProperties>
</file>